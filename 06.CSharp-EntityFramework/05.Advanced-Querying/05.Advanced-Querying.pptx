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37"/>
  </p:notesMasterIdLst>
  <p:handoutMasterIdLst>
    <p:handoutMasterId r:id="rId38"/>
  </p:handoutMasterIdLst>
  <p:sldIdLst>
    <p:sldId id="402" r:id="rId2"/>
    <p:sldId id="508" r:id="rId3"/>
    <p:sldId id="493" r:id="rId4"/>
    <p:sldId id="467" r:id="rId5"/>
    <p:sldId id="548" r:id="rId6"/>
    <p:sldId id="549" r:id="rId7"/>
    <p:sldId id="573" r:id="rId8"/>
    <p:sldId id="554" r:id="rId9"/>
    <p:sldId id="473" r:id="rId10"/>
    <p:sldId id="550" r:id="rId11"/>
    <p:sldId id="617" r:id="rId12"/>
    <p:sldId id="551" r:id="rId13"/>
    <p:sldId id="552" r:id="rId14"/>
    <p:sldId id="553" r:id="rId15"/>
    <p:sldId id="539" r:id="rId16"/>
    <p:sldId id="555" r:id="rId17"/>
    <p:sldId id="556" r:id="rId18"/>
    <p:sldId id="557" r:id="rId19"/>
    <p:sldId id="558" r:id="rId20"/>
    <p:sldId id="561" r:id="rId21"/>
    <p:sldId id="562" r:id="rId22"/>
    <p:sldId id="563" r:id="rId23"/>
    <p:sldId id="564" r:id="rId24"/>
    <p:sldId id="574" r:id="rId25"/>
    <p:sldId id="559" r:id="rId26"/>
    <p:sldId id="565" r:id="rId27"/>
    <p:sldId id="566" r:id="rId28"/>
    <p:sldId id="567" r:id="rId29"/>
    <p:sldId id="560" r:id="rId30"/>
    <p:sldId id="568" r:id="rId31"/>
    <p:sldId id="569" r:id="rId32"/>
    <p:sldId id="570" r:id="rId33"/>
    <p:sldId id="349" r:id="rId34"/>
    <p:sldId id="405" r:id="rId35"/>
    <p:sldId id="575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E2992864-D9A3-4C4E-8A12-A178210DBF95}">
          <p14:sldIdLst>
            <p14:sldId id="402"/>
            <p14:sldId id="508"/>
            <p14:sldId id="493"/>
          </p14:sldIdLst>
        </p14:section>
        <p14:section name="Executing Native SQL Queries" id="{483AE7F4-3476-4052-9E7B-31C3924B34E2}">
          <p14:sldIdLst>
            <p14:sldId id="467"/>
            <p14:sldId id="548"/>
            <p14:sldId id="549"/>
            <p14:sldId id="573"/>
            <p14:sldId id="554"/>
          </p14:sldIdLst>
        </p14:section>
        <p14:section name="Object State Tracking" id="{F67BFD0F-A911-4B97-A889-BC478281468B}">
          <p14:sldIdLst>
            <p14:sldId id="473"/>
            <p14:sldId id="550"/>
            <p14:sldId id="617"/>
            <p14:sldId id="551"/>
            <p14:sldId id="552"/>
            <p14:sldId id="553"/>
          </p14:sldIdLst>
        </p14:section>
        <p14:section name="Bulk Operations" id="{295FC2D8-EA9F-4D8E-B414-4FADD9400174}">
          <p14:sldIdLst>
            <p14:sldId id="539"/>
            <p14:sldId id="555"/>
            <p14:sldId id="556"/>
            <p14:sldId id="557"/>
          </p14:sldIdLst>
        </p14:section>
        <p14:section name="Types of Loading" id="{D7562C00-8CC8-4FF2-8C34-9D6B47506EFE}">
          <p14:sldIdLst>
            <p14:sldId id="558"/>
            <p14:sldId id="561"/>
            <p14:sldId id="562"/>
            <p14:sldId id="563"/>
            <p14:sldId id="564"/>
            <p14:sldId id="574"/>
          </p14:sldIdLst>
        </p14:section>
        <p14:section name="Concurrency Checks" id="{1B38B8EE-C21B-4051-B83F-56C820C6ADEF}">
          <p14:sldIdLst>
            <p14:sldId id="559"/>
            <p14:sldId id="565"/>
            <p14:sldId id="566"/>
            <p14:sldId id="567"/>
          </p14:sldIdLst>
        </p14:section>
        <p14:section name="Cascade Operations" id="{1809B9DC-FF8E-4ABE-A373-2A4D4C5A5805}">
          <p14:sldIdLst>
            <p14:sldId id="560"/>
            <p14:sldId id="568"/>
            <p14:sldId id="569"/>
            <p14:sldId id="570"/>
          </p14:sldIdLst>
        </p14:section>
        <p14:section name="Conclusion" id="{8A7EA9DB-9DF7-4C12-82E7-4BB94E6D83F6}">
          <p14:sldIdLst>
            <p14:sldId id="349"/>
            <p14:sldId id="405"/>
            <p14:sldId id="57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F2A40D"/>
    <a:srgbClr val="DBBD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C232DE-2511-49A3-B33B-FD78A94CD8E3}" v="22" dt="2019-12-04T16:40:36.347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02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100" y="7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-99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566"/>
    </p:cViewPr>
  </p:sorterViewPr>
  <p:notesViewPr>
    <p:cSldViewPr>
      <p:cViewPr varScale="1">
        <p:scale>
          <a:sx n="62" d="100"/>
          <a:sy n="62" d="100"/>
        </p:scale>
        <p:origin x="3154" y="72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13.10.2025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47000"/>
            <a:ext cx="6443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z="1100" dirty="0"/>
              <a:t>© SoftUni – </a:t>
            </a:r>
            <a:r>
              <a:rPr lang="en-US" sz="1100" u="sng" dirty="0">
                <a:hlinkClick r:id="rId2"/>
              </a:rPr>
              <a:t>https://softuni.org</a:t>
            </a:r>
            <a:r>
              <a:rPr lang="en-US" sz="1100" dirty="0"/>
              <a:t>. Copyrighted document. Unauthorized copy or reproduction is not permitted.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47000"/>
            <a:ext cx="412413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2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542CCE97-9E0F-4180-899A-B7B5B763AD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25051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Контейнер за изображение на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Контейнер за бележ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Контейнер за номер на слайда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C56C7D4-C9A1-4387-9640-CB4F378E302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633453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1B68BE6-6E1D-4DAB-B47C-5825F5F5E3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772557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information</a:t>
            </a:r>
            <a:r>
              <a:rPr lang="en-US" baseline="0" dirty="0"/>
              <a:t> on how tom make stored procedures for Insert, update and delete - https://msdn.microsoft.com/en-us/library/dn468673(v=vs.113).aspx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54E21BB-D224-4027-9651-85C5303664E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386447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C1D4223-C426-4A72-A3D3-FB4562ABBE0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12757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https://weblogs.asp.net/pwelter34/entity-framework-batch-update-and-future-queries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CBECA06F-B533-435B-AD83-FF3B2112FC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254124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EEA7D2C1-1D6B-4A53-9C68-084DD77290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963625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2ED993A8-38DE-4249-A49B-FCEBFFBBA6E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41608873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FC05E2B5-3D3A-4A2C-BF9D-B0AC455F526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812453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0779CD1D-61B6-4EBE-ADFF-62F8BE58DD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38447701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D1C0779-821B-433B-AB3A-0953EE966C7E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6" name="Footer Placeholder 7">
            <a:extLst>
              <a:ext uri="{FF2B5EF4-FFF2-40B4-BE49-F238E27FC236}">
                <a16:creationId xmlns:a16="http://schemas.microsoft.com/office/drawing/2014/main" id="{3E699EC5-228B-4282-B932-750A3F67875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22411727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7" name="Footer Placeholder 7">
            <a:extLst>
              <a:ext uri="{FF2B5EF4-FFF2-40B4-BE49-F238E27FC236}">
                <a16:creationId xmlns:a16="http://schemas.microsoft.com/office/drawing/2014/main" id="{17913972-FB59-461B-BD8F-3D6B46F49D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47000"/>
            <a:ext cx="6488999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en-US" dirty="0"/>
              <a:t>© SoftUni – </a:t>
            </a:r>
            <a:r>
              <a:rPr lang="en-US" u="sng" dirty="0">
                <a:hlinkClick r:id="rId3"/>
              </a:rPr>
              <a:t>https://softuni.org</a:t>
            </a:r>
            <a:r>
              <a:rPr lang="en-US" dirty="0"/>
              <a:t>. Copyrighted document. Unauthorized copy or reproduction is not permitted.</a:t>
            </a:r>
          </a:p>
        </p:txBody>
      </p:sp>
    </p:spTree>
    <p:extLst>
      <p:ext uri="{BB962C8B-B14F-4D97-AF65-F5344CB8AC3E}">
        <p14:creationId xmlns:p14="http://schemas.microsoft.com/office/powerpoint/2010/main" val="13612966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hyperlink" Target="https://softuni.org/" TargetMode="Externa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hyperlink" Target="https://about.softuni.bg/" TargetMode="Externa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png"/><Relationship Id="rId11" Type="http://schemas.openxmlformats.org/officeDocument/2006/relationships/image" Target="../media/image4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hyperlink" Target="https://softuni.foundation/" TargetMode="External"/><Relationship Id="rId3" Type="http://schemas.openxmlformats.org/officeDocument/2006/relationships/image" Target="../media/image16.png"/><Relationship Id="rId7" Type="http://schemas.openxmlformats.org/officeDocument/2006/relationships/image" Target="../media/image18.png"/><Relationship Id="rId2" Type="http://schemas.openxmlformats.org/officeDocument/2006/relationships/hyperlink" Target="https://www.facebook.com/SoftwareUniversity" TargetMode="External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softuni.bg/" TargetMode="External"/><Relationship Id="rId5" Type="http://schemas.openxmlformats.org/officeDocument/2006/relationships/image" Target="../media/image17.png"/><Relationship Id="rId10" Type="http://schemas.openxmlformats.org/officeDocument/2006/relationships/image" Target="../media/image5.png"/><Relationship Id="rId4" Type="http://schemas.openxmlformats.org/officeDocument/2006/relationships/hyperlink" Target="https://softuni.org/" TargetMode="External"/><Relationship Id="rId9" Type="http://schemas.openxmlformats.org/officeDocument/2006/relationships/hyperlink" Target="https://forum.softuni.bg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Picture Logo SoftUni" descr="SoftUni logo">
            <a:extLst>
              <a:ext uri="{FF2B5EF4-FFF2-40B4-BE49-F238E27FC236}">
                <a16:creationId xmlns:a16="http://schemas.microsoft.com/office/drawing/2014/main" id="{C4D6B2A2-DFF0-4712-BFEC-6676BEC99FE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4460" y="5184000"/>
            <a:ext cx="3751540" cy="1297655"/>
          </a:xfrm>
          <a:prstGeom prst="rect">
            <a:avLst/>
          </a:prstGeom>
        </p:spPr>
      </p:pic>
      <p:sp>
        <p:nvSpPr>
          <p:cNvPr id="31" name="Text Placeholder Company Site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8708505" y="6130863"/>
            <a:ext cx="2951518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7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Web Site</a:t>
            </a:r>
          </a:p>
        </p:txBody>
      </p:sp>
      <p:sp>
        <p:nvSpPr>
          <p:cNvPr id="30" name="Text Placeholder Company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8708505" y="5756628"/>
            <a:ext cx="2951518" cy="367080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r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998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Company Name</a:t>
            </a:r>
          </a:p>
        </p:txBody>
      </p:sp>
      <p:pic>
        <p:nvPicPr>
          <p:cNvPr id="35" name="Picture SoftUni Mascot" descr="SoftUni mascot">
            <a:extLst>
              <a:ext uri="{FF2B5EF4-FFF2-40B4-BE49-F238E27FC236}">
                <a16:creationId xmlns:a16="http://schemas.microsoft.com/office/drawing/2014/main" id="{951E7DA9-C5F0-43D9-B013-3BDF9EEF029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48924" y="2609644"/>
            <a:ext cx="2788893" cy="3018284"/>
          </a:xfrm>
          <a:prstGeom prst="rect">
            <a:avLst/>
          </a:prstGeom>
        </p:spPr>
      </p:pic>
      <p:pic>
        <p:nvPicPr>
          <p:cNvPr id="22" name="Picture Logo Software University" descr="Software University logo">
            <a:hlinkClick r:id="rId4"/>
            <a:extLst>
              <a:ext uri="{FF2B5EF4-FFF2-40B4-BE49-F238E27FC236}">
                <a16:creationId xmlns:a16="http://schemas.microsoft.com/office/drawing/2014/main" id="{F2315EB3-3FE4-4D3B-921E-5F209CEC13C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4" y="5918567"/>
            <a:ext cx="1830305" cy="628159"/>
          </a:xfrm>
          <a:prstGeom prst="rect">
            <a:avLst/>
          </a:prstGeom>
        </p:spPr>
      </p:pic>
      <p:sp>
        <p:nvSpPr>
          <p:cNvPr id="40" name="Text Placeholder Author Position">
            <a:extLst>
              <a:ext uri="{FF2B5EF4-FFF2-40B4-BE49-F238E27FC236}">
                <a16:creationId xmlns:a16="http://schemas.microsoft.com/office/drawing/2014/main" id="{CD940256-851E-46C8-8BFB-A5ECA6C7DA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3082" y="5344180"/>
            <a:ext cx="2980696" cy="444793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sp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3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Position</a:t>
            </a:r>
          </a:p>
        </p:txBody>
      </p:sp>
      <p:sp>
        <p:nvSpPr>
          <p:cNvPr id="36" name="Text Placeholder Author Name">
            <a:extLst>
              <a:ext uri="{FF2B5EF4-FFF2-40B4-BE49-F238E27FC236}">
                <a16:creationId xmlns:a16="http://schemas.microsoft.com/office/drawing/2014/main" id="{3B21F47B-DE1F-442D-A2B7-6866F87867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auto">
          <a:xfrm>
            <a:off x="553082" y="4851838"/>
            <a:ext cx="2980696" cy="454398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798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 Name</a:t>
            </a: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53082" y="2740913"/>
            <a:ext cx="4642919" cy="193650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182" y="1258272"/>
            <a:ext cx="11083636" cy="1315728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598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182" y="321502"/>
            <a:ext cx="11083636" cy="882654"/>
          </a:xfrm>
        </p:spPr>
        <p:txBody>
          <a:bodyPr/>
          <a:lstStyle>
            <a:lvl1pPr algn="ctr" latinLnBrk="0">
              <a:defRPr sz="4798"/>
            </a:lvl1pPr>
          </a:lstStyle>
          <a:p>
            <a:r>
              <a:rPr lang="en-US" noProof="0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970179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B1D3B425-B9BF-43ED-9DEC-C05002FBA22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3" name="Logo Software University" descr="Software University logo">
            <a:extLst>
              <a:ext uri="{FF2B5EF4-FFF2-40B4-BE49-F238E27FC236}">
                <a16:creationId xmlns:a16="http://schemas.microsoft.com/office/drawing/2014/main" id="{5573C101-930B-47AC-967A-A64513DFFD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3CDBCC2-1C96-44BC-B992-7B0C49C34904}"/>
              </a:ext>
            </a:extLst>
          </p:cNvPr>
          <p:cNvGrpSpPr/>
          <p:nvPr userDrawn="1"/>
        </p:nvGrpSpPr>
        <p:grpSpPr>
          <a:xfrm>
            <a:off x="185076" y="1868177"/>
            <a:ext cx="1937508" cy="3070349"/>
            <a:chOff x="3928039" y="1792355"/>
            <a:chExt cx="1830304" cy="290046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D71B3A8-4D39-42CF-9255-81EA3A622DD6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B98059F9-1874-426D-8AF7-A12C21F37DD9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26" name="Rectangle 5">
                <a:extLst>
                  <a:ext uri="{FF2B5EF4-FFF2-40B4-BE49-F238E27FC236}">
                    <a16:creationId xmlns:a16="http://schemas.microsoft.com/office/drawing/2014/main" id="{A3A1E077-DBDF-48F0-A924-604984B940A2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7" name="Rectangle 5">
                <a:extLst>
                  <a:ext uri="{FF2B5EF4-FFF2-40B4-BE49-F238E27FC236}">
                    <a16:creationId xmlns:a16="http://schemas.microsoft.com/office/drawing/2014/main" id="{798B1F51-1FA4-4199-81C7-62356C936CC9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40A224C8-1233-40F7-96AB-BFF79AF6CDCB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29" name="Arc 28">
                <a:extLst>
                  <a:ext uri="{FF2B5EF4-FFF2-40B4-BE49-F238E27FC236}">
                    <a16:creationId xmlns:a16="http://schemas.microsoft.com/office/drawing/2014/main" id="{B57C7CCC-E218-4321-8C7B-3F0C5753C7A1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6AF309CA-A56C-4ABC-B293-420F4EB1A9B4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7955808-2AC7-44EB-8B6D-82B974E53A3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C6420D7-AEAB-45EF-8D46-11EB06E4AFE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76C7FABC-6773-44F6-990B-3EB082BE9B3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1FAD48E1-DC45-4B3D-9CE5-613250708496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B01FD1D1-046F-457B-AB63-2702CE3E906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95660C3-C72C-43EE-9C4A-170F85E5BE0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74EE503-8FC0-42A6-8860-CA4EE42272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F4189FDA-9FE8-490B-8A70-2E941811021F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DA3EFCD-0DF8-419D-8533-D781521E59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C3CC6A5A-182E-4A09-9C04-EB191881D78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440C8953-0555-48CC-8255-78F17E053E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29B538CA-8CCB-43FB-B5E5-5FC04EBC1F54}"/>
              </a:ext>
            </a:extLst>
          </p:cNvPr>
          <p:cNvCxnSpPr>
            <a:cxnSpLocks/>
            <a:stCxn id="26" idx="2"/>
          </p:cNvCxnSpPr>
          <p:nvPr userDrawn="1"/>
        </p:nvCxnSpPr>
        <p:spPr>
          <a:xfrm flipH="1">
            <a:off x="673735" y="4203953"/>
            <a:ext cx="955204" cy="0"/>
          </a:xfrm>
          <a:prstGeom prst="line">
            <a:avLst/>
          </a:prstGeom>
          <a:solidFill>
            <a:srgbClr val="464646"/>
          </a:solidFill>
          <a:ln w="38100">
            <a:solidFill>
              <a:srgbClr val="464646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5453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pic>
        <p:nvPicPr>
          <p:cNvPr id="16" name="Logo Software University" descr="Software University logo">
            <a:extLst>
              <a:ext uri="{FF2B5EF4-FFF2-40B4-BE49-F238E27FC236}">
                <a16:creationId xmlns:a16="http://schemas.microsoft.com/office/drawing/2014/main" id="{EFEBB553-EACE-4B4F-8B4F-7629FDD910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7" y="100750"/>
            <a:ext cx="8625520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CF60135-47AA-48F0-96BA-0E795668ABDB}"/>
              </a:ext>
            </a:extLst>
          </p:cNvPr>
          <p:cNvGrpSpPr/>
          <p:nvPr userDrawn="1"/>
        </p:nvGrpSpPr>
        <p:grpSpPr>
          <a:xfrm>
            <a:off x="392806" y="3429000"/>
            <a:ext cx="1522048" cy="2411973"/>
            <a:chOff x="3928039" y="1792355"/>
            <a:chExt cx="1830304" cy="2900460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823380E-3936-41AF-BDF7-DA54D75BBF6B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2B047D9-D8DD-45C7-9BC8-6D4F682F5182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8" name="Rectangle 5">
                <a:extLst>
                  <a:ext uri="{FF2B5EF4-FFF2-40B4-BE49-F238E27FC236}">
                    <a16:creationId xmlns:a16="http://schemas.microsoft.com/office/drawing/2014/main" id="{4D84FE51-BD8E-47EA-9463-CE02FEA31766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9" name="Rectangle 5">
                <a:extLst>
                  <a:ext uri="{FF2B5EF4-FFF2-40B4-BE49-F238E27FC236}">
                    <a16:creationId xmlns:a16="http://schemas.microsoft.com/office/drawing/2014/main" id="{F5C8F037-C197-4219-AC87-3A81763512BC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50" name="Arc 49">
                <a:extLst>
                  <a:ext uri="{FF2B5EF4-FFF2-40B4-BE49-F238E27FC236}">
                    <a16:creationId xmlns:a16="http://schemas.microsoft.com/office/drawing/2014/main" id="{786EE401-CF8E-439B-94A0-EE6F3A7D5798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51" name="Arc 50">
                <a:extLst>
                  <a:ext uri="{FF2B5EF4-FFF2-40B4-BE49-F238E27FC236}">
                    <a16:creationId xmlns:a16="http://schemas.microsoft.com/office/drawing/2014/main" id="{8D9ACD38-B3EB-4A63-9730-CBF0501BF235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64EE493E-A353-4C75-A3B9-D48ABA2C57CC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718408B9-204E-42E3-9E79-33E047E869BC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0AB66D97-DF6F-4CD2-AF13-42B5C852F6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F2AFBA69-C196-4703-8AAB-5F72A8EDCE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9AFC66C1-0C1C-4332-9C4E-782574C896B8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872CA8AD-EAF6-40BE-9DDE-ECDB4A980CA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57DD3EC7-1A13-4AFE-BD6F-DA12C281FAF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46151FA-19E9-4E84-A082-EDAC6F76EA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Rectangle: Rounded Corners 40">
              <a:extLst>
                <a:ext uri="{FF2B5EF4-FFF2-40B4-BE49-F238E27FC236}">
                  <a16:creationId xmlns:a16="http://schemas.microsoft.com/office/drawing/2014/main" id="{3423EEF0-5B70-4091-B2DA-0740D2609643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49A8AAA7-98E7-4224-B027-830FFCC285A3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2129EC38-471E-4685-973E-BA7A7F567C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678142BE-84C9-4834-B6CC-6623E401661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6" y="100750"/>
            <a:ext cx="11410061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4248838-4E67-439E-AE0A-0043D2CB04D6}"/>
              </a:ext>
            </a:extLst>
          </p:cNvPr>
          <p:cNvGrpSpPr/>
          <p:nvPr userDrawn="1"/>
        </p:nvGrpSpPr>
        <p:grpSpPr>
          <a:xfrm>
            <a:off x="108596" y="5591709"/>
            <a:ext cx="641749" cy="1016973"/>
            <a:chOff x="3928039" y="1792355"/>
            <a:chExt cx="1830304" cy="290046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810CFD6A-2427-49D5-846A-5F93601D4184}"/>
                </a:ext>
              </a:extLst>
            </p:cNvPr>
            <p:cNvGrpSpPr/>
            <p:nvPr/>
          </p:nvGrpSpPr>
          <p:grpSpPr>
            <a:xfrm>
              <a:off x="3928039" y="1792355"/>
              <a:ext cx="1830304" cy="2206534"/>
              <a:chOff x="3216839" y="2404072"/>
              <a:chExt cx="1830304" cy="2206534"/>
            </a:xfrm>
          </p:grpSpPr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17B1AE5-5C36-4839-BA1F-B404EA44E701}"/>
                  </a:ext>
                </a:extLst>
              </p:cNvPr>
              <p:cNvSpPr/>
              <p:nvPr/>
            </p:nvSpPr>
            <p:spPr>
              <a:xfrm>
                <a:off x="3216839" y="2404072"/>
                <a:ext cx="1830304" cy="1830304"/>
              </a:xfrm>
              <a:prstGeom prst="ellipse">
                <a:avLst/>
              </a:pr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/>
              </a:p>
            </p:txBody>
          </p:sp>
          <p:sp>
            <p:nvSpPr>
              <p:cNvPr id="43" name="Rectangle 5">
                <a:extLst>
                  <a:ext uri="{FF2B5EF4-FFF2-40B4-BE49-F238E27FC236}">
                    <a16:creationId xmlns:a16="http://schemas.microsoft.com/office/drawing/2014/main" id="{FB963D79-BB49-4A1D-BA66-EA0670C79BAE}"/>
                  </a:ext>
                </a:extLst>
              </p:cNvPr>
              <p:cNvSpPr/>
              <p:nvPr/>
            </p:nvSpPr>
            <p:spPr>
              <a:xfrm>
                <a:off x="3699615" y="3807346"/>
                <a:ext cx="1143001" cy="803260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4" name="Rectangle 5">
                <a:extLst>
                  <a:ext uri="{FF2B5EF4-FFF2-40B4-BE49-F238E27FC236}">
                    <a16:creationId xmlns:a16="http://schemas.microsoft.com/office/drawing/2014/main" id="{6D7746D8-B913-493B-AAE9-25BC6893D40E}"/>
                  </a:ext>
                </a:extLst>
              </p:cNvPr>
              <p:cNvSpPr/>
              <p:nvPr/>
            </p:nvSpPr>
            <p:spPr>
              <a:xfrm flipH="1">
                <a:off x="3426570" y="3807347"/>
                <a:ext cx="1143000" cy="803259"/>
              </a:xfrm>
              <a:custGeom>
                <a:avLst/>
                <a:gdLst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876300"/>
                  <a:gd name="connsiteY0" fmla="*/ 0 h 787400"/>
                  <a:gd name="connsiteX1" fmla="*/ 876300 w 876300"/>
                  <a:gd name="connsiteY1" fmla="*/ 0 h 787400"/>
                  <a:gd name="connsiteX2" fmla="*/ 876300 w 876300"/>
                  <a:gd name="connsiteY2" fmla="*/ 787400 h 787400"/>
                  <a:gd name="connsiteX3" fmla="*/ 0 w 876300"/>
                  <a:gd name="connsiteY3" fmla="*/ 787400 h 787400"/>
                  <a:gd name="connsiteX4" fmla="*/ 0 w 876300"/>
                  <a:gd name="connsiteY4" fmla="*/ 0 h 787400"/>
                  <a:gd name="connsiteX0" fmla="*/ 0 w 1130300"/>
                  <a:gd name="connsiteY0" fmla="*/ 0 h 787400"/>
                  <a:gd name="connsiteX1" fmla="*/ 1130300 w 1130300"/>
                  <a:gd name="connsiteY1" fmla="*/ 50800 h 787400"/>
                  <a:gd name="connsiteX2" fmla="*/ 876300 w 1130300"/>
                  <a:gd name="connsiteY2" fmla="*/ 787400 h 787400"/>
                  <a:gd name="connsiteX3" fmla="*/ 0 w 1130300"/>
                  <a:gd name="connsiteY3" fmla="*/ 787400 h 787400"/>
                  <a:gd name="connsiteX4" fmla="*/ 0 w 1130300"/>
                  <a:gd name="connsiteY4" fmla="*/ 0 h 787400"/>
                  <a:gd name="connsiteX0" fmla="*/ 0 w 1136650"/>
                  <a:gd name="connsiteY0" fmla="*/ 0 h 787400"/>
                  <a:gd name="connsiteX1" fmla="*/ 1136650 w 1136650"/>
                  <a:gd name="connsiteY1" fmla="*/ 38100 h 787400"/>
                  <a:gd name="connsiteX2" fmla="*/ 876300 w 1136650"/>
                  <a:gd name="connsiteY2" fmla="*/ 787400 h 787400"/>
                  <a:gd name="connsiteX3" fmla="*/ 0 w 1136650"/>
                  <a:gd name="connsiteY3" fmla="*/ 787400 h 787400"/>
                  <a:gd name="connsiteX4" fmla="*/ 0 w 1136650"/>
                  <a:gd name="connsiteY4" fmla="*/ 0 h 787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136650" h="787400">
                    <a:moveTo>
                      <a:pt x="0" y="0"/>
                    </a:moveTo>
                    <a:lnTo>
                      <a:pt x="1136650" y="38100"/>
                    </a:lnTo>
                    <a:cubicBezTo>
                      <a:pt x="920750" y="376767"/>
                      <a:pt x="876300" y="524933"/>
                      <a:pt x="876300" y="787400"/>
                    </a:cubicBezTo>
                    <a:lnTo>
                      <a:pt x="0" y="7874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2A40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bg-BG" dirty="0"/>
              </a:p>
            </p:txBody>
          </p:sp>
          <p:sp>
            <p:nvSpPr>
              <p:cNvPr id="45" name="Arc 44">
                <a:extLst>
                  <a:ext uri="{FF2B5EF4-FFF2-40B4-BE49-F238E27FC236}">
                    <a16:creationId xmlns:a16="http://schemas.microsoft.com/office/drawing/2014/main" id="{29031C02-E965-417B-8799-96061B14F30D}"/>
                  </a:ext>
                </a:extLst>
              </p:cNvPr>
              <p:cNvSpPr/>
              <p:nvPr/>
            </p:nvSpPr>
            <p:spPr>
              <a:xfrm>
                <a:off x="3454111" y="2482850"/>
                <a:ext cx="1504950" cy="1504950"/>
              </a:xfrm>
              <a:prstGeom prst="arc">
                <a:avLst>
                  <a:gd name="adj1" fmla="val 18068338"/>
                  <a:gd name="adj2" fmla="val 0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  <p:sp>
            <p:nvSpPr>
              <p:cNvPr id="46" name="Arc 45">
                <a:extLst>
                  <a:ext uri="{FF2B5EF4-FFF2-40B4-BE49-F238E27FC236}">
                    <a16:creationId xmlns:a16="http://schemas.microsoft.com/office/drawing/2014/main" id="{26BFD8A6-BC99-4B16-BA10-08A9E5C681C0}"/>
                  </a:ext>
                </a:extLst>
              </p:cNvPr>
              <p:cNvSpPr/>
              <p:nvPr/>
            </p:nvSpPr>
            <p:spPr>
              <a:xfrm>
                <a:off x="3454111" y="2482849"/>
                <a:ext cx="1504950" cy="1504950"/>
              </a:xfrm>
              <a:prstGeom prst="arc">
                <a:avLst>
                  <a:gd name="adj1" fmla="val 17518504"/>
                  <a:gd name="adj2" fmla="val 17709817"/>
                </a:avLst>
              </a:prstGeom>
              <a:ln w="38100" cap="rnd">
                <a:solidFill>
                  <a:schemeClr val="bg2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bg-BG">
                  <a:ln w="57150">
                    <a:solidFill>
                      <a:schemeClr val="tx1"/>
                    </a:solidFill>
                  </a:ln>
                </a:endParaRPr>
              </a:p>
            </p:txBody>
          </p:sp>
        </p:grp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B310277F-A78E-4FB9-9EA9-88BE4F1D585B}"/>
                </a:ext>
              </a:extLst>
            </p:cNvPr>
            <p:cNvSpPr/>
            <p:nvPr/>
          </p:nvSpPr>
          <p:spPr>
            <a:xfrm>
              <a:off x="4400007" y="4324162"/>
              <a:ext cx="886369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A92CF92B-C212-4542-83AE-A0058B5BB5EA}"/>
                </a:ext>
              </a:extLst>
            </p:cNvPr>
            <p:cNvSpPr/>
            <p:nvPr/>
          </p:nvSpPr>
          <p:spPr>
            <a:xfrm>
              <a:off x="4533357" y="4542116"/>
              <a:ext cx="619670" cy="150699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  <a:effectLst>
              <a:outerShdw blurRad="152400" dist="381000" dir="5400000" sx="70000" sy="70000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63B4374-5C0D-461F-B3BD-78D99614D3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472677" y="2844800"/>
              <a:ext cx="161562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BC6FDE7-AEA1-4230-8433-4C088A0FF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78548" y="3618567"/>
              <a:ext cx="528128" cy="0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C4D1021D-07C7-4331-8FF6-36980A30978B}"/>
                </a:ext>
              </a:extLst>
            </p:cNvPr>
            <p:cNvGrpSpPr/>
            <p:nvPr/>
          </p:nvGrpSpPr>
          <p:grpSpPr>
            <a:xfrm>
              <a:off x="4203288" y="2479090"/>
              <a:ext cx="436874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13B7FE99-95CF-45D5-966B-87A979B9343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BBA69B-19FF-4ADB-A739-AD8136A5F0A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FD1D86B-562B-40B2-8E46-34233EFEE7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8904" y="2844800"/>
              <a:ext cx="142425" cy="1164292"/>
            </a:xfrm>
            <a:prstGeom prst="line">
              <a:avLst/>
            </a:prstGeom>
            <a:solidFill>
              <a:srgbClr val="464646"/>
            </a:solidFill>
            <a:ln w="38100">
              <a:solidFill>
                <a:srgbClr val="464646"/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388C17BD-16A1-43C5-BFFA-2FF9174719E1}"/>
                </a:ext>
              </a:extLst>
            </p:cNvPr>
            <p:cNvSpPr/>
            <p:nvPr/>
          </p:nvSpPr>
          <p:spPr>
            <a:xfrm>
              <a:off x="4355556" y="4106208"/>
              <a:ext cx="975271" cy="150698"/>
            </a:xfrm>
            <a:prstGeom prst="roundRect">
              <a:avLst/>
            </a:prstGeom>
            <a:solidFill>
              <a:srgbClr val="F2A40D"/>
            </a:solidFill>
            <a:ln w="38100">
              <a:solidFill>
                <a:srgbClr val="46464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bg-BG"/>
            </a:p>
          </p:txBody>
        </p: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1B3B910E-ACFC-4F28-8E28-F02E1588B87E}"/>
                </a:ext>
              </a:extLst>
            </p:cNvPr>
            <p:cNvGrpSpPr/>
            <p:nvPr/>
          </p:nvGrpSpPr>
          <p:grpSpPr>
            <a:xfrm flipH="1">
              <a:off x="5035162" y="2479090"/>
              <a:ext cx="436872" cy="448528"/>
              <a:chOff x="2320288" y="2903541"/>
              <a:chExt cx="332555" cy="302680"/>
            </a:xfrm>
            <a:solidFill>
              <a:srgbClr val="464646"/>
            </a:solidFill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F57772B6-06C0-4F54-AA94-D3F92DA4716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2321560" y="305488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23370C1F-7876-4278-AB20-78F6CAA385E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320288" y="2903541"/>
                <a:ext cx="331283" cy="151340"/>
              </a:xfrm>
              <a:prstGeom prst="line">
                <a:avLst/>
              </a:prstGeom>
              <a:grpFill/>
              <a:ln w="38100" cap="rnd">
                <a:solidFill>
                  <a:srgbClr val="464646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6" name="Code Box">
            <a:extLst>
              <a:ext uri="{FF2B5EF4-FFF2-40B4-BE49-F238E27FC236}">
                <a16:creationId xmlns:a16="http://schemas.microsoft.com/office/drawing/2014/main" id="{3278A82F-5546-4977-9F75-2A933B4159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1234" y="1931154"/>
            <a:ext cx="10949531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wrap="square" lIns="144000" tIns="108000" rIns="144000" bIns="108000">
            <a:spAutoFit/>
          </a:bodyPr>
          <a:lstStyle>
            <a:lvl1pPr marL="0" indent="0" latinLnBrk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lang="en-US" sz="2398" b="1" noProof="1" smtClean="0">
                <a:solidFill>
                  <a:schemeClr val="tx1"/>
                </a:solidFill>
                <a:effectLst/>
                <a:latin typeface="Consolas" pitchFamily="49" charset="0"/>
                <a:cs typeface="Consolas" pitchFamily="49" charset="0"/>
              </a:defRPr>
            </a:lvl1pPr>
          </a:lstStyle>
          <a:p>
            <a:pPr marL="0" lvl="0"/>
            <a:r>
              <a:rPr lang="en-US" noProof="1"/>
              <a:t>Source code box</a:t>
            </a:r>
          </a:p>
          <a:p>
            <a:pPr marL="0" lvl="0"/>
            <a:r>
              <a:rPr lang="en-US" noProof="1"/>
              <a:t>…</a:t>
            </a:r>
          </a:p>
          <a:p>
            <a:pPr marL="0" lvl="0"/>
            <a:r>
              <a:rPr lang="en-US" noProof="1"/>
              <a:t>…</a:t>
            </a:r>
          </a:p>
        </p:txBody>
      </p:sp>
      <p:sp>
        <p:nvSpPr>
          <p:cNvPr id="21" name="Slide Body Text">
            <a:extLst>
              <a:ext uri="{FF2B5EF4-FFF2-40B4-BE49-F238E27FC236}">
                <a16:creationId xmlns:a16="http://schemas.microsoft.com/office/drawing/2014/main" id="{04F318BE-2BAD-4677-871C-D78A4BF0CB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501" y="1196126"/>
            <a:ext cx="11811097" cy="5561124"/>
          </a:xfrm>
        </p:spPr>
        <p:txBody>
          <a:bodyPr/>
          <a:lstStyle>
            <a:lvl1pPr marL="0" indent="0" latinLnBrk="0">
              <a:buNone/>
              <a:defRPr>
                <a:solidFill>
                  <a:schemeClr val="tx1"/>
                </a:solidFill>
              </a:defRPr>
            </a:lvl1pPr>
            <a:lvl2pPr marL="609219" indent="0">
              <a:buNone/>
              <a:defRPr/>
            </a:lvl2pPr>
          </a:lstStyle>
          <a:p>
            <a:pPr lvl="0"/>
            <a:r>
              <a:rPr lang="en-US" noProof="0"/>
              <a:t>Sample source code:</a:t>
            </a:r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0" name="Logo Software University" descr="Software University logo">
            <a:extLst>
              <a:ext uri="{FF2B5EF4-FFF2-40B4-BE49-F238E27FC236}">
                <a16:creationId xmlns:a16="http://schemas.microsoft.com/office/drawing/2014/main" id="{8C01D7AF-7CBD-46E1-99F3-8EB60E83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pic>
        <p:nvPicPr>
          <p:cNvPr id="9" name="Picture SoftUni Mascot" descr="SoftUni mascot with laptop">
            <a:extLst>
              <a:ext uri="{FF2B5EF4-FFF2-40B4-BE49-F238E27FC236}">
                <a16:creationId xmlns:a16="http://schemas.microsoft.com/office/drawing/2014/main" id="{DC4365F6-D2C1-47B4-8477-38FD2C771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516000" y="3408496"/>
            <a:ext cx="2251057" cy="3044431"/>
          </a:xfrm>
          <a:prstGeom prst="rect">
            <a:avLst/>
          </a:prstGeom>
        </p:spPr>
      </p:pic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9049234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1"/>
            <a:r>
              <a:rPr lang="en-US" noProof="0"/>
              <a:t>…</a:t>
            </a:r>
          </a:p>
          <a:p>
            <a:pPr lvl="0"/>
            <a:r>
              <a:rPr lang="en-US" noProof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14F779A7-4A91-448B-BEFA-956C70A1C22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 Down" descr="Software University logo">
            <a:extLst>
              <a:ext uri="{FF2B5EF4-FFF2-40B4-BE49-F238E27FC236}">
                <a16:creationId xmlns:a16="http://schemas.microsoft.com/office/drawing/2014/main" id="{7028D2F0-1E67-414B-A93D-D3F8F131A13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6551" y="5206773"/>
            <a:ext cx="958900" cy="1184869"/>
          </a:xfrm>
          <a:prstGeom prst="rect">
            <a:avLst/>
          </a:prstGeom>
        </p:spPr>
      </p:pic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4" name="Logo Software University" descr="Software University logo">
            <a:extLst>
              <a:ext uri="{FF2B5EF4-FFF2-40B4-BE49-F238E27FC236}">
                <a16:creationId xmlns:a16="http://schemas.microsoft.com/office/drawing/2014/main" id="{19A67BB9-D880-4EAD-B90E-89C4219BFC0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2" name="Logo Software University" descr="Software University logo">
            <a:extLst>
              <a:ext uri="{FF2B5EF4-FFF2-40B4-BE49-F238E27FC236}">
                <a16:creationId xmlns:a16="http://schemas.microsoft.com/office/drawing/2014/main" id="{233CBB95-791E-4630-B3D9-FADFCE7BCF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9715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53" name="Rectangle Bottom Copyright">
            <a:extLst>
              <a:ext uri="{FF2B5EF4-FFF2-40B4-BE49-F238E27FC236}">
                <a16:creationId xmlns:a16="http://schemas.microsoft.com/office/drawing/2014/main" id="{B07FB7FB-DA6C-4F5D-B068-357F0FCE27D8}"/>
              </a:ext>
            </a:extLst>
          </p:cNvPr>
          <p:cNvSpPr/>
          <p:nvPr userDrawn="1"/>
        </p:nvSpPr>
        <p:spPr>
          <a:xfrm>
            <a:off x="111000" y="6454758"/>
            <a:ext cx="11970000" cy="258449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© SoftUni – </a:t>
            </a:r>
            <a:r>
              <a:rPr lang="en-US" sz="1600" dirty="0">
                <a:hlinkClick r:id="rId2"/>
              </a:rPr>
              <a:t>https://about.softuni.bg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2"/>
              </a:rPr>
              <a:t>. </a:t>
            </a:r>
            <a:r>
              <a:rPr lang="en-US" sz="1600" noProof="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Copyrighted document. Unauthorized copy, reproduction or use is not permitted.</a:t>
            </a:r>
            <a:endParaRPr lang="en-US" sz="2400" noProof="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SoftUni Mascot" descr="SoftUni mascot with open hand">
            <a:extLst>
              <a:ext uri="{FF2B5EF4-FFF2-40B4-BE49-F238E27FC236}">
                <a16:creationId xmlns:a16="http://schemas.microsoft.com/office/drawing/2014/main" id="{247CFF3C-C4FA-493D-8505-DF469F4D36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86" y="2898830"/>
            <a:ext cx="2451608" cy="2959741"/>
          </a:xfrm>
          <a:prstGeom prst="rect">
            <a:avLst/>
          </a:prstGeom>
        </p:spPr>
      </p:pic>
      <p:grpSp>
        <p:nvGrpSpPr>
          <p:cNvPr id="2" name="Group SoftUni Brands">
            <a:extLst>
              <a:ext uri="{FF2B5EF4-FFF2-40B4-BE49-F238E27FC236}">
                <a16:creationId xmlns:a16="http://schemas.microsoft.com/office/drawing/2014/main" id="{418FAE34-C1F8-46C7-A4AE-F270D1E70F25}"/>
              </a:ext>
            </a:extLst>
          </p:cNvPr>
          <p:cNvGrpSpPr/>
          <p:nvPr userDrawn="1"/>
        </p:nvGrpSpPr>
        <p:grpSpPr>
          <a:xfrm>
            <a:off x="3332216" y="1702473"/>
            <a:ext cx="8314909" cy="3543782"/>
            <a:chOff x="3332216" y="1702473"/>
            <a:chExt cx="8314909" cy="3543782"/>
          </a:xfrm>
        </p:grpSpPr>
        <p:pic>
          <p:nvPicPr>
            <p:cNvPr id="24" name="Picture SoftUni Kids Logo" descr="SoftUni Kids logo">
              <a:extLst>
                <a:ext uri="{FF2B5EF4-FFF2-40B4-BE49-F238E27FC236}">
                  <a16:creationId xmlns:a16="http://schemas.microsoft.com/office/drawing/2014/main" id="{B0812936-74B6-4265-8C08-AEDC8C79870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16883" y="3776294"/>
              <a:ext cx="1130242" cy="1389256"/>
            </a:xfrm>
            <a:prstGeom prst="rect">
              <a:avLst/>
            </a:prstGeom>
          </p:spPr>
        </p:pic>
        <p:pic>
          <p:nvPicPr>
            <p:cNvPr id="23" name="Picture SoftUni Foundation Logo" descr="SoftUni Foundation logo">
              <a:extLst>
                <a:ext uri="{FF2B5EF4-FFF2-40B4-BE49-F238E27FC236}">
                  <a16:creationId xmlns:a16="http://schemas.microsoft.com/office/drawing/2014/main" id="{6643F71A-2013-433A-8322-FBAAED316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53913" y="3788231"/>
              <a:ext cx="1166400" cy="1350756"/>
            </a:xfrm>
            <a:prstGeom prst="rect">
              <a:avLst/>
            </a:prstGeom>
          </p:spPr>
        </p:pic>
        <p:pic>
          <p:nvPicPr>
            <p:cNvPr id="22" name="Picture SoftUni Digital Logo" descr="SoftUni Digital logo">
              <a:extLst>
                <a:ext uri="{FF2B5EF4-FFF2-40B4-BE49-F238E27FC236}">
                  <a16:creationId xmlns:a16="http://schemas.microsoft.com/office/drawing/2014/main" id="{0A83D66F-855B-463B-920B-BF239B01A20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57695" y="3789000"/>
              <a:ext cx="1084614" cy="1457255"/>
            </a:xfrm>
            <a:prstGeom prst="rect">
              <a:avLst/>
            </a:prstGeom>
          </p:spPr>
        </p:pic>
        <p:pic>
          <p:nvPicPr>
            <p:cNvPr id="21" name="Picture SoftUni Creative Logo" descr="SoftUni Creative logo">
              <a:extLst>
                <a:ext uri="{FF2B5EF4-FFF2-40B4-BE49-F238E27FC236}">
                  <a16:creationId xmlns:a16="http://schemas.microsoft.com/office/drawing/2014/main" id="{EA755AAE-BA08-481C-9224-0061170EE4B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3913" y="3776293"/>
              <a:ext cx="1166400" cy="1389257"/>
            </a:xfrm>
            <a:prstGeom prst="rect">
              <a:avLst/>
            </a:prstGeom>
          </p:spPr>
        </p:pic>
        <p:pic>
          <p:nvPicPr>
            <p:cNvPr id="20" name="Picture SoftUni Svetlina Logo" descr="SoftUni Svetlina logo">
              <a:extLst>
                <a:ext uri="{FF2B5EF4-FFF2-40B4-BE49-F238E27FC236}">
                  <a16:creationId xmlns:a16="http://schemas.microsoft.com/office/drawing/2014/main" id="{827D15FD-4C66-4B85-98E6-7826AA8F6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735029" y="3776293"/>
              <a:ext cx="1166400" cy="1402229"/>
            </a:xfrm>
            <a:prstGeom prst="rect">
              <a:avLst/>
            </a:prstGeom>
          </p:spPr>
        </p:pic>
        <p:pic>
          <p:nvPicPr>
            <p:cNvPr id="25" name="Picture Software University Logo" descr="Software University logo">
              <a:extLst>
                <a:ext uri="{FF2B5EF4-FFF2-40B4-BE49-F238E27FC236}">
                  <a16:creationId xmlns:a16="http://schemas.microsoft.com/office/drawing/2014/main" id="{C74C190C-5856-41B9-8819-AE8DE0E109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32216" y="3776295"/>
              <a:ext cx="1164654" cy="1440000"/>
            </a:xfrm>
            <a:prstGeom prst="rect">
              <a:avLst/>
            </a:prstGeom>
          </p:spPr>
        </p:pic>
        <p:cxnSp>
          <p:nvCxnSpPr>
            <p:cNvPr id="33" name="Straight Connector 6">
              <a:extLst>
                <a:ext uri="{FF2B5EF4-FFF2-40B4-BE49-F238E27FC236}">
                  <a16:creationId xmlns:a16="http://schemas.microsoft.com/office/drawing/2014/main" id="{5C63D1E8-4A92-4691-8A24-A2FC7E8008E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0771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5">
              <a:extLst>
                <a:ext uri="{FF2B5EF4-FFF2-40B4-BE49-F238E27FC236}">
                  <a16:creationId xmlns:a16="http://schemas.microsoft.com/office/drawing/2014/main" id="{6E91D320-3732-40B8-864D-142D0A277ED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63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4">
              <a:extLst>
                <a:ext uri="{FF2B5EF4-FFF2-40B4-BE49-F238E27FC236}">
                  <a16:creationId xmlns:a16="http://schemas.microsoft.com/office/drawing/2014/main" id="{299ABE09-E33C-46B7-A80D-7BF4A6956211}"/>
                </a:ext>
              </a:extLst>
            </p:cNvPr>
            <p:cNvCxnSpPr/>
            <p:nvPr userDrawn="1"/>
          </p:nvCxnSpPr>
          <p:spPr>
            <a:xfrm>
              <a:off x="819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3">
              <a:extLst>
                <a:ext uri="{FF2B5EF4-FFF2-40B4-BE49-F238E27FC236}">
                  <a16:creationId xmlns:a16="http://schemas.microsoft.com/office/drawing/2014/main" id="{93DDBF37-0764-47AA-94E3-9A44F3ED8FB5}"/>
                </a:ext>
              </a:extLst>
            </p:cNvPr>
            <p:cNvCxnSpPr/>
            <p:nvPr userDrawn="1"/>
          </p:nvCxnSpPr>
          <p:spPr>
            <a:xfrm>
              <a:off x="6757113" y="332921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">
              <a:extLst>
                <a:ext uri="{FF2B5EF4-FFF2-40B4-BE49-F238E27FC236}">
                  <a16:creationId xmlns:a16="http://schemas.microsoft.com/office/drawing/2014/main" id="{72BFE2F3-0845-4E5B-9375-E9D4027DD675}"/>
                </a:ext>
              </a:extLst>
            </p:cNvPr>
            <p:cNvCxnSpPr/>
            <p:nvPr userDrawn="1"/>
          </p:nvCxnSpPr>
          <p:spPr>
            <a:xfrm>
              <a:off x="5309913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1">
              <a:extLst>
                <a:ext uri="{FF2B5EF4-FFF2-40B4-BE49-F238E27FC236}">
                  <a16:creationId xmlns:a16="http://schemas.microsoft.com/office/drawing/2014/main" id="{D4E5982E-3110-47E1-A5BB-91B7BECC3093}"/>
                </a:ext>
              </a:extLst>
            </p:cNvPr>
            <p:cNvCxnSpPr/>
            <p:nvPr userDrawn="1"/>
          </p:nvCxnSpPr>
          <p:spPr>
            <a:xfrm>
              <a:off x="3915327" y="333556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Horizontal">
              <a:extLst>
                <a:ext uri="{FF2B5EF4-FFF2-40B4-BE49-F238E27FC236}">
                  <a16:creationId xmlns:a16="http://schemas.microsoft.com/office/drawing/2014/main" id="{5F62FB7C-BD6E-4383-98C1-2CF30F34CA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915327" y="3335565"/>
              <a:ext cx="7161786" cy="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0">
              <a:extLst>
                <a:ext uri="{FF2B5EF4-FFF2-40B4-BE49-F238E27FC236}">
                  <a16:creationId xmlns:a16="http://schemas.microsoft.com/office/drawing/2014/main" id="{C84A0FE1-723D-4682-8682-77BAD950EE15}"/>
                </a:ext>
              </a:extLst>
            </p:cNvPr>
            <p:cNvCxnSpPr/>
            <p:nvPr userDrawn="1"/>
          </p:nvCxnSpPr>
          <p:spPr>
            <a:xfrm>
              <a:off x="7496220" y="3092995"/>
              <a:ext cx="0" cy="236220"/>
            </a:xfrm>
            <a:prstGeom prst="line">
              <a:avLst/>
            </a:prstGeom>
            <a:ln w="254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8" name="Picture SoftUni Logo" descr="SoftUni logo">
              <a:extLst>
                <a:ext uri="{FF2B5EF4-FFF2-40B4-BE49-F238E27FC236}">
                  <a16:creationId xmlns:a16="http://schemas.microsoft.com/office/drawing/2014/main" id="{A0675455-B7FA-4569-A5FD-A3B0F20B2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96770" y="1702473"/>
              <a:ext cx="1198901" cy="1198901"/>
            </a:xfrm>
            <a:prstGeom prst="rect">
              <a:avLst/>
            </a:prstGeom>
          </p:spPr>
        </p:pic>
      </p:grpSp>
      <p:sp>
        <p:nvSpPr>
          <p:cNvPr id="19" name="Slide Title">
            <a:extLst>
              <a:ext uri="{FF2B5EF4-FFF2-40B4-BE49-F238E27FC236}">
                <a16:creationId xmlns:a16="http://schemas.microsoft.com/office/drawing/2014/main" id="{7CFDBB16-985C-4CC7-B6DB-B81B36037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628" y="703244"/>
            <a:ext cx="5916372" cy="1033303"/>
          </a:xfrm>
          <a:prstGeom prst="rect">
            <a:avLst/>
          </a:prstGeom>
        </p:spPr>
        <p:txBody>
          <a:bodyPr wrap="none" lIns="0" tIns="0" rIns="0" bIns="0" anchor="ctr" anchorCtr="0">
            <a:no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marL="0" marR="0" lvl="0" indent="0" algn="l" defTabSz="913852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748E">
                  <a:lumMod val="40000"/>
                  <a:lumOff val="60000"/>
                </a:srgbClr>
              </a:buClr>
              <a:buSzPct val="70000"/>
              <a:buFont typeface="Wingdings 2" pitchFamily="18" charset="2"/>
              <a:buNone/>
              <a:tabLst/>
              <a:defRPr/>
            </a:pPr>
            <a:r>
              <a:rPr kumimoji="0" lang="en-US" sz="8797" b="1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Questions?</a:t>
            </a:r>
            <a:endParaRPr kumimoji="0" lang="en-US" sz="8797" b="1" i="0" u="none" strike="noStrike" kern="1200" cap="none" spc="150" normalizeH="0" baseline="0" noProof="0" dirty="0">
              <a:ln w="11430"/>
              <a:solidFill>
                <a:srgbClr val="234465"/>
              </a:solidFill>
              <a:effectLst>
                <a:outerShdw blurRad="254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6" name="Logo Software University" descr="Software University logo">
            <a:extLst>
              <a:ext uri="{FF2B5EF4-FFF2-40B4-BE49-F238E27FC236}">
                <a16:creationId xmlns:a16="http://schemas.microsoft.com/office/drawing/2014/main" id="{67FC4D2E-913D-432A-B658-F0D82839FA5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761" y="190267"/>
            <a:ext cx="2013336" cy="6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>
            <a:extLst>
              <a:ext uri="{FF2B5EF4-FFF2-40B4-BE49-F238E27FC236}">
                <a16:creationId xmlns:a16="http://schemas.microsoft.com/office/drawing/2014/main" id="{5B8761D8-B42F-4A70-A0CE-682CEB2AE3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pic>
        <p:nvPicPr>
          <p:cNvPr id="17" name="Picture Logo FB" descr="Facebook logo">
            <a:hlinkClick r:id="rId2" tooltip="Software University @ Facebook"/>
            <a:extLst>
              <a:ext uri="{FF2B5EF4-FFF2-40B4-BE49-F238E27FC236}">
                <a16:creationId xmlns:a16="http://schemas.microsoft.com/office/drawing/2014/main" id="{6B2C510E-5EF2-49F6-B926-2BD74CD3C7F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0523832" y="4399785"/>
            <a:ext cx="1003954" cy="1017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Logo SoftUni Right" descr="Software University logo">
            <a:hlinkClick r:id="rId4"/>
            <a:extLst>
              <a:ext uri="{FF2B5EF4-FFF2-40B4-BE49-F238E27FC236}">
                <a16:creationId xmlns:a16="http://schemas.microsoft.com/office/drawing/2014/main" id="{F4604840-E810-44B7-9FF1-3B28CD68B75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3401" y="1674000"/>
            <a:ext cx="1192055" cy="1473880"/>
          </a:xfrm>
          <a:prstGeom prst="rect">
            <a:avLst/>
          </a:prstGeom>
        </p:spPr>
      </p:pic>
      <p:pic>
        <p:nvPicPr>
          <p:cNvPr id="16" name="Picture SoftUni Mascot" descr="SoftUni mascot">
            <a:hlinkClick r:id="rId6"/>
            <a:extLst>
              <a:ext uri="{FF2B5EF4-FFF2-40B4-BE49-F238E27FC236}">
                <a16:creationId xmlns:a16="http://schemas.microsoft.com/office/drawing/2014/main" id="{07C965FA-A87E-4824-AFA8-C67AF548A76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181957" y="2584289"/>
            <a:ext cx="2732955" cy="3630993"/>
          </a:xfrm>
          <a:prstGeom prst="rect">
            <a:avLst/>
          </a:prstGeom>
        </p:spPr>
      </p:pic>
      <p:sp>
        <p:nvSpPr>
          <p:cNvPr id="12" name="Slide Body Text">
            <a:extLst>
              <a:ext uri="{FF2B5EF4-FFF2-40B4-BE49-F238E27FC236}">
                <a16:creationId xmlns:a16="http://schemas.microsoft.com/office/drawing/2014/main" id="{0C1F9416-8B6E-46DE-973C-777785E27A26}"/>
              </a:ext>
            </a:extLst>
          </p:cNvPr>
          <p:cNvSpPr>
            <a:spLocks noGrp="1"/>
          </p:cNvSpPr>
          <p:nvPr>
            <p:ph idx="4294967295" hasCustomPrompt="1"/>
          </p:nvPr>
        </p:nvSpPr>
        <p:spPr>
          <a:xfrm>
            <a:off x="152410" y="1186307"/>
            <a:ext cx="8688590" cy="5496127"/>
          </a:xfrm>
        </p:spPr>
        <p:txBody>
          <a:bodyPr wrap="square">
            <a:noAutofit/>
          </a:bodyPr>
          <a:lstStyle>
            <a:lvl1pPr latinLnBrk="0">
              <a:buClr>
                <a:schemeClr val="tx1"/>
              </a:buClr>
              <a:defRPr sz="2798"/>
            </a:lvl1pPr>
            <a:lvl2pPr marL="989981" marR="0" indent="-380762" algn="l" defTabSz="1218438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§"/>
              <a:tabLst>
                <a:tab pos="282405" algn="l"/>
              </a:tabLst>
              <a:defRPr sz="2800"/>
            </a:lvl2pPr>
            <a:lvl3pPr>
              <a:buClr>
                <a:schemeClr val="tx1"/>
              </a:buClr>
              <a:defRPr/>
            </a:lvl3pPr>
          </a:lstStyle>
          <a:p>
            <a:r>
              <a:rPr lang="en-US" sz="3000" noProof="0" dirty="0"/>
              <a:t>Software University – High-Quality Education, Profession and Job for Software Developers</a:t>
            </a:r>
          </a:p>
          <a:p>
            <a:pPr lvl="1"/>
            <a:r>
              <a:rPr lang="en-US" noProof="1">
                <a:hlinkClick r:id="rId6"/>
              </a:rPr>
              <a:t>softuni.bg</a:t>
            </a:r>
            <a:r>
              <a:rPr lang="en-US" noProof="1"/>
              <a:t> </a:t>
            </a:r>
          </a:p>
          <a:p>
            <a:r>
              <a:rPr lang="en-US" sz="3000" noProof="0" dirty="0"/>
              <a:t>Software University Foundation</a:t>
            </a:r>
          </a:p>
          <a:p>
            <a:pPr lvl="1"/>
            <a:r>
              <a:rPr lang="en-US" noProof="1">
                <a:hlinkClick r:id="rId8"/>
              </a:rPr>
              <a:t>softuni.foundation</a:t>
            </a:r>
            <a:endParaRPr lang="en-US" noProof="1"/>
          </a:p>
          <a:p>
            <a:r>
              <a:rPr lang="en-US" sz="3000" noProof="0" dirty="0"/>
              <a:t>Software University @ Facebook</a:t>
            </a:r>
          </a:p>
          <a:p>
            <a:pPr lvl="1"/>
            <a:r>
              <a:rPr lang="en-US" noProof="1">
                <a:hlinkClick r:id="rId2"/>
              </a:rPr>
              <a:t>facebook.com/SoftwareUniversity</a:t>
            </a:r>
            <a:endParaRPr lang="en-US" noProof="1"/>
          </a:p>
          <a:p>
            <a:r>
              <a:rPr lang="en-US" sz="3000" noProof="0" dirty="0"/>
              <a:t>Software University Forums</a:t>
            </a:r>
          </a:p>
          <a:p>
            <a:pPr lvl="1"/>
            <a:r>
              <a:rPr lang="en-US" noProof="1">
                <a:hlinkClick r:id="rId9"/>
              </a:rPr>
              <a:t>forum.softuni.bg</a:t>
            </a:r>
            <a:endParaRPr lang="en-US" noProof="1"/>
          </a:p>
        </p:txBody>
      </p:sp>
      <p:sp>
        <p:nvSpPr>
          <p:cNvPr id="10" name="Rectangle Top">
            <a:extLst>
              <a:ext uri="{FF2B5EF4-FFF2-40B4-BE49-F238E27FC236}">
                <a16:creationId xmlns:a16="http://schemas.microsoft.com/office/drawing/2014/main" id="{86646B95-5E3B-4DE8-9118-031C2C296D8C}"/>
              </a:ext>
            </a:extLst>
          </p:cNvPr>
          <p:cNvSpPr/>
          <p:nvPr userDrawn="1"/>
        </p:nvSpPr>
        <p:spPr>
          <a:xfrm>
            <a:off x="0" y="0"/>
            <a:ext cx="12195176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11" name="Logo Software University" descr="Software University logo">
            <a:extLst>
              <a:ext uri="{FF2B5EF4-FFF2-40B4-BE49-F238E27FC236}">
                <a16:creationId xmlns:a16="http://schemas.microsoft.com/office/drawing/2014/main" id="{58AB1944-B146-4E89-B2D9-426EB610F319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7957" y="253936"/>
            <a:ext cx="1915704" cy="559235"/>
          </a:xfrm>
          <a:prstGeom prst="rect">
            <a:avLst/>
          </a:prstGeom>
        </p:spPr>
      </p:pic>
      <p:sp>
        <p:nvSpPr>
          <p:cNvPr id="18" name="Slide Title">
            <a:extLst>
              <a:ext uri="{FF2B5EF4-FFF2-40B4-BE49-F238E27FC236}">
                <a16:creationId xmlns:a16="http://schemas.microsoft.com/office/drawing/2014/main" id="{AE87ED9C-76E1-4D85-9B06-3AF44AABB6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2286" y="108873"/>
            <a:ext cx="9742626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Trainings @ Software University (SoftUni)</a:t>
            </a:r>
          </a:p>
        </p:txBody>
      </p:sp>
    </p:spTree>
    <p:extLst>
      <p:ext uri="{BB962C8B-B14F-4D97-AF65-F5344CB8AC3E}">
        <p14:creationId xmlns:p14="http://schemas.microsoft.com/office/powerpoint/2010/main" val="21964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Background" descr="SoftUni Background">
            <a:extLst>
              <a:ext uri="{FF2B5EF4-FFF2-40B4-BE49-F238E27FC236}">
                <a16:creationId xmlns:a16="http://schemas.microsoft.com/office/drawing/2014/main" id="{5BE90A63-DDD9-4B3B-A234-DF69B9BC81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b="1672"/>
          <a:stretch/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89" r:id="rId2"/>
    <p:sldLayoutId id="2147483681" r:id="rId3"/>
    <p:sldLayoutId id="2147483691" r:id="rId4"/>
    <p:sldLayoutId id="2147483680" r:id="rId5"/>
    <p:sldLayoutId id="2147483688" r:id="rId6"/>
    <p:sldLayoutId id="2147483684" r:id="rId7"/>
    <p:sldLayoutId id="2147483677" r:id="rId8"/>
    <p:sldLayoutId id="2147483683" r:id="rId9"/>
    <p:sldLayoutId id="2147483685" r:id="rId10"/>
    <p:sldLayoutId id="2147483686" r:id="rId11"/>
    <p:sldLayoutId id="2147483687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entityframework-plus.net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bg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www.facebook.com/SoftwareUniversity" TargetMode="External"/><Relationship Id="rId5" Type="http://schemas.openxmlformats.org/officeDocument/2006/relationships/hyperlink" Target="https://softuni.foundation/" TargetMode="External"/><Relationship Id="rId4" Type="http://schemas.openxmlformats.org/officeDocument/2006/relationships/hyperlink" Target="https://about.softuni.bg/" TargetMode="Externa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bout.softuni.bg/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5.png"/><Relationship Id="rId4" Type="http://schemas.openxmlformats.org/officeDocument/2006/relationships/hyperlink" Target="https://softuni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Entity Framework Core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Advanced Querying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Software University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https://about.softuni.bg/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SoftUni Team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Technical Trainers</a:t>
            </a:r>
          </a:p>
        </p:txBody>
      </p:sp>
      <p:pic>
        <p:nvPicPr>
          <p:cNvPr id="2" name="Picture 2" descr="Ð ÐµÐ·ÑÐ»ÑÐ°Ñ Ñ Ð¸Ð·Ð¾Ð±ÑÐ°Ð¶ÐµÐ½Ð¸Ðµ Ð·Ð° querying 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985915">
            <a:off x="4626647" y="2129833"/>
            <a:ext cx="2938706" cy="2938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0658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bg-BG" sz="4000" b="1" dirty="0"/>
          </a:p>
          <a:p>
            <a:pPr marL="0" indent="0" algn="ctr">
              <a:buNone/>
            </a:pPr>
            <a:r>
              <a:rPr lang="en-US" sz="8800" b="1" u="sng" dirty="0">
                <a:solidFill>
                  <a:schemeClr val="bg1"/>
                </a:solidFill>
              </a:rPr>
              <a:t>sli.do</a:t>
            </a:r>
            <a:endParaRPr lang="bg-BG" sz="7200" b="1" u="sng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11500" b="1" dirty="0"/>
              <a:t>#csharp-db</a:t>
            </a:r>
            <a:endParaRPr lang="en-US" sz="11500" dirty="0"/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Have a Question?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86BBE7F-3499-47BE-B21F-885B4A121D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57126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A566F-0E0E-4BF9-A3B0-6F01080380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Executing Native SQL Queries</a:t>
            </a:r>
          </a:p>
          <a:p>
            <a:pPr lvl="1"/>
            <a:r>
              <a:rPr lang="en-US" dirty="0"/>
              <a:t>Execute Stored Procedures</a:t>
            </a:r>
          </a:p>
          <a:p>
            <a:r>
              <a:rPr lang="en-US" dirty="0"/>
              <a:t>Object State Tracking</a:t>
            </a:r>
          </a:p>
          <a:p>
            <a:r>
              <a:rPr lang="en-US" dirty="0"/>
              <a:t>Bulk Operations</a:t>
            </a:r>
          </a:p>
          <a:p>
            <a:r>
              <a:rPr lang="en-US" dirty="0"/>
              <a:t>Types of Loading</a:t>
            </a:r>
          </a:p>
          <a:p>
            <a:r>
              <a:rPr lang="en-US" dirty="0"/>
              <a:t>Concurrency Checks</a:t>
            </a:r>
          </a:p>
          <a:p>
            <a:r>
              <a:rPr lang="en-US" dirty="0"/>
              <a:t>Cascade Operations</a:t>
            </a:r>
            <a:endParaRPr lang="en-GB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C603285-689A-4E41-8F77-BD9FEA5C4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Table of Contents</a:t>
            </a:r>
            <a:endParaRPr lang="en-US" dirty="0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DA4EC82-6B1C-4460-9B44-95A207A9F93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421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FCAC4EA-3578-403F-A3D7-8F4697E1BC1C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Executing Native SQL Queries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7605" y="1219201"/>
            <a:ext cx="2276793" cy="2619741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5365D183-5113-467E-A546-F71770745DCE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 err="1"/>
              <a:t>Parameterless</a:t>
            </a:r>
            <a:r>
              <a:rPr lang="en-US" dirty="0"/>
              <a:t> and Parameterized</a:t>
            </a:r>
          </a:p>
        </p:txBody>
      </p:sp>
    </p:spTree>
    <p:extLst>
      <p:ext uri="{BB962C8B-B14F-4D97-AF65-F5344CB8AC3E}">
        <p14:creationId xmlns:p14="http://schemas.microsoft.com/office/powerpoint/2010/main" val="10915787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r>
              <a:rPr lang="en-US" dirty="0"/>
              <a:t>Executing a </a:t>
            </a:r>
            <a:r>
              <a:rPr lang="en-US" b="1" dirty="0">
                <a:solidFill>
                  <a:schemeClr val="bg1"/>
                </a:solidFill>
              </a:rPr>
              <a:t>native SQL query </a:t>
            </a:r>
            <a:r>
              <a:rPr lang="en-US" dirty="0"/>
              <a:t>in EF Core directly</a:t>
            </a:r>
          </a:p>
          <a:p>
            <a:endParaRPr lang="en-US" dirty="0"/>
          </a:p>
          <a:p>
            <a:endParaRPr lang="en-US" dirty="0"/>
          </a:p>
          <a:p>
            <a:pPr>
              <a:buClr>
                <a:schemeClr val="tx1"/>
              </a:buClr>
            </a:pPr>
            <a:r>
              <a:rPr lang="en-US" dirty="0"/>
              <a:t>Limitations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JOIN</a:t>
            </a:r>
            <a:r>
              <a:rPr lang="en-US" dirty="0"/>
              <a:t> statements </a:t>
            </a:r>
            <a:r>
              <a:rPr lang="en-US" b="1" dirty="0">
                <a:solidFill>
                  <a:schemeClr val="bg1"/>
                </a:solidFill>
              </a:rPr>
              <a:t>don't</a:t>
            </a:r>
            <a:r>
              <a:rPr lang="en-US" dirty="0"/>
              <a:t> get mapped to the entity class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Required columns </a:t>
            </a:r>
            <a:r>
              <a:rPr lang="en-US" dirty="0"/>
              <a:t>must </a:t>
            </a:r>
            <a:r>
              <a:rPr lang="en-US" b="1" dirty="0">
                <a:solidFill>
                  <a:schemeClr val="bg1"/>
                </a:solidFill>
              </a:rPr>
              <a:t>always</a:t>
            </a:r>
            <a:r>
              <a:rPr lang="en-US" dirty="0"/>
              <a:t> be selected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Target table </a:t>
            </a:r>
            <a:r>
              <a:rPr lang="en-US" dirty="0"/>
              <a:t>must be the same as the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DbSet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Native SQL Queries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696000" y="1944000"/>
            <a:ext cx="5032934" cy="1200329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var query = "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* FROM Employees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var employees = db.Employees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.FromSqlRaw(</a:t>
            </a:r>
            <a:r>
              <a:rPr lang="en-US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query</a:t>
            </a:r>
            <a:r>
              <a:rPr lang="en-US" b="1" noProof="1">
                <a:latin typeface="Consolas" pitchFamily="49" charset="0"/>
                <a:cs typeface="Consolas" pitchFamily="49" charset="0"/>
              </a:rPr>
              <a:t>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b="1" noProof="1">
                <a:latin typeface="Consolas" pitchFamily="49" charset="0"/>
                <a:cs typeface="Consolas" pitchFamily="49" charset="0"/>
              </a:rPr>
              <a:t>  .ToArray();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1797C39-64DF-462E-BF08-384581662E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1006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Native SQL queries can also be parameterized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Native SQL Queries with Parameters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760412" y="1944000"/>
            <a:ext cx="10671176" cy="440120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var context = new SoftUniDbContext();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string nativeSQLQuery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"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SELECT FirstName, LastName, JobTitle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 +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"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FROM dbo.Employees WHERE JobTitle = {0}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var employees = context.Employees.FromSqlRaw(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nativeSQLQuery, "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Marketing Specialist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foreach (var employee in employees)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Console.WriteLine(employee.FirstName);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8760642" y="2362201"/>
            <a:ext cx="1869744" cy="808957"/>
          </a:xfrm>
          <a:prstGeom prst="wedgeRoundRectCallout">
            <a:avLst>
              <a:gd name="adj1" fmla="val -56531"/>
              <a:gd name="adj2" fmla="val 39546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 placeholder</a:t>
            </a: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7536000" y="4644000"/>
            <a:ext cx="1814029" cy="919401"/>
          </a:xfrm>
          <a:prstGeom prst="wedgeRoundRectCallout">
            <a:avLst>
              <a:gd name="adj1" fmla="val -57928"/>
              <a:gd name="adj2" fmla="val -5059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Parameter value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433C4961-713A-46C4-BCB5-6C10F08D49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838250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b="1" noProof="1">
                <a:latin typeface="+mj-lt"/>
              </a:rPr>
              <a:t>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FromSqlInterpolated</a:t>
            </a:r>
            <a:r>
              <a:rPr lang="en-US" dirty="0"/>
              <a:t> allows string interpolation syntax</a:t>
            </a:r>
            <a:endParaRPr lang="bg-BG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Interpolation in SQL Queries</a:t>
            </a:r>
            <a:endParaRPr lang="bg-B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36000" y="1905000"/>
            <a:ext cx="11665598" cy="424731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var context = new SoftUniDbContext();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string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jobTitle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 = "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Marketing Specialist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FormattableString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 nativeSQLQuery =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$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"SELECT * FROM dbo.Employees WHERE JobTitle = </a:t>
            </a:r>
            <a:r>
              <a:rPr lang="en-US" sz="26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{jobTitle}</a:t>
            </a:r>
            <a:r>
              <a:rPr lang="en-US" sz="2600" b="1" noProof="1">
                <a:latin typeface="Consolas" pitchFamily="49" charset="0"/>
                <a:cs typeface="Consolas" pitchFamily="49" charset="0"/>
              </a:rPr>
              <a:t>";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var employees = context.Employees.FromSqlInterpolated(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nativeSQLQuery);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foreach (var employee in employees)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  Console.WriteLine(employee.FirstName);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6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9775428" y="2079000"/>
            <a:ext cx="2086529" cy="919401"/>
          </a:xfrm>
          <a:prstGeom prst="wedgeRoundRectCallout">
            <a:avLst>
              <a:gd name="adj1" fmla="val -15585"/>
              <a:gd name="adj2" fmla="val 72278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Interpolated parameter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0D9769A7-17F8-404E-BB05-120BD0F54F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56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Stored Procedures can be executed via SQL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Executing a Stored Procedure 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78549" y="1989000"/>
            <a:ext cx="8539468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CREATE PROCEDURE </a:t>
            </a:r>
            <a:r>
              <a:rPr lang="en-US" sz="2600" b="1" noProof="1">
                <a:latin typeface="Consolas" panose="020B0609020204030204" pitchFamily="49" charset="0"/>
              </a:rPr>
              <a:t>UpdateSalary @param 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int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AS </a:t>
            </a:r>
          </a:p>
          <a:p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UPDATE </a:t>
            </a:r>
            <a:r>
              <a:rPr lang="en-US" sz="2600" b="1" noProof="1">
                <a:latin typeface="Consolas" panose="020B0609020204030204" pitchFamily="49" charset="0"/>
              </a:rPr>
              <a:t>Employees 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SET</a:t>
            </a:r>
            <a:r>
              <a:rPr lang="en-US" sz="2600" b="1" noProof="1">
                <a:latin typeface="Consolas" panose="020B0609020204030204" pitchFamily="49" charset="0"/>
              </a:rPr>
              <a:t> Salary = Salary + @param;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8549" y="3710614"/>
            <a:ext cx="10187451" cy="129266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600" b="1" noProof="1">
                <a:latin typeface="Consolas" panose="020B0609020204030204" pitchFamily="49" charset="0"/>
              </a:rPr>
              <a:t>var salaryParameter = new 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SqlParameter</a:t>
            </a:r>
            <a:r>
              <a:rPr lang="en-US" sz="2600" b="1" noProof="1">
                <a:latin typeface="Consolas" panose="020B0609020204030204" pitchFamily="49" charset="0"/>
              </a:rPr>
              <a:t>("@salary", 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5</a:t>
            </a:r>
            <a:r>
              <a:rPr lang="en-US" sz="2600" b="1" noProof="1">
                <a:latin typeface="Consolas" panose="020B0609020204030204" pitchFamily="49" charset="0"/>
              </a:rPr>
              <a:t>);</a:t>
            </a:r>
          </a:p>
          <a:p>
            <a:r>
              <a:rPr lang="en-US" sz="2600" b="1" noProof="1">
                <a:latin typeface="Consolas" panose="020B0609020204030204" pitchFamily="49" charset="0"/>
              </a:rPr>
              <a:t>var query = "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EXEC UpdateSalary @salary</a:t>
            </a:r>
            <a:r>
              <a:rPr lang="en-US" sz="2600" b="1" noProof="1">
                <a:latin typeface="Consolas" panose="020B0609020204030204" pitchFamily="49" charset="0"/>
              </a:rPr>
              <a:t>";</a:t>
            </a:r>
          </a:p>
          <a:p>
            <a:r>
              <a:rPr lang="en-US" sz="2600" b="1" noProof="1">
                <a:latin typeface="Consolas" panose="020B0609020204030204" pitchFamily="49" charset="0"/>
              </a:rPr>
              <a:t>context.Database.</a:t>
            </a:r>
            <a:r>
              <a:rPr lang="en-US" sz="2600" b="1" dirty="0" err="1">
                <a:latin typeface="Consolas" panose="020B0609020204030204" pitchFamily="49" charset="0"/>
              </a:rPr>
              <a:t>ExecuteSqlRaw</a:t>
            </a:r>
            <a:r>
              <a:rPr lang="en-US" sz="2600" b="1" noProof="1">
                <a:latin typeface="Consolas" panose="020B0609020204030204" pitchFamily="49" charset="0"/>
              </a:rPr>
              <a:t>(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query</a:t>
            </a:r>
            <a:r>
              <a:rPr lang="en-US" sz="2600" b="1" noProof="1">
                <a:latin typeface="Consolas" panose="020B0609020204030204" pitchFamily="49" charset="0"/>
              </a:rPr>
              <a:t>, </a:t>
            </a:r>
            <a:r>
              <a:rPr lang="en-US" sz="2600" b="1" noProof="1">
                <a:solidFill>
                  <a:schemeClr val="bg1"/>
                </a:solidFill>
                <a:latin typeface="Consolas" panose="020B0609020204030204" pitchFamily="49" charset="0"/>
              </a:rPr>
              <a:t>salaryParameter</a:t>
            </a:r>
            <a:r>
              <a:rPr lang="en-US" sz="2600" b="1" noProof="1">
                <a:latin typeface="Consolas" panose="020B0609020204030204" pitchFamily="49" charset="0"/>
              </a:rPr>
              <a:t>);</a:t>
            </a:r>
            <a:endParaRPr lang="en-US" sz="2600" b="1" noProof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6EF710B-8689-4DE2-9BC8-47C16A0A2F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23156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B5E14-5900-4CF7-8E84-7B4B5F00047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Object State Tracking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210048" y="990600"/>
            <a:ext cx="4317062" cy="3352800"/>
            <a:chOff x="4208460" y="990600"/>
            <a:chExt cx="4317062" cy="335280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C509B09-81B5-4806-8B1A-B938E0EB3A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8894204">
              <a:off x="4418012" y="990600"/>
              <a:ext cx="3352800" cy="3352800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4208460" y="2429319"/>
              <a:ext cx="2286000" cy="4753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1600" b="1" dirty="0">
                  <a:solidFill>
                    <a:schemeClr val="bg2"/>
                  </a:solidFill>
                </a:rPr>
                <a:t>State Prediction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858522" y="2429319"/>
              <a:ext cx="2667000" cy="475359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l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en-US" sz="1600" b="1" dirty="0">
                  <a:solidFill>
                    <a:schemeClr val="bg2"/>
                  </a:solidFill>
                </a:rPr>
                <a:t>Measurement Update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1053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 fontScale="92500" lnSpcReduction="10000"/>
          </a:bodyPr>
          <a:lstStyle/>
          <a:p>
            <a:pPr>
              <a:buClr>
                <a:schemeClr val="tx1"/>
              </a:buClr>
            </a:pPr>
            <a:r>
              <a:rPr lang="en-US" sz="3500" dirty="0"/>
              <a:t>In Entity Framework, objects can be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Attached</a:t>
            </a:r>
            <a:r>
              <a:rPr lang="en-US" dirty="0"/>
              <a:t> to the object context (tracked object)</a:t>
            </a:r>
          </a:p>
          <a:p>
            <a:pPr lvl="1"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  <a:latin typeface="+mj-lt"/>
              </a:rPr>
              <a:t>Detached</a:t>
            </a:r>
            <a:r>
              <a:rPr lang="en-US" dirty="0"/>
              <a:t> from an object context (untracked object)</a:t>
            </a:r>
          </a:p>
          <a:p>
            <a:pPr>
              <a:buClr>
                <a:schemeClr val="tx1"/>
              </a:buClr>
            </a:pPr>
            <a:r>
              <a:rPr lang="en-US" sz="3500" dirty="0"/>
              <a:t>Attached objects are tracked and managed by the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SaveChanges()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dirty="0"/>
              <a:t>persists all changes in DB</a:t>
            </a:r>
          </a:p>
          <a:p>
            <a:r>
              <a:rPr lang="en-US" sz="3500" dirty="0"/>
              <a:t>Detached objects are not referenced by the </a:t>
            </a:r>
            <a:r>
              <a:rPr lang="en-US" sz="3500" b="1" noProof="1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</a:p>
          <a:p>
            <a:pPr lvl="1"/>
            <a:r>
              <a:rPr lang="en-US" dirty="0"/>
              <a:t>Behave like a normal objects, which are not related to EF</a:t>
            </a:r>
          </a:p>
          <a:p>
            <a:pPr lvl="1"/>
            <a:r>
              <a:rPr lang="en-US" dirty="0"/>
              <a:t>We can get detached objects using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AsNoTracking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n-US" dirty="0"/>
              <a:t>No-tracking queries are quicker to execute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Attached and Detached Objects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6077E31-C571-430D-9366-F9707DC48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60279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6077E31-C571-430D-9366-F9707DC480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7D934-B99E-4534-8433-B7E3514CE1D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3498" y="2104051"/>
            <a:ext cx="11205000" cy="1750324"/>
          </a:xfrm>
        </p:spPr>
        <p:txBody>
          <a:bodyPr/>
          <a:lstStyle/>
          <a:p>
            <a:r>
              <a:rPr lang="en-US" dirty="0"/>
              <a:t>var employee = </a:t>
            </a:r>
            <a:r>
              <a:rPr lang="en-US" dirty="0" err="1"/>
              <a:t>context.Employees</a:t>
            </a:r>
            <a:endParaRPr lang="en-US" dirty="0"/>
          </a:p>
          <a:p>
            <a:r>
              <a:rPr lang="en-US" dirty="0"/>
              <a:t>			.</a:t>
            </a:r>
            <a:r>
              <a:rPr lang="en-US" dirty="0" err="1"/>
              <a:t>FirstOrDefault</a:t>
            </a:r>
            <a:r>
              <a:rPr lang="en-US" dirty="0"/>
              <a:t>(e =&gt; </a:t>
            </a:r>
            <a:r>
              <a:rPr lang="en-US" dirty="0" err="1"/>
              <a:t>e.EmployeeId</a:t>
            </a:r>
            <a:r>
              <a:rPr lang="en-US" dirty="0"/>
              <a:t> == 1);</a:t>
            </a:r>
          </a:p>
          <a:p>
            <a:r>
              <a:rPr lang="en-US" dirty="0" err="1"/>
              <a:t>employee.JobTitle</a:t>
            </a:r>
            <a:r>
              <a:rPr lang="en-US" dirty="0"/>
              <a:t> = "Marketing Specialist";</a:t>
            </a:r>
          </a:p>
          <a:p>
            <a:r>
              <a:rPr lang="en-US" dirty="0" err="1"/>
              <a:t>context.</a:t>
            </a:r>
            <a:r>
              <a:rPr lang="en-US" dirty="0" err="1">
                <a:solidFill>
                  <a:schemeClr val="bg1"/>
                </a:solidFill>
              </a:rPr>
              <a:t>SaveChanges</a:t>
            </a:r>
            <a:r>
              <a:rPr lang="en-US" dirty="0">
                <a:solidFill>
                  <a:schemeClr val="bg1"/>
                </a:solidFill>
              </a:rPr>
              <a:t>()</a:t>
            </a:r>
            <a:r>
              <a:rPr lang="en-US" dirty="0"/>
              <a:t>;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>
          <a:xfrm>
            <a:off x="190450" y="1359000"/>
            <a:ext cx="11811097" cy="882654"/>
          </a:xfrm>
        </p:spPr>
        <p:txBody>
          <a:bodyPr/>
          <a:lstStyle/>
          <a:p>
            <a:pPr marL="630238" lvl="1" indent="-4572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Tracking</a:t>
            </a:r>
            <a:r>
              <a:rPr lang="en-US" dirty="0"/>
              <a:t> queries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Tracking and No-tracking Queries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8DE2C1-3324-4FF4-B6A2-8834DFF738AC}"/>
              </a:ext>
            </a:extLst>
          </p:cNvPr>
          <p:cNvSpPr txBox="1">
            <a:spLocks/>
          </p:cNvSpPr>
          <p:nvPr/>
        </p:nvSpPr>
        <p:spPr>
          <a:xfrm>
            <a:off x="190450" y="4024959"/>
            <a:ext cx="11811097" cy="882654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219" indent="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0238" lvl="1" indent="-457200">
              <a:buClr>
                <a:schemeClr val="tx1"/>
              </a:buClr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bg1"/>
                </a:solidFill>
              </a:rPr>
              <a:t>No-tracking</a:t>
            </a:r>
            <a:r>
              <a:rPr lang="en-US" dirty="0"/>
              <a:t> queries</a:t>
            </a:r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F6B14335-1DDA-4487-99A0-A883A7E4F7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70383" y="1914794"/>
            <a:ext cx="4005000" cy="510778"/>
          </a:xfrm>
          <a:prstGeom prst="wedgeRoundRectCallout">
            <a:avLst>
              <a:gd name="adj1" fmla="val -52715"/>
              <a:gd name="adj2" fmla="val 4192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Returns attached entry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B68DC28-821C-43A4-A337-FDDA09541127}"/>
              </a:ext>
            </a:extLst>
          </p:cNvPr>
          <p:cNvSpPr txBox="1">
            <a:spLocks/>
          </p:cNvSpPr>
          <p:nvPr/>
        </p:nvSpPr>
        <p:spPr>
          <a:xfrm>
            <a:off x="504855" y="4876905"/>
            <a:ext cx="11205000" cy="1362846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 marL="0" indent="0" algn="l" defTabSz="1218438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None/>
              <a:defRPr lang="en-US" sz="2398" b="1" kern="1200" noProof="1" smtClean="0">
                <a:solidFill>
                  <a:schemeClr val="tx1"/>
                </a:solidFill>
                <a:effectLst/>
                <a:latin typeface="Consolas" pitchFamily="49" charset="0"/>
                <a:ea typeface="+mn-ea"/>
                <a:cs typeface="Consolas" pitchFamily="49" charset="0"/>
              </a:defRPr>
            </a:lvl1pPr>
            <a:lvl2pPr marL="803275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55713" indent="-360363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0213" indent="-35242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8988" indent="-26670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var employees = </a:t>
            </a:r>
            <a:r>
              <a:rPr lang="en-US" dirty="0" err="1"/>
              <a:t>context.Employees</a:t>
            </a:r>
            <a:endParaRPr lang="en-US" dirty="0"/>
          </a:p>
          <a:p>
            <a:r>
              <a:rPr lang="en-US" dirty="0"/>
              <a:t>			 .</a:t>
            </a:r>
            <a:r>
              <a:rPr lang="en-US" dirty="0" err="1">
                <a:solidFill>
                  <a:schemeClr val="bg1"/>
                </a:solidFill>
              </a:rPr>
              <a:t>AsNoTracking</a:t>
            </a:r>
            <a:r>
              <a:rPr lang="en-US" dirty="0">
                <a:solidFill>
                  <a:schemeClr val="bg1"/>
                </a:solidFill>
              </a:rPr>
              <a:t>()</a:t>
            </a:r>
          </a:p>
          <a:p>
            <a:r>
              <a:rPr lang="en-US" dirty="0"/>
              <a:t>			 .</a:t>
            </a:r>
            <a:r>
              <a:rPr lang="en-US" dirty="0" err="1"/>
              <a:t>ToList</a:t>
            </a:r>
            <a:r>
              <a:rPr lang="en-US" dirty="0"/>
              <a:t>();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CD3AD54D-EFAB-470F-8124-7493647656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000" y="4807515"/>
            <a:ext cx="4790285" cy="510778"/>
          </a:xfrm>
          <a:prstGeom prst="wedgeRoundRectCallout">
            <a:avLst>
              <a:gd name="adj1" fmla="val -54166"/>
              <a:gd name="adj2" fmla="val 24575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Returns detached read-only entity</a:t>
            </a:r>
          </a:p>
        </p:txBody>
      </p:sp>
    </p:spTree>
    <p:extLst>
      <p:ext uri="{BB962C8B-B14F-4D97-AF65-F5344CB8AC3E}">
        <p14:creationId xmlns:p14="http://schemas.microsoft.com/office/powerpoint/2010/main" val="5461936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When a query is executed inside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, the returned </a:t>
            </a:r>
            <a:br>
              <a:rPr lang="en-US" dirty="0"/>
            </a:br>
            <a:r>
              <a:rPr lang="en-US" dirty="0"/>
              <a:t>objects are </a:t>
            </a:r>
            <a:r>
              <a:rPr lang="en-US" b="1" dirty="0">
                <a:solidFill>
                  <a:schemeClr val="bg1"/>
                </a:solidFill>
              </a:rPr>
              <a:t>automatically attached </a:t>
            </a:r>
            <a:r>
              <a:rPr lang="en-US" dirty="0"/>
              <a:t>to it</a:t>
            </a:r>
          </a:p>
          <a:p>
            <a:r>
              <a:rPr lang="en-US" dirty="0"/>
              <a:t>When a context is </a:t>
            </a:r>
            <a:r>
              <a:rPr lang="en-US" b="1" dirty="0">
                <a:solidFill>
                  <a:schemeClr val="bg1"/>
                </a:solidFill>
              </a:rPr>
              <a:t>destroyed</a:t>
            </a:r>
            <a:r>
              <a:rPr lang="en-US" dirty="0"/>
              <a:t>, all </a:t>
            </a:r>
            <a:r>
              <a:rPr lang="en-US" b="1" dirty="0">
                <a:solidFill>
                  <a:schemeClr val="bg1"/>
                </a:solidFill>
              </a:rPr>
              <a:t>objects</a:t>
            </a:r>
            <a:r>
              <a:rPr lang="en-US" dirty="0"/>
              <a:t> in it are </a:t>
            </a:r>
            <a:br>
              <a:rPr lang="bg-BG" dirty="0"/>
            </a:br>
            <a:r>
              <a:rPr lang="en-US" dirty="0"/>
              <a:t>automatically </a:t>
            </a:r>
            <a:r>
              <a:rPr lang="en-US" b="1" dirty="0">
                <a:solidFill>
                  <a:schemeClr val="bg1"/>
                </a:solidFill>
              </a:rPr>
              <a:t>detached</a:t>
            </a:r>
          </a:p>
          <a:p>
            <a:pPr lvl="1"/>
            <a:r>
              <a:rPr lang="en-US" dirty="0"/>
              <a:t>e.g., in </a:t>
            </a:r>
            <a:r>
              <a:rPr lang="en-US" b="1" dirty="0">
                <a:solidFill>
                  <a:schemeClr val="bg1"/>
                </a:solidFill>
              </a:rPr>
              <a:t>Web applications </a:t>
            </a:r>
            <a:r>
              <a:rPr lang="en-US" dirty="0"/>
              <a:t>between requests</a:t>
            </a:r>
          </a:p>
          <a:p>
            <a:r>
              <a:rPr lang="en-US" dirty="0"/>
              <a:t>You might later </a:t>
            </a:r>
            <a:r>
              <a:rPr lang="en-US" b="1" dirty="0">
                <a:solidFill>
                  <a:schemeClr val="bg1"/>
                </a:solidFill>
              </a:rPr>
              <a:t>attach</a:t>
            </a:r>
            <a:r>
              <a:rPr lang="en-US" dirty="0"/>
              <a:t> objects that have been previously 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detached </a:t>
            </a:r>
            <a:r>
              <a:rPr lang="en-US" dirty="0"/>
              <a:t>to a </a:t>
            </a:r>
            <a:r>
              <a:rPr lang="en-US" b="1" dirty="0">
                <a:solidFill>
                  <a:schemeClr val="bg1"/>
                </a:solidFill>
              </a:rPr>
              <a:t>new context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Attached Objects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2D8C234-494C-4A9F-8E28-26CC1ACFEA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4589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When is an object detached?</a:t>
            </a:r>
          </a:p>
          <a:p>
            <a:pPr lvl="1"/>
            <a:r>
              <a:rPr lang="en-US" dirty="0"/>
              <a:t>When we get the object from a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DbContext</a:t>
            </a:r>
            <a:r>
              <a:rPr lang="en-US" dirty="0"/>
              <a:t> and then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Dispose</a:t>
            </a:r>
            <a:r>
              <a:rPr lang="en-US" dirty="0"/>
              <a:t> it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Manually: by setting its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State</a:t>
            </a:r>
            <a:r>
              <a:rPr lang="en-US" dirty="0"/>
              <a:t> to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Detached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Detaching Objects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1070524" y="2703513"/>
            <a:ext cx="9435476" cy="2800767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Employee GetEmployeeById(int id)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using (var SoftUniDbContext = new SoftUniDbContext())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     return</a:t>
            </a:r>
            <a:r>
              <a:rPr lang="en-US" sz="2200" b="1" noProof="1">
                <a:latin typeface="Consolas" pitchFamily="49" charset="0"/>
                <a:cs typeface="Consolas" pitchFamily="49" charset="0"/>
              </a:rPr>
              <a:t> SoftUniDbContext.Employees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     .First(e =&gt; e.EmployeeID == id);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   </a:t>
            </a:r>
            <a:r>
              <a:rPr lang="en-US" sz="22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}</a:t>
            </a:r>
            <a:r>
              <a:rPr lang="en-US" sz="2200" b="1" noProof="1">
                <a:latin typeface="Consolas" pitchFamily="49" charset="0"/>
                <a:cs typeface="Consolas" pitchFamily="49" charset="0"/>
              </a:rPr>
              <a:t>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8" name="AutoShape 7"/>
          <p:cNvSpPr>
            <a:spLocks noChangeArrowheads="1"/>
          </p:cNvSpPr>
          <p:nvPr/>
        </p:nvSpPr>
        <p:spPr bwMode="auto">
          <a:xfrm>
            <a:off x="7401986" y="4419000"/>
            <a:ext cx="2971800" cy="919401"/>
          </a:xfrm>
          <a:prstGeom prst="wedgeRoundRectCallout">
            <a:avLst>
              <a:gd name="adj1" fmla="val -56067"/>
              <a:gd name="adj2" fmla="val -27504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Returned </a:t>
            </a:r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employee</a:t>
            </a:r>
            <a:b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is detached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71C2BA99-D0B3-4CEA-B23A-03237CA20F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0081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When we want to update a detached object, we need to</a:t>
            </a:r>
            <a:br>
              <a:rPr lang="en-US" dirty="0"/>
            </a:br>
            <a:r>
              <a:rPr lang="en-US" b="1" dirty="0">
                <a:solidFill>
                  <a:schemeClr val="bg1"/>
                </a:solidFill>
              </a:rPr>
              <a:t>reattach it </a:t>
            </a:r>
            <a:r>
              <a:rPr lang="en-US" dirty="0"/>
              <a:t>and then update it: change to 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Attached</a:t>
            </a:r>
            <a:r>
              <a:rPr lang="en-US" dirty="0"/>
              <a:t> state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Reattaching Objects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96000" y="2574000"/>
            <a:ext cx="96744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void UpdateName(Employee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, string newName)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using (var softUniDbContext = new SoftUniDbContext())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   var entry = softUniDbContext.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Entry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(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employee</a:t>
            </a:r>
            <a:r>
              <a:rPr lang="en-US" sz="2400" b="1" noProof="1">
                <a:latin typeface="Consolas" pitchFamily="49" charset="0"/>
                <a:cs typeface="Consolas" pitchFamily="49" charset="0"/>
              </a:rPr>
              <a:t>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  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entry.State = EntityState.Modified;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   employee.FirstName = newName;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   softUniDbContext.SaveChanges();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   } 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D6AD43A5-C6C8-4EA3-8C44-7020AE1A72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14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46446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B7A1A4C-E2FC-4532-984F-555B06F56D0A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Bulk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91077" y="1752601"/>
            <a:ext cx="2609849" cy="1504615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8000" b="1" i="1" dirty="0">
                <a:solidFill>
                  <a:schemeClr val="bg2"/>
                </a:solidFill>
              </a:rPr>
              <a:t>BULK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6C9C3995-1D87-48B6-87EF-B3243E1287C8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Multiple Update and Delete in Single Query</a:t>
            </a:r>
          </a:p>
        </p:txBody>
      </p:sp>
    </p:spTree>
    <p:extLst>
      <p:ext uri="{BB962C8B-B14F-4D97-AF65-F5344CB8AC3E}">
        <p14:creationId xmlns:p14="http://schemas.microsoft.com/office/powerpoint/2010/main" val="1237470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EF Core </a:t>
            </a:r>
            <a:r>
              <a:rPr lang="en-US" b="1" dirty="0">
                <a:solidFill>
                  <a:schemeClr val="bg1"/>
                </a:solidFill>
              </a:rPr>
              <a:t>does not </a:t>
            </a:r>
            <a:r>
              <a:rPr lang="en-US" dirty="0"/>
              <a:t>support bulk operations</a:t>
            </a:r>
          </a:p>
          <a:p>
            <a:pPr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Z.EntityFramework.Plus</a:t>
            </a:r>
            <a:r>
              <a:rPr lang="en-US" noProof="1"/>
              <a:t> </a:t>
            </a:r>
            <a:r>
              <a:rPr lang="en-US" dirty="0"/>
              <a:t>gives you the ability to perform </a:t>
            </a:r>
            <a:r>
              <a:rPr lang="en-US" b="1" dirty="0">
                <a:solidFill>
                  <a:schemeClr val="bg1"/>
                </a:solidFill>
              </a:rPr>
              <a:t>bulk update/delete</a:t>
            </a:r>
            <a:r>
              <a:rPr lang="en-US" dirty="0"/>
              <a:t> of entities</a:t>
            </a:r>
          </a:p>
          <a:p>
            <a:r>
              <a:rPr lang="en-US" noProof="1"/>
              <a:t>Entity Framework Plus</a:t>
            </a:r>
          </a:p>
          <a:p>
            <a:endParaRPr lang="en-US" dirty="0"/>
          </a:p>
          <a:p>
            <a:r>
              <a:rPr lang="en-US" dirty="0"/>
              <a:t>Read more: 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https://entityframework-plus.net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/>
              <a:t>Entity Framework Plus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16D9860-37E5-4096-83F8-A274FF550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0" y="3879000"/>
            <a:ext cx="103632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Install-Package 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Z.EntityFramework.Plus.EFCore</a:t>
            </a:r>
            <a:endParaRPr lang="en-US" sz="2800" b="1" noProof="1">
              <a:solidFill>
                <a:schemeClr val="bg1"/>
              </a:solidFill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9C5899B-AFDF-46F9-AEC8-EB5E9AE6F4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76951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Delete all users where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FirstName</a:t>
            </a:r>
            <a:r>
              <a:rPr lang="en-US" dirty="0"/>
              <a:t> matches given string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Delete</a:t>
            </a: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2225464" y="1942408"/>
            <a:ext cx="7528888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context.Employees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  .Where(e =&gt; e.FirstName == "Pesho")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anose="020B0609020204030204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Delete</a:t>
            </a:r>
            <a:r>
              <a:rPr lang="en-US" sz="2800" b="1" noProof="1">
                <a:latin typeface="Consolas" panose="020B0609020204030204" pitchFamily="49" charset="0"/>
              </a:rPr>
              <a:t>();</a:t>
            </a:r>
            <a:endParaRPr lang="en-US" sz="2800" b="1" noProof="1"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5" name="Arrow: Down 4"/>
          <p:cNvSpPr/>
          <p:nvPr/>
        </p:nvSpPr>
        <p:spPr>
          <a:xfrm>
            <a:off x="5685108" y="3540124"/>
            <a:ext cx="609600" cy="457200"/>
          </a:xfrm>
          <a:prstGeom prst="downArrow">
            <a:avLst/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2225464" y="4154121"/>
            <a:ext cx="7528888" cy="2462213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</a:rPr>
              <a:t>DELETE</a:t>
            </a:r>
            <a:r>
              <a:rPr lang="en-US" sz="2200" b="1" noProof="1">
                <a:latin typeface="Consolas" panose="020B0609020204030204" pitchFamily="49" charset="0"/>
              </a:rPr>
              <a:t> [dbo].[Employees]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FROM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[dbo].[Employees]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AS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j0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INNER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JOIN (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SELECT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   [Extent1].[Id]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AS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[Id]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FROM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[dbo].[Employees] AS [Extent1].[Name]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  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WHERE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N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’Pesho'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= [Extent1].[Name]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)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AS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j1 </a:t>
            </a:r>
            <a:r>
              <a:rPr lang="en-US" sz="2200" b="1" noProof="1">
                <a:solidFill>
                  <a:schemeClr val="bg1"/>
                </a:solidFill>
                <a:latin typeface="Consolas" panose="020B0609020204030204" pitchFamily="49" charset="0"/>
                <a:cs typeface="Consolas" pitchFamily="49" charset="0"/>
              </a:rPr>
              <a:t>ON</a:t>
            </a:r>
            <a:r>
              <a:rPr lang="en-US" sz="2200" b="1" noProof="1">
                <a:latin typeface="Consolas" panose="020B0609020204030204" pitchFamily="49" charset="0"/>
                <a:cs typeface="Consolas" pitchFamily="49" charset="0"/>
              </a:rPr>
              <a:t> (j0.[Id] = j1.[Id])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5B3E59AC-7992-438D-9D4F-82EECC7F71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7297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Update all Employees with name "Niki" to "</a:t>
            </a:r>
            <a:r>
              <a:rPr lang="en-US" dirty="0" err="1"/>
              <a:t>Stoyan</a:t>
            </a:r>
            <a:r>
              <a:rPr lang="en-US" dirty="0"/>
              <a:t>"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Update all Employees' age to 99 who have the name "</a:t>
            </a:r>
            <a:r>
              <a:rPr lang="en-US" noProof="1"/>
              <a:t>Plamen"</a:t>
            </a:r>
            <a:endParaRPr lang="en-US" dirty="0"/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Bulk Update: Syntax</a:t>
            </a:r>
            <a:endParaRPr lang="en-US" noProof="1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51000" y="1867505"/>
            <a:ext cx="10591800" cy="12464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500" b="1" noProof="1">
                <a:latin typeface="Consolas" panose="020B0609020204030204" pitchFamily="49" charset="0"/>
              </a:rPr>
              <a:t>context.Employees</a:t>
            </a:r>
          </a:p>
          <a:p>
            <a:r>
              <a:rPr lang="en-US" sz="2500" b="1" noProof="1">
                <a:latin typeface="Consolas" panose="020B0609020204030204" pitchFamily="49" charset="0"/>
              </a:rPr>
              <a:t>  .Where(t =&gt; t.Name == "Niki")</a:t>
            </a:r>
          </a:p>
          <a:p>
            <a:r>
              <a:rPr lang="en-US" sz="2500" b="1" noProof="1">
                <a:latin typeface="Consolas" panose="020B0609020204030204" pitchFamily="49" charset="0"/>
              </a:rPr>
              <a:t>  .</a:t>
            </a:r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  <a:r>
              <a:rPr lang="en-US" sz="2500" b="1" noProof="1">
                <a:latin typeface="Consolas" panose="020B0609020204030204" pitchFamily="49" charset="0"/>
              </a:rPr>
              <a:t>(u =&gt; new Employee { Name = "Stoyan" });</a:t>
            </a:r>
            <a:endParaRPr lang="en-US" sz="2500" b="1" noProof="1">
              <a:latin typeface="Consolas" panose="020B0609020204030204" pitchFamily="49" charset="0"/>
              <a:cs typeface="Consolas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8E428D-FAA3-4C57-AF91-6635D4C55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0" y="4002784"/>
            <a:ext cx="10591800" cy="163121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</a:rPr>
              <a:t>IQueryable</a:t>
            </a:r>
            <a:r>
              <a:rPr lang="en-US" sz="2500" b="1" noProof="1">
                <a:latin typeface="Consolas" panose="020B0609020204030204" pitchFamily="49" charset="0"/>
              </a:rPr>
              <a:t>&lt;Employee&gt; employees = context.Employees</a:t>
            </a:r>
          </a:p>
          <a:p>
            <a:r>
              <a:rPr lang="en-US" sz="2500" b="1" noProof="1">
                <a:latin typeface="Consolas" panose="020B0609020204030204" pitchFamily="49" charset="0"/>
              </a:rPr>
              <a:t>  .Where(employee =&gt; employee.Name == "Plamen");</a:t>
            </a:r>
          </a:p>
          <a:p>
            <a:endParaRPr lang="en-US" sz="2500" b="1" noProof="1">
              <a:latin typeface="Consolas" panose="020B0609020204030204" pitchFamily="49" charset="0"/>
            </a:endParaRPr>
          </a:p>
          <a:p>
            <a:r>
              <a:rPr lang="en-US" sz="2500" b="1" noProof="1">
                <a:latin typeface="Consolas" panose="020B0609020204030204" pitchFamily="49" charset="0"/>
              </a:rPr>
              <a:t>employees.</a:t>
            </a:r>
            <a:r>
              <a:rPr lang="en-US" sz="2500" b="1" noProof="1">
                <a:solidFill>
                  <a:schemeClr val="bg1"/>
                </a:solidFill>
                <a:latin typeface="Consolas" panose="020B0609020204030204" pitchFamily="49" charset="0"/>
              </a:rPr>
              <a:t>Update</a:t>
            </a:r>
            <a:r>
              <a:rPr lang="en-US" sz="2500" b="1" noProof="1">
                <a:latin typeface="Consolas" panose="020B0609020204030204" pitchFamily="49" charset="0"/>
              </a:rPr>
              <a:t>(employee =&gt; new Employee { Age = 99 });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9BC830ED-58A9-480F-AE9F-B3BEE676B9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18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959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2EFAA2-32C8-40CA-9809-E7EC00244D7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Types of Loading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509B09-81B5-4806-8B1A-B938E0EB3A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882805">
            <a:off x="4419600" y="990600"/>
            <a:ext cx="3352800" cy="3352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57800" y="2316726"/>
            <a:ext cx="5181600" cy="700549"/>
          </a:xfrm>
          <a:prstGeom prst="rect">
            <a:avLst/>
          </a:prstGeom>
          <a:noFill/>
          <a:ln w="12700">
            <a:noFill/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l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000" b="1" dirty="0">
                <a:solidFill>
                  <a:schemeClr val="bg2"/>
                </a:solidFill>
              </a:rPr>
              <a:t>Loading…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D30EC507-74A3-4D3D-A01B-B65FC432497F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 dirty="0"/>
              <a:t>Lazy, Eager and Explicit Loading</a:t>
            </a:r>
          </a:p>
        </p:txBody>
      </p:sp>
    </p:spTree>
    <p:extLst>
      <p:ext uri="{BB962C8B-B14F-4D97-AF65-F5344CB8AC3E}">
        <p14:creationId xmlns:p14="http://schemas.microsoft.com/office/powerpoint/2010/main" val="9176995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>
            <a:normAutofit/>
          </a:bodyPr>
          <a:lstStyle/>
          <a:p>
            <a:pPr>
              <a:buClr>
                <a:schemeClr val="tx1"/>
              </a:buClr>
            </a:pPr>
            <a:r>
              <a:rPr lang="en-US" sz="3400" b="1" dirty="0">
                <a:solidFill>
                  <a:schemeClr val="bg1"/>
                </a:solidFill>
              </a:rPr>
              <a:t>Explicit loading </a:t>
            </a:r>
            <a:r>
              <a:rPr lang="en-US" sz="3400" dirty="0"/>
              <a:t>loads all records when they're needed</a:t>
            </a:r>
          </a:p>
          <a:p>
            <a:r>
              <a:rPr lang="en-US" sz="3400" dirty="0"/>
              <a:t>Performed with the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.Reference().Load() </a:t>
            </a:r>
            <a:r>
              <a:rPr lang="en-US" sz="3400" dirty="0"/>
              <a:t>and 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Collection()</a:t>
            </a:r>
            <a:r>
              <a:rPr lang="en-US" sz="3400" dirty="0">
                <a:solidFill>
                  <a:schemeClr val="bg1"/>
                </a:solidFill>
                <a:latin typeface="Consolas" panose="020B0609020204030204" pitchFamily="49" charset="0"/>
              </a:rPr>
              <a:t>.</a:t>
            </a:r>
            <a:r>
              <a:rPr lang="en-US" sz="3400" b="1" dirty="0">
                <a:solidFill>
                  <a:schemeClr val="bg1"/>
                </a:solidFill>
                <a:latin typeface="Consolas" panose="020B0609020204030204" pitchFamily="49" charset="0"/>
              </a:rPr>
              <a:t>Load()</a:t>
            </a:r>
            <a:r>
              <a:rPr lang="en-US" sz="3400" b="1" dirty="0">
                <a:solidFill>
                  <a:schemeClr val="bg1"/>
                </a:solidFill>
              </a:rPr>
              <a:t> </a:t>
            </a:r>
            <a:r>
              <a:rPr lang="en-US" sz="3400" dirty="0"/>
              <a:t>methods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 Loading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6F648-A0EA-4EFC-A2D8-95FC82FBD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0" y="3228303"/>
            <a:ext cx="8229600" cy="34163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400" b="1" noProof="1">
                <a:latin typeface="Consolas" panose="020B0609020204030204" pitchFamily="49" charset="0"/>
              </a:rPr>
              <a:t>var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</a:t>
            </a:r>
            <a:r>
              <a:rPr lang="en-US" sz="2400" b="1" noProof="1">
                <a:latin typeface="Consolas" panose="020B0609020204030204" pitchFamily="49" charset="0"/>
              </a:rPr>
              <a:t> = context.Employees.First();</a:t>
            </a:r>
          </a:p>
          <a:p>
            <a:endParaRPr lang="en-US" sz="2400" b="1" noProof="1">
              <a:latin typeface="Consolas" panose="020B0609020204030204" pitchFamily="49" charset="0"/>
            </a:endParaRPr>
          </a:p>
          <a:p>
            <a:r>
              <a:rPr lang="en-US" sz="2400" b="1" noProof="1">
                <a:latin typeface="Consolas" panose="020B0609020204030204" pitchFamily="49" charset="0"/>
              </a:rPr>
              <a:t>context.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Entry</a:t>
            </a:r>
            <a:r>
              <a:rPr lang="en-US" sz="2400" b="1" noProof="1">
                <a:latin typeface="Consolas" panose="020B0609020204030204" pitchFamily="49" charset="0"/>
              </a:rPr>
              <a:t>(employee)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Reference</a:t>
            </a:r>
            <a:r>
              <a:rPr lang="en-US" sz="2400" b="1" noProof="1">
                <a:latin typeface="Consolas" panose="020B0609020204030204" pitchFamily="49" charset="0"/>
              </a:rPr>
              <a:t>(e =&gt; e.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Department</a:t>
            </a:r>
            <a:r>
              <a:rPr lang="en-US" sz="2400" b="1" noProof="1">
                <a:latin typeface="Consolas" panose="020B0609020204030204" pitchFamily="49" charset="0"/>
              </a:rPr>
              <a:t>)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Load()</a:t>
            </a:r>
            <a:r>
              <a:rPr lang="en-US" sz="2400" b="1" noProof="1">
                <a:latin typeface="Consolas" panose="020B0609020204030204" pitchFamily="49" charset="0"/>
              </a:rPr>
              <a:t>;</a:t>
            </a:r>
          </a:p>
          <a:p>
            <a:endParaRPr lang="en-US" sz="2400" b="1" noProof="1">
              <a:latin typeface="Consolas" panose="020B0609020204030204" pitchFamily="49" charset="0"/>
            </a:endParaRPr>
          </a:p>
          <a:p>
            <a:r>
              <a:rPr lang="en-US" sz="2400" b="1" noProof="1">
                <a:latin typeface="Consolas" panose="020B0609020204030204" pitchFamily="49" charset="0"/>
              </a:rPr>
              <a:t>context.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Entry</a:t>
            </a:r>
            <a:r>
              <a:rPr lang="en-US" sz="2400" b="1" noProof="1">
                <a:latin typeface="Consolas" panose="020B0609020204030204" pitchFamily="49" charset="0"/>
              </a:rPr>
              <a:t>(employee)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Collection</a:t>
            </a:r>
            <a:r>
              <a:rPr lang="en-US" sz="2400" b="1" noProof="1">
                <a:latin typeface="Consolas" panose="020B0609020204030204" pitchFamily="49" charset="0"/>
              </a:rPr>
              <a:t>(e =&gt; e.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EmployeeProjects)</a:t>
            </a:r>
          </a:p>
          <a:p>
            <a:r>
              <a:rPr lang="en-US" sz="2400" b="1" noProof="1">
                <a:latin typeface="Consolas" panose="020B0609020204030204" pitchFamily="49" charset="0"/>
              </a:rPr>
              <a:t>  .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</a:rPr>
              <a:t>Load()</a:t>
            </a:r>
            <a:r>
              <a:rPr lang="en-US" sz="2400" b="1" noProof="1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4A70750-159C-49E2-B35F-5AE291225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20408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Eager loading </a:t>
            </a:r>
            <a:r>
              <a:rPr lang="en-US" dirty="0"/>
              <a:t>loads </a:t>
            </a:r>
            <a:r>
              <a:rPr lang="en-US" b="1" dirty="0">
                <a:solidFill>
                  <a:schemeClr val="bg1"/>
                </a:solidFill>
              </a:rPr>
              <a:t>all related records </a:t>
            </a:r>
            <a:r>
              <a:rPr lang="en-US" dirty="0"/>
              <a:t>of an entity </a:t>
            </a:r>
            <a:r>
              <a:rPr lang="en-US" b="1" dirty="0">
                <a:solidFill>
                  <a:schemeClr val="bg1"/>
                </a:solidFill>
              </a:rPr>
              <a:t>at once</a:t>
            </a:r>
          </a:p>
          <a:p>
            <a:r>
              <a:rPr lang="en-US" dirty="0"/>
              <a:t>Performed with the 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Include()</a:t>
            </a:r>
            <a:r>
              <a:rPr lang="en-US" b="1" dirty="0">
                <a:latin typeface="+mj-lt"/>
              </a:rPr>
              <a:t> and </a:t>
            </a:r>
            <a:r>
              <a:rPr lang="en-US" b="1" dirty="0" err="1">
                <a:solidFill>
                  <a:schemeClr val="bg1"/>
                </a:solidFill>
                <a:latin typeface="Consolas" panose="020B0609020204030204" pitchFamily="49" charset="0"/>
              </a:rPr>
              <a:t>ThenInclude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methods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Eager Loading 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708498" y="2678569"/>
            <a:ext cx="92202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latin typeface="Consolas" panose="020B0609020204030204" pitchFamily="49" charset="0"/>
              </a:rPr>
              <a:t>context.Towns.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Include</a:t>
            </a:r>
            <a:r>
              <a:rPr lang="en-US" sz="2800" b="1" noProof="1">
                <a:latin typeface="Consolas" panose="020B0609020204030204" pitchFamily="49" charset="0"/>
              </a:rPr>
              <a:t>("Employees");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708498" y="3465304"/>
            <a:ext cx="92202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latin typeface="Consolas" panose="020B0609020204030204" pitchFamily="49" charset="0"/>
              </a:rPr>
              <a:t>context.Towns.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Include</a:t>
            </a:r>
            <a:r>
              <a:rPr lang="en-US" sz="2800" b="1" noProof="1">
                <a:latin typeface="Consolas" panose="020B0609020204030204" pitchFamily="49" charset="0"/>
              </a:rPr>
              <a:t>(town =&gt; town.Employees);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A6F648-A0EA-4EFC-A2D8-95FC82FBD5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498" y="4276880"/>
            <a:ext cx="9220200" cy="138499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latin typeface="Consolas" panose="020B0609020204030204" pitchFamily="49" charset="0"/>
              </a:rPr>
              <a:t>context.Employees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Include</a:t>
            </a:r>
            <a:r>
              <a:rPr lang="en-US" sz="2800" b="1" noProof="1">
                <a:latin typeface="Consolas" panose="020B0609020204030204" pitchFamily="49" charset="0"/>
              </a:rPr>
              <a:t>(employee =&gt; employee.Address)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  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ThenInclude</a:t>
            </a:r>
            <a:r>
              <a:rPr lang="en-US" sz="2800" b="1" noProof="1">
                <a:latin typeface="Consolas" panose="020B0609020204030204" pitchFamily="49" charset="0"/>
              </a:rPr>
              <a:t>(address =&gt; address.Town)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16E409A3-0AA1-4812-B989-0F8E17769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9842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Lazy Loading </a:t>
            </a:r>
            <a:r>
              <a:rPr lang="en-US" b="1" dirty="0">
                <a:solidFill>
                  <a:schemeClr val="bg1"/>
                </a:solidFill>
              </a:rPr>
              <a:t>delays</a:t>
            </a:r>
            <a:r>
              <a:rPr lang="en-US" dirty="0"/>
              <a:t> loading of data until it is used</a:t>
            </a:r>
          </a:p>
          <a:p>
            <a:r>
              <a:rPr lang="en-US" dirty="0"/>
              <a:t>EF Core enables lazy-loading for any navigation property that </a:t>
            </a:r>
            <a:br>
              <a:rPr lang="en-US" dirty="0"/>
            </a:br>
            <a:r>
              <a:rPr lang="en-US" dirty="0"/>
              <a:t>can be </a:t>
            </a:r>
            <a:r>
              <a:rPr lang="en-US" b="1" dirty="0">
                <a:solidFill>
                  <a:schemeClr val="bg1"/>
                </a:solidFill>
              </a:rPr>
              <a:t>overridden</a:t>
            </a:r>
            <a:r>
              <a:rPr lang="en-US" dirty="0"/>
              <a:t> (</a:t>
            </a:r>
            <a:r>
              <a:rPr lang="en-US" b="1" dirty="0">
                <a:solidFill>
                  <a:schemeClr val="bg1"/>
                </a:solidFill>
              </a:rPr>
              <a:t>virtual</a:t>
            </a:r>
            <a:r>
              <a:rPr lang="en-US" dirty="0"/>
              <a:t>)</a:t>
            </a:r>
            <a:endParaRPr lang="bg-BG" dirty="0"/>
          </a:p>
          <a:p>
            <a:r>
              <a:rPr lang="en-US" dirty="0"/>
              <a:t>Offers better performance in certain cases</a:t>
            </a:r>
          </a:p>
          <a:p>
            <a:pPr lvl="1"/>
            <a:r>
              <a:rPr lang="en-US" dirty="0"/>
              <a:t>Less RAM usage</a:t>
            </a:r>
          </a:p>
          <a:p>
            <a:pPr lvl="1"/>
            <a:r>
              <a:rPr lang="en-US" dirty="0"/>
              <a:t>Smaller result sets returned</a:t>
            </a:r>
          </a:p>
          <a:p>
            <a:r>
              <a:rPr lang="en-US" dirty="0"/>
              <a:t>Each loading of navigational property is an addition query (N+1)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Lazy Loading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9D0A463D-D805-4C0A-8743-038BC7A8AE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960928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Install Lazy Loading Proxies</a:t>
            </a:r>
          </a:p>
          <a:p>
            <a:endParaRPr lang="en-US" dirty="0"/>
          </a:p>
          <a:p>
            <a:r>
              <a:rPr lang="en-US" dirty="0"/>
              <a:t>Enable the package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Enable Lazy Loading Proxies</a:t>
            </a:r>
            <a:endParaRPr lang="bg-BG" dirty="0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06000" y="1974753"/>
            <a:ext cx="11025000" cy="523220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latin typeface="Consolas" panose="020B0609020204030204" pitchFamily="49" charset="0"/>
              </a:rPr>
              <a:t>Install-Package Microsoft.EntityFrameworkCore.Proxies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06000" y="3272604"/>
            <a:ext cx="11025000" cy="2677656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2800" b="1" noProof="1">
                <a:latin typeface="Consolas" panose="020B0609020204030204" pitchFamily="49" charset="0"/>
              </a:rPr>
              <a:t>void OnConfiguring (DbContextOptionsBuilder options) </a:t>
            </a:r>
          </a:p>
          <a:p>
            <a:r>
              <a:rPr lang="en-US" sz="2800" b="1" noProof="1">
                <a:latin typeface="Consolas" panose="020B0609020204030204" pitchFamily="49" charset="0"/>
              </a:rPr>
              <a:t>{</a:t>
            </a:r>
          </a:p>
          <a:p>
            <a:r>
              <a:rPr lang="bg-BG" sz="2800" b="1" noProof="1">
                <a:latin typeface="Consolas" panose="020B0609020204030204" pitchFamily="49" charset="0"/>
              </a:rPr>
              <a:t>  </a:t>
            </a:r>
            <a:r>
              <a:rPr lang="en-US" sz="2800" b="1" noProof="1">
                <a:latin typeface="Consolas" panose="020B0609020204030204" pitchFamily="49" charset="0"/>
              </a:rPr>
              <a:t>options </a:t>
            </a:r>
            <a:endParaRPr lang="bg-BG" sz="2800" b="1" noProof="1">
              <a:latin typeface="Consolas" panose="020B0609020204030204" pitchFamily="49" charset="0"/>
            </a:endParaRPr>
          </a:p>
          <a:p>
            <a:r>
              <a:rPr lang="bg-BG" sz="2800" b="1" noProof="1">
                <a:latin typeface="Consolas" panose="020B0609020204030204" pitchFamily="49" charset="0"/>
              </a:rPr>
              <a:t>    </a:t>
            </a:r>
            <a:r>
              <a:rPr lang="en-US" sz="2800" b="1" noProof="1">
                <a:latin typeface="Consolas" panose="020B0609020204030204" pitchFamily="49" charset="0"/>
              </a:rPr>
              <a:t>.</a:t>
            </a:r>
            <a:r>
              <a:rPr lang="en-US" sz="2800" b="1" noProof="1">
                <a:solidFill>
                  <a:schemeClr val="bg1"/>
                </a:solidFill>
                <a:latin typeface="Consolas" panose="020B0609020204030204" pitchFamily="49" charset="0"/>
              </a:rPr>
              <a:t>UseLazyLoadingProxies()</a:t>
            </a:r>
            <a:endParaRPr lang="bg-BG" sz="2800" b="1" noProof="1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bg-BG" sz="2800" b="1" noProof="1">
                <a:latin typeface="Consolas" panose="020B0609020204030204" pitchFamily="49" charset="0"/>
              </a:rPr>
              <a:t>    </a:t>
            </a:r>
            <a:r>
              <a:rPr lang="en-US" sz="2800" b="1" noProof="1">
                <a:latin typeface="Consolas" panose="020B0609020204030204" pitchFamily="49" charset="0"/>
              </a:rPr>
              <a:t>.UseSqlServer(myConnectionString);</a:t>
            </a:r>
          </a:p>
          <a:p>
            <a:r>
              <a:rPr lang="en-US" sz="2800" b="1" noProof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6AE50B8A-9A09-43B5-ACA2-C2DEB710A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89765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N+1 Problem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821000" y="1167411"/>
            <a:ext cx="10321675" cy="5546589"/>
          </a:xfrm>
        </p:spPr>
        <p:txBody>
          <a:bodyPr/>
          <a:lstStyle/>
          <a:p>
            <a:r>
              <a:rPr lang="en-US" dirty="0"/>
              <a:t>Refreshing the article list page, sends 11 queries to </a:t>
            </a:r>
            <a:br>
              <a:rPr lang="en-US" dirty="0"/>
            </a:br>
            <a:r>
              <a:rPr lang="en-US" dirty="0"/>
              <a:t>the database</a:t>
            </a:r>
          </a:p>
          <a:p>
            <a:pPr lvl="1"/>
            <a:r>
              <a:rPr lang="en-US" sz="3200" dirty="0"/>
              <a:t>The </a:t>
            </a:r>
            <a:r>
              <a:rPr lang="en-US" sz="3200" b="1" dirty="0">
                <a:solidFill>
                  <a:schemeClr val="bg1"/>
                </a:solidFill>
              </a:rPr>
              <a:t>first query </a:t>
            </a:r>
            <a:r>
              <a:rPr lang="en-US" sz="3200" dirty="0"/>
              <a:t>finds the first 10 articles</a:t>
            </a:r>
          </a:p>
          <a:p>
            <a:pPr lvl="1"/>
            <a:r>
              <a:rPr lang="en-US" sz="3200" dirty="0"/>
              <a:t>The subsequent </a:t>
            </a:r>
            <a:r>
              <a:rPr lang="en-US" sz="3200" b="1" dirty="0">
                <a:solidFill>
                  <a:schemeClr val="bg1"/>
                </a:solidFill>
              </a:rPr>
              <a:t>10 queries</a:t>
            </a:r>
            <a:r>
              <a:rPr lang="en-US" sz="3200" dirty="0"/>
              <a:t>, find each </a:t>
            </a:r>
            <a:br>
              <a:rPr lang="bg-BG" sz="3200" dirty="0"/>
            </a:br>
            <a:r>
              <a:rPr lang="en-US" sz="3200" dirty="0"/>
              <a:t>article</a:t>
            </a:r>
            <a:r>
              <a:rPr lang="bg-BG" sz="3200" dirty="0"/>
              <a:t>'</a:t>
            </a:r>
            <a:r>
              <a:rPr lang="en-US" sz="3200" dirty="0"/>
              <a:t>s</a:t>
            </a:r>
            <a:r>
              <a:rPr lang="bg-BG" sz="3200" dirty="0"/>
              <a:t> </a:t>
            </a:r>
            <a:r>
              <a:rPr lang="en-US" sz="3200" dirty="0"/>
              <a:t>comments</a:t>
            </a:r>
          </a:p>
          <a:p>
            <a:pPr lvl="1"/>
            <a:r>
              <a:rPr lang="en-US" sz="3200" dirty="0"/>
              <a:t>Total of 11 queries (N + 1)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30494005-E54F-474A-A824-4AAA8EE6173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30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964F17-1C16-403B-A939-4956D295137D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Concurrency Checks</a:t>
            </a:r>
          </a:p>
        </p:txBody>
      </p:sp>
      <p:pic>
        <p:nvPicPr>
          <p:cNvPr id="4098" name="Picture 2" descr="Image result for concurrency check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1" y="1295400"/>
            <a:ext cx="5334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394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EF Core runs in </a:t>
            </a:r>
            <a:r>
              <a:rPr lang="en-US" b="1" dirty="0">
                <a:solidFill>
                  <a:schemeClr val="bg1"/>
                </a:solidFill>
              </a:rPr>
              <a:t>optimistic concurrency </a:t>
            </a:r>
            <a:r>
              <a:rPr lang="en-US" dirty="0"/>
              <a:t>mode (no locking)</a:t>
            </a:r>
          </a:p>
          <a:p>
            <a:pPr lvl="1"/>
            <a:r>
              <a:rPr lang="en-US" dirty="0"/>
              <a:t>By default, the conflict resolution strategy in EF is "</a:t>
            </a:r>
            <a:r>
              <a:rPr lang="en-US" b="1" dirty="0">
                <a:solidFill>
                  <a:schemeClr val="bg1"/>
                </a:solidFill>
              </a:rPr>
              <a:t>last one wins</a:t>
            </a:r>
            <a:r>
              <a:rPr lang="en-US" dirty="0"/>
              <a:t>"</a:t>
            </a:r>
          </a:p>
          <a:p>
            <a:pPr lvl="1"/>
            <a:r>
              <a:rPr lang="en-US" dirty="0"/>
              <a:t>The last change overwrites all previous concurrent changes</a:t>
            </a:r>
          </a:p>
          <a:p>
            <a:pPr>
              <a:buClr>
                <a:schemeClr val="tx1"/>
              </a:buClr>
            </a:pPr>
            <a:r>
              <a:rPr lang="en-US" dirty="0"/>
              <a:t>Enabling "</a:t>
            </a:r>
            <a:r>
              <a:rPr lang="en-US" b="1" dirty="0">
                <a:solidFill>
                  <a:schemeClr val="bg1"/>
                </a:solidFill>
              </a:rPr>
              <a:t>first wins</a:t>
            </a:r>
            <a:r>
              <a:rPr lang="en-US" dirty="0"/>
              <a:t>" strategy for certain property in EF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[ConcurrencyCheck]</a:t>
            </a:r>
            <a:endParaRPr lang="en-US" b="1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Optimistic Concurrency Control in EF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0A1955C-A47F-4478-95BE-BD1E14B411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26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3199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000" y="99000"/>
            <a:ext cx="9715594" cy="882654"/>
          </a:xfrm>
        </p:spPr>
        <p:txBody>
          <a:bodyPr/>
          <a:lstStyle/>
          <a:p>
            <a:r>
              <a:rPr lang="en-US" dirty="0"/>
              <a:t>Last One Wins – Example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762000" y="1719000"/>
            <a:ext cx="10668000" cy="4524315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contextFirst =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SoftUniDbContext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lastProjectFirstUser = contextFirst.Projects.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First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lastProjectFirstUser.Name = "Changed by the First User";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// </a:t>
            </a:r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The second user changes the same record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contextSecondUser =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new SoftUniDbContext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lastProjectSecond = contextSecondUser.Projects.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First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lastProjectSecond.Name = "Changed by the Second User";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// </a:t>
            </a:r>
            <a:r>
              <a:rPr lang="en-US" sz="2400" b="1" i="1" noProof="1">
                <a:solidFill>
                  <a:schemeClr val="accent2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Conflicting changes: last wins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contextFirst.SaveChanges();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contextSecondUser.SaveChanges();</a:t>
            </a:r>
            <a:endParaRPr lang="bg-BG" sz="2400" b="1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477000" y="5528999"/>
            <a:ext cx="2590800" cy="457200"/>
          </a:xfrm>
          <a:prstGeom prst="wedgeRoundRectCallout">
            <a:avLst>
              <a:gd name="adj1" fmla="val -56503"/>
              <a:gd name="adj2" fmla="val 4758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Second user wins</a:t>
            </a:r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1F96639-0407-4B53-93E5-B4680A73A74D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2366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One Wins – Example</a:t>
            </a: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326000" y="1899000"/>
            <a:ext cx="9829800" cy="378565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context = new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SoftUniDbContext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lastTownFirstUser = contextFirst.Towns.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First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lastTownFirstUser.Name = "First User";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contextSecondUser = 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new SoftUniDbContext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var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 lastTownSecondUser = contextSecondUser.Towns.</a:t>
            </a:r>
            <a:r>
              <a:rPr lang="en-US" sz="24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  <a:sym typeface="Wingdings" pitchFamily="2" charset="2"/>
              </a:rPr>
              <a:t>First</a:t>
            </a: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lastTownSecondUser.Name = "Second User";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400" b="1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context.SaveChanges();</a:t>
            </a:r>
          </a:p>
          <a:p>
            <a:pPr eaLnBrk="0" hangingPunct="0">
              <a:lnSpc>
                <a:spcPct val="10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400" b="1" noProof="1">
                <a:latin typeface="Consolas" pitchFamily="49" charset="0"/>
                <a:cs typeface="Consolas" pitchFamily="49" charset="0"/>
                <a:sym typeface="Wingdings" pitchFamily="2" charset="2"/>
              </a:rPr>
              <a:t>contextSecondUser.SaveChanges();</a:t>
            </a:r>
            <a:endParaRPr lang="bg-BG" sz="2400" b="1" noProof="1">
              <a:latin typeface="Consolas" pitchFamily="49" charset="0"/>
              <a:cs typeface="Consolas" pitchFamily="49" charset="0"/>
              <a:sym typeface="Wingdings" pitchFamily="2" charset="2"/>
            </a:endParaRPr>
          </a:p>
        </p:txBody>
      </p:sp>
      <p:sp>
        <p:nvSpPr>
          <p:cNvPr id="7" name="AutoShape 7"/>
          <p:cNvSpPr>
            <a:spLocks noChangeArrowheads="1"/>
          </p:cNvSpPr>
          <p:nvPr/>
        </p:nvSpPr>
        <p:spPr bwMode="auto">
          <a:xfrm>
            <a:off x="6635800" y="5714728"/>
            <a:ext cx="4995199" cy="510778"/>
          </a:xfrm>
          <a:prstGeom prst="wedgeRoundRectCallout">
            <a:avLst>
              <a:gd name="adj1" fmla="val -53859"/>
              <a:gd name="adj2" fmla="val -48707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DbUpdateConcurrencyException</a:t>
            </a:r>
          </a:p>
        </p:txBody>
      </p:sp>
      <p:sp>
        <p:nvSpPr>
          <p:cNvPr id="8" name="AutoShape 7">
            <a:extLst>
              <a:ext uri="{FF2B5EF4-FFF2-40B4-BE49-F238E27FC236}">
                <a16:creationId xmlns:a16="http://schemas.microsoft.com/office/drawing/2014/main" id="{A396E346-0915-4179-B777-1CAF25030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1600" y="4686600"/>
            <a:ext cx="2743200" cy="510778"/>
          </a:xfrm>
          <a:prstGeom prst="wedgeRoundRectCallout">
            <a:avLst>
              <a:gd name="adj1" fmla="val -56006"/>
              <a:gd name="adj2" fmla="val 29032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Changes get saved</a:t>
            </a:r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9DBA3471-26A1-41AD-B987-B940E6F5BFC6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0" name="AutoShape 7">
            <a:extLst>
              <a:ext uri="{FF2B5EF4-FFF2-40B4-BE49-F238E27FC236}">
                <a16:creationId xmlns:a16="http://schemas.microsoft.com/office/drawing/2014/main" id="{BA5C2374-5958-4015-9B23-B19BABB60D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56000" y="2918222"/>
            <a:ext cx="3690000" cy="510778"/>
          </a:xfrm>
          <a:prstGeom prst="wedgeRoundRectCallout">
            <a:avLst>
              <a:gd name="adj1" fmla="val -162729"/>
              <a:gd name="adj2" fmla="val -31143"/>
              <a:gd name="adj3" fmla="val 16667"/>
            </a:avLst>
          </a:prstGeom>
          <a:solidFill>
            <a:schemeClr val="dk2">
              <a:alpha val="80000"/>
            </a:schemeClr>
          </a:solidFill>
          <a:ln w="19050">
            <a:solidFill>
              <a:schemeClr val="tx1">
                <a:lumMod val="75000"/>
                <a:alpha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 eaLnBrk="0" hangingPunct="0"/>
            <a:r>
              <a:rPr lang="en-US" sz="2400" b="1" noProof="1">
                <a:solidFill>
                  <a:schemeClr val="bg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</a:rPr>
              <a:t>[ConcurrencyCheck]</a:t>
            </a:r>
          </a:p>
        </p:txBody>
      </p:sp>
    </p:spTree>
    <p:extLst>
      <p:ext uri="{BB962C8B-B14F-4D97-AF65-F5344CB8AC3E}">
        <p14:creationId xmlns:p14="http://schemas.microsoft.com/office/powerpoint/2010/main" val="1168678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E1ABA7-EB4E-4B79-AB70-D75C216EB63F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en-US" dirty="0"/>
              <a:t>Cascade Operations</a:t>
            </a:r>
          </a:p>
        </p:txBody>
      </p:sp>
      <p:pic>
        <p:nvPicPr>
          <p:cNvPr id="5122" name="Picture 2" descr="Image result for cascade operations 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981200"/>
            <a:ext cx="3657600" cy="1143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3E0A82EB-3986-4426-BCFD-50810C99F04C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en-US"/>
              <a:t>Deleting Related Entities</a:t>
            </a:r>
          </a:p>
        </p:txBody>
      </p:sp>
    </p:spTree>
    <p:extLst>
      <p:ext uri="{BB962C8B-B14F-4D97-AF65-F5344CB8AC3E}">
        <p14:creationId xmlns:p14="http://schemas.microsoft.com/office/powerpoint/2010/main" val="243797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Required FK </a:t>
            </a:r>
            <a:r>
              <a:rPr lang="en-US" dirty="0"/>
              <a:t>with </a:t>
            </a:r>
            <a:r>
              <a:rPr lang="en-US" b="1" dirty="0">
                <a:solidFill>
                  <a:schemeClr val="bg1"/>
                </a:solidFill>
              </a:rPr>
              <a:t>cascade delete </a:t>
            </a:r>
            <a:r>
              <a:rPr lang="en-US" dirty="0"/>
              <a:t>set to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deletes everything </a:t>
            </a:r>
            <a:r>
              <a:rPr lang="en-US" dirty="0"/>
              <a:t>related to the deleted property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Required FK </a:t>
            </a:r>
            <a:r>
              <a:rPr lang="en-US" dirty="0"/>
              <a:t>with </a:t>
            </a:r>
            <a:r>
              <a:rPr lang="en-US" b="1" dirty="0">
                <a:solidFill>
                  <a:schemeClr val="bg1"/>
                </a:solidFill>
              </a:rPr>
              <a:t>cascade delete </a:t>
            </a:r>
            <a:r>
              <a:rPr lang="en-US" dirty="0"/>
              <a:t>set to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false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throws exception </a:t>
            </a:r>
            <a:r>
              <a:rPr lang="en-US" dirty="0"/>
              <a:t>(it cannot leave the navigational property with </a:t>
            </a:r>
            <a:br>
              <a:rPr lang="bg-BG" dirty="0"/>
            </a:br>
            <a:r>
              <a:rPr lang="en-US" dirty="0"/>
              <a:t>no value) 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Optional FK </a:t>
            </a:r>
            <a:r>
              <a:rPr lang="en-US" dirty="0"/>
              <a:t>with </a:t>
            </a:r>
            <a:r>
              <a:rPr lang="en-US" b="1" dirty="0">
                <a:solidFill>
                  <a:schemeClr val="bg1"/>
                </a:solidFill>
              </a:rPr>
              <a:t>cascade delete </a:t>
            </a:r>
            <a:r>
              <a:rPr lang="en-US" dirty="0"/>
              <a:t>set to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true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deletes everything </a:t>
            </a:r>
            <a:r>
              <a:rPr lang="en-US" dirty="0"/>
              <a:t>related to the deleted property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bg1"/>
                </a:solidFill>
              </a:rPr>
              <a:t>Optional FK </a:t>
            </a:r>
            <a:r>
              <a:rPr lang="en-US" dirty="0"/>
              <a:t>with </a:t>
            </a:r>
            <a:r>
              <a:rPr lang="en-US" b="1" dirty="0">
                <a:solidFill>
                  <a:schemeClr val="bg1"/>
                </a:solidFill>
              </a:rPr>
              <a:t>cascade delete </a:t>
            </a:r>
            <a:r>
              <a:rPr lang="en-US" dirty="0"/>
              <a:t>set to </a:t>
            </a:r>
            <a:r>
              <a:rPr lang="en-US" b="1" dirty="0">
                <a:solidFill>
                  <a:schemeClr val="bg1"/>
                </a:solidFill>
                <a:latin typeface="Consolas" panose="020B0609020204030204" pitchFamily="49" charset="0"/>
              </a:rPr>
              <a:t>false</a:t>
            </a:r>
            <a:r>
              <a:rPr lang="en-US" dirty="0"/>
              <a:t>, </a:t>
            </a:r>
            <a:r>
              <a:rPr lang="en-US" b="1" dirty="0">
                <a:solidFill>
                  <a:schemeClr val="bg1"/>
                </a:solidFill>
              </a:rPr>
              <a:t>sets</a:t>
            </a:r>
            <a:r>
              <a:rPr lang="en-US" dirty="0"/>
              <a:t> the value of </a:t>
            </a:r>
            <a:br>
              <a:rPr lang="en-US" dirty="0"/>
            </a:br>
            <a:r>
              <a:rPr lang="en-US" dirty="0"/>
              <a:t>the </a:t>
            </a:r>
            <a:r>
              <a:rPr lang="en-US" b="1" dirty="0">
                <a:solidFill>
                  <a:schemeClr val="bg1"/>
                </a:solidFill>
              </a:rPr>
              <a:t>FK to NULL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Delete Scenarios 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FD855F7A-A988-4C16-B827-38BEB9B2F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30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0751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0"/>
          </p:nvPr>
        </p:nvSpPr>
        <p:spPr>
          <a:xfrm>
            <a:off x="190406" y="1275234"/>
            <a:ext cx="11818096" cy="5528766"/>
          </a:xfrm>
        </p:spPr>
        <p:txBody>
          <a:bodyPr>
            <a:normAutofit lnSpcReduction="10000"/>
          </a:bodyPr>
          <a:lstStyle/>
          <a:p>
            <a:pPr>
              <a:buClr>
                <a:schemeClr val="tx1"/>
              </a:buClr>
            </a:pPr>
            <a:r>
              <a:rPr lang="en-US" dirty="0"/>
              <a:t>Using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OnDelete</a:t>
            </a:r>
            <a:r>
              <a:rPr lang="en-US" dirty="0"/>
              <a:t> with </a:t>
            </a: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DeleteBehavior</a:t>
            </a:r>
            <a:r>
              <a:rPr lang="en-US" dirty="0"/>
              <a:t> Enumeration: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DeleteBehavior.Cascade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ym typeface="Wingdings" panose="05000000000000000000" pitchFamily="2" charset="2"/>
              </a:rPr>
              <a:t>Deletes related entities (default for required FK)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DeleteBehavior.Restrict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ym typeface="Wingdings" panose="05000000000000000000" pitchFamily="2" charset="2"/>
              </a:rPr>
              <a:t>Throws exception on delete</a:t>
            </a:r>
            <a:endParaRPr lang="en-US" dirty="0"/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DeleteBehavior.ClientSetNull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ym typeface="Wingdings" panose="05000000000000000000" pitchFamily="2" charset="2"/>
              </a:rPr>
              <a:t>Default behavior for optional FK (does not affect database)</a:t>
            </a:r>
          </a:p>
          <a:p>
            <a:pPr lvl="1">
              <a:buClr>
                <a:schemeClr val="tx1"/>
              </a:buClr>
            </a:pPr>
            <a:r>
              <a:rPr lang="en-US" b="1" noProof="1">
                <a:solidFill>
                  <a:schemeClr val="bg1"/>
                </a:solidFill>
                <a:latin typeface="Consolas" panose="020B0609020204030204" pitchFamily="49" charset="0"/>
              </a:rPr>
              <a:t>DeleteBehavior.SetNull</a:t>
            </a:r>
          </a:p>
          <a:p>
            <a:pPr lvl="2">
              <a:buClr>
                <a:schemeClr val="tx1"/>
              </a:buClr>
            </a:pPr>
            <a:r>
              <a:rPr lang="en-US" dirty="0">
                <a:sym typeface="Wingdings" panose="05000000000000000000" pitchFamily="2" charset="2"/>
              </a:rPr>
              <a:t>Sets the property to null (affects database)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Delete with Fluent API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15D1D69A-A170-4189-8D12-CA0F181B5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567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358F2-E185-4B20-99EE-0AB1C4FFF0A5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dirty="0"/>
              <a:t>Cascade delete syntax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27E6CFB-7563-4A0A-A4B9-C371CC64B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Cascade Delete with Fluent API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643E643F-BB9A-4E0B-AFEE-50B100C029E8}"/>
              </a:ext>
            </a:extLst>
          </p:cNvPr>
          <p:cNvSpPr txBox="1">
            <a:spLocks/>
          </p:cNvSpPr>
          <p:nvPr/>
        </p:nvSpPr>
        <p:spPr>
          <a:xfrm>
            <a:off x="696000" y="1925400"/>
            <a:ext cx="7998096" cy="181588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modelBuilder.Entity&lt;User&gt;()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.HasMany(u =&gt; u.Replies)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.WithOne(a =&gt; a.Author)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OnDelete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(DeleteBehavior.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Restrict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4339B318-75FE-4ABF-88AA-8817A9229454}"/>
              </a:ext>
            </a:extLst>
          </p:cNvPr>
          <p:cNvSpPr txBox="1">
            <a:spLocks/>
          </p:cNvSpPr>
          <p:nvPr/>
        </p:nvSpPr>
        <p:spPr>
          <a:xfrm>
            <a:off x="696000" y="4059000"/>
            <a:ext cx="7998096" cy="1815882"/>
          </a:xfrm>
          <a:prstGeom prst="rect">
            <a:avLst/>
          </a:prstGeom>
          <a:solidFill>
            <a:schemeClr val="accent5">
              <a:lumMod val="40000"/>
              <a:lumOff val="60000"/>
              <a:alpha val="15000"/>
            </a:schemeClr>
          </a:solidFill>
          <a:ln w="12700"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modelBuilder.Entity&lt;User&gt;()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.HasMany(u =&gt; u.Replies)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.WithOne(a =&gt; a.Author)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latin typeface="Consolas" pitchFamily="49" charset="0"/>
                <a:cs typeface="Consolas" pitchFamily="49" charset="0"/>
              </a:rPr>
              <a:t>    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OnDelete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(DeleteBehavior.</a:t>
            </a:r>
            <a:r>
              <a:rPr lang="en-US" sz="2800" b="1" noProof="1">
                <a:solidFill>
                  <a:schemeClr val="bg1"/>
                </a:solidFill>
                <a:latin typeface="Consolas" pitchFamily="49" charset="0"/>
                <a:cs typeface="Consolas" pitchFamily="49" charset="0"/>
              </a:rPr>
              <a:t>Cascade</a:t>
            </a:r>
            <a:r>
              <a:rPr lang="en-US" sz="2800" b="1" noProof="1">
                <a:latin typeface="Consolas" pitchFamily="49" charset="0"/>
                <a:cs typeface="Consolas" pitchFamily="49" charset="0"/>
              </a:rPr>
              <a:t>);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105A40E-3C64-4F13-9BD9-E6E007D882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247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…</a:t>
            </a:r>
          </a:p>
          <a:p>
            <a:pPr lvl="0"/>
            <a:r>
              <a:rPr lang="en-GB"/>
              <a:t>…</a:t>
            </a:r>
            <a:endParaRPr lang="en-US"/>
          </a:p>
          <a:p>
            <a:pPr lvl="0"/>
            <a:r>
              <a:rPr lang="en-GB"/>
              <a:t>…</a:t>
            </a:r>
            <a:endParaRPr lang="en-US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Summary</a:t>
            </a:r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1942" y="1419750"/>
            <a:ext cx="8632995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CC3A316-993C-4741-8826-E104F27650A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flipH="1">
            <a:off x="8824937" y="3276641"/>
            <a:ext cx="2882677" cy="3119781"/>
          </a:xfrm>
          <a:prstGeom prst="rect">
            <a:avLst/>
          </a:prstGeom>
        </p:spPr>
      </p:pic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543073" y="1602934"/>
            <a:ext cx="8156701" cy="520106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>
            <a:lvl1pPr marL="456915" indent="-456915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1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chemeClr val="bg2"/>
                </a:solidFill>
              </a:rPr>
              <a:t>Databases can be accessed directly with </a:t>
            </a:r>
            <a:r>
              <a:rPr lang="en-US" sz="3000" b="1" dirty="0">
                <a:solidFill>
                  <a:schemeClr val="bg1"/>
                </a:solidFill>
              </a:rPr>
              <a:t>SQL </a:t>
            </a:r>
            <a:br>
              <a:rPr lang="en-US" sz="3000" b="1" dirty="0">
                <a:solidFill>
                  <a:schemeClr val="bg1"/>
                </a:solidFill>
              </a:rPr>
            </a:br>
            <a:r>
              <a:rPr lang="en-US" sz="3000" b="1" dirty="0">
                <a:solidFill>
                  <a:schemeClr val="bg1"/>
                </a:solidFill>
              </a:rPr>
              <a:t>queries</a:t>
            </a:r>
            <a:r>
              <a:rPr lang="en-US" sz="3000" b="1" dirty="0">
                <a:solidFill>
                  <a:schemeClr val="bg2"/>
                </a:solidFill>
              </a:rPr>
              <a:t> from C# code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chemeClr val="bg2"/>
                </a:solidFill>
              </a:rPr>
              <a:t>EF keeps track of the </a:t>
            </a:r>
            <a:r>
              <a:rPr lang="en-US" sz="3000" b="1" dirty="0">
                <a:solidFill>
                  <a:schemeClr val="bg1"/>
                </a:solidFill>
              </a:rPr>
              <a:t>model state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000" b="1" dirty="0">
                <a:solidFill>
                  <a:schemeClr val="bg1"/>
                </a:solidFill>
              </a:rPr>
              <a:t>Entity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Framework-Plus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2"/>
                </a:solidFill>
              </a:rPr>
              <a:t>lets you bundle </a:t>
            </a:r>
            <a:r>
              <a:rPr lang="en-US" sz="3000" b="1" dirty="0">
                <a:solidFill>
                  <a:schemeClr val="bg1"/>
                </a:solidFill>
              </a:rPr>
              <a:t>update</a:t>
            </a:r>
            <a:r>
              <a:rPr lang="en-US" sz="3000" b="1" dirty="0">
                <a:solidFill>
                  <a:schemeClr val="bg2"/>
                </a:solidFill>
              </a:rPr>
              <a:t> </a:t>
            </a:r>
            <a:br>
              <a:rPr lang="en-US" sz="3000" b="1" dirty="0">
                <a:solidFill>
                  <a:schemeClr val="bg2"/>
                </a:solidFill>
              </a:rPr>
            </a:br>
            <a:r>
              <a:rPr lang="en-US" sz="3000" b="1" dirty="0">
                <a:solidFill>
                  <a:schemeClr val="bg2"/>
                </a:solidFill>
              </a:rPr>
              <a:t>and </a:t>
            </a:r>
            <a:r>
              <a:rPr lang="en-US" sz="3000" b="1" dirty="0">
                <a:solidFill>
                  <a:schemeClr val="bg1"/>
                </a:solidFill>
              </a:rPr>
              <a:t>delete</a:t>
            </a:r>
            <a:r>
              <a:rPr lang="en-US" sz="3000" b="1" dirty="0">
                <a:solidFill>
                  <a:schemeClr val="bg2"/>
                </a:solidFill>
              </a:rPr>
              <a:t> operations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000" b="1" dirty="0">
                <a:solidFill>
                  <a:schemeClr val="bg2"/>
                </a:solidFill>
              </a:rPr>
              <a:t>EF supports lazy, eager and explicit </a:t>
            </a:r>
            <a:r>
              <a:rPr lang="en-US" sz="3000" b="1" dirty="0">
                <a:solidFill>
                  <a:schemeClr val="bg1"/>
                </a:solidFill>
              </a:rPr>
              <a:t>loading</a:t>
            </a:r>
          </a:p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chemeClr val="bg2"/>
                </a:solidFill>
              </a:rPr>
              <a:t>With multiple users, </a:t>
            </a:r>
            <a:r>
              <a:rPr lang="en-US" sz="3000" b="1" dirty="0">
                <a:solidFill>
                  <a:schemeClr val="bg1"/>
                </a:solidFill>
              </a:rPr>
              <a:t>concurrency</a:t>
            </a:r>
            <a:r>
              <a:rPr lang="en-US" sz="3000" b="1" dirty="0">
                <a:solidFill>
                  <a:schemeClr val="bg2"/>
                </a:solidFill>
              </a:rPr>
              <a:t> of operations </a:t>
            </a:r>
            <a:br>
              <a:rPr lang="en-US" sz="3000" b="1" dirty="0">
                <a:solidFill>
                  <a:schemeClr val="bg2"/>
                </a:solidFill>
              </a:rPr>
            </a:br>
            <a:r>
              <a:rPr lang="en-US" sz="3000" b="1" dirty="0">
                <a:solidFill>
                  <a:schemeClr val="bg2"/>
                </a:solidFill>
              </a:rPr>
              <a:t>must be observed</a:t>
            </a:r>
          </a:p>
          <a:p>
            <a:pPr>
              <a:lnSpc>
                <a:spcPct val="100000"/>
              </a:lnSpc>
              <a:buClr>
                <a:schemeClr val="bg2"/>
              </a:buClr>
            </a:pPr>
            <a:r>
              <a:rPr lang="en-US" sz="3000" b="1" dirty="0">
                <a:solidFill>
                  <a:schemeClr val="bg1"/>
                </a:solidFill>
              </a:rPr>
              <a:t>Cascade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1"/>
                </a:solidFill>
              </a:rPr>
              <a:t>delete</a:t>
            </a:r>
            <a:r>
              <a:rPr lang="en-US" sz="30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3000" b="1" dirty="0">
                <a:solidFill>
                  <a:schemeClr val="bg2"/>
                </a:solidFill>
              </a:rPr>
              <a:t>is on by default</a:t>
            </a:r>
          </a:p>
        </p:txBody>
      </p:sp>
      <p:sp>
        <p:nvSpPr>
          <p:cNvPr id="16" name="Slide Number">
            <a:extLst>
              <a:ext uri="{FF2B5EF4-FFF2-40B4-BE49-F238E27FC236}">
                <a16:creationId xmlns:a16="http://schemas.microsoft.com/office/drawing/2014/main" id="{D3A3A8C4-F41E-4322-9BC0-515083511F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657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Body"/>
          <p:cNvSpPr>
            <a:spLocks noGrp="1"/>
          </p:cNvSpPr>
          <p:nvPr>
            <p:ph idx="4294967295"/>
          </p:nvPr>
        </p:nvSpPr>
        <p:spPr>
          <a:xfrm>
            <a:off x="190404" y="1179000"/>
            <a:ext cx="8695596" cy="54900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3200" dirty="0"/>
              <a:t>Software University – High-Quality Education, Profession and Job for Software Developers</a:t>
            </a:r>
          </a:p>
          <a:p>
            <a:pPr lvl="1"/>
            <a:r>
              <a:rPr lang="en-US" sz="3000" noProof="1">
                <a:hlinkClick r:id="rId3"/>
              </a:rPr>
              <a:t>softuni.bg</a:t>
            </a:r>
            <a:r>
              <a:rPr lang="en-US" sz="3000" noProof="1"/>
              <a:t>, </a:t>
            </a:r>
            <a:r>
              <a:rPr lang="en-US" sz="2800" dirty="0">
                <a:hlinkClick r:id="rId4"/>
              </a:rPr>
              <a:t>about.softuni.bg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Foundation</a:t>
            </a:r>
            <a:endParaRPr lang="bg-BG" sz="3200" dirty="0"/>
          </a:p>
          <a:p>
            <a:pPr lvl="1"/>
            <a:r>
              <a:rPr lang="en-US" sz="3000" noProof="1">
                <a:hlinkClick r:id="rId5"/>
              </a:rPr>
              <a:t>softuni.foundation</a:t>
            </a:r>
            <a:endParaRPr lang="en-US" sz="3000" noProof="1"/>
          </a:p>
          <a:p>
            <a:pPr>
              <a:lnSpc>
                <a:spcPct val="100000"/>
              </a:lnSpc>
            </a:pPr>
            <a:r>
              <a:rPr lang="en-US" sz="3200" dirty="0"/>
              <a:t>Software University @ Facebook</a:t>
            </a:r>
          </a:p>
          <a:p>
            <a:pPr lvl="1"/>
            <a:r>
              <a:rPr lang="en-US" sz="3000" noProof="1">
                <a:hlinkClick r:id="rId6"/>
              </a:rPr>
              <a:t>facebook.com/SoftwareUniversity</a:t>
            </a:r>
            <a:endParaRPr lang="en-US" sz="3000" noProof="1"/>
          </a:p>
        </p:txBody>
      </p:sp>
      <p:sp>
        <p:nvSpPr>
          <p:cNvPr id="3" name="Slide 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Trainings @ Software University</a:t>
            </a:r>
            <a:r>
              <a:rPr lang="bg-BG" dirty="0"/>
              <a:t> (</a:t>
            </a:r>
            <a:r>
              <a:rPr lang="en-US" dirty="0"/>
              <a:t>SoftUni)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6D2048A-E813-4A2A-9B58-1179B0FE0212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42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11818096" cy="545589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This course (slides, examples, demos, exercises, homework, documents, videos and other assets) is </a:t>
            </a:r>
            <a:r>
              <a:rPr lang="en-US" b="1" dirty="0"/>
              <a:t>copyrighted content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Unauthorized copy, reproduction or use is illegal</a:t>
            </a:r>
          </a:p>
          <a:p>
            <a:pPr>
              <a:lnSpc>
                <a:spcPct val="120000"/>
              </a:lnSpc>
            </a:pPr>
            <a:r>
              <a:rPr lang="en-US" dirty="0"/>
              <a:t>© SoftUni – </a:t>
            </a:r>
            <a:r>
              <a:rPr lang="en-US" dirty="0">
                <a:hlinkClick r:id="rId3"/>
              </a:rPr>
              <a:t>https://about.softuni.bg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© Software University – </a:t>
            </a:r>
            <a:r>
              <a:rPr lang="en-US" dirty="0">
                <a:hlinkClick r:id="rId4"/>
              </a:rPr>
              <a:t>https://softuni.bg</a:t>
            </a:r>
            <a:endParaRPr lang="bg-BG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A10A2585-858C-4B1E-8846-27CF1C15729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45023" y="4445455"/>
            <a:ext cx="1930977" cy="2043545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</a:t>
            </a:r>
            <a:endParaRPr lang="bg-BG" dirty="0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4518455-4120-4B1E-9A4E-635CDA991D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35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71798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SoftUni">
      <a:dk1>
        <a:srgbClr val="234465"/>
      </a:dk1>
      <a:lt1>
        <a:srgbClr val="FFA0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F2AC44"/>
      </a:hlink>
      <a:folHlink>
        <a:srgbClr val="F6C78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5138</TotalTime>
  <Words>2124</Words>
  <Application>Microsoft Office PowerPoint</Application>
  <PresentationFormat>Widescreen</PresentationFormat>
  <Paragraphs>346</Paragraphs>
  <Slides>35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Consolas</vt:lpstr>
      <vt:lpstr>Wingdings</vt:lpstr>
      <vt:lpstr>Wingdings 2</vt:lpstr>
      <vt:lpstr>SoftUni</vt:lpstr>
      <vt:lpstr>Advanced Querying</vt:lpstr>
      <vt:lpstr>Have a Question?</vt:lpstr>
      <vt:lpstr>Table of Contents</vt:lpstr>
      <vt:lpstr>Executing Native SQL Queries</vt:lpstr>
      <vt:lpstr>Executing Native SQL Queries</vt:lpstr>
      <vt:lpstr>Native SQL Queries with Parameters</vt:lpstr>
      <vt:lpstr>Interpolation in SQL Queries</vt:lpstr>
      <vt:lpstr>Executing a Stored Procedure </vt:lpstr>
      <vt:lpstr>Object State Tracking</vt:lpstr>
      <vt:lpstr>Attached and Detached Objects</vt:lpstr>
      <vt:lpstr>Tracking and No-tracking Queries</vt:lpstr>
      <vt:lpstr>Attached Objects</vt:lpstr>
      <vt:lpstr>Detaching Objects</vt:lpstr>
      <vt:lpstr>Reattaching Objects</vt:lpstr>
      <vt:lpstr>Bulk Operations</vt:lpstr>
      <vt:lpstr>Entity Framework Plus</vt:lpstr>
      <vt:lpstr>Bulk Delete</vt:lpstr>
      <vt:lpstr>Bulk Update: Syntax</vt:lpstr>
      <vt:lpstr>Types of Loading</vt:lpstr>
      <vt:lpstr>Explicit Loading </vt:lpstr>
      <vt:lpstr>Eager Loading </vt:lpstr>
      <vt:lpstr>Lazy Loading</vt:lpstr>
      <vt:lpstr>Enable Lazy Loading Proxies</vt:lpstr>
      <vt:lpstr>N+1 Problem</vt:lpstr>
      <vt:lpstr>Concurrency Checks</vt:lpstr>
      <vt:lpstr>Optimistic Concurrency Control in EF</vt:lpstr>
      <vt:lpstr>Last One Wins – Example</vt:lpstr>
      <vt:lpstr>First One Wins – Example</vt:lpstr>
      <vt:lpstr>Cascade Operations</vt:lpstr>
      <vt:lpstr>Cascade Delete Scenarios </vt:lpstr>
      <vt:lpstr>Cascade Delete with Fluent API</vt:lpstr>
      <vt:lpstr>Cascade Delete with Fluent API</vt:lpstr>
      <vt:lpstr>Summary</vt:lpstr>
      <vt:lpstr>Trainings @ Software University (SoftUni)</vt:lpstr>
      <vt:lpstr>License</vt:lpstr>
    </vt:vector>
  </TitlesOfParts>
  <Company>SoftUni – https://about.softuni.bg/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 Advanced - EF Core Advanced Querying</dc:title>
  <dc:subject>Software Development Course</dc:subject>
  <dc:creator>Software University</dc:creator>
  <cp:keywords>DB; Advanced; EF; Core; Advanced; Querying; tech; fundamentals; technologySoftware University; SoftUni; programming; coding; software development; education; training; course</cp:keywords>
  <dc:description>© SoftUni – https://about.softuni.bg/
© Software University – https://softuni.bg
Copyrighted document. Unauthorized copy, reproduction or use is not permitted.</dc:description>
  <cp:lastModifiedBy>Krasimir Tsanev</cp:lastModifiedBy>
  <cp:revision>151</cp:revision>
  <dcterms:created xsi:type="dcterms:W3CDTF">2018-05-23T13:08:44Z</dcterms:created>
  <dcterms:modified xsi:type="dcterms:W3CDTF">2025-10-13T05:59:28Z</dcterms:modified>
  <cp:category>programming;computer programming;software development;web development</cp:category>
</cp:coreProperties>
</file>