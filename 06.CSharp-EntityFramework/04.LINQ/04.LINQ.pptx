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4"/>
  </p:notesMasterIdLst>
  <p:handoutMasterIdLst>
    <p:handoutMasterId r:id="rId25"/>
  </p:handoutMasterIdLst>
  <p:sldIdLst>
    <p:sldId id="1373" r:id="rId2"/>
    <p:sldId id="1396" r:id="rId3"/>
    <p:sldId id="1374" r:id="rId4"/>
    <p:sldId id="1403" r:id="rId5"/>
    <p:sldId id="1424" r:id="rId6"/>
    <p:sldId id="1404" r:id="rId7"/>
    <p:sldId id="1405" r:id="rId8"/>
    <p:sldId id="1426" r:id="rId9"/>
    <p:sldId id="1406" r:id="rId10"/>
    <p:sldId id="1407" r:id="rId11"/>
    <p:sldId id="1411" r:id="rId12"/>
    <p:sldId id="1418" r:id="rId13"/>
    <p:sldId id="1428" r:id="rId14"/>
    <p:sldId id="1420" r:id="rId15"/>
    <p:sldId id="1423" r:id="rId16"/>
    <p:sldId id="1429" r:id="rId17"/>
    <p:sldId id="1408" r:id="rId18"/>
    <p:sldId id="1409" r:id="rId19"/>
    <p:sldId id="1410" r:id="rId20"/>
    <p:sldId id="1367" r:id="rId21"/>
    <p:sldId id="493" r:id="rId22"/>
    <p:sldId id="40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688B478-8BEE-4370-8CE6-38198B623A64}">
          <p14:sldIdLst>
            <p14:sldId id="1373"/>
            <p14:sldId id="1396"/>
            <p14:sldId id="1374"/>
          </p14:sldIdLst>
        </p14:section>
        <p14:section name="Filtering and Aggregating Tables" id="{87D31D85-983A-4234-BF09-ED8581DE207E}">
          <p14:sldIdLst>
            <p14:sldId id="1403"/>
            <p14:sldId id="1424"/>
            <p14:sldId id="1404"/>
            <p14:sldId id="1405"/>
            <p14:sldId id="1426"/>
            <p14:sldId id="1406"/>
            <p14:sldId id="1407"/>
            <p14:sldId id="1411"/>
            <p14:sldId id="1418"/>
          </p14:sldIdLst>
        </p14:section>
        <p14:section name="IEnumerable vs IQueryable" id="{07F2AF4D-6C3C-4518-81A3-0B3CD6621B99}">
          <p14:sldIdLst>
            <p14:sldId id="1428"/>
            <p14:sldId id="1420"/>
            <p14:sldId id="1423"/>
            <p14:sldId id="1429"/>
          </p14:sldIdLst>
        </p14:section>
        <p14:section name="Result Models" id="{01B0B849-8B21-4224-BFC6-CF39AE8B0CEA}">
          <p14:sldIdLst>
            <p14:sldId id="1408"/>
            <p14:sldId id="1409"/>
            <p14:sldId id="1410"/>
          </p14:sldIdLst>
        </p14:section>
        <p14:section name="Conclusion" id="{E237C64B-9CDE-45B3-8BDF-107145779511}">
          <p14:sldIdLst>
            <p14:sldId id="1367"/>
            <p14:sldId id="493"/>
            <p14:sldId id="4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40D"/>
    <a:srgbClr val="464646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5214" autoAdjust="0"/>
  </p:normalViewPr>
  <p:slideViewPr>
    <p:cSldViewPr showGuides="1">
      <p:cViewPr varScale="1">
        <p:scale>
          <a:sx n="103" d="100"/>
          <a:sy n="103" d="100"/>
        </p:scale>
        <p:origin x="64" y="24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1B2C83F6-1849-4191-AE5B-8522E1F7B9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16749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59448081-89E4-4EE6-91D5-1FCB6EF255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856988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38F97747-A238-4F40-9252-4A0580530C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812239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9F830938-5A2D-45C0-B59F-D727031571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817456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9F830938-5A2D-45C0-B59F-D727031571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915073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600FAE64-EDCB-4EF5-8B56-7C105C4641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859985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B1A1670-2D37-4A5E-9B7E-830C368C15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942668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949F4507-4FF2-49DE-ACD4-70FB65DCFC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254809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F4C0547-CCC1-46EC-8F9D-C04649DFF3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020412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4284000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hyperlink" Target="https://softuni.bg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Language Integrated Query in </a:t>
            </a:r>
            <a:r>
              <a:rPr lang="en-US"/>
              <a:t>Entity Framework Core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LINQ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Software University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https://softuni.bg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noProof="1"/>
              <a:t>SoftUni</a:t>
            </a:r>
            <a:r>
              <a:rPr lang="en-US"/>
              <a:t> Team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Technical Trainers</a:t>
            </a:r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4563157" y="2264248"/>
            <a:ext cx="3172706" cy="3104492"/>
            <a:chOff x="4741656" y="2185796"/>
            <a:chExt cx="3172706" cy="3104492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1656" y="2185796"/>
              <a:ext cx="2844800" cy="2844800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4466" y="3660392"/>
              <a:ext cx="1629896" cy="1629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2720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 dirty="0"/>
              <a:t>#csharp-</a:t>
            </a:r>
            <a:r>
              <a:rPr lang="en-US" sz="11500" b="1" dirty="0" err="1"/>
              <a:t>db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A9DE251-C5FD-4587-AE48-8B67368B6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8105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0406" y="1292028"/>
            <a:ext cx="9049234" cy="5207396"/>
          </a:xfrm>
        </p:spPr>
        <p:txBody>
          <a:bodyPr>
            <a:normAutofit lnSpcReduction="10000"/>
          </a:bodyPr>
          <a:lstStyle/>
          <a:p>
            <a:r>
              <a:rPr lang="en-GB" noProof="1"/>
              <a:t>LINQ</a:t>
            </a:r>
          </a:p>
          <a:p>
            <a:pPr lvl="1"/>
            <a:r>
              <a:rPr lang="en-GB" noProof="1"/>
              <a:t>Filtering</a:t>
            </a:r>
          </a:p>
          <a:p>
            <a:pPr lvl="1"/>
            <a:r>
              <a:rPr lang="en-GB" noProof="1"/>
              <a:t>Select</a:t>
            </a:r>
            <a:r>
              <a:rPr lang="bg-BG" noProof="1"/>
              <a:t> </a:t>
            </a:r>
            <a:r>
              <a:rPr lang="en-GB" noProof="1"/>
              <a:t>/</a:t>
            </a:r>
            <a:r>
              <a:rPr lang="bg-BG" noProof="1"/>
              <a:t> </a:t>
            </a:r>
            <a:r>
              <a:rPr lang="en-GB" noProof="1"/>
              <a:t>Projection</a:t>
            </a:r>
          </a:p>
          <a:p>
            <a:pPr lvl="1"/>
            <a:r>
              <a:rPr lang="en-GB" noProof="1"/>
              <a:t>Aggregation</a:t>
            </a:r>
          </a:p>
          <a:p>
            <a:pPr lvl="1"/>
            <a:r>
              <a:rPr lang="en-GB" noProof="1"/>
              <a:t>Joining</a:t>
            </a:r>
          </a:p>
          <a:p>
            <a:pPr lvl="1"/>
            <a:r>
              <a:rPr lang="en-GB" noProof="1"/>
              <a:t>SelectMany</a:t>
            </a:r>
          </a:p>
          <a:p>
            <a:r>
              <a:rPr lang="en-GB" noProof="1">
                <a:latin typeface="+mj-lt"/>
              </a:rPr>
              <a:t>IEnumerable vs IQueryable</a:t>
            </a:r>
          </a:p>
          <a:p>
            <a:r>
              <a:rPr lang="en-GB" noProof="1"/>
              <a:t>Result Models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4DA7900-5A6A-474D-81B1-FDEAD92516D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15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76E5B-BB27-48DF-9C59-6E220BB13523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Filtering and Aggregating Tables</a:t>
            </a:r>
          </a:p>
        </p:txBody>
      </p:sp>
      <p:pic>
        <p:nvPicPr>
          <p:cNvPr id="1026" name="Picture 2" descr="http://pythonhosted.org/cubes/_images/schema_snowflak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082" y="740930"/>
            <a:ext cx="6927839" cy="374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472FC1F5-60C1-44AF-BB4C-6B2490B30C4F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Select, Join and Group Data Using LINQ</a:t>
            </a:r>
          </a:p>
        </p:txBody>
      </p:sp>
    </p:spTree>
    <p:extLst>
      <p:ext uri="{BB962C8B-B14F-4D97-AF65-F5344CB8AC3E}">
        <p14:creationId xmlns:p14="http://schemas.microsoft.com/office/powerpoint/2010/main" val="59811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>
                <a:latin typeface="+mj-lt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Where</a:t>
            </a:r>
            <a:endParaRPr lang="bg-BG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/>
              <a:t>Selects values that are based on a predicate function</a:t>
            </a:r>
          </a:p>
          <a:p>
            <a:pPr lvl="1"/>
            <a:r>
              <a:rPr lang="en-US" dirty="0"/>
              <a:t>Syntax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Filtering</a:t>
            </a: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97293" y="3294000"/>
            <a:ext cx="10997414" cy="175375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99" b="1" noProof="1">
                <a:latin typeface="Consolas" pitchFamily="49" charset="0"/>
              </a:rPr>
              <a:t>string[] words = { "the", "quick", "brown", "fox", "jumps" };  </a:t>
            </a:r>
          </a:p>
          <a:p>
            <a:r>
              <a:rPr lang="en-US" sz="2399" b="1" noProof="1">
                <a:latin typeface="Consolas" pitchFamily="49" charset="0"/>
              </a:rPr>
              <a:t>  </a:t>
            </a:r>
          </a:p>
          <a:p>
            <a:r>
              <a:rPr lang="en-US" sz="2399" b="1" noProof="1">
                <a:latin typeface="Consolas" pitchFamily="49" charset="0"/>
              </a:rPr>
              <a:t>IEnumerable&lt;string&gt; query = </a:t>
            </a:r>
          </a:p>
          <a:p>
            <a:r>
              <a:rPr lang="en-US" sz="2399" b="1" noProof="1">
                <a:latin typeface="Consolas" pitchFamily="49" charset="0"/>
              </a:rPr>
              <a:t>	words.Where(word =&gt; word.Length == 3); 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6C2FD79C-35C7-4AD9-8F42-8B842ADDB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A1BBF-F284-4F7A-B9BD-F44450FBF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93" y="5184000"/>
            <a:ext cx="10997414" cy="119994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399" b="1" noProof="1">
                <a:latin typeface="Consolas" pitchFamily="49" charset="0"/>
              </a:rPr>
              <a:t>IEnumerable&lt;string&gt; query = from word in words  </a:t>
            </a:r>
          </a:p>
          <a:p>
            <a:r>
              <a:rPr lang="en-US" sz="2399" b="1" noProof="1">
                <a:latin typeface="Consolas" pitchFamily="49" charset="0"/>
              </a:rPr>
              <a:t>                            where word.Length == 3  </a:t>
            </a:r>
          </a:p>
          <a:p>
            <a:r>
              <a:rPr lang="en-US" sz="2399" b="1" noProof="1">
                <a:latin typeface="Consolas" pitchFamily="49" charset="0"/>
              </a:rPr>
              <a:t>                            select word; </a:t>
            </a:r>
          </a:p>
        </p:txBody>
      </p:sp>
    </p:spTree>
    <p:extLst>
      <p:ext uri="{BB962C8B-B14F-4D97-AF65-F5344CB8AC3E}">
        <p14:creationId xmlns:p14="http://schemas.microsoft.com/office/powerpoint/2010/main" val="3982198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Limit network traffic by reducing the queried columns</a:t>
            </a:r>
          </a:p>
          <a:p>
            <a:r>
              <a:rPr lang="en-US" dirty="0"/>
              <a:t>Syntax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SQL Server Profiler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Reasons to Use Select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55616" y="2502886"/>
            <a:ext cx="7770376" cy="216002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var employeesWithTown = context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.Employees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Select</a:t>
            </a:r>
            <a:r>
              <a:rPr lang="en-US" sz="2399" b="1" noProof="1">
                <a:latin typeface="Consolas" pitchFamily="49" charset="0"/>
              </a:rPr>
              <a:t>(employee =&gt; new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{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  EmployeeName = employee.FirstName,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  TownName = employee.Address.Town.Name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});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15904" y="5319482"/>
            <a:ext cx="11567090" cy="107693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b="1" noProof="1">
                <a:latin typeface="Consolas" pitchFamily="49" charset="0"/>
              </a:rPr>
              <a:t>   </a:t>
            </a:r>
            <a:r>
              <a:rPr lang="en-US" sz="1600" b="1" noProof="1">
                <a:solidFill>
                  <a:schemeClr val="bg1"/>
                </a:solidFill>
                <a:latin typeface="Consolas" pitchFamily="49" charset="0"/>
              </a:rPr>
              <a:t>SELECT</a:t>
            </a:r>
            <a:r>
              <a:rPr lang="en-US" sz="1600" b="1" noProof="1">
                <a:latin typeface="Consolas" pitchFamily="49" charset="0"/>
              </a:rPr>
              <a:t> [employee].[FirstName] AS [EmployeeName], [employee.Address.Town].[Name] AS [TownName]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latin typeface="Consolas" pitchFamily="49" charset="0"/>
              </a:rPr>
              <a:t>     </a:t>
            </a:r>
            <a:r>
              <a:rPr lang="en-US" sz="1600" b="1" noProof="1">
                <a:solidFill>
                  <a:schemeClr val="bg1"/>
                </a:solidFill>
                <a:latin typeface="Consolas" pitchFamily="49" charset="0"/>
              </a:rPr>
              <a:t>FROM</a:t>
            </a:r>
            <a:r>
              <a:rPr lang="en-US" sz="1600" b="1" noProof="1">
                <a:latin typeface="Consolas" pitchFamily="49" charset="0"/>
              </a:rPr>
              <a:t> [Employees] AS [employee]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</a:rPr>
              <a:t>LEFT JOIN </a:t>
            </a:r>
            <a:r>
              <a:rPr lang="en-US" sz="1600" b="1" noProof="1">
                <a:latin typeface="Consolas" pitchFamily="49" charset="0"/>
              </a:rPr>
              <a:t>[Addresses] AS [employee.Address] ON [employee].[AddressID] = [employee.Address].[AddressID]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</a:rPr>
              <a:t>LEFT JOIN </a:t>
            </a:r>
            <a:r>
              <a:rPr lang="en-US" sz="1600" b="1" noProof="1">
                <a:latin typeface="Consolas" pitchFamily="49" charset="0"/>
              </a:rPr>
              <a:t>[Towns] AS [employee.Address.Town] ON [employee.Address].[TownID] =       		 	  [employee.Address.Town].[TownID]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6C2FD79C-35C7-4AD9-8F42-8B842ADDB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5853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7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that is selected is </a:t>
            </a:r>
            <a:r>
              <a:rPr lang="en-US" b="1" dirty="0">
                <a:solidFill>
                  <a:schemeClr val="bg1"/>
                </a:solidFill>
              </a:rPr>
              <a:t>not</a:t>
            </a:r>
            <a:r>
              <a:rPr lang="en-US" dirty="0"/>
              <a:t> of the </a:t>
            </a:r>
            <a:r>
              <a:rPr lang="en-US" b="1" dirty="0">
                <a:solidFill>
                  <a:schemeClr val="bg1"/>
                </a:solidFill>
              </a:rPr>
              <a:t>initial entity type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Anonymous type</a:t>
            </a:r>
            <a:r>
              <a:rPr lang="en-US" dirty="0"/>
              <a:t>, generated at runtime</a:t>
            </a:r>
          </a:p>
          <a:p>
            <a:endParaRPr lang="en-US" dirty="0"/>
          </a:p>
          <a:p>
            <a:pPr marL="0" indent="0">
              <a:spcAft>
                <a:spcPts val="2400"/>
              </a:spcAft>
              <a:buNone/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Data cannot be modified </a:t>
            </a:r>
            <a:r>
              <a:rPr lang="en-US" dirty="0"/>
              <a:t>(updated, deleted)</a:t>
            </a:r>
          </a:p>
          <a:p>
            <a:pPr lvl="1"/>
            <a:r>
              <a:rPr lang="en-US" dirty="0"/>
              <a:t>Entity is of a </a:t>
            </a:r>
            <a:r>
              <a:rPr lang="en-US" b="1" dirty="0">
                <a:solidFill>
                  <a:schemeClr val="bg1"/>
                </a:solidFill>
              </a:rPr>
              <a:t>different type</a:t>
            </a:r>
          </a:p>
          <a:p>
            <a:pPr lvl="1"/>
            <a:r>
              <a:rPr lang="en-US" dirty="0"/>
              <a:t>Not associated with the </a:t>
            </a:r>
            <a:r>
              <a:rPr lang="en-US" b="1" dirty="0">
                <a:solidFill>
                  <a:schemeClr val="bg1"/>
                </a:solidFill>
              </a:rPr>
              <a:t>context</a:t>
            </a:r>
            <a:r>
              <a:rPr lang="en-US" dirty="0"/>
              <a:t> anymore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Reasons Not to Use Select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814" y="2603915"/>
            <a:ext cx="6204993" cy="1521980"/>
          </a:xfrm>
          <a:prstGeom prst="rect">
            <a:avLst/>
          </a:prstGeom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255AAB09-C7C7-44A0-AC2A-2ED49C465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103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2AB3A3-CA91-4F78-A5CB-12E19626C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8DBA7-97F9-43A2-8FC8-625E48F868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641" y="1243942"/>
            <a:ext cx="11818096" cy="5560058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Aggregate functions perform calculations on a set of input values and return a value</a:t>
            </a:r>
            <a:endParaRPr lang="en-US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Average</a:t>
            </a:r>
            <a:r>
              <a:rPr lang="en-US" dirty="0"/>
              <a:t> - Calculates the average value of a collection of values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Count</a:t>
            </a:r>
            <a:r>
              <a:rPr lang="en-US" dirty="0"/>
              <a:t> - Counts the elements in a collection, optionally only those elements that satisfy a predicate function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dirty="0"/>
              <a:t> - Determine the maximum and the minimum value in a collection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en-US" dirty="0"/>
              <a:t> - Calculates the sum of the values in a collection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5F19F0-389A-4F0B-84FA-3C42DD643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Aggregation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02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Join tables in EF with </a:t>
            </a:r>
            <a:r>
              <a:rPr lang="en-US" b="1" dirty="0">
                <a:solidFill>
                  <a:schemeClr val="bg1"/>
                </a:solidFill>
              </a:rPr>
              <a:t>LINQ</a:t>
            </a:r>
            <a:r>
              <a:rPr lang="en-US" dirty="0"/>
              <a:t> / </a:t>
            </a:r>
            <a:r>
              <a:rPr lang="en-US" b="1" dirty="0">
                <a:solidFill>
                  <a:schemeClr val="bg1"/>
                </a:solidFill>
              </a:rPr>
              <a:t>extension methods </a:t>
            </a:r>
            <a:r>
              <a:rPr lang="en-US" dirty="0"/>
              <a:t>on </a:t>
            </a:r>
            <a:br>
              <a:rPr lang="en-US" dirty="0"/>
            </a:b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IEnumerable&lt;T&gt;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(like when joining collections)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Joining Tables in EF: Using Join()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121731" y="2709000"/>
            <a:ext cx="5948537" cy="346158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var employees = 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softUniEntities.Employees.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Join</a:t>
            </a:r>
            <a:r>
              <a:rPr lang="en-US" sz="2399" b="1" noProof="1">
                <a:latin typeface="Consolas" pitchFamily="49" charset="0"/>
              </a:rPr>
              <a:t>(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  softUniEntities.Departments,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  (e =&gt; e.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DepartmentID</a:t>
            </a:r>
            <a:r>
              <a:rPr lang="en-US" sz="2399" b="1" noProof="1">
                <a:latin typeface="Consolas" pitchFamily="49" charset="0"/>
              </a:rPr>
              <a:t>),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  (d =&gt; d.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DepartmentID</a:t>
            </a:r>
            <a:r>
              <a:rPr lang="en-US" sz="2399" b="1" noProof="1">
                <a:latin typeface="Consolas" pitchFamily="49" charset="0"/>
              </a:rPr>
              <a:t>), 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  (e, d) =&gt; new {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    Employee = e.FirstName, 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    JobTitle = e.JobTitle, 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    Department = d.Name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  );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F569B9E-11E6-4BCC-A9AA-D4397DA3B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2564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Grouping also can be done by LINQ</a:t>
            </a:r>
          </a:p>
          <a:p>
            <a:pPr lvl="1"/>
            <a:r>
              <a:rPr lang="en-US" dirty="0"/>
              <a:t>The same way as with collections in LINQ</a:t>
            </a:r>
          </a:p>
          <a:p>
            <a:r>
              <a:rPr lang="en-US" dirty="0"/>
              <a:t>Grouping with LINQ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Grouping with extension methods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 Tables in EF</a:t>
            </a: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1829911" y="4647884"/>
            <a:ext cx="8532178" cy="533261"/>
          </a:xfrm>
          <a:prstGeom prst="rect">
            <a:avLst/>
          </a:prstGeom>
        </p:spPr>
        <p:txBody>
          <a:bodyPr/>
          <a:lstStyle>
            <a:lvl1pPr marL="282575" indent="-282575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endParaRPr lang="en-US" sz="2999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96000" y="3235219"/>
            <a:ext cx="9449515" cy="119994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399" b="1" noProof="1">
                <a:latin typeface="Consolas" pitchFamily="49" charset="0"/>
              </a:rPr>
              <a:t>var groupedEmployees = </a:t>
            </a:r>
          </a:p>
          <a:p>
            <a:r>
              <a:rPr lang="en-US" sz="2399" b="1" noProof="1">
                <a:latin typeface="Consolas" pitchFamily="49" charset="0"/>
              </a:rPr>
              <a:t>  from employee in softUniEntities.Employees</a:t>
            </a:r>
          </a:p>
          <a:p>
            <a:r>
              <a:rPr lang="en-US" sz="2399" b="1" noProof="1">
                <a:latin typeface="Consolas" pitchFamily="49" charset="0"/>
              </a:rPr>
              <a:t>  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group employee by employee.JobTitle;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95999" y="5393866"/>
            <a:ext cx="9449515" cy="8307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399" b="1" noProof="1">
                <a:latin typeface="Consolas" pitchFamily="49" charset="0"/>
              </a:rPr>
              <a:t>var groupedCustomers = softUniEntities.Employees</a:t>
            </a:r>
          </a:p>
          <a:p>
            <a:r>
              <a:rPr lang="en-US" sz="2399" b="1" noProof="1">
                <a:latin typeface="Consolas" pitchFamily="49" charset="0"/>
              </a:rPr>
              <a:t>  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.GroupBy(employee =&gt; employee.JobTitle);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61C41FB-AA68-44F7-B5B0-4B045210E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86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SelectMany</a:t>
            </a:r>
            <a:r>
              <a:rPr lang="en-US" dirty="0"/>
              <a:t> – Example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1714" y="1566353"/>
            <a:ext cx="11301316" cy="156914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399" b="1" noProof="1">
                <a:latin typeface="Consolas" pitchFamily="49" charset="0"/>
              </a:rPr>
              <a:t>public class </a:t>
            </a:r>
            <a:r>
              <a:rPr lang="en-US" sz="2399" b="1" noProof="1">
                <a:solidFill>
                  <a:srgbClr val="F2A40D"/>
                </a:solidFill>
                <a:latin typeface="Consolas" pitchFamily="49" charset="0"/>
              </a:rPr>
              <a:t>PhoneNumber</a:t>
            </a:r>
          </a:p>
          <a:p>
            <a:r>
              <a:rPr lang="en-US" sz="2399" b="1" noProof="1">
                <a:latin typeface="Consolas" pitchFamily="49" charset="0"/>
              </a:rPr>
              <a:t>{</a:t>
            </a:r>
          </a:p>
          <a:p>
            <a:r>
              <a:rPr lang="en-US" sz="2399" b="1" noProof="1">
                <a:latin typeface="Consolas" pitchFamily="49" charset="0"/>
              </a:rPr>
              <a:t>	public string Number { get; set; }</a:t>
            </a:r>
          </a:p>
          <a:p>
            <a:r>
              <a:rPr lang="en-US" sz="2399" b="1" noProof="1">
                <a:latin typeface="Consolas" pitchFamily="49" charset="0"/>
              </a:rPr>
              <a:t>}</a:t>
            </a:r>
            <a:endParaRPr lang="en-US" sz="2399" b="1" noProof="1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51714" y="3700411"/>
            <a:ext cx="11301316" cy="208595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399" b="1" noProof="1">
                <a:latin typeface="Consolas" pitchFamily="49" charset="0"/>
              </a:rPr>
              <a:t>public class Person</a:t>
            </a:r>
          </a:p>
          <a:p>
            <a:r>
              <a:rPr lang="en-US" sz="2399" b="1" noProof="1">
                <a:latin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	public IEnumerable&lt;PhoneNumber&gt; </a:t>
            </a:r>
            <a:r>
              <a:rPr lang="en-US" sz="2399" b="1" noProof="1">
                <a:solidFill>
                  <a:srgbClr val="F2A40D"/>
                </a:solidFill>
                <a:latin typeface="Consolas" pitchFamily="49" charset="0"/>
              </a:rPr>
              <a:t>PhoneNumbers</a:t>
            </a:r>
            <a:r>
              <a:rPr lang="en-US" sz="2399" b="1" noProof="1">
                <a:latin typeface="Consolas" pitchFamily="49" charset="0"/>
              </a:rPr>
              <a:t> { get; set; }</a:t>
            </a:r>
          </a:p>
          <a:p>
            <a:pPr>
              <a:lnSpc>
                <a:spcPct val="80000"/>
              </a:lnSpc>
            </a:pPr>
            <a:endParaRPr lang="en-US" sz="2399" b="1" noProof="1">
              <a:latin typeface="Consolas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2399" b="1" noProof="1">
                <a:latin typeface="Consolas" pitchFamily="49" charset="0"/>
              </a:rPr>
              <a:t>	public string Name { get; set; }</a:t>
            </a:r>
          </a:p>
          <a:p>
            <a:r>
              <a:rPr lang="en-US" sz="2399" b="1" noProof="1">
                <a:latin typeface="Consolas" pitchFamily="49" charset="0"/>
              </a:rPr>
              <a:t>}</a:t>
            </a:r>
            <a:endParaRPr lang="en-US" sz="2399" b="1" noProof="1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8C5D330-83CF-41BA-9437-5D5EB2C37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89489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SelectMany</a:t>
            </a:r>
            <a:r>
              <a:rPr lang="en-US" dirty="0"/>
              <a:t> – Example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38136" y="1264610"/>
            <a:ext cx="11515727" cy="526118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399" b="1" noProof="1">
                <a:latin typeface="Consolas" pitchFamily="49" charset="0"/>
              </a:rPr>
              <a:t>IEnumerable&lt;Person&gt; people = new List&lt;Person&gt;();</a:t>
            </a:r>
          </a:p>
          <a:p>
            <a:endParaRPr lang="en-US" sz="2399" b="1" noProof="1">
              <a:latin typeface="Consolas" pitchFamily="49" charset="0"/>
            </a:endParaRPr>
          </a:p>
          <a:p>
            <a:r>
              <a:rPr lang="en-US" sz="2399" b="1" i="1" noProof="1">
                <a:solidFill>
                  <a:schemeClr val="accent2"/>
                </a:solidFill>
                <a:latin typeface="Consolas" pitchFamily="49" charset="0"/>
              </a:rPr>
              <a:t>// "Select" gets a list of lists of phone numbers</a:t>
            </a:r>
          </a:p>
          <a:p>
            <a:r>
              <a:rPr lang="en-US" sz="2399" b="1" noProof="1">
                <a:latin typeface="Consolas" pitchFamily="49" charset="0"/>
              </a:rPr>
              <a:t>IEnumerable&lt;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IEnumerable&lt;PhoneNumber&gt;</a:t>
            </a:r>
            <a:r>
              <a:rPr lang="en-US" sz="2399" b="1" noProof="1">
                <a:latin typeface="Consolas" pitchFamily="49" charset="0"/>
              </a:rPr>
              <a:t>&gt; phoneLists = </a:t>
            </a:r>
          </a:p>
          <a:p>
            <a:r>
              <a:rPr lang="en-US" sz="2399" b="1" noProof="1">
                <a:latin typeface="Consolas" pitchFamily="49" charset="0"/>
              </a:rPr>
              <a:t>			people.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Select</a:t>
            </a:r>
            <a:r>
              <a:rPr lang="en-US" sz="2399" b="1" noProof="1">
                <a:latin typeface="Consolas" pitchFamily="49" charset="0"/>
              </a:rPr>
              <a:t>(p =&gt; p.PhoneNumbers);</a:t>
            </a:r>
          </a:p>
          <a:p>
            <a:endParaRPr lang="en-US" sz="2399" b="1" noProof="1">
              <a:latin typeface="Consolas" pitchFamily="49" charset="0"/>
            </a:endParaRPr>
          </a:p>
          <a:p>
            <a:r>
              <a:rPr lang="en-US" sz="2399" b="1" i="1" noProof="1">
                <a:solidFill>
                  <a:schemeClr val="accent2"/>
                </a:solidFill>
                <a:latin typeface="Consolas" pitchFamily="49" charset="0"/>
              </a:rPr>
              <a:t>// "SelectMany" flattens it to just a list of phone numbers</a:t>
            </a:r>
          </a:p>
          <a:p>
            <a:r>
              <a:rPr lang="en-US" sz="2399" b="1" noProof="1">
                <a:latin typeface="Consolas" pitchFamily="49" charset="0"/>
              </a:rPr>
              <a:t>IEnumerable&lt;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PhoneNumber</a:t>
            </a:r>
            <a:r>
              <a:rPr lang="en-US" sz="2399" b="1" noProof="1">
                <a:latin typeface="Consolas" pitchFamily="49" charset="0"/>
              </a:rPr>
              <a:t>&gt; phoneNumbers = </a:t>
            </a:r>
          </a:p>
          <a:p>
            <a:r>
              <a:rPr lang="en-US" sz="2399" b="1" noProof="1">
                <a:latin typeface="Consolas" pitchFamily="49" charset="0"/>
              </a:rPr>
              <a:t>			people.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SelectMany</a:t>
            </a:r>
            <a:r>
              <a:rPr lang="en-US" sz="2399" b="1" noProof="1">
                <a:latin typeface="Consolas" pitchFamily="49" charset="0"/>
              </a:rPr>
              <a:t>(p =&gt; p.PhoneNumbers);</a:t>
            </a:r>
          </a:p>
          <a:p>
            <a:endParaRPr lang="en-US" sz="2399" b="1" noProof="1">
              <a:latin typeface="Consolas" pitchFamily="49" charset="0"/>
            </a:endParaRPr>
          </a:p>
          <a:p>
            <a:r>
              <a:rPr lang="en-US" sz="2399" b="1" i="1" noProof="1">
                <a:solidFill>
                  <a:schemeClr val="accent2"/>
                </a:solidFill>
                <a:latin typeface="Consolas" pitchFamily="49" charset="0"/>
              </a:rPr>
              <a:t>// To include data from the parent in the result pass an expression // to the second parameter (resultSelector) in the overload</a:t>
            </a:r>
          </a:p>
          <a:p>
            <a:r>
              <a:rPr lang="en-US" sz="2399" b="1" noProof="1">
                <a:latin typeface="Consolas" pitchFamily="49" charset="0"/>
              </a:rPr>
              <a:t>var directory = people.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SelectMany</a:t>
            </a:r>
            <a:r>
              <a:rPr lang="en-US" sz="2399" b="1" noProof="1">
                <a:latin typeface="Consolas" pitchFamily="49" charset="0"/>
              </a:rPr>
              <a:t>(p =&gt; p.PhoneNumbers,</a:t>
            </a:r>
          </a:p>
          <a:p>
            <a:r>
              <a:rPr lang="en-US" sz="2399" b="1" noProof="1">
                <a:latin typeface="Consolas" pitchFamily="49" charset="0"/>
              </a:rPr>
              <a:t>(parent, child) =&gt; new { parent.Name, child.Number });</a:t>
            </a:r>
            <a:endParaRPr lang="en-US" sz="2399" b="1" noProof="1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E3BFA6E-769E-4BA6-A2EE-2D3CA8644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9135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AE8B42-7FC2-4A5F-B0BF-BE57F581743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 err="1"/>
              <a:t>IEnumerable</a:t>
            </a:r>
            <a:r>
              <a:rPr lang="en-US" dirty="0"/>
              <a:t> vs </a:t>
            </a:r>
            <a:r>
              <a:rPr lang="en-US" dirty="0" err="1"/>
              <a:t>IQueryable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1600354"/>
            <a:ext cx="2057246" cy="205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67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067D0450-A340-4B06-AC88-4E3A567E7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IEnumerable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&lt;T&gt;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/>
              <a:t>is an interface that is available in the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System.Collection.Generic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/>
              <a:t>namespace</a:t>
            </a:r>
          </a:p>
          <a:p>
            <a:r>
              <a:rPr lang="en-US" dirty="0"/>
              <a:t> Implementation of the Iterator design pattern</a:t>
            </a:r>
          </a:p>
          <a:p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IEnumerable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or</a:t>
            </a:r>
            <a:r>
              <a:rPr lang="en-US" b="1" dirty="0"/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IEnumerable&lt;T&gt;</a:t>
            </a:r>
            <a:r>
              <a:rPr lang="en-US" dirty="0"/>
              <a:t> interface should be used</a:t>
            </a:r>
            <a:br>
              <a:rPr lang="en-US" dirty="0"/>
            </a:br>
            <a:r>
              <a:rPr lang="en-US" dirty="0"/>
              <a:t> only for </a:t>
            </a:r>
            <a:r>
              <a:rPr lang="en-US" b="1" dirty="0">
                <a:solidFill>
                  <a:schemeClr val="bg1"/>
                </a:solidFill>
              </a:rPr>
              <a:t>in-memory data objects</a:t>
            </a:r>
          </a:p>
          <a:p>
            <a:pPr>
              <a:buClr>
                <a:schemeClr val="tx1"/>
              </a:buClr>
            </a:pPr>
            <a:r>
              <a:rPr lang="en-US" dirty="0"/>
              <a:t> LINQ methods over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IEnumerable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&lt;T&gt;</a:t>
            </a:r>
            <a:r>
              <a:rPr lang="en-US" dirty="0"/>
              <a:t> use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Func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&lt;&gt;</a:t>
            </a:r>
            <a:r>
              <a:rPr lang="en-US" dirty="0"/>
              <a:t> parameters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IEnumerable</a:t>
            </a:r>
            <a:r>
              <a:rPr lang="en-US" dirty="0"/>
              <a:t>&lt;T&gt;</a:t>
            </a:r>
          </a:p>
        </p:txBody>
      </p:sp>
    </p:spTree>
    <p:extLst>
      <p:ext uri="{BB962C8B-B14F-4D97-AF65-F5344CB8AC3E}">
        <p14:creationId xmlns:p14="http://schemas.microsoft.com/office/powerpoint/2010/main" val="1089156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IQueryable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&lt;T&gt;</a:t>
            </a:r>
            <a:r>
              <a:rPr lang="en-US" b="1" dirty="0"/>
              <a:t> </a:t>
            </a:r>
            <a:r>
              <a:rPr lang="en-US" dirty="0"/>
              <a:t>is an interface and it is available in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System.Linq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 Provides functionality to evaluate queries against a specific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data source </a:t>
            </a:r>
            <a:r>
              <a:rPr lang="en-US" dirty="0"/>
              <a:t>where the type of the data may not be specified</a:t>
            </a:r>
          </a:p>
          <a:p>
            <a:r>
              <a:rPr lang="en-US" dirty="0"/>
              <a:t> The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IQueryable</a:t>
            </a:r>
            <a:r>
              <a:rPr lang="en-US" dirty="0"/>
              <a:t> interface is intended for implementation by</a:t>
            </a:r>
            <a:br>
              <a:rPr lang="en-US" dirty="0"/>
            </a:br>
            <a:r>
              <a:rPr lang="en-US" dirty="0"/>
              <a:t> query providers</a:t>
            </a:r>
          </a:p>
          <a:p>
            <a:r>
              <a:rPr lang="en-US" dirty="0"/>
              <a:t> LINQ methods over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IQueryable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&lt;T&gt;</a:t>
            </a:r>
            <a:r>
              <a:rPr lang="en-US" b="1" dirty="0"/>
              <a:t> </a:t>
            </a:r>
            <a:r>
              <a:rPr lang="en-US" dirty="0"/>
              <a:t>use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Expression&lt;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Func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&lt;&gt;&gt;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/>
              <a:t>parameters (expression trees)</a:t>
            </a:r>
          </a:p>
          <a:p>
            <a:pPr lvl="1"/>
            <a:r>
              <a:rPr lang="en-US" dirty="0"/>
              <a:t>Entity Framework can convert expression trees directly into SQL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IQueryable</a:t>
            </a:r>
            <a:r>
              <a:rPr lang="en-US" dirty="0"/>
              <a:t>&lt;T&gt;  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67D0450-A340-4B06-AC88-4E3A567E7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27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">
            <a:extLst>
              <a:ext uri="{FF2B5EF4-FFF2-40B4-BE49-F238E27FC236}">
                <a16:creationId xmlns:a16="http://schemas.microsoft.com/office/drawing/2014/main" id="{D8AE0A8A-EA40-452A-863E-68BA6EF6E092}"/>
              </a:ext>
            </a:extLst>
          </p:cNvPr>
          <p:cNvSpPr txBox="1">
            <a:spLocks/>
          </p:cNvSpPr>
          <p:nvPr/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46975BEA-DFF5-4A5B-A111-80389BB7F55A}"/>
              </a:ext>
            </a:extLst>
          </p:cNvPr>
          <p:cNvSpPr txBox="1">
            <a:spLocks/>
          </p:cNvSpPr>
          <p:nvPr/>
        </p:nvSpPr>
        <p:spPr>
          <a:xfrm>
            <a:off x="5736000" y="1195931"/>
            <a:ext cx="6265597" cy="4957073"/>
          </a:xfrm>
          <a:prstGeom prst="rect">
            <a:avLst/>
          </a:prstGeom>
        </p:spPr>
        <p:txBody>
          <a:bodyPr/>
          <a:lstStyle>
            <a:lvl1pPr marL="36036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IQueryable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&lt;T&gt;</a:t>
            </a:r>
          </a:p>
          <a:p>
            <a:pPr lvl="1"/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System.Linq</a:t>
            </a:r>
            <a:r>
              <a:rPr lang="en-US" sz="32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3200" dirty="0"/>
              <a:t>namespace</a:t>
            </a:r>
          </a:p>
          <a:p>
            <a:pPr lvl="1"/>
            <a:r>
              <a:rPr lang="en-US" sz="3200" dirty="0"/>
              <a:t> Derives the base interface from</a:t>
            </a:r>
            <a:br>
              <a:rPr lang="en-US" sz="3200" dirty="0"/>
            </a:br>
            <a:r>
              <a:rPr lang="en-US" sz="3200" dirty="0"/>
              <a:t> </a:t>
            </a:r>
            <a:r>
              <a:rPr lang="en-US" sz="32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IEnumerable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&lt;T&gt;</a:t>
            </a:r>
          </a:p>
          <a:p>
            <a:pPr lvl="1"/>
            <a:r>
              <a:rPr lang="en-US" sz="3200" dirty="0"/>
              <a:t> LINQ methods works with</a:t>
            </a:r>
            <a:br>
              <a:rPr lang="en-US" sz="3200" dirty="0"/>
            </a:br>
            <a:r>
              <a:rPr lang="en-US" sz="3200" dirty="0"/>
              <a:t>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Expression&lt;</a:t>
            </a:r>
            <a:r>
              <a:rPr lang="en-US" sz="32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Func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&lt;&gt;&gt;</a:t>
            </a:r>
          </a:p>
          <a:p>
            <a:pPr marL="630238" lvl="1" indent="-187325"/>
            <a:r>
              <a:rPr lang="en-US" sz="3200" dirty="0"/>
              <a:t>   Good for queries over </a:t>
            </a:r>
            <a:r>
              <a:rPr lang="en-US" sz="3200" b="1" dirty="0">
                <a:solidFill>
                  <a:srgbClr val="F2A40D"/>
                </a:solidFill>
              </a:rPr>
              <a:t>data</a:t>
            </a:r>
            <a:br>
              <a:rPr lang="en-US" sz="3200" b="1" dirty="0">
                <a:solidFill>
                  <a:srgbClr val="F2A40D"/>
                </a:solidFill>
              </a:rPr>
            </a:br>
            <a:r>
              <a:rPr lang="en-US" sz="3200" b="1" dirty="0">
                <a:solidFill>
                  <a:srgbClr val="F2A40D"/>
                </a:solidFill>
              </a:rPr>
              <a:t>   stores </a:t>
            </a:r>
            <a:r>
              <a:rPr lang="en-US" sz="3200" dirty="0"/>
              <a:t>such as databases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E8A67887-5A07-4BE0-8AFB-8947761A6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5931"/>
            <a:ext cx="5455598" cy="4957073"/>
          </a:xfrm>
        </p:spPr>
        <p:txBody>
          <a:bodyPr>
            <a:normAutofit/>
          </a:bodyPr>
          <a:lstStyle/>
          <a:p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IEnumerable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&lt;T&gt;</a:t>
            </a:r>
          </a:p>
          <a:p>
            <a:pPr lvl="1"/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System.Collections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b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sz="32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Generic</a:t>
            </a:r>
          </a:p>
          <a:p>
            <a:pPr lvl="1"/>
            <a:r>
              <a:rPr lang="en-US" sz="3200" dirty="0"/>
              <a:t> Base type for almost all</a:t>
            </a:r>
            <a:br>
              <a:rPr lang="en-US" sz="3200" dirty="0"/>
            </a:br>
            <a:r>
              <a:rPr lang="en-US" sz="3200" dirty="0"/>
              <a:t> .NET collections</a:t>
            </a:r>
          </a:p>
          <a:p>
            <a:pPr lvl="1"/>
            <a:r>
              <a:rPr lang="en-US" sz="3200" dirty="0"/>
              <a:t> LINQ methods works with</a:t>
            </a:r>
            <a:br>
              <a:rPr lang="en-US" sz="3200" dirty="0"/>
            </a:br>
            <a:r>
              <a:rPr lang="en-US" sz="3200" dirty="0"/>
              <a:t> </a:t>
            </a:r>
            <a:r>
              <a:rPr lang="en-US" sz="32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Func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&lt;&gt;</a:t>
            </a:r>
          </a:p>
          <a:p>
            <a:pPr lvl="1"/>
            <a:r>
              <a:rPr lang="en-US" sz="3200"/>
              <a:t> Good </a:t>
            </a:r>
            <a:r>
              <a:rPr lang="en-US" sz="3200" dirty="0"/>
              <a:t>for </a:t>
            </a:r>
            <a:r>
              <a:rPr lang="en-US" sz="3200" b="1" dirty="0">
                <a:solidFill>
                  <a:srgbClr val="F2A40D"/>
                </a:solidFill>
              </a:rPr>
              <a:t>in-memory</a:t>
            </a:r>
            <a:r>
              <a:rPr lang="en-US" sz="3200" dirty="0"/>
              <a:t> data</a:t>
            </a:r>
          </a:p>
        </p:txBody>
      </p:sp>
      <p:sp>
        <p:nvSpPr>
          <p:cNvPr id="26" name="Title 2">
            <a:extLst>
              <a:ext uri="{FF2B5EF4-FFF2-40B4-BE49-F238E27FC236}">
                <a16:creationId xmlns:a16="http://schemas.microsoft.com/office/drawing/2014/main" id="{B7CEE83A-A6E7-4A33-B31B-83154457D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9000"/>
            <a:ext cx="9865594" cy="882654"/>
          </a:xfrm>
        </p:spPr>
        <p:txBody>
          <a:bodyPr>
            <a:normAutofit fontScale="90000"/>
          </a:bodyPr>
          <a:lstStyle/>
          <a:p>
            <a:r>
              <a:rPr lang="en-US" dirty="0"/>
              <a:t> Differences Between IEnumerable and IQueryable</a:t>
            </a:r>
          </a:p>
        </p:txBody>
      </p:sp>
    </p:spTree>
    <p:extLst>
      <p:ext uri="{BB962C8B-B14F-4D97-AF65-F5344CB8AC3E}">
        <p14:creationId xmlns:p14="http://schemas.microsoft.com/office/powerpoint/2010/main" val="221606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AE8B42-7FC2-4A5F-B0BF-BE57F581743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Result Models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1600354"/>
            <a:ext cx="2057246" cy="2057246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316DE9AB-22D8-4329-8EDF-600E0294BD94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Simplifying Models</a:t>
            </a:r>
          </a:p>
        </p:txBody>
      </p:sp>
    </p:spTree>
    <p:extLst>
      <p:ext uri="{BB962C8B-B14F-4D97-AF65-F5344CB8AC3E}">
        <p14:creationId xmlns:p14="http://schemas.microsoft.com/office/powerpoint/2010/main" val="163689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041766" y="1212411"/>
            <a:ext cx="10129234" cy="5546589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Select()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GroupBy()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/>
              <a:t>can work with </a:t>
            </a:r>
            <a:r>
              <a:rPr lang="en-US" b="1" dirty="0">
                <a:solidFill>
                  <a:schemeClr val="bg1"/>
                </a:solidFill>
              </a:rPr>
              <a:t>custom classes</a:t>
            </a:r>
          </a:p>
          <a:p>
            <a:pPr lvl="1"/>
            <a:r>
              <a:rPr lang="en-US" dirty="0"/>
              <a:t>Allow you to </a:t>
            </a:r>
            <a:r>
              <a:rPr lang="en-US" b="1" dirty="0">
                <a:solidFill>
                  <a:schemeClr val="bg1"/>
                </a:solidFill>
              </a:rPr>
              <a:t>pass them </a:t>
            </a:r>
            <a:r>
              <a:rPr lang="en-US" dirty="0"/>
              <a:t>to methods and use them </a:t>
            </a:r>
            <a:br>
              <a:rPr lang="en-US" dirty="0"/>
            </a:br>
            <a:r>
              <a:rPr lang="en-US" dirty="0"/>
              <a:t>as a return type</a:t>
            </a:r>
          </a:p>
          <a:p>
            <a:pPr lvl="1"/>
            <a:r>
              <a:rPr lang="en-US" dirty="0"/>
              <a:t>Require some </a:t>
            </a:r>
            <a:r>
              <a:rPr lang="en-US" b="1" dirty="0">
                <a:solidFill>
                  <a:schemeClr val="bg1"/>
                </a:solidFill>
              </a:rPr>
              <a:t>extra code </a:t>
            </a:r>
            <a:r>
              <a:rPr lang="en-US" dirty="0"/>
              <a:t>(class definition)</a:t>
            </a:r>
          </a:p>
          <a:p>
            <a:r>
              <a:rPr lang="en-US" dirty="0"/>
              <a:t>Sample </a:t>
            </a:r>
            <a:r>
              <a:rPr lang="en-US" noProof="1"/>
              <a:t>Result Model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Result Models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86000" y="4544085"/>
            <a:ext cx="8640000" cy="193835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399" b="1" noProof="1">
                <a:latin typeface="Consolas" pitchFamily="49" charset="0"/>
              </a:rPr>
              <a:t>public class 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UserResultModel</a:t>
            </a:r>
          </a:p>
          <a:p>
            <a:r>
              <a:rPr lang="en-US" sz="2399" b="1" noProof="1">
                <a:latin typeface="Consolas" pitchFamily="49" charset="0"/>
              </a:rPr>
              <a:t>{</a:t>
            </a:r>
          </a:p>
          <a:p>
            <a:r>
              <a:rPr lang="en-US" sz="2399" b="1" noProof="1">
                <a:latin typeface="Consolas" pitchFamily="49" charset="0"/>
              </a:rPr>
              <a:t>  public string FullName { get; set; }</a:t>
            </a:r>
          </a:p>
          <a:p>
            <a:r>
              <a:rPr lang="en-US" sz="2399" b="1" noProof="1">
                <a:latin typeface="Consolas" pitchFamily="49" charset="0"/>
              </a:rPr>
              <a:t>  public string Age { get; set; }</a:t>
            </a:r>
          </a:p>
          <a:p>
            <a:r>
              <a:rPr lang="en-US" sz="2399" b="1" noProof="1">
                <a:latin typeface="Consolas" pitchFamily="49" charset="0"/>
              </a:rPr>
              <a:t>}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848CF05-D7DD-486F-87F7-A33B669184AA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73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Assign the fields as you would with an anonymous object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bg-BG" dirty="0"/>
          </a:p>
          <a:p>
            <a:pPr>
              <a:lnSpc>
                <a:spcPct val="150000"/>
              </a:lnSpc>
            </a:pPr>
            <a:r>
              <a:rPr lang="en-US" dirty="0"/>
              <a:t>The new type can be used in a method signature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Models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96000" y="1931271"/>
            <a:ext cx="8324758" cy="304596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399" b="1" noProof="1">
                <a:latin typeface="Consolas" pitchFamily="49" charset="0"/>
              </a:rPr>
              <a:t>var currentUser = context.Users</a:t>
            </a:r>
          </a:p>
          <a:p>
            <a:r>
              <a:rPr lang="en-US" sz="2399" b="1" noProof="1">
                <a:latin typeface="Consolas" pitchFamily="49" charset="0"/>
              </a:rPr>
              <a:t>  .Where(u =&gt; u.Id == 8)</a:t>
            </a:r>
          </a:p>
          <a:p>
            <a:r>
              <a:rPr lang="en-US" sz="2399" b="1" noProof="1">
                <a:latin typeface="Consolas" pitchFamily="49" charset="0"/>
              </a:rPr>
              <a:t>  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Select</a:t>
            </a:r>
            <a:r>
              <a:rPr lang="en-US" sz="2399" b="1" noProof="1">
                <a:latin typeface="Consolas" pitchFamily="49" charset="0"/>
              </a:rPr>
              <a:t>(u =&gt; 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new UserResultModel</a:t>
            </a:r>
          </a:p>
          <a:p>
            <a:r>
              <a:rPr lang="en-US" sz="2399" b="1" noProof="1">
                <a:latin typeface="Consolas" pitchFamily="49" charset="0"/>
              </a:rPr>
              <a:t>  {</a:t>
            </a:r>
          </a:p>
          <a:p>
            <a:r>
              <a:rPr lang="en-US" sz="2399" b="1" noProof="1">
                <a:latin typeface="Consolas" pitchFamily="49" charset="0"/>
              </a:rPr>
              <a:t>    FullName = u.FirstName + " " + u.LastName,</a:t>
            </a:r>
          </a:p>
          <a:p>
            <a:r>
              <a:rPr lang="en-US" sz="2399" b="1" noProof="1">
                <a:latin typeface="Consolas" pitchFamily="49" charset="0"/>
              </a:rPr>
              <a:t>    Age = u.Age</a:t>
            </a:r>
          </a:p>
          <a:p>
            <a:r>
              <a:rPr lang="en-US" sz="2399" b="1" noProof="1">
                <a:latin typeface="Consolas" pitchFamily="49" charset="0"/>
              </a:rPr>
              <a:t>  })</a:t>
            </a:r>
          </a:p>
          <a:p>
            <a:r>
              <a:rPr lang="en-US" sz="2399" b="1" noProof="1">
                <a:latin typeface="Consolas" pitchFamily="49" charset="0"/>
              </a:rPr>
              <a:t>  .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SingleOrDefault</a:t>
            </a:r>
            <a:r>
              <a:rPr lang="en-US" sz="2399" b="1" noProof="1">
                <a:latin typeface="Consolas" pitchFamily="49" charset="0"/>
              </a:rPr>
              <a:t>();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96000" y="5814000"/>
            <a:ext cx="8324758" cy="46153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399" b="1" noProof="1">
                <a:latin typeface="Consolas" pitchFamily="49" charset="0"/>
              </a:rPr>
              <a:t>public</a:t>
            </a:r>
            <a:r>
              <a:rPr lang="bg-BG" sz="2399" b="1" noProof="1">
                <a:latin typeface="Consolas" pitchFamily="49" charset="0"/>
              </a:rPr>
              <a:t> </a:t>
            </a:r>
            <a:r>
              <a:rPr lang="en-US" sz="2399" b="1" noProof="1">
                <a:solidFill>
                  <a:schemeClr val="bg1"/>
                </a:solidFill>
                <a:latin typeface="Consolas" pitchFamily="49" charset="0"/>
              </a:rPr>
              <a:t>UserResultModel</a:t>
            </a:r>
            <a:r>
              <a:rPr lang="en-US" sz="2399" b="1" noProof="1">
                <a:latin typeface="Consolas" pitchFamily="49" charset="0"/>
              </a:rPr>
              <a:t> GetUserInfo(int Id) { … }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40EA989-5205-4E06-B62D-002DB07D9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2095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7" y="1344638"/>
            <a:ext cx="8155594" cy="5300339"/>
            <a:chOff x="453874" y="1483533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53874" y="1483533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450937" y="3535719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593874" y="1824674"/>
            <a:ext cx="7636087" cy="4349326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915" marR="0" lvl="0" indent="-456915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3200" b="1" dirty="0">
                <a:solidFill>
                  <a:schemeClr val="bg1"/>
                </a:solidFill>
                <a:latin typeface="+mj-lt"/>
              </a:rPr>
              <a:t> LINQ</a:t>
            </a:r>
          </a:p>
          <a:p>
            <a:pPr lvl="1"/>
            <a:r>
              <a:rPr lang="en-GB" sz="3000" b="1" dirty="0">
                <a:solidFill>
                  <a:schemeClr val="bg2"/>
                </a:solidFill>
                <a:latin typeface="+mj-lt"/>
              </a:rPr>
              <a:t>Filtering, Aggregation, SelectMany, Joins</a:t>
            </a:r>
          </a:p>
          <a:p>
            <a:r>
              <a:rPr lang="en-US" sz="3200" b="1" dirty="0">
                <a:solidFill>
                  <a:schemeClr val="bg2"/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+mj-lt"/>
              </a:rPr>
              <a:t>IEnumerable</a:t>
            </a:r>
            <a:endParaRPr lang="en-US" sz="3200" b="1" dirty="0">
              <a:solidFill>
                <a:schemeClr val="bg1"/>
              </a:solidFill>
              <a:latin typeface="+mj-lt"/>
            </a:endParaRPr>
          </a:p>
          <a:p>
            <a:r>
              <a:rPr lang="en-GB" sz="3200" b="1" dirty="0">
                <a:solidFill>
                  <a:schemeClr val="bg2"/>
                </a:solidFill>
                <a:latin typeface="+mj-lt"/>
              </a:rPr>
              <a:t> </a:t>
            </a:r>
            <a:r>
              <a:rPr lang="en-GB" sz="3200" b="1" dirty="0" err="1">
                <a:solidFill>
                  <a:schemeClr val="bg1"/>
                </a:solidFill>
                <a:latin typeface="+mj-lt"/>
              </a:rPr>
              <a:t>IQueryable</a:t>
            </a:r>
            <a:endParaRPr lang="en-GB" sz="3200" b="1" dirty="0">
              <a:solidFill>
                <a:schemeClr val="bg1"/>
              </a:solidFill>
              <a:latin typeface="+mj-lt"/>
            </a:endParaRPr>
          </a:p>
          <a:p>
            <a:r>
              <a:rPr lang="en-US" sz="3200" b="1" dirty="0">
                <a:solidFill>
                  <a:schemeClr val="bg2"/>
                </a:solidFill>
                <a:latin typeface="+mj-lt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+mj-lt"/>
              </a:rPr>
              <a:t>Differences</a:t>
            </a:r>
            <a:r>
              <a:rPr lang="en-US" sz="3200" b="1" dirty="0">
                <a:solidFill>
                  <a:schemeClr val="bg2"/>
                </a:solidFill>
                <a:latin typeface="+mj-lt"/>
              </a:rPr>
              <a:t> between </a:t>
            </a:r>
            <a:r>
              <a:rPr lang="en-US" sz="3200" b="1" dirty="0" err="1">
                <a:solidFill>
                  <a:schemeClr val="bg2"/>
                </a:solidFill>
                <a:latin typeface="+mj-lt"/>
              </a:rPr>
              <a:t>IEnumerable</a:t>
            </a:r>
            <a:r>
              <a:rPr lang="en-US" sz="3200" b="1" dirty="0">
                <a:solidFill>
                  <a:schemeClr val="bg2"/>
                </a:solidFill>
                <a:latin typeface="+mj-lt"/>
              </a:rPr>
              <a:t> </a:t>
            </a:r>
            <a:br>
              <a:rPr lang="bg-BG" sz="3200" b="1" dirty="0">
                <a:solidFill>
                  <a:schemeClr val="bg2"/>
                </a:solidFill>
                <a:latin typeface="+mj-lt"/>
              </a:rPr>
            </a:br>
            <a:r>
              <a:rPr lang="en-US" sz="3200" b="1" dirty="0">
                <a:solidFill>
                  <a:schemeClr val="bg2"/>
                </a:solidFill>
                <a:latin typeface="+mj-lt"/>
              </a:rPr>
              <a:t>and </a:t>
            </a:r>
            <a:r>
              <a:rPr lang="en-US" sz="3200" b="1" dirty="0" err="1">
                <a:solidFill>
                  <a:schemeClr val="bg2"/>
                </a:solidFill>
                <a:latin typeface="+mj-lt"/>
              </a:rPr>
              <a:t>IQueryable</a:t>
            </a:r>
            <a:endParaRPr lang="en-US" sz="3200" b="1" dirty="0">
              <a:solidFill>
                <a:schemeClr val="bg2"/>
              </a:solidFill>
              <a:latin typeface="+mj-lt"/>
            </a:endParaRPr>
          </a:p>
          <a:p>
            <a:r>
              <a:rPr lang="en-GB" sz="3200" b="1" dirty="0">
                <a:solidFill>
                  <a:schemeClr val="bg2"/>
                </a:solidFill>
                <a:latin typeface="+mj-lt"/>
              </a:rPr>
              <a:t> Result Models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398EFD01-7C4B-4732-9B36-F6B753EED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116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A682AF0-6748-48FD-9C3B-D1B946509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2425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2800" dirty="0">
                <a:hlinkClick r:id="rId4"/>
              </a:rPr>
              <a:t>about.softuni.bg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637D577-BF20-409B-8693-9ACF8441F91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93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oftUni">
    <a:dk1>
      <a:srgbClr val="234465"/>
    </a:dk1>
    <a:lt1>
      <a:srgbClr val="FFA000"/>
    </a:lt1>
    <a:dk2>
      <a:srgbClr val="234465"/>
    </a:dk2>
    <a:lt2>
      <a:srgbClr val="FFFFFF"/>
    </a:lt2>
    <a:accent1>
      <a:srgbClr val="FFA000"/>
    </a:accent1>
    <a:accent2>
      <a:srgbClr val="00B050"/>
    </a:accent2>
    <a:accent3>
      <a:srgbClr val="44A9F8"/>
    </a:accent3>
    <a:accent4>
      <a:srgbClr val="7030A0"/>
    </a:accent4>
    <a:accent5>
      <a:srgbClr val="67748E"/>
    </a:accent5>
    <a:accent6>
      <a:srgbClr val="F4F5F7"/>
    </a:accent6>
    <a:hlink>
      <a:srgbClr val="F2AC44"/>
    </a:hlink>
    <a:folHlink>
      <a:srgbClr val="F6C78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4434</TotalTime>
  <Words>1442</Words>
  <Application>Microsoft Office PowerPoint</Application>
  <PresentationFormat>Widescreen</PresentationFormat>
  <Paragraphs>223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Consolas</vt:lpstr>
      <vt:lpstr>Wingdings</vt:lpstr>
      <vt:lpstr>Wingdings 2</vt:lpstr>
      <vt:lpstr>SoftUni</vt:lpstr>
      <vt:lpstr>LINQ</vt:lpstr>
      <vt:lpstr>Have a Question?</vt:lpstr>
      <vt:lpstr>Table of Contents</vt:lpstr>
      <vt:lpstr>Filtering and Aggregating Tables</vt:lpstr>
      <vt:lpstr>Filtering</vt:lpstr>
      <vt:lpstr>Good Reasons to Use Select</vt:lpstr>
      <vt:lpstr>Good Reasons Not to Use Select </vt:lpstr>
      <vt:lpstr>Aggregation</vt:lpstr>
      <vt:lpstr>Joining Tables in EF: Using Join()</vt:lpstr>
      <vt:lpstr>Grouping Tables in EF</vt:lpstr>
      <vt:lpstr>SelectMany – Example</vt:lpstr>
      <vt:lpstr>SelectMany – Example</vt:lpstr>
      <vt:lpstr>IEnumerable vs IQueryable</vt:lpstr>
      <vt:lpstr>IEnumerable&lt;T&gt;</vt:lpstr>
      <vt:lpstr>IQueryable&lt;T&gt;  </vt:lpstr>
      <vt:lpstr> Differences Between IEnumerable and IQueryable</vt:lpstr>
      <vt:lpstr>Result Models</vt:lpstr>
      <vt:lpstr>Result Models</vt:lpstr>
      <vt:lpstr>Result Models</vt:lpstr>
      <vt:lpstr>Summary</vt:lpstr>
      <vt:lpstr>License</vt:lpstr>
      <vt:lpstr>Trainings @ Software University (SoftUni)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 Core Code First</dc:title>
  <dc:subject>Software Development Course</dc:subject>
  <dc:creator>Software University</dc:creator>
  <cp:keywords>Databases; SQL; programming; SoftUni; Software University; programming; software development; software engineering; course; database systems</cp:keywords>
  <dc:description>© SoftUni – https://softuni.org_x000d_
© Software University – https://softuni.bg_x000d_
_x000d_
Copyrighted document. Unauthorized copy, reproduction or use is not permitted.</dc:description>
  <cp:lastModifiedBy>Krasimir Tsanev</cp:lastModifiedBy>
  <cp:revision>122</cp:revision>
  <dcterms:created xsi:type="dcterms:W3CDTF">2018-05-23T13:08:44Z</dcterms:created>
  <dcterms:modified xsi:type="dcterms:W3CDTF">2025-10-13T05:58:08Z</dcterms:modified>
  <cp:category>programming;computer programming;software development;databases</cp:category>
</cp:coreProperties>
</file>