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9"/>
  </p:notesMasterIdLst>
  <p:handoutMasterIdLst>
    <p:handoutMasterId r:id="rId30"/>
  </p:handoutMasterIdLst>
  <p:sldIdLst>
    <p:sldId id="402" r:id="rId2"/>
    <p:sldId id="572" r:id="rId3"/>
    <p:sldId id="493" r:id="rId4"/>
    <p:sldId id="467" r:id="rId5"/>
    <p:sldId id="548" r:id="rId6"/>
    <p:sldId id="549" r:id="rId7"/>
    <p:sldId id="581" r:id="rId8"/>
    <p:sldId id="578" r:id="rId9"/>
    <p:sldId id="579" r:id="rId10"/>
    <p:sldId id="580" r:id="rId11"/>
    <p:sldId id="575" r:id="rId12"/>
    <p:sldId id="576" r:id="rId13"/>
    <p:sldId id="480" r:id="rId14"/>
    <p:sldId id="553" r:id="rId15"/>
    <p:sldId id="554" r:id="rId16"/>
    <p:sldId id="555" r:id="rId17"/>
    <p:sldId id="556" r:id="rId18"/>
    <p:sldId id="557" r:id="rId19"/>
    <p:sldId id="558" r:id="rId20"/>
    <p:sldId id="559" r:id="rId21"/>
    <p:sldId id="569" r:id="rId22"/>
    <p:sldId id="560" r:id="rId23"/>
    <p:sldId id="561" r:id="rId24"/>
    <p:sldId id="571" r:id="rId25"/>
    <p:sldId id="349" r:id="rId26"/>
    <p:sldId id="405" r:id="rId27"/>
    <p:sldId id="57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189D4BD-703B-43E9-B0C8-535B06D40128}">
          <p14:sldIdLst>
            <p14:sldId id="402"/>
            <p14:sldId id="572"/>
            <p14:sldId id="493"/>
          </p14:sldIdLst>
        </p14:section>
        <p14:section name="JSON Data Format" id="{36F8A084-5E34-44B7-B333-05A461FA0B95}">
          <p14:sldIdLst>
            <p14:sldId id="467"/>
            <p14:sldId id="548"/>
            <p14:sldId id="549"/>
            <p14:sldId id="581"/>
          </p14:sldIdLst>
        </p14:section>
        <p14:section name="Processing JSON" id="{58E84EA7-D723-45D7-A90A-C42EB7AB917A}">
          <p14:sldIdLst>
            <p14:sldId id="578"/>
            <p14:sldId id="579"/>
            <p14:sldId id="580"/>
            <p14:sldId id="575"/>
            <p14:sldId id="576"/>
          </p14:sldIdLst>
        </p14:section>
        <p14:section name="JSON.NET" id="{A7491E5E-CA18-45B7-9BF5-62CE55430F9A}">
          <p14:sldIdLst>
            <p14:sldId id="480"/>
            <p14:sldId id="553"/>
            <p14:sldId id="554"/>
            <p14:sldId id="555"/>
            <p14:sldId id="556"/>
            <p14:sldId id="557"/>
            <p14:sldId id="558"/>
            <p14:sldId id="559"/>
            <p14:sldId id="569"/>
            <p14:sldId id="560"/>
            <p14:sldId id="561"/>
            <p14:sldId id="571"/>
          </p14:sldIdLst>
        </p14:section>
        <p14:section name="Conclusion" id="{9D803F68-B90F-475A-ADED-CE7AB900613D}">
          <p14:sldIdLst>
            <p14:sldId id="349"/>
            <p14:sldId id="405"/>
            <p14:sldId id="5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kolay" initials="N" lastIdx="1" clrIdx="0">
    <p:extLst>
      <p:ext uri="{19B8F6BF-5375-455C-9EA6-DF929625EA0E}">
        <p15:presenceInfo xmlns:p15="http://schemas.microsoft.com/office/powerpoint/2012/main" userId="Nikola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5214" autoAdjust="0"/>
  </p:normalViewPr>
  <p:slideViewPr>
    <p:cSldViewPr showGuides="1">
      <p:cViewPr varScale="1">
        <p:scale>
          <a:sx n="111" d="100"/>
          <a:sy n="111" d="100"/>
        </p:scale>
        <p:origin x="196" y="7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3730066F-C6B5-41EA-B442-C863126B27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344524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6E81529C-D555-43DA-BFD3-B4B183F23CD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828635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51D7E95-CAC1-4303-9C0B-FA7A4BC1D9F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660765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EED478BC-2F1A-4041-B0C2-6EAD02E5E77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960625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3CE122C8-A644-4A5F-BAE7-D96488877F6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0419936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7D62E9-17C1-4ED8-93B8-DC4AC686C2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729645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F90089C4-B83A-4016-90BA-848B40AC516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048766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17.png"/><Relationship Id="rId4" Type="http://schemas.openxmlformats.org/officeDocument/2006/relationships/hyperlink" Target="https://softuni.org/" TargetMode="External"/><Relationship Id="rId9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dirty="0"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. 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23832" y="4395885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blogs.microsoft.com/dotnet/try-the-new-system-text-json-apis/#user-content-systemtextjson-in-aspnet-core-mvc" TargetMode="External"/><Relationship Id="rId2" Type="http://schemas.openxmlformats.org/officeDocument/2006/relationships/hyperlink" Target="http://www.newtonsoft.com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cs.microsoft.com/en-us/dotnet/standard/serialization/system-text-json-migrate-from-newtonsoft-how-to#table-of-differences-between-newtonsoftjson-and-systemtextjson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about.softuni.bg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Parsing JSON, JSON.NET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External Format Processing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https://about.softuni.bg/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SoftUni Team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Technical Trainers</a:t>
            </a:r>
          </a:p>
        </p:txBody>
      </p:sp>
      <p:pic>
        <p:nvPicPr>
          <p:cNvPr id="23" name="Picture 2" descr="Image result for JSON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00" y="2519626"/>
            <a:ext cx="4587184" cy="1818748"/>
          </a:xfrm>
          <a:prstGeom prst="rect">
            <a:avLst/>
          </a:prstGeom>
          <a:noFill/>
          <a:scene3d>
            <a:camera prst="isometricOffAxis1Righ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267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bg-BG" sz="4000" b="1" dirty="0"/>
          </a:p>
          <a:p>
            <a:pPr marL="0" indent="0" algn="ctr">
              <a:buNone/>
            </a:pPr>
            <a:r>
              <a:rPr lang="en-US" sz="8800" b="1" u="sng" dirty="0">
                <a:solidFill>
                  <a:schemeClr val="bg1"/>
                </a:solidFill>
              </a:rPr>
              <a:t>sli.do</a:t>
            </a:r>
            <a:endParaRPr lang="bg-BG" sz="7200" b="1" u="sng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500" b="1" dirty="0"/>
              <a:t>#csharp-</a:t>
            </a:r>
            <a:r>
              <a:rPr lang="en-US" sz="11500" b="1" dirty="0" err="1"/>
              <a:t>db</a:t>
            </a:r>
            <a:endParaRPr lang="en-US" sz="11500" dirty="0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a Question?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5832FC08-0997-4D01-A15A-A44B6CF8D4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39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A566F-0E0E-4BF9-A3B0-6F01080380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sv-SE" dirty="0"/>
              <a:t>JSON Data Format</a:t>
            </a:r>
          </a:p>
          <a:p>
            <a:r>
              <a:rPr lang="sv-SE" dirty="0"/>
              <a:t>Processing JSON</a:t>
            </a:r>
          </a:p>
          <a:p>
            <a:pPr lvl="1"/>
            <a:r>
              <a:rPr lang="sv-SE" dirty="0">
                <a:latin typeface="+mj-lt"/>
              </a:rPr>
              <a:t>System.Text.Json</a:t>
            </a:r>
          </a:p>
          <a:p>
            <a:r>
              <a:rPr lang="sv-SE" dirty="0"/>
              <a:t>JSON.NET</a:t>
            </a:r>
          </a:p>
          <a:p>
            <a:pPr lvl="1"/>
            <a:r>
              <a:rPr lang="en-US" dirty="0"/>
              <a:t>Configuring JSON.NET</a:t>
            </a:r>
          </a:p>
          <a:p>
            <a:pPr lvl="1"/>
            <a:r>
              <a:rPr lang="en-US" dirty="0"/>
              <a:t>LINQ-to-JSON</a:t>
            </a:r>
          </a:p>
          <a:p>
            <a:pPr lvl="1"/>
            <a:r>
              <a:rPr lang="en-US" dirty="0"/>
              <a:t>XML-to-JSON</a:t>
            </a:r>
            <a:endParaRPr lang="sv-S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603285-689A-4E41-8F77-BD9FEA5C4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 of Contents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0FB5DE3-6C45-4207-8D1F-0FFD821008CB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25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0CE6-657C-4A76-B568-B1A0717C59B7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JSON Data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95801" y="1828801"/>
            <a:ext cx="3200400" cy="1504615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8000" b="1" i="1" dirty="0">
                <a:solidFill>
                  <a:schemeClr val="bg2"/>
                </a:solidFill>
              </a:rPr>
              <a:t>{JSON}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699E4F5-2BEC-4F87-A8BD-1B622AE5D050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Definition and Syntax</a:t>
            </a:r>
          </a:p>
        </p:txBody>
      </p:sp>
    </p:spTree>
    <p:extLst>
      <p:ext uri="{BB962C8B-B14F-4D97-AF65-F5344CB8AC3E}">
        <p14:creationId xmlns:p14="http://schemas.microsoft.com/office/powerpoint/2010/main" val="414584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JSON</a:t>
            </a:r>
            <a:r>
              <a:rPr lang="en-US" dirty="0"/>
              <a:t> (</a:t>
            </a:r>
            <a:r>
              <a:rPr lang="en-US" b="1" dirty="0">
                <a:solidFill>
                  <a:schemeClr val="bg1"/>
                </a:solidFill>
              </a:rPr>
              <a:t>J</a:t>
            </a:r>
            <a:r>
              <a:rPr lang="en-US" dirty="0"/>
              <a:t>ava</a:t>
            </a:r>
            <a:r>
              <a:rPr lang="en-US" b="1" dirty="0">
                <a:solidFill>
                  <a:schemeClr val="bg1"/>
                </a:solidFill>
              </a:rPr>
              <a:t>S</a:t>
            </a:r>
            <a:r>
              <a:rPr lang="en-US" dirty="0"/>
              <a:t>cript </a:t>
            </a:r>
            <a:r>
              <a:rPr lang="en-US" b="1" dirty="0">
                <a:solidFill>
                  <a:schemeClr val="bg1"/>
                </a:solidFill>
              </a:rPr>
              <a:t>O</a:t>
            </a:r>
            <a:r>
              <a:rPr lang="en-US" dirty="0"/>
              <a:t>bject </a:t>
            </a:r>
            <a:r>
              <a:rPr lang="en-US" b="1" dirty="0">
                <a:solidFill>
                  <a:schemeClr val="bg1"/>
                </a:solidFill>
              </a:rPr>
              <a:t>N</a:t>
            </a:r>
            <a:r>
              <a:rPr lang="en-US" dirty="0"/>
              <a:t>otation) is a lightweight data format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Human and machine-readable plain text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Based on </a:t>
            </a:r>
            <a:r>
              <a:rPr lang="en-US" b="1" dirty="0">
                <a:solidFill>
                  <a:schemeClr val="bg1"/>
                </a:solidFill>
              </a:rPr>
              <a:t>JavaScript</a:t>
            </a:r>
            <a:r>
              <a:rPr lang="en-US" dirty="0"/>
              <a:t> objects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Independent of development platforms and languages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JSON data consists of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Values (</a:t>
            </a:r>
            <a:r>
              <a:rPr lang="en-US" b="1" dirty="0">
                <a:solidFill>
                  <a:schemeClr val="bg1"/>
                </a:solidFill>
              </a:rPr>
              <a:t>strings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numbers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etc</a:t>
            </a:r>
            <a:r>
              <a:rPr lang="en-US" dirty="0">
                <a:solidFill>
                  <a:schemeClr val="bg1"/>
                </a:solidFill>
              </a:rPr>
              <a:t>.</a:t>
            </a:r>
            <a:r>
              <a:rPr lang="en-US" dirty="0"/>
              <a:t>)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Key-value pairs: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key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value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bg-BG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2">
              <a:buClr>
                <a:schemeClr val="tx1"/>
              </a:buClr>
            </a:pPr>
            <a:r>
              <a:rPr lang="en-US" dirty="0"/>
              <a:t>Arrays: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[value1,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value2,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…]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Data Format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C2F562-3E3C-42D8-B46F-F8A8F6CBD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67F5AE0-37CE-4876-BF03-24FB8661EDAB}"/>
              </a:ext>
            </a:extLst>
          </p:cNvPr>
          <p:cNvSpPr txBox="1">
            <a:spLocks/>
          </p:cNvSpPr>
          <p:nvPr/>
        </p:nvSpPr>
        <p:spPr>
          <a:xfrm>
            <a:off x="7221000" y="4284000"/>
            <a:ext cx="4419156" cy="206476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1500" dirty="0">
                <a:ln w="0">
                  <a:noFill/>
                </a:ln>
                <a:solidFill>
                  <a:schemeClr val="tx1"/>
                </a:solidFill>
                <a:effectLst/>
              </a:rPr>
              <a:t>{</a:t>
            </a:r>
          </a:p>
          <a:p>
            <a:r>
              <a:rPr lang="en-US" sz="1500" dirty="0">
                <a:ln w="0">
                  <a:noFill/>
                </a:ln>
                <a:solidFill>
                  <a:schemeClr val="tx1"/>
                </a:solidFill>
                <a:effectLst/>
              </a:rPr>
              <a:t>    "firstName": "</a:t>
            </a:r>
            <a:r>
              <a:rPr lang="en-US" sz="1500" dirty="0" err="1">
                <a:ln w="0">
                  <a:noFill/>
                </a:ln>
                <a:solidFill>
                  <a:schemeClr val="tx1"/>
                </a:solidFill>
                <a:effectLst/>
              </a:rPr>
              <a:t>Pesho</a:t>
            </a:r>
            <a:r>
              <a:rPr lang="en-US" sz="1500" dirty="0">
                <a:ln w="0">
                  <a:noFill/>
                </a:ln>
                <a:solidFill>
                  <a:schemeClr val="tx1"/>
                </a:solidFill>
                <a:effectLst/>
              </a:rPr>
              <a:t>",</a:t>
            </a:r>
          </a:p>
          <a:p>
            <a:r>
              <a:rPr lang="en-US" sz="1500" dirty="0">
                <a:ln w="0">
                  <a:noFill/>
                </a:ln>
                <a:solidFill>
                  <a:schemeClr val="tx1"/>
                </a:solidFill>
                <a:effectLst/>
              </a:rPr>
              <a:t>    "courses": ["C#", "JS", "ASP.NET"]</a:t>
            </a:r>
          </a:p>
          <a:p>
            <a:r>
              <a:rPr lang="en-US" sz="1500" dirty="0">
                <a:ln w="0">
                  <a:noFill/>
                </a:ln>
                <a:solidFill>
                  <a:schemeClr val="tx1"/>
                </a:solidFill>
                <a:effectLst/>
              </a:rPr>
              <a:t>    "age": 23,</a:t>
            </a:r>
          </a:p>
          <a:p>
            <a:r>
              <a:rPr lang="en-US" sz="1500" dirty="0">
                <a:ln w="0">
                  <a:noFill/>
                </a:ln>
                <a:solidFill>
                  <a:schemeClr val="tx1"/>
                </a:solidFill>
                <a:effectLst/>
              </a:rPr>
              <a:t>    "hasDriverLicense": true,</a:t>
            </a:r>
          </a:p>
          <a:p>
            <a:r>
              <a:rPr lang="en-US" sz="1500" dirty="0">
                <a:ln w="0">
                  <a:noFill/>
                </a:ln>
                <a:solidFill>
                  <a:schemeClr val="tx1"/>
                </a:solidFill>
                <a:effectLst/>
              </a:rPr>
              <a:t>    "date": "2012-04-23T18:25:43.511Z",</a:t>
            </a:r>
          </a:p>
          <a:p>
            <a:r>
              <a:rPr lang="en-US" sz="1500" dirty="0">
                <a:ln w="0">
                  <a:noFill/>
                </a:ln>
                <a:solidFill>
                  <a:schemeClr val="tx1"/>
                </a:solidFill>
                <a:effectLst/>
              </a:rPr>
              <a:t>    </a:t>
            </a:r>
            <a:r>
              <a:rPr lang="en-US" sz="1500" i="1" dirty="0">
                <a:ln w="0">
                  <a:noFill/>
                </a:ln>
                <a:solidFill>
                  <a:schemeClr val="accent2"/>
                </a:solidFill>
                <a:effectLst/>
              </a:rPr>
              <a:t>// ...</a:t>
            </a:r>
          </a:p>
          <a:p>
            <a:r>
              <a:rPr lang="en-US" sz="1500" dirty="0">
                <a:ln w="0"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75765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/>
              <a:t>The JSON data format follows the rules of object creation in JS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Strings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numbers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Booleans</a:t>
            </a:r>
            <a:r>
              <a:rPr lang="en-US" dirty="0"/>
              <a:t> are valid JSON</a:t>
            </a:r>
          </a:p>
          <a:p>
            <a:pPr lvl="1">
              <a:buClr>
                <a:schemeClr val="tx1"/>
              </a:buClr>
            </a:pPr>
            <a:endParaRPr lang="en-US" dirty="0"/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Arrays</a:t>
            </a:r>
            <a:r>
              <a:rPr lang="en-US" dirty="0"/>
              <a:t> are valid JSON</a:t>
            </a:r>
          </a:p>
          <a:p>
            <a:pPr lvl="1">
              <a:buClr>
                <a:schemeClr val="tx1"/>
              </a:buClr>
            </a:pPr>
            <a:endParaRPr lang="en-US" dirty="0"/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Objects</a:t>
            </a:r>
            <a:r>
              <a:rPr lang="en-US" dirty="0"/>
              <a:t> are valid JSON (key-value pairs)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Data Format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1139050" y="2540912"/>
            <a:ext cx="5862398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r>
              <a:rPr lang="en-US" sz="2200" dirty="0">
                <a:solidFill>
                  <a:schemeClr val="tx1"/>
                </a:solidFill>
                <a:effectLst/>
              </a:rPr>
              <a:t>"this is a string and is valid JSON"</a:t>
            </a:r>
          </a:p>
        </p:txBody>
      </p:sp>
      <p:sp>
        <p:nvSpPr>
          <p:cNvPr id="9" name="Text Placeholder 5"/>
          <p:cNvSpPr txBox="1">
            <a:spLocks/>
          </p:cNvSpPr>
          <p:nvPr/>
        </p:nvSpPr>
        <p:spPr>
          <a:xfrm>
            <a:off x="1131025" y="3960508"/>
            <a:ext cx="2892398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r>
              <a:rPr lang="en-US" sz="2200" dirty="0">
                <a:solidFill>
                  <a:schemeClr val="tx1"/>
                </a:solidFill>
                <a:effectLst/>
              </a:rPr>
              <a:t>[5, </a:t>
            </a:r>
            <a:r>
              <a:rPr lang="en-US" sz="2200" noProof="1">
                <a:solidFill>
                  <a:schemeClr val="tx1"/>
                </a:solidFill>
                <a:effectLst/>
              </a:rPr>
              <a:t>"</a:t>
            </a:r>
            <a:r>
              <a:rPr lang="en-US" sz="2200" dirty="0">
                <a:solidFill>
                  <a:schemeClr val="tx1"/>
                </a:solidFill>
                <a:effectLst/>
              </a:rPr>
              <a:t>text</a:t>
            </a:r>
            <a:r>
              <a:rPr lang="en-US" sz="2200" noProof="1">
                <a:solidFill>
                  <a:schemeClr val="tx1"/>
                </a:solidFill>
                <a:effectLst/>
              </a:rPr>
              <a:t>"</a:t>
            </a:r>
            <a:r>
              <a:rPr lang="en-US" sz="2200" dirty="0">
                <a:solidFill>
                  <a:schemeClr val="tx1"/>
                </a:solidFill>
                <a:effectLst/>
              </a:rPr>
              <a:t>, true] </a:t>
            </a: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1139185" y="5204284"/>
            <a:ext cx="8016815" cy="144655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r>
              <a:rPr lang="en-US" sz="2200" noProof="1">
                <a:solidFill>
                  <a:schemeClr val="tx1"/>
                </a:solidFill>
                <a:effectLst/>
              </a:rPr>
              <a:t>{ </a:t>
            </a:r>
          </a:p>
          <a:p>
            <a:r>
              <a:rPr lang="en-US" sz="2200" noProof="1">
                <a:solidFill>
                  <a:schemeClr val="tx1"/>
                </a:solidFill>
                <a:effectLst/>
              </a:rPr>
              <a:t>  "firstName": "Svetlin", "lastName": "Nakov",</a:t>
            </a:r>
          </a:p>
          <a:p>
            <a:r>
              <a:rPr lang="en-US" sz="2200" noProof="1">
                <a:solidFill>
                  <a:schemeClr val="tx1"/>
                </a:solidFill>
                <a:effectLst/>
              </a:rPr>
              <a:t>  "jobTitle": "Technical Trainer", "age": 40</a:t>
            </a:r>
          </a:p>
          <a:p>
            <a:r>
              <a:rPr lang="en-US" sz="2200" noProof="1"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7427518" y="2536246"/>
            <a:ext cx="935292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r>
              <a:rPr lang="en-US" sz="2200" dirty="0">
                <a:solidFill>
                  <a:schemeClr val="tx1"/>
                </a:solidFill>
                <a:effectLst/>
              </a:rPr>
              <a:t>3.14</a:t>
            </a:r>
          </a:p>
        </p:txBody>
      </p:sp>
      <p:sp>
        <p:nvSpPr>
          <p:cNvPr id="10" name="Text Placeholder 5"/>
          <p:cNvSpPr txBox="1">
            <a:spLocks/>
          </p:cNvSpPr>
          <p:nvPr/>
        </p:nvSpPr>
        <p:spPr>
          <a:xfrm>
            <a:off x="8788880" y="2536245"/>
            <a:ext cx="865092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r>
              <a:rPr lang="en-US" sz="2200" dirty="0">
                <a:solidFill>
                  <a:schemeClr val="tx1"/>
                </a:solidFill>
                <a:effectLst/>
              </a:rPr>
              <a:t>true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F78772C8-F8A4-4180-93BF-53A64AD80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8446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1FF503-4637-4E4A-8BFA-B2ED20A5C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5A311C-47CC-45F6-ADC9-FEC81390B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Object, Array and Value in JSON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83C0747-10BF-4111-8F2A-78E5384D5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07" y="1263297"/>
            <a:ext cx="6615000" cy="3086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76D4B32-7A27-45E8-9A07-BEB44F016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06" y="4781760"/>
            <a:ext cx="6614999" cy="172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85534C0-32B8-4156-9311-E25F1261D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000" y="2259000"/>
            <a:ext cx="5622834" cy="39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462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EF1D5-3471-4D6D-A9F5-E82C0F7877CE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Processing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801" y="2337573"/>
            <a:ext cx="3200400" cy="1504615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8000" b="1" i="1" dirty="0">
                <a:solidFill>
                  <a:schemeClr val="bg2"/>
                </a:solidFill>
              </a:rPr>
              <a:t>{JSON}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395" y="1278027"/>
            <a:ext cx="1343212" cy="1352739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76B0AAD1-D1BD-4E0C-B1FA-C56E34B4E501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Parsing JSON in C# and .NET with </a:t>
            </a:r>
            <a:r>
              <a:rPr lang="en-US" dirty="0" err="1"/>
              <a:t>System.Text.Json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447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2046451" y="983404"/>
            <a:ext cx="10129234" cy="5546589"/>
          </a:xfrm>
        </p:spPr>
        <p:txBody>
          <a:bodyPr/>
          <a:lstStyle/>
          <a:p>
            <a:r>
              <a:rPr lang="en-US" dirty="0"/>
              <a:t>.NET has built-in JSON support through the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System.Text.Json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NuGet</a:t>
            </a:r>
            <a:r>
              <a:rPr lang="en-US" dirty="0"/>
              <a:t> Package</a:t>
            </a:r>
          </a:p>
          <a:p>
            <a:endParaRPr lang="en-US" u="sng" dirty="0"/>
          </a:p>
          <a:p>
            <a:pPr lvl="1"/>
            <a:endParaRPr lang="en-US" dirty="0"/>
          </a:p>
          <a:p>
            <a:pPr lvl="1"/>
            <a:r>
              <a:rPr lang="en-US" dirty="0"/>
              <a:t>It supports</a:t>
            </a:r>
            <a:r>
              <a:rPr lang="en-US" b="1" dirty="0">
                <a:solidFill>
                  <a:schemeClr val="bg1"/>
                </a:solidFill>
              </a:rPr>
              <a:t> serializing</a:t>
            </a:r>
            <a:r>
              <a:rPr lang="en-US" dirty="0"/>
              <a:t> objects and </a:t>
            </a:r>
            <a:r>
              <a:rPr lang="en-US" b="1" noProof="1">
                <a:solidFill>
                  <a:schemeClr val="bg1"/>
                </a:solidFill>
              </a:rPr>
              <a:t>deserializing </a:t>
            </a:r>
            <a:r>
              <a:rPr lang="en-US" dirty="0"/>
              <a:t>(parsing) strings </a:t>
            </a:r>
          </a:p>
          <a:p>
            <a:r>
              <a:rPr lang="en-US" dirty="0"/>
              <a:t>Include </a:t>
            </a:r>
            <a:r>
              <a:rPr lang="en-US" b="1" noProof="1">
                <a:solidFill>
                  <a:schemeClr val="bg1"/>
                </a:solidFill>
              </a:rPr>
              <a:t>the following namespaces</a:t>
            </a:r>
            <a:r>
              <a:rPr lang="en-US" dirty="0"/>
              <a:t> into your project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</a:t>
            </a:r>
            <a:r>
              <a:rPr lang="bg-BG" dirty="0"/>
              <a:t>-</a:t>
            </a:r>
            <a:r>
              <a:rPr lang="en-US" dirty="0"/>
              <a:t>in JSON Support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ED398C5-3BB9-4099-BC95-4F6B6EB2AD32}"/>
              </a:ext>
            </a:extLst>
          </p:cNvPr>
          <p:cNvSpPr txBox="1">
            <a:spLocks/>
          </p:cNvSpPr>
          <p:nvPr/>
        </p:nvSpPr>
        <p:spPr>
          <a:xfrm>
            <a:off x="2508970" y="5499000"/>
            <a:ext cx="9212030" cy="95410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r>
              <a:rPr lang="en-US" sz="2800" noProof="1">
                <a:solidFill>
                  <a:schemeClr val="tx1"/>
                </a:solidFill>
                <a:effectLst/>
                <a:cs typeface="+mn-cs"/>
              </a:rPr>
              <a:t>using</a:t>
            </a:r>
            <a:r>
              <a:rPr lang="en-US" sz="2800" noProof="1">
                <a:solidFill>
                  <a:schemeClr val="tx1"/>
                </a:solidFill>
                <a:effectLst/>
              </a:rPr>
              <a:t> </a:t>
            </a:r>
            <a:r>
              <a:rPr lang="en-US" sz="2800" dirty="0">
                <a:solidFill>
                  <a:schemeClr val="bg1"/>
                </a:solidFill>
                <a:effectLst/>
              </a:rPr>
              <a:t>System.Text.Json</a:t>
            </a:r>
            <a:r>
              <a:rPr lang="en-US" sz="2800" noProof="1">
                <a:solidFill>
                  <a:schemeClr val="tx1"/>
                </a:solidFill>
                <a:effectLst/>
                <a:cs typeface="+mn-cs"/>
              </a:rPr>
              <a:t>;</a:t>
            </a:r>
          </a:p>
          <a:p>
            <a:r>
              <a:rPr lang="en-US" sz="2800" noProof="1">
                <a:solidFill>
                  <a:schemeClr val="tx1"/>
                </a:solidFill>
                <a:effectLst/>
              </a:rPr>
              <a:t>using </a:t>
            </a:r>
            <a:r>
              <a:rPr lang="en-US" sz="2800" dirty="0">
                <a:solidFill>
                  <a:schemeClr val="bg1"/>
                </a:solidFill>
                <a:effectLst/>
              </a:rPr>
              <a:t>System.Text.Json.Serialization</a:t>
            </a:r>
            <a:r>
              <a:rPr lang="en-US" sz="2800" noProof="1">
                <a:solidFill>
                  <a:schemeClr val="tx1"/>
                </a:solidFill>
                <a:effectLst/>
              </a:rPr>
              <a:t>;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24505C49-CDD3-4F76-8B7A-2BFB25F2A7B7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2AD1E7-5EF2-4E9D-9F66-62D605B49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76000" y="2362025"/>
            <a:ext cx="5573034" cy="93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20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FE705F-D107-447E-86CD-95C6F9A40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System.Text.Json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serializer can read and write JSON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Serializing JSON</a:t>
            </a:r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808500" y="1989241"/>
            <a:ext cx="10575000" cy="437658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pPr>
              <a:lnSpc>
                <a:spcPct val="80000"/>
              </a:lnSpc>
            </a:pPr>
            <a:r>
              <a:rPr lang="en-US" sz="2400" noProof="1">
                <a:solidFill>
                  <a:schemeClr val="tx1"/>
                </a:solidFill>
                <a:effectLst/>
              </a:rPr>
              <a:t>class </a:t>
            </a:r>
            <a:r>
              <a:rPr lang="en-US" sz="2400" noProof="1">
                <a:solidFill>
                  <a:schemeClr val="bg1"/>
                </a:solidFill>
                <a:effectLst/>
              </a:rPr>
              <a:t>WeatherForecast</a:t>
            </a:r>
          </a:p>
          <a:p>
            <a:pPr>
              <a:lnSpc>
                <a:spcPct val="80000"/>
              </a:lnSpc>
            </a:pPr>
            <a:r>
              <a:rPr lang="en-US" sz="2400" noProof="1">
                <a:solidFill>
                  <a:schemeClr val="tx1"/>
                </a:solidFill>
                <a:effectLst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sz="2400" noProof="1">
                <a:solidFill>
                  <a:schemeClr val="tx1"/>
                </a:solidFill>
                <a:effectLst/>
              </a:rPr>
              <a:t>    public DateTime Date { get; set; } = DateTime.Now;</a:t>
            </a:r>
          </a:p>
          <a:p>
            <a:pPr>
              <a:lnSpc>
                <a:spcPct val="80000"/>
              </a:lnSpc>
            </a:pPr>
            <a:r>
              <a:rPr lang="en-US" sz="2400" noProof="1">
                <a:solidFill>
                  <a:schemeClr val="tx1"/>
                </a:solidFill>
                <a:effectLst/>
              </a:rPr>
              <a:t>    public int TemperatureC { get; set; } = 30;</a:t>
            </a:r>
          </a:p>
          <a:p>
            <a:pPr>
              <a:lnSpc>
                <a:spcPct val="80000"/>
              </a:lnSpc>
            </a:pPr>
            <a:r>
              <a:rPr lang="en-US" sz="2400" noProof="1">
                <a:solidFill>
                  <a:schemeClr val="tx1"/>
                </a:solidFill>
                <a:effectLst/>
              </a:rPr>
              <a:t>    public string Summary { get; set; } = "Hot summer day";</a:t>
            </a:r>
          </a:p>
          <a:p>
            <a:pPr>
              <a:lnSpc>
                <a:spcPct val="80000"/>
              </a:lnSpc>
            </a:pPr>
            <a:r>
              <a:rPr lang="en-US" sz="2400" noProof="1">
                <a:solidFill>
                  <a:schemeClr val="tx1"/>
                </a:solidFill>
                <a:effectLst/>
              </a:rPr>
              <a:t>}</a:t>
            </a:r>
          </a:p>
          <a:p>
            <a:pPr>
              <a:lnSpc>
                <a:spcPct val="80000"/>
              </a:lnSpc>
            </a:pPr>
            <a:endParaRPr lang="en-US" sz="2400" noProof="1">
              <a:solidFill>
                <a:schemeClr val="tx1"/>
              </a:solidFill>
              <a:effectLst/>
            </a:endParaRPr>
          </a:p>
          <a:p>
            <a:r>
              <a:rPr lang="en-US" sz="2400" dirty="0">
                <a:solidFill>
                  <a:schemeClr val="tx1"/>
                </a:solidFill>
                <a:effectLst/>
              </a:rPr>
              <a:t>static void Main()</a:t>
            </a:r>
          </a:p>
          <a:p>
            <a:r>
              <a:rPr lang="en-US" sz="2400" dirty="0">
                <a:solidFill>
                  <a:schemeClr val="tx1"/>
                </a:solidFill>
                <a:effectLst/>
              </a:rPr>
              <a:t>{</a:t>
            </a:r>
          </a:p>
          <a:p>
            <a:r>
              <a:rPr lang="en-US" sz="2400" dirty="0">
                <a:solidFill>
                  <a:schemeClr val="tx1"/>
                </a:solidFill>
                <a:effectLst/>
              </a:rPr>
              <a:t>    WeatherForecast forecast = new WeatherForecast();</a:t>
            </a:r>
          </a:p>
          <a:p>
            <a:r>
              <a:rPr lang="en-US" sz="2400" dirty="0">
                <a:solidFill>
                  <a:schemeClr val="tx1"/>
                </a:solidFill>
                <a:effectLst/>
              </a:rPr>
              <a:t>    string weatherInfo = </a:t>
            </a:r>
            <a:r>
              <a:rPr lang="en-US" sz="2400" dirty="0">
                <a:solidFill>
                  <a:schemeClr val="bg1"/>
                </a:solidFill>
                <a:effectLst/>
              </a:rPr>
              <a:t>JsonSerializer</a:t>
            </a:r>
            <a:r>
              <a:rPr lang="en-US" sz="2400" dirty="0">
                <a:solidFill>
                  <a:schemeClr val="tx1"/>
                </a:solidFill>
                <a:effectLst/>
              </a:rPr>
              <a:t>.</a:t>
            </a:r>
            <a:r>
              <a:rPr lang="en-US" sz="2400" dirty="0">
                <a:solidFill>
                  <a:schemeClr val="bg1"/>
                </a:solidFill>
                <a:effectLst/>
              </a:rPr>
              <a:t>Serialize</a:t>
            </a:r>
            <a:r>
              <a:rPr lang="en-US" sz="2400" dirty="0">
                <a:solidFill>
                  <a:schemeClr val="tx1"/>
                </a:solidFill>
                <a:effectLst/>
              </a:rPr>
              <a:t>(forecast);</a:t>
            </a:r>
          </a:p>
          <a:p>
            <a:r>
              <a:rPr lang="en-US" sz="2400" dirty="0">
                <a:solidFill>
                  <a:schemeClr val="tx1"/>
                </a:solidFill>
                <a:effectLst/>
              </a:rPr>
              <a:t>    </a:t>
            </a:r>
            <a:r>
              <a:rPr lang="en-US" sz="2400" dirty="0" err="1">
                <a:solidFill>
                  <a:schemeClr val="tx1"/>
                </a:solidFill>
                <a:effectLst/>
              </a:rPr>
              <a:t>Console.WriteLine</a:t>
            </a:r>
            <a:r>
              <a:rPr lang="en-US" sz="2400" dirty="0">
                <a:solidFill>
                  <a:schemeClr val="tx1"/>
                </a:solidFill>
                <a:effectLst/>
              </a:rPr>
              <a:t>(</a:t>
            </a:r>
            <a:r>
              <a:rPr lang="en-US" sz="2400" dirty="0" err="1">
                <a:solidFill>
                  <a:schemeClr val="tx1"/>
                </a:solidFill>
                <a:effectLst/>
              </a:rPr>
              <a:t>weatherInfo</a:t>
            </a:r>
            <a:r>
              <a:rPr lang="en-US" sz="2400" dirty="0">
                <a:solidFill>
                  <a:schemeClr val="tx1"/>
                </a:solidFill>
                <a:effectLst/>
              </a:rPr>
              <a:t>);</a:t>
            </a:r>
          </a:p>
          <a:p>
            <a:r>
              <a:rPr lang="en-US" sz="2400" dirty="0">
                <a:solidFill>
                  <a:schemeClr val="tx1"/>
                </a:solidFill>
                <a:effectLst/>
              </a:rPr>
              <a:t>}</a:t>
            </a:r>
            <a:endParaRPr lang="en-US" sz="2400" noProof="1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3242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60FC76-F498-418E-9983-AC6196F36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00517-6E25-4F06-80CF-294FB21842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951" y="1228484"/>
            <a:ext cx="11818096" cy="5528766"/>
          </a:xfrm>
        </p:spPr>
        <p:txBody>
          <a:bodyPr/>
          <a:lstStyle/>
          <a:p>
            <a:r>
              <a:rPr lang="en-US" dirty="0"/>
              <a:t>Creating a JSON file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ADB564-7E11-4A3A-9E86-BC00FFFAE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Serializing JSON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13423A2-0767-4D61-8172-083C5452A214}"/>
              </a:ext>
            </a:extLst>
          </p:cNvPr>
          <p:cNvSpPr txBox="1">
            <a:spLocks/>
          </p:cNvSpPr>
          <p:nvPr/>
        </p:nvSpPr>
        <p:spPr>
          <a:xfrm>
            <a:off x="796499" y="2058590"/>
            <a:ext cx="10599000" cy="230832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r>
              <a:rPr lang="en-US" sz="2400" dirty="0">
                <a:solidFill>
                  <a:schemeClr val="tx1"/>
                </a:solidFill>
                <a:effectLst/>
              </a:rPr>
              <a:t>static void Main()</a:t>
            </a:r>
          </a:p>
          <a:p>
            <a:r>
              <a:rPr lang="en-US" sz="2400" dirty="0">
                <a:solidFill>
                  <a:schemeClr val="tx1"/>
                </a:solidFill>
                <a:effectLst/>
              </a:rPr>
              <a:t>{</a:t>
            </a:r>
          </a:p>
          <a:p>
            <a:r>
              <a:rPr lang="en-US" sz="2400" dirty="0">
                <a:solidFill>
                  <a:schemeClr val="tx1"/>
                </a:solidFill>
                <a:effectLst/>
              </a:rPr>
              <a:t>    WeatherForecast forecast = new WeatherForecast();</a:t>
            </a:r>
          </a:p>
          <a:p>
            <a:r>
              <a:rPr lang="en-US" sz="2400" dirty="0">
                <a:solidFill>
                  <a:schemeClr val="tx1"/>
                </a:solidFill>
                <a:effectLst/>
              </a:rPr>
              <a:t>    string weatherInfo = JsonSerializer.Serialize(forecast);</a:t>
            </a:r>
          </a:p>
          <a:p>
            <a:r>
              <a:rPr lang="en-US" sz="2400" dirty="0">
                <a:solidFill>
                  <a:schemeClr val="tx1"/>
                </a:solidFill>
                <a:effectLst/>
              </a:rPr>
              <a:t>    </a:t>
            </a:r>
            <a:r>
              <a:rPr lang="en-US" sz="2400" dirty="0">
                <a:solidFill>
                  <a:schemeClr val="bg1"/>
                </a:solidFill>
                <a:effectLst/>
              </a:rPr>
              <a:t>File</a:t>
            </a:r>
            <a:r>
              <a:rPr lang="en-US" sz="2400" dirty="0">
                <a:solidFill>
                  <a:schemeClr val="tx1"/>
                </a:solidFill>
                <a:effectLst/>
              </a:rPr>
              <a:t>.</a:t>
            </a:r>
            <a:r>
              <a:rPr lang="en-US" sz="2400" dirty="0">
                <a:solidFill>
                  <a:schemeClr val="bg1"/>
                </a:solidFill>
                <a:effectLst/>
              </a:rPr>
              <a:t>WriteAllText</a:t>
            </a:r>
            <a:r>
              <a:rPr lang="en-US" sz="2400" dirty="0">
                <a:solidFill>
                  <a:schemeClr val="tx1"/>
                </a:solidFill>
                <a:effectLst/>
              </a:rPr>
              <a:t>(file, weatherInfo);</a:t>
            </a:r>
          </a:p>
          <a:p>
            <a:r>
              <a:rPr lang="en-US" sz="2400" dirty="0">
                <a:solidFill>
                  <a:schemeClr val="tx1"/>
                </a:solidFill>
                <a:effectLst/>
              </a:rPr>
              <a:t>}</a:t>
            </a:r>
            <a:endParaRPr lang="en-US" sz="2400" noProof="1">
              <a:solidFill>
                <a:schemeClr val="tx1"/>
              </a:solidFill>
              <a:effectLst/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E230C67E-816E-4288-9272-28E2F7621165}"/>
              </a:ext>
            </a:extLst>
          </p:cNvPr>
          <p:cNvSpPr/>
          <p:nvPr/>
        </p:nvSpPr>
        <p:spPr bwMode="auto">
          <a:xfrm>
            <a:off x="5839999" y="4557461"/>
            <a:ext cx="360000" cy="495000"/>
          </a:xfrm>
          <a:prstGeom prst="down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6E6005B-434E-4304-9B15-5B778D6F01E1}"/>
              </a:ext>
            </a:extLst>
          </p:cNvPr>
          <p:cNvSpPr txBox="1">
            <a:spLocks/>
          </p:cNvSpPr>
          <p:nvPr/>
        </p:nvSpPr>
        <p:spPr>
          <a:xfrm>
            <a:off x="658348" y="5243008"/>
            <a:ext cx="10875301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r>
              <a:rPr lang="en-US" dirty="0">
                <a:solidFill>
                  <a:schemeClr val="tx1"/>
                </a:solidFill>
                <a:effectLst/>
              </a:rPr>
              <a:t>{"Date":"2020-07-16T13:33:25","TemperatureC":30,"Summary":"Hot summer day"}</a:t>
            </a:r>
            <a:endParaRPr lang="en-US" noProof="1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69785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3E5D93-CDF2-487A-AE4C-C225C2708C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7" name="Текстов контейнер 6">
            <a:extLst>
              <a:ext uri="{FF2B5EF4-FFF2-40B4-BE49-F238E27FC236}">
                <a16:creationId xmlns:a16="http://schemas.microsoft.com/office/drawing/2014/main" id="{B64172A2-8A43-817B-009B-005F64E86A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To deserialize from a file, we read the file into a string and then use the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Deserialize</a:t>
            </a:r>
            <a:r>
              <a:rPr lang="en-US" dirty="0"/>
              <a:t> method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BE3656B-54B7-4F52-B65D-B5714DC91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Deserializing</a:t>
            </a:r>
            <a:r>
              <a:rPr lang="en-US" dirty="0"/>
              <a:t> JSON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F939E369-043A-4A8A-BB1E-0218B9F590B0}"/>
              </a:ext>
            </a:extLst>
          </p:cNvPr>
          <p:cNvSpPr txBox="1">
            <a:spLocks/>
          </p:cNvSpPr>
          <p:nvPr/>
        </p:nvSpPr>
        <p:spPr>
          <a:xfrm>
            <a:off x="711400" y="2442499"/>
            <a:ext cx="10769198" cy="230832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r>
              <a:rPr lang="en-US" sz="2400" dirty="0">
                <a:solidFill>
                  <a:schemeClr val="tx1"/>
                </a:solidFill>
                <a:effectLst/>
              </a:rPr>
              <a:t>static void Main()</a:t>
            </a:r>
          </a:p>
          <a:p>
            <a:r>
              <a:rPr lang="en-US" sz="2400" dirty="0">
                <a:solidFill>
                  <a:schemeClr val="tx1"/>
                </a:solidFill>
                <a:effectLst/>
              </a:rPr>
              <a:t>{</a:t>
            </a:r>
          </a:p>
          <a:p>
            <a:r>
              <a:rPr lang="en-US" sz="2400" dirty="0">
                <a:solidFill>
                  <a:schemeClr val="tx1"/>
                </a:solidFill>
                <a:effectLst/>
              </a:rPr>
              <a:t>    string jsonString = </a:t>
            </a:r>
            <a:r>
              <a:rPr lang="en-US" sz="2400" dirty="0">
                <a:solidFill>
                  <a:schemeClr val="bg1"/>
                </a:solidFill>
                <a:effectLst/>
              </a:rPr>
              <a:t>File</a:t>
            </a:r>
            <a:r>
              <a:rPr lang="en-US" sz="2400" dirty="0">
                <a:solidFill>
                  <a:schemeClr val="tx1"/>
                </a:solidFill>
                <a:effectLst/>
              </a:rPr>
              <a:t>.</a:t>
            </a:r>
            <a:r>
              <a:rPr lang="en-US" sz="2400" dirty="0">
                <a:solidFill>
                  <a:schemeClr val="bg1"/>
                </a:solidFill>
                <a:effectLst/>
              </a:rPr>
              <a:t>ReadAllText</a:t>
            </a:r>
            <a:r>
              <a:rPr lang="en-US" sz="2400" dirty="0">
                <a:solidFill>
                  <a:schemeClr val="tx1"/>
                </a:solidFill>
                <a:effectLst/>
              </a:rPr>
              <a:t>(file);</a:t>
            </a:r>
          </a:p>
          <a:p>
            <a:r>
              <a:rPr lang="en-US" sz="2400" dirty="0">
                <a:solidFill>
                  <a:schemeClr val="tx1"/>
                </a:solidFill>
                <a:effectLst/>
              </a:rPr>
              <a:t>    WeatherForecast forecast =   	  	JsonSerializer.</a:t>
            </a:r>
            <a:r>
              <a:rPr lang="en-US" sz="2400" dirty="0">
                <a:solidFill>
                  <a:schemeClr val="bg1"/>
                </a:solidFill>
                <a:effectLst/>
              </a:rPr>
              <a:t>Deserialize</a:t>
            </a:r>
            <a:r>
              <a:rPr lang="en-US" sz="2400" dirty="0">
                <a:solidFill>
                  <a:schemeClr val="tx1"/>
                </a:solidFill>
                <a:effectLst/>
              </a:rPr>
              <a:t>&lt;WeatherForecast&gt;(jsonString);</a:t>
            </a:r>
          </a:p>
          <a:p>
            <a:r>
              <a:rPr lang="en-US" sz="2400" dirty="0">
                <a:solidFill>
                  <a:schemeClr val="tx1"/>
                </a:solidFill>
                <a:effectLst/>
              </a:rPr>
              <a:t>}</a:t>
            </a:r>
            <a:endParaRPr lang="en-US" sz="2400" noProof="1">
              <a:solidFill>
                <a:schemeClr val="tx1"/>
              </a:solidFill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759066-885A-4911-A787-F79D2C362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69971" y="5509801"/>
            <a:ext cx="7052058" cy="1002815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45580006-5160-4E3E-B871-A293F0AB37EF}"/>
              </a:ext>
            </a:extLst>
          </p:cNvPr>
          <p:cNvSpPr/>
          <p:nvPr/>
        </p:nvSpPr>
        <p:spPr bwMode="auto">
          <a:xfrm>
            <a:off x="5770840" y="4950444"/>
            <a:ext cx="650317" cy="489068"/>
          </a:xfrm>
          <a:prstGeom prst="down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78498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64FC03-C7A5-4A1D-83CB-9152FDCA9345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JSON.NET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257800" y="1881184"/>
            <a:ext cx="1447800" cy="1426330"/>
            <a:chOff x="4447904" y="1720562"/>
            <a:chExt cx="1113269" cy="1121530"/>
          </a:xfrm>
        </p:grpSpPr>
        <p:sp>
          <p:nvSpPr>
            <p:cNvPr id="7" name="Rectangle 2"/>
            <p:cNvSpPr/>
            <p:nvPr/>
          </p:nvSpPr>
          <p:spPr>
            <a:xfrm>
              <a:off x="4447904" y="1720562"/>
              <a:ext cx="1113269" cy="1121530"/>
            </a:xfrm>
            <a:custGeom>
              <a:avLst/>
              <a:gdLst>
                <a:gd name="connsiteX0" fmla="*/ 0 w 762000"/>
                <a:gd name="connsiteY0" fmla="*/ 0 h 838200"/>
                <a:gd name="connsiteX1" fmla="*/ 762000 w 762000"/>
                <a:gd name="connsiteY1" fmla="*/ 0 h 838200"/>
                <a:gd name="connsiteX2" fmla="*/ 762000 w 762000"/>
                <a:gd name="connsiteY2" fmla="*/ 838200 h 838200"/>
                <a:gd name="connsiteX3" fmla="*/ 0 w 762000"/>
                <a:gd name="connsiteY3" fmla="*/ 838200 h 838200"/>
                <a:gd name="connsiteX4" fmla="*/ 0 w 762000"/>
                <a:gd name="connsiteY4" fmla="*/ 0 h 838200"/>
                <a:gd name="connsiteX0" fmla="*/ 0 w 1006475"/>
                <a:gd name="connsiteY0" fmla="*/ 111125 h 949325"/>
                <a:gd name="connsiteX1" fmla="*/ 1006475 w 1006475"/>
                <a:gd name="connsiteY1" fmla="*/ 0 h 949325"/>
                <a:gd name="connsiteX2" fmla="*/ 762000 w 1006475"/>
                <a:gd name="connsiteY2" fmla="*/ 949325 h 949325"/>
                <a:gd name="connsiteX3" fmla="*/ 0 w 1006475"/>
                <a:gd name="connsiteY3" fmla="*/ 949325 h 949325"/>
                <a:gd name="connsiteX4" fmla="*/ 0 w 1006475"/>
                <a:gd name="connsiteY4" fmla="*/ 111125 h 949325"/>
                <a:gd name="connsiteX0" fmla="*/ 346075 w 1006475"/>
                <a:gd name="connsiteY0" fmla="*/ 349250 h 949325"/>
                <a:gd name="connsiteX1" fmla="*/ 1006475 w 1006475"/>
                <a:gd name="connsiteY1" fmla="*/ 0 h 949325"/>
                <a:gd name="connsiteX2" fmla="*/ 762000 w 1006475"/>
                <a:gd name="connsiteY2" fmla="*/ 949325 h 949325"/>
                <a:gd name="connsiteX3" fmla="*/ 0 w 1006475"/>
                <a:gd name="connsiteY3" fmla="*/ 949325 h 949325"/>
                <a:gd name="connsiteX4" fmla="*/ 346075 w 1006475"/>
                <a:gd name="connsiteY4" fmla="*/ 349250 h 949325"/>
                <a:gd name="connsiteX0" fmla="*/ 327025 w 1006475"/>
                <a:gd name="connsiteY0" fmla="*/ 355600 h 949325"/>
                <a:gd name="connsiteX1" fmla="*/ 1006475 w 1006475"/>
                <a:gd name="connsiteY1" fmla="*/ 0 h 949325"/>
                <a:gd name="connsiteX2" fmla="*/ 762000 w 1006475"/>
                <a:gd name="connsiteY2" fmla="*/ 949325 h 949325"/>
                <a:gd name="connsiteX3" fmla="*/ 0 w 1006475"/>
                <a:gd name="connsiteY3" fmla="*/ 949325 h 949325"/>
                <a:gd name="connsiteX4" fmla="*/ 327025 w 1006475"/>
                <a:gd name="connsiteY4" fmla="*/ 355600 h 949325"/>
                <a:gd name="connsiteX0" fmla="*/ 327025 w 1006475"/>
                <a:gd name="connsiteY0" fmla="*/ 355600 h 949325"/>
                <a:gd name="connsiteX1" fmla="*/ 1006475 w 1006475"/>
                <a:gd name="connsiteY1" fmla="*/ 0 h 949325"/>
                <a:gd name="connsiteX2" fmla="*/ 587375 w 1006475"/>
                <a:gd name="connsiteY2" fmla="*/ 727075 h 949325"/>
                <a:gd name="connsiteX3" fmla="*/ 0 w 1006475"/>
                <a:gd name="connsiteY3" fmla="*/ 949325 h 949325"/>
                <a:gd name="connsiteX4" fmla="*/ 327025 w 1006475"/>
                <a:gd name="connsiteY4" fmla="*/ 355600 h 949325"/>
                <a:gd name="connsiteX0" fmla="*/ 327025 w 1006475"/>
                <a:gd name="connsiteY0" fmla="*/ 355600 h 949325"/>
                <a:gd name="connsiteX1" fmla="*/ 1006475 w 1006475"/>
                <a:gd name="connsiteY1" fmla="*/ 0 h 949325"/>
                <a:gd name="connsiteX2" fmla="*/ 641350 w 1006475"/>
                <a:gd name="connsiteY2" fmla="*/ 666750 h 949325"/>
                <a:gd name="connsiteX3" fmla="*/ 0 w 1006475"/>
                <a:gd name="connsiteY3" fmla="*/ 949325 h 949325"/>
                <a:gd name="connsiteX4" fmla="*/ 327025 w 1006475"/>
                <a:gd name="connsiteY4" fmla="*/ 355600 h 949325"/>
                <a:gd name="connsiteX0" fmla="*/ 158750 w 838200"/>
                <a:gd name="connsiteY0" fmla="*/ 355600 h 666750"/>
                <a:gd name="connsiteX1" fmla="*/ 838200 w 838200"/>
                <a:gd name="connsiteY1" fmla="*/ 0 h 666750"/>
                <a:gd name="connsiteX2" fmla="*/ 473075 w 838200"/>
                <a:gd name="connsiteY2" fmla="*/ 666750 h 666750"/>
                <a:gd name="connsiteX3" fmla="*/ 0 w 838200"/>
                <a:gd name="connsiteY3" fmla="*/ 647700 h 666750"/>
                <a:gd name="connsiteX4" fmla="*/ 158750 w 838200"/>
                <a:gd name="connsiteY4" fmla="*/ 355600 h 666750"/>
                <a:gd name="connsiteX0" fmla="*/ 158750 w 838200"/>
                <a:gd name="connsiteY0" fmla="*/ 355600 h 666750"/>
                <a:gd name="connsiteX1" fmla="*/ 838200 w 838200"/>
                <a:gd name="connsiteY1" fmla="*/ 0 h 666750"/>
                <a:gd name="connsiteX2" fmla="*/ 473075 w 838200"/>
                <a:gd name="connsiteY2" fmla="*/ 666750 h 666750"/>
                <a:gd name="connsiteX3" fmla="*/ 300037 w 838200"/>
                <a:gd name="connsiteY3" fmla="*/ 660401 h 666750"/>
                <a:gd name="connsiteX4" fmla="*/ 0 w 838200"/>
                <a:gd name="connsiteY4" fmla="*/ 647700 h 666750"/>
                <a:gd name="connsiteX5" fmla="*/ 158750 w 838200"/>
                <a:gd name="connsiteY5" fmla="*/ 355600 h 666750"/>
                <a:gd name="connsiteX0" fmla="*/ 158750 w 838200"/>
                <a:gd name="connsiteY0" fmla="*/ 355600 h 847726"/>
                <a:gd name="connsiteX1" fmla="*/ 838200 w 838200"/>
                <a:gd name="connsiteY1" fmla="*/ 0 h 847726"/>
                <a:gd name="connsiteX2" fmla="*/ 473075 w 838200"/>
                <a:gd name="connsiteY2" fmla="*/ 666750 h 847726"/>
                <a:gd name="connsiteX3" fmla="*/ 176212 w 838200"/>
                <a:gd name="connsiteY3" fmla="*/ 847726 h 847726"/>
                <a:gd name="connsiteX4" fmla="*/ 0 w 838200"/>
                <a:gd name="connsiteY4" fmla="*/ 647700 h 847726"/>
                <a:gd name="connsiteX5" fmla="*/ 158750 w 838200"/>
                <a:gd name="connsiteY5" fmla="*/ 355600 h 847726"/>
                <a:gd name="connsiteX0" fmla="*/ 158750 w 838200"/>
                <a:gd name="connsiteY0" fmla="*/ 355600 h 847726"/>
                <a:gd name="connsiteX1" fmla="*/ 838200 w 838200"/>
                <a:gd name="connsiteY1" fmla="*/ 0 h 847726"/>
                <a:gd name="connsiteX2" fmla="*/ 473075 w 838200"/>
                <a:gd name="connsiteY2" fmla="*/ 666750 h 847726"/>
                <a:gd name="connsiteX3" fmla="*/ 309562 w 838200"/>
                <a:gd name="connsiteY3" fmla="*/ 755651 h 847726"/>
                <a:gd name="connsiteX4" fmla="*/ 176212 w 838200"/>
                <a:gd name="connsiteY4" fmla="*/ 847726 h 847726"/>
                <a:gd name="connsiteX5" fmla="*/ 0 w 838200"/>
                <a:gd name="connsiteY5" fmla="*/ 647700 h 847726"/>
                <a:gd name="connsiteX6" fmla="*/ 158750 w 838200"/>
                <a:gd name="connsiteY6" fmla="*/ 355600 h 847726"/>
                <a:gd name="connsiteX0" fmla="*/ 158750 w 838200"/>
                <a:gd name="connsiteY0" fmla="*/ 355600 h 1054101"/>
                <a:gd name="connsiteX1" fmla="*/ 838200 w 838200"/>
                <a:gd name="connsiteY1" fmla="*/ 0 h 1054101"/>
                <a:gd name="connsiteX2" fmla="*/ 473075 w 838200"/>
                <a:gd name="connsiteY2" fmla="*/ 666750 h 1054101"/>
                <a:gd name="connsiteX3" fmla="*/ 119062 w 838200"/>
                <a:gd name="connsiteY3" fmla="*/ 1054101 h 1054101"/>
                <a:gd name="connsiteX4" fmla="*/ 176212 w 838200"/>
                <a:gd name="connsiteY4" fmla="*/ 847726 h 1054101"/>
                <a:gd name="connsiteX5" fmla="*/ 0 w 838200"/>
                <a:gd name="connsiteY5" fmla="*/ 647700 h 1054101"/>
                <a:gd name="connsiteX6" fmla="*/ 158750 w 838200"/>
                <a:gd name="connsiteY6" fmla="*/ 355600 h 1054101"/>
                <a:gd name="connsiteX0" fmla="*/ 158750 w 838200"/>
                <a:gd name="connsiteY0" fmla="*/ 355600 h 1054101"/>
                <a:gd name="connsiteX1" fmla="*/ 838200 w 838200"/>
                <a:gd name="connsiteY1" fmla="*/ 0 h 1054101"/>
                <a:gd name="connsiteX2" fmla="*/ 473075 w 838200"/>
                <a:gd name="connsiteY2" fmla="*/ 666750 h 1054101"/>
                <a:gd name="connsiteX3" fmla="*/ 312737 w 838200"/>
                <a:gd name="connsiteY3" fmla="*/ 835026 h 1054101"/>
                <a:gd name="connsiteX4" fmla="*/ 119062 w 838200"/>
                <a:gd name="connsiteY4" fmla="*/ 1054101 h 1054101"/>
                <a:gd name="connsiteX5" fmla="*/ 176212 w 838200"/>
                <a:gd name="connsiteY5" fmla="*/ 847726 h 1054101"/>
                <a:gd name="connsiteX6" fmla="*/ 0 w 838200"/>
                <a:gd name="connsiteY6" fmla="*/ 647700 h 1054101"/>
                <a:gd name="connsiteX7" fmla="*/ 158750 w 838200"/>
                <a:gd name="connsiteY7" fmla="*/ 355600 h 1054101"/>
                <a:gd name="connsiteX0" fmla="*/ 158750 w 838200"/>
                <a:gd name="connsiteY0" fmla="*/ 355600 h 1114426"/>
                <a:gd name="connsiteX1" fmla="*/ 838200 w 838200"/>
                <a:gd name="connsiteY1" fmla="*/ 0 h 1114426"/>
                <a:gd name="connsiteX2" fmla="*/ 473075 w 838200"/>
                <a:gd name="connsiteY2" fmla="*/ 666750 h 1114426"/>
                <a:gd name="connsiteX3" fmla="*/ 188912 w 838200"/>
                <a:gd name="connsiteY3" fmla="*/ 1114426 h 1114426"/>
                <a:gd name="connsiteX4" fmla="*/ 119062 w 838200"/>
                <a:gd name="connsiteY4" fmla="*/ 1054101 h 1114426"/>
                <a:gd name="connsiteX5" fmla="*/ 176212 w 838200"/>
                <a:gd name="connsiteY5" fmla="*/ 847726 h 1114426"/>
                <a:gd name="connsiteX6" fmla="*/ 0 w 838200"/>
                <a:gd name="connsiteY6" fmla="*/ 647700 h 1114426"/>
                <a:gd name="connsiteX7" fmla="*/ 158750 w 838200"/>
                <a:gd name="connsiteY7" fmla="*/ 355600 h 1114426"/>
                <a:gd name="connsiteX0" fmla="*/ 158750 w 838200"/>
                <a:gd name="connsiteY0" fmla="*/ 355600 h 1114426"/>
                <a:gd name="connsiteX1" fmla="*/ 838200 w 838200"/>
                <a:gd name="connsiteY1" fmla="*/ 0 h 1114426"/>
                <a:gd name="connsiteX2" fmla="*/ 473075 w 838200"/>
                <a:gd name="connsiteY2" fmla="*/ 666750 h 1114426"/>
                <a:gd name="connsiteX3" fmla="*/ 188912 w 838200"/>
                <a:gd name="connsiteY3" fmla="*/ 1114426 h 1114426"/>
                <a:gd name="connsiteX4" fmla="*/ 122237 w 838200"/>
                <a:gd name="connsiteY4" fmla="*/ 1047751 h 1114426"/>
                <a:gd name="connsiteX5" fmla="*/ 176212 w 838200"/>
                <a:gd name="connsiteY5" fmla="*/ 847726 h 1114426"/>
                <a:gd name="connsiteX6" fmla="*/ 0 w 838200"/>
                <a:gd name="connsiteY6" fmla="*/ 647700 h 1114426"/>
                <a:gd name="connsiteX7" fmla="*/ 158750 w 838200"/>
                <a:gd name="connsiteY7" fmla="*/ 355600 h 1114426"/>
                <a:gd name="connsiteX0" fmla="*/ 158750 w 838200"/>
                <a:gd name="connsiteY0" fmla="*/ 355600 h 1114426"/>
                <a:gd name="connsiteX1" fmla="*/ 838200 w 838200"/>
                <a:gd name="connsiteY1" fmla="*/ 0 h 1114426"/>
                <a:gd name="connsiteX2" fmla="*/ 473075 w 838200"/>
                <a:gd name="connsiteY2" fmla="*/ 666750 h 1114426"/>
                <a:gd name="connsiteX3" fmla="*/ 280987 w 838200"/>
                <a:gd name="connsiteY3" fmla="*/ 968375 h 1114426"/>
                <a:gd name="connsiteX4" fmla="*/ 188912 w 838200"/>
                <a:gd name="connsiteY4" fmla="*/ 1114426 h 1114426"/>
                <a:gd name="connsiteX5" fmla="*/ 122237 w 838200"/>
                <a:gd name="connsiteY5" fmla="*/ 1047751 h 1114426"/>
                <a:gd name="connsiteX6" fmla="*/ 176212 w 838200"/>
                <a:gd name="connsiteY6" fmla="*/ 847726 h 1114426"/>
                <a:gd name="connsiteX7" fmla="*/ 0 w 838200"/>
                <a:gd name="connsiteY7" fmla="*/ 647700 h 1114426"/>
                <a:gd name="connsiteX8" fmla="*/ 158750 w 838200"/>
                <a:gd name="connsiteY8" fmla="*/ 355600 h 1114426"/>
                <a:gd name="connsiteX0" fmla="*/ 158750 w 838200"/>
                <a:gd name="connsiteY0" fmla="*/ 355600 h 1114426"/>
                <a:gd name="connsiteX1" fmla="*/ 838200 w 838200"/>
                <a:gd name="connsiteY1" fmla="*/ 0 h 1114426"/>
                <a:gd name="connsiteX2" fmla="*/ 473075 w 838200"/>
                <a:gd name="connsiteY2" fmla="*/ 666750 h 1114426"/>
                <a:gd name="connsiteX3" fmla="*/ 468312 w 838200"/>
                <a:gd name="connsiteY3" fmla="*/ 946150 h 1114426"/>
                <a:gd name="connsiteX4" fmla="*/ 188912 w 838200"/>
                <a:gd name="connsiteY4" fmla="*/ 1114426 h 1114426"/>
                <a:gd name="connsiteX5" fmla="*/ 122237 w 838200"/>
                <a:gd name="connsiteY5" fmla="*/ 1047751 h 1114426"/>
                <a:gd name="connsiteX6" fmla="*/ 176212 w 838200"/>
                <a:gd name="connsiteY6" fmla="*/ 847726 h 1114426"/>
                <a:gd name="connsiteX7" fmla="*/ 0 w 838200"/>
                <a:gd name="connsiteY7" fmla="*/ 647700 h 1114426"/>
                <a:gd name="connsiteX8" fmla="*/ 158750 w 838200"/>
                <a:gd name="connsiteY8" fmla="*/ 355600 h 1114426"/>
                <a:gd name="connsiteX0" fmla="*/ 158750 w 838200"/>
                <a:gd name="connsiteY0" fmla="*/ 355600 h 1114426"/>
                <a:gd name="connsiteX1" fmla="*/ 838200 w 838200"/>
                <a:gd name="connsiteY1" fmla="*/ 0 h 1114426"/>
                <a:gd name="connsiteX2" fmla="*/ 473075 w 838200"/>
                <a:gd name="connsiteY2" fmla="*/ 666750 h 1114426"/>
                <a:gd name="connsiteX3" fmla="*/ 468312 w 838200"/>
                <a:gd name="connsiteY3" fmla="*/ 946150 h 1114426"/>
                <a:gd name="connsiteX4" fmla="*/ 188912 w 838200"/>
                <a:gd name="connsiteY4" fmla="*/ 1114426 h 1114426"/>
                <a:gd name="connsiteX5" fmla="*/ 122237 w 838200"/>
                <a:gd name="connsiteY5" fmla="*/ 1047751 h 1114426"/>
                <a:gd name="connsiteX6" fmla="*/ 176212 w 838200"/>
                <a:gd name="connsiteY6" fmla="*/ 847726 h 1114426"/>
                <a:gd name="connsiteX7" fmla="*/ 0 w 838200"/>
                <a:gd name="connsiteY7" fmla="*/ 647700 h 1114426"/>
                <a:gd name="connsiteX8" fmla="*/ 30162 w 838200"/>
                <a:gd name="connsiteY8" fmla="*/ 574675 h 1114426"/>
                <a:gd name="connsiteX9" fmla="*/ 158750 w 838200"/>
                <a:gd name="connsiteY9" fmla="*/ 355600 h 1114426"/>
                <a:gd name="connsiteX0" fmla="*/ 382588 w 1062038"/>
                <a:gd name="connsiteY0" fmla="*/ 355600 h 1114426"/>
                <a:gd name="connsiteX1" fmla="*/ 1062038 w 1062038"/>
                <a:gd name="connsiteY1" fmla="*/ 0 h 1114426"/>
                <a:gd name="connsiteX2" fmla="*/ 696913 w 1062038"/>
                <a:gd name="connsiteY2" fmla="*/ 666750 h 1114426"/>
                <a:gd name="connsiteX3" fmla="*/ 692150 w 1062038"/>
                <a:gd name="connsiteY3" fmla="*/ 946150 h 1114426"/>
                <a:gd name="connsiteX4" fmla="*/ 412750 w 1062038"/>
                <a:gd name="connsiteY4" fmla="*/ 1114426 h 1114426"/>
                <a:gd name="connsiteX5" fmla="*/ 346075 w 1062038"/>
                <a:gd name="connsiteY5" fmla="*/ 1047751 h 1114426"/>
                <a:gd name="connsiteX6" fmla="*/ 400050 w 1062038"/>
                <a:gd name="connsiteY6" fmla="*/ 847726 h 1114426"/>
                <a:gd name="connsiteX7" fmla="*/ 223838 w 1062038"/>
                <a:gd name="connsiteY7" fmla="*/ 647700 h 1114426"/>
                <a:gd name="connsiteX8" fmla="*/ 0 w 1062038"/>
                <a:gd name="connsiteY8" fmla="*/ 720725 h 1114426"/>
                <a:gd name="connsiteX9" fmla="*/ 382588 w 1062038"/>
                <a:gd name="connsiteY9" fmla="*/ 355600 h 1114426"/>
                <a:gd name="connsiteX0" fmla="*/ 382588 w 1062038"/>
                <a:gd name="connsiteY0" fmla="*/ 355600 h 1114426"/>
                <a:gd name="connsiteX1" fmla="*/ 1062038 w 1062038"/>
                <a:gd name="connsiteY1" fmla="*/ 0 h 1114426"/>
                <a:gd name="connsiteX2" fmla="*/ 696913 w 1062038"/>
                <a:gd name="connsiteY2" fmla="*/ 666750 h 1114426"/>
                <a:gd name="connsiteX3" fmla="*/ 692150 w 1062038"/>
                <a:gd name="connsiteY3" fmla="*/ 946150 h 1114426"/>
                <a:gd name="connsiteX4" fmla="*/ 412750 w 1062038"/>
                <a:gd name="connsiteY4" fmla="*/ 1114426 h 1114426"/>
                <a:gd name="connsiteX5" fmla="*/ 346075 w 1062038"/>
                <a:gd name="connsiteY5" fmla="*/ 1047751 h 1114426"/>
                <a:gd name="connsiteX6" fmla="*/ 400050 w 1062038"/>
                <a:gd name="connsiteY6" fmla="*/ 847726 h 1114426"/>
                <a:gd name="connsiteX7" fmla="*/ 223838 w 1062038"/>
                <a:gd name="connsiteY7" fmla="*/ 647700 h 1114426"/>
                <a:gd name="connsiteX8" fmla="*/ 0 w 1062038"/>
                <a:gd name="connsiteY8" fmla="*/ 720725 h 1114426"/>
                <a:gd name="connsiteX9" fmla="*/ 155575 w 1062038"/>
                <a:gd name="connsiteY9" fmla="*/ 571500 h 1114426"/>
                <a:gd name="connsiteX10" fmla="*/ 382588 w 1062038"/>
                <a:gd name="connsiteY10" fmla="*/ 355600 h 1114426"/>
                <a:gd name="connsiteX0" fmla="*/ 433388 w 1112838"/>
                <a:gd name="connsiteY0" fmla="*/ 355600 h 1114426"/>
                <a:gd name="connsiteX1" fmla="*/ 1112838 w 1112838"/>
                <a:gd name="connsiteY1" fmla="*/ 0 h 1114426"/>
                <a:gd name="connsiteX2" fmla="*/ 747713 w 1112838"/>
                <a:gd name="connsiteY2" fmla="*/ 666750 h 1114426"/>
                <a:gd name="connsiteX3" fmla="*/ 742950 w 1112838"/>
                <a:gd name="connsiteY3" fmla="*/ 946150 h 1114426"/>
                <a:gd name="connsiteX4" fmla="*/ 463550 w 1112838"/>
                <a:gd name="connsiteY4" fmla="*/ 1114426 h 1114426"/>
                <a:gd name="connsiteX5" fmla="*/ 396875 w 1112838"/>
                <a:gd name="connsiteY5" fmla="*/ 1047751 h 1114426"/>
                <a:gd name="connsiteX6" fmla="*/ 450850 w 1112838"/>
                <a:gd name="connsiteY6" fmla="*/ 847726 h 1114426"/>
                <a:gd name="connsiteX7" fmla="*/ 274638 w 1112838"/>
                <a:gd name="connsiteY7" fmla="*/ 647700 h 1114426"/>
                <a:gd name="connsiteX8" fmla="*/ 50800 w 1112838"/>
                <a:gd name="connsiteY8" fmla="*/ 720725 h 1114426"/>
                <a:gd name="connsiteX9" fmla="*/ 0 w 1112838"/>
                <a:gd name="connsiteY9" fmla="*/ 647700 h 1114426"/>
                <a:gd name="connsiteX10" fmla="*/ 433388 w 1112838"/>
                <a:gd name="connsiteY10" fmla="*/ 355600 h 1114426"/>
                <a:gd name="connsiteX0" fmla="*/ 433388 w 1112838"/>
                <a:gd name="connsiteY0" fmla="*/ 355600 h 1114426"/>
                <a:gd name="connsiteX1" fmla="*/ 1112838 w 1112838"/>
                <a:gd name="connsiteY1" fmla="*/ 0 h 1114426"/>
                <a:gd name="connsiteX2" fmla="*/ 747713 w 1112838"/>
                <a:gd name="connsiteY2" fmla="*/ 666750 h 1114426"/>
                <a:gd name="connsiteX3" fmla="*/ 742950 w 1112838"/>
                <a:gd name="connsiteY3" fmla="*/ 946150 h 1114426"/>
                <a:gd name="connsiteX4" fmla="*/ 463550 w 1112838"/>
                <a:gd name="connsiteY4" fmla="*/ 1114426 h 1114426"/>
                <a:gd name="connsiteX5" fmla="*/ 396875 w 1112838"/>
                <a:gd name="connsiteY5" fmla="*/ 1047751 h 1114426"/>
                <a:gd name="connsiteX6" fmla="*/ 450850 w 1112838"/>
                <a:gd name="connsiteY6" fmla="*/ 847726 h 1114426"/>
                <a:gd name="connsiteX7" fmla="*/ 274638 w 1112838"/>
                <a:gd name="connsiteY7" fmla="*/ 647700 h 1114426"/>
                <a:gd name="connsiteX8" fmla="*/ 76200 w 1112838"/>
                <a:gd name="connsiteY8" fmla="*/ 714375 h 1114426"/>
                <a:gd name="connsiteX9" fmla="*/ 0 w 1112838"/>
                <a:gd name="connsiteY9" fmla="*/ 647700 h 1114426"/>
                <a:gd name="connsiteX10" fmla="*/ 433388 w 1112838"/>
                <a:gd name="connsiteY10" fmla="*/ 355600 h 1114426"/>
                <a:gd name="connsiteX0" fmla="*/ 433388 w 1112838"/>
                <a:gd name="connsiteY0" fmla="*/ 355600 h 1114426"/>
                <a:gd name="connsiteX1" fmla="*/ 1112838 w 1112838"/>
                <a:gd name="connsiteY1" fmla="*/ 0 h 1114426"/>
                <a:gd name="connsiteX2" fmla="*/ 747713 w 1112838"/>
                <a:gd name="connsiteY2" fmla="*/ 666750 h 1114426"/>
                <a:gd name="connsiteX3" fmla="*/ 742950 w 1112838"/>
                <a:gd name="connsiteY3" fmla="*/ 946150 h 1114426"/>
                <a:gd name="connsiteX4" fmla="*/ 463550 w 1112838"/>
                <a:gd name="connsiteY4" fmla="*/ 1114426 h 1114426"/>
                <a:gd name="connsiteX5" fmla="*/ 396875 w 1112838"/>
                <a:gd name="connsiteY5" fmla="*/ 1047751 h 1114426"/>
                <a:gd name="connsiteX6" fmla="*/ 450850 w 1112838"/>
                <a:gd name="connsiteY6" fmla="*/ 847726 h 1114426"/>
                <a:gd name="connsiteX7" fmla="*/ 274638 w 1112838"/>
                <a:gd name="connsiteY7" fmla="*/ 647700 h 1114426"/>
                <a:gd name="connsiteX8" fmla="*/ 76200 w 1112838"/>
                <a:gd name="connsiteY8" fmla="*/ 714375 h 1114426"/>
                <a:gd name="connsiteX9" fmla="*/ 0 w 1112838"/>
                <a:gd name="connsiteY9" fmla="*/ 647700 h 1114426"/>
                <a:gd name="connsiteX10" fmla="*/ 180975 w 1112838"/>
                <a:gd name="connsiteY10" fmla="*/ 523875 h 1114426"/>
                <a:gd name="connsiteX11" fmla="*/ 433388 w 1112838"/>
                <a:gd name="connsiteY11" fmla="*/ 355600 h 1114426"/>
                <a:gd name="connsiteX0" fmla="*/ 433388 w 1112838"/>
                <a:gd name="connsiteY0" fmla="*/ 355600 h 1114426"/>
                <a:gd name="connsiteX1" fmla="*/ 1112838 w 1112838"/>
                <a:gd name="connsiteY1" fmla="*/ 0 h 1114426"/>
                <a:gd name="connsiteX2" fmla="*/ 747713 w 1112838"/>
                <a:gd name="connsiteY2" fmla="*/ 666750 h 1114426"/>
                <a:gd name="connsiteX3" fmla="*/ 742950 w 1112838"/>
                <a:gd name="connsiteY3" fmla="*/ 946150 h 1114426"/>
                <a:gd name="connsiteX4" fmla="*/ 463550 w 1112838"/>
                <a:gd name="connsiteY4" fmla="*/ 1114426 h 1114426"/>
                <a:gd name="connsiteX5" fmla="*/ 396875 w 1112838"/>
                <a:gd name="connsiteY5" fmla="*/ 1047751 h 1114426"/>
                <a:gd name="connsiteX6" fmla="*/ 450850 w 1112838"/>
                <a:gd name="connsiteY6" fmla="*/ 847726 h 1114426"/>
                <a:gd name="connsiteX7" fmla="*/ 274638 w 1112838"/>
                <a:gd name="connsiteY7" fmla="*/ 647700 h 1114426"/>
                <a:gd name="connsiteX8" fmla="*/ 76200 w 1112838"/>
                <a:gd name="connsiteY8" fmla="*/ 714375 h 1114426"/>
                <a:gd name="connsiteX9" fmla="*/ 0 w 1112838"/>
                <a:gd name="connsiteY9" fmla="*/ 647700 h 1114426"/>
                <a:gd name="connsiteX10" fmla="*/ 168275 w 1112838"/>
                <a:gd name="connsiteY10" fmla="*/ 361950 h 1114426"/>
                <a:gd name="connsiteX11" fmla="*/ 433388 w 1112838"/>
                <a:gd name="connsiteY11" fmla="*/ 355600 h 1114426"/>
                <a:gd name="connsiteX0" fmla="*/ 433388 w 1112838"/>
                <a:gd name="connsiteY0" fmla="*/ 355600 h 1114426"/>
                <a:gd name="connsiteX1" fmla="*/ 1112838 w 1112838"/>
                <a:gd name="connsiteY1" fmla="*/ 0 h 1114426"/>
                <a:gd name="connsiteX2" fmla="*/ 747713 w 1112838"/>
                <a:gd name="connsiteY2" fmla="*/ 666750 h 1114426"/>
                <a:gd name="connsiteX3" fmla="*/ 742950 w 1112838"/>
                <a:gd name="connsiteY3" fmla="*/ 946150 h 1114426"/>
                <a:gd name="connsiteX4" fmla="*/ 463550 w 1112838"/>
                <a:gd name="connsiteY4" fmla="*/ 1114426 h 1114426"/>
                <a:gd name="connsiteX5" fmla="*/ 396875 w 1112838"/>
                <a:gd name="connsiteY5" fmla="*/ 1047751 h 1114426"/>
                <a:gd name="connsiteX6" fmla="*/ 450850 w 1112838"/>
                <a:gd name="connsiteY6" fmla="*/ 847726 h 1114426"/>
                <a:gd name="connsiteX7" fmla="*/ 274638 w 1112838"/>
                <a:gd name="connsiteY7" fmla="*/ 647700 h 1114426"/>
                <a:gd name="connsiteX8" fmla="*/ 76200 w 1112838"/>
                <a:gd name="connsiteY8" fmla="*/ 714375 h 1114426"/>
                <a:gd name="connsiteX9" fmla="*/ 0 w 1112838"/>
                <a:gd name="connsiteY9" fmla="*/ 647700 h 1114426"/>
                <a:gd name="connsiteX10" fmla="*/ 168275 w 1112838"/>
                <a:gd name="connsiteY10" fmla="*/ 361950 h 1114426"/>
                <a:gd name="connsiteX11" fmla="*/ 433388 w 1112838"/>
                <a:gd name="connsiteY11" fmla="*/ 355600 h 1114426"/>
                <a:gd name="connsiteX0" fmla="*/ 433388 w 1112838"/>
                <a:gd name="connsiteY0" fmla="*/ 362704 h 1121530"/>
                <a:gd name="connsiteX1" fmla="*/ 1112838 w 1112838"/>
                <a:gd name="connsiteY1" fmla="*/ 7104 h 1121530"/>
                <a:gd name="connsiteX2" fmla="*/ 747713 w 1112838"/>
                <a:gd name="connsiteY2" fmla="*/ 673854 h 1121530"/>
                <a:gd name="connsiteX3" fmla="*/ 742950 w 1112838"/>
                <a:gd name="connsiteY3" fmla="*/ 953254 h 1121530"/>
                <a:gd name="connsiteX4" fmla="*/ 463550 w 1112838"/>
                <a:gd name="connsiteY4" fmla="*/ 1121530 h 1121530"/>
                <a:gd name="connsiteX5" fmla="*/ 396875 w 1112838"/>
                <a:gd name="connsiteY5" fmla="*/ 1054855 h 1121530"/>
                <a:gd name="connsiteX6" fmla="*/ 450850 w 1112838"/>
                <a:gd name="connsiteY6" fmla="*/ 854830 h 1121530"/>
                <a:gd name="connsiteX7" fmla="*/ 274638 w 1112838"/>
                <a:gd name="connsiteY7" fmla="*/ 654804 h 1121530"/>
                <a:gd name="connsiteX8" fmla="*/ 76200 w 1112838"/>
                <a:gd name="connsiteY8" fmla="*/ 721479 h 1121530"/>
                <a:gd name="connsiteX9" fmla="*/ 0 w 1112838"/>
                <a:gd name="connsiteY9" fmla="*/ 654804 h 1121530"/>
                <a:gd name="connsiteX10" fmla="*/ 168275 w 1112838"/>
                <a:gd name="connsiteY10" fmla="*/ 369054 h 1121530"/>
                <a:gd name="connsiteX11" fmla="*/ 433388 w 1112838"/>
                <a:gd name="connsiteY11" fmla="*/ 362704 h 1121530"/>
                <a:gd name="connsiteX0" fmla="*/ 433388 w 1140667"/>
                <a:gd name="connsiteY0" fmla="*/ 362704 h 1121530"/>
                <a:gd name="connsiteX1" fmla="*/ 1112838 w 1140667"/>
                <a:gd name="connsiteY1" fmla="*/ 7104 h 1121530"/>
                <a:gd name="connsiteX2" fmla="*/ 747713 w 1140667"/>
                <a:gd name="connsiteY2" fmla="*/ 673854 h 1121530"/>
                <a:gd name="connsiteX3" fmla="*/ 742950 w 1140667"/>
                <a:gd name="connsiteY3" fmla="*/ 953254 h 1121530"/>
                <a:gd name="connsiteX4" fmla="*/ 463550 w 1140667"/>
                <a:gd name="connsiteY4" fmla="*/ 1121530 h 1121530"/>
                <a:gd name="connsiteX5" fmla="*/ 396875 w 1140667"/>
                <a:gd name="connsiteY5" fmla="*/ 1054855 h 1121530"/>
                <a:gd name="connsiteX6" fmla="*/ 450850 w 1140667"/>
                <a:gd name="connsiteY6" fmla="*/ 854830 h 1121530"/>
                <a:gd name="connsiteX7" fmla="*/ 274638 w 1140667"/>
                <a:gd name="connsiteY7" fmla="*/ 654804 h 1121530"/>
                <a:gd name="connsiteX8" fmla="*/ 76200 w 1140667"/>
                <a:gd name="connsiteY8" fmla="*/ 721479 h 1121530"/>
                <a:gd name="connsiteX9" fmla="*/ 0 w 1140667"/>
                <a:gd name="connsiteY9" fmla="*/ 654804 h 1121530"/>
                <a:gd name="connsiteX10" fmla="*/ 168275 w 1140667"/>
                <a:gd name="connsiteY10" fmla="*/ 369054 h 1121530"/>
                <a:gd name="connsiteX11" fmla="*/ 433388 w 1140667"/>
                <a:gd name="connsiteY11" fmla="*/ 362704 h 1121530"/>
                <a:gd name="connsiteX0" fmla="*/ 433388 w 1142317"/>
                <a:gd name="connsiteY0" fmla="*/ 362704 h 1121530"/>
                <a:gd name="connsiteX1" fmla="*/ 1112838 w 1142317"/>
                <a:gd name="connsiteY1" fmla="*/ 7104 h 1121530"/>
                <a:gd name="connsiteX2" fmla="*/ 747713 w 1142317"/>
                <a:gd name="connsiteY2" fmla="*/ 673854 h 1121530"/>
                <a:gd name="connsiteX3" fmla="*/ 742950 w 1142317"/>
                <a:gd name="connsiteY3" fmla="*/ 953254 h 1121530"/>
                <a:gd name="connsiteX4" fmla="*/ 463550 w 1142317"/>
                <a:gd name="connsiteY4" fmla="*/ 1121530 h 1121530"/>
                <a:gd name="connsiteX5" fmla="*/ 396875 w 1142317"/>
                <a:gd name="connsiteY5" fmla="*/ 1054855 h 1121530"/>
                <a:gd name="connsiteX6" fmla="*/ 450850 w 1142317"/>
                <a:gd name="connsiteY6" fmla="*/ 854830 h 1121530"/>
                <a:gd name="connsiteX7" fmla="*/ 274638 w 1142317"/>
                <a:gd name="connsiteY7" fmla="*/ 654804 h 1121530"/>
                <a:gd name="connsiteX8" fmla="*/ 76200 w 1142317"/>
                <a:gd name="connsiteY8" fmla="*/ 721479 h 1121530"/>
                <a:gd name="connsiteX9" fmla="*/ 0 w 1142317"/>
                <a:gd name="connsiteY9" fmla="*/ 654804 h 1121530"/>
                <a:gd name="connsiteX10" fmla="*/ 168275 w 1142317"/>
                <a:gd name="connsiteY10" fmla="*/ 369054 h 1121530"/>
                <a:gd name="connsiteX11" fmla="*/ 433388 w 1142317"/>
                <a:gd name="connsiteY11" fmla="*/ 362704 h 1121530"/>
                <a:gd name="connsiteX0" fmla="*/ 433388 w 1113269"/>
                <a:gd name="connsiteY0" fmla="*/ 362704 h 1121530"/>
                <a:gd name="connsiteX1" fmla="*/ 1112838 w 1113269"/>
                <a:gd name="connsiteY1" fmla="*/ 7104 h 1121530"/>
                <a:gd name="connsiteX2" fmla="*/ 747713 w 1113269"/>
                <a:gd name="connsiteY2" fmla="*/ 673854 h 1121530"/>
                <a:gd name="connsiteX3" fmla="*/ 742950 w 1113269"/>
                <a:gd name="connsiteY3" fmla="*/ 953254 h 1121530"/>
                <a:gd name="connsiteX4" fmla="*/ 463550 w 1113269"/>
                <a:gd name="connsiteY4" fmla="*/ 1121530 h 1121530"/>
                <a:gd name="connsiteX5" fmla="*/ 396875 w 1113269"/>
                <a:gd name="connsiteY5" fmla="*/ 1054855 h 1121530"/>
                <a:gd name="connsiteX6" fmla="*/ 450850 w 1113269"/>
                <a:gd name="connsiteY6" fmla="*/ 854830 h 1121530"/>
                <a:gd name="connsiteX7" fmla="*/ 274638 w 1113269"/>
                <a:gd name="connsiteY7" fmla="*/ 654804 h 1121530"/>
                <a:gd name="connsiteX8" fmla="*/ 76200 w 1113269"/>
                <a:gd name="connsiteY8" fmla="*/ 721479 h 1121530"/>
                <a:gd name="connsiteX9" fmla="*/ 0 w 1113269"/>
                <a:gd name="connsiteY9" fmla="*/ 654804 h 1121530"/>
                <a:gd name="connsiteX10" fmla="*/ 168275 w 1113269"/>
                <a:gd name="connsiteY10" fmla="*/ 369054 h 1121530"/>
                <a:gd name="connsiteX11" fmla="*/ 433388 w 1113269"/>
                <a:gd name="connsiteY11" fmla="*/ 362704 h 1121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13269" h="1121530">
                  <a:moveTo>
                    <a:pt x="433388" y="362704"/>
                  </a:moveTo>
                  <a:cubicBezTo>
                    <a:pt x="583671" y="209246"/>
                    <a:pt x="791105" y="-45813"/>
                    <a:pt x="1112838" y="7104"/>
                  </a:cubicBezTo>
                  <a:cubicBezTo>
                    <a:pt x="1124480" y="388104"/>
                    <a:pt x="897996" y="553204"/>
                    <a:pt x="747713" y="673854"/>
                  </a:cubicBezTo>
                  <a:cubicBezTo>
                    <a:pt x="746125" y="766987"/>
                    <a:pt x="744538" y="860121"/>
                    <a:pt x="742950" y="953254"/>
                  </a:cubicBezTo>
                  <a:lnTo>
                    <a:pt x="463550" y="1121530"/>
                  </a:lnTo>
                  <a:lnTo>
                    <a:pt x="396875" y="1054855"/>
                  </a:lnTo>
                  <a:lnTo>
                    <a:pt x="450850" y="854830"/>
                  </a:lnTo>
                  <a:lnTo>
                    <a:pt x="274638" y="654804"/>
                  </a:lnTo>
                  <a:lnTo>
                    <a:pt x="76200" y="721479"/>
                  </a:lnTo>
                  <a:lnTo>
                    <a:pt x="0" y="654804"/>
                  </a:lnTo>
                  <a:lnTo>
                    <a:pt x="168275" y="369054"/>
                  </a:lnTo>
                  <a:lnTo>
                    <a:pt x="433388" y="36270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5291137" y="2012950"/>
              <a:ext cx="146050" cy="1460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906620" y="1274776"/>
            <a:ext cx="2542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noProof="1">
                <a:solidFill>
                  <a:schemeClr val="bg2"/>
                </a:solidFill>
              </a:rPr>
              <a:t>Newtonsoft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6620" y="3202883"/>
            <a:ext cx="24847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noProof="1">
                <a:solidFill>
                  <a:schemeClr val="bg2"/>
                </a:solidFill>
              </a:rPr>
              <a:t>Json.NET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50228AEE-E45A-44D3-83BB-07601D2DE69C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Better JSON Parsing for .NET Developers</a:t>
            </a:r>
          </a:p>
        </p:txBody>
      </p:sp>
    </p:spTree>
    <p:extLst>
      <p:ext uri="{BB962C8B-B14F-4D97-AF65-F5344CB8AC3E}">
        <p14:creationId xmlns:p14="http://schemas.microsoft.com/office/powerpoint/2010/main" val="259470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F4130B90-0D67-4EB3-9E64-13D8EA72A2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type="body" sz="quarter" idx="10"/>
          </p:nvPr>
        </p:nvSpPr>
        <p:spPr>
          <a:xfrm>
            <a:off x="2041766" y="1257411"/>
            <a:ext cx="10129234" cy="5546589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JSON.NET</a:t>
            </a:r>
            <a:r>
              <a:rPr lang="en-US" dirty="0"/>
              <a:t> is a JSON </a:t>
            </a:r>
            <a:r>
              <a:rPr lang="en-US" b="1" dirty="0">
                <a:solidFill>
                  <a:schemeClr val="bg1"/>
                </a:solidFill>
              </a:rPr>
              <a:t>framework</a:t>
            </a:r>
            <a:r>
              <a:rPr lang="en-US" dirty="0"/>
              <a:t> for .NET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More functionality </a:t>
            </a:r>
            <a:r>
              <a:rPr lang="en-US" dirty="0"/>
              <a:t>than built-in functionality</a:t>
            </a:r>
            <a:endParaRPr lang="en-US" noProof="1"/>
          </a:p>
          <a:p>
            <a:pPr lvl="1">
              <a:buClr>
                <a:schemeClr val="tx1"/>
              </a:buClr>
            </a:pPr>
            <a:r>
              <a:rPr lang="en-US" dirty="0"/>
              <a:t>Supports </a:t>
            </a:r>
            <a:r>
              <a:rPr lang="en-US" b="1" dirty="0">
                <a:solidFill>
                  <a:schemeClr val="bg1"/>
                </a:solidFill>
              </a:rPr>
              <a:t>LINQ-to-JSON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Out-of-the-box support for parsing between </a:t>
            </a:r>
            <a:r>
              <a:rPr lang="en-US" b="1" dirty="0">
                <a:solidFill>
                  <a:schemeClr val="bg1"/>
                </a:solidFill>
              </a:rPr>
              <a:t>JSON </a:t>
            </a:r>
            <a:br>
              <a:rPr lang="bg-BG" b="1" dirty="0">
                <a:solidFill>
                  <a:schemeClr val="bg1"/>
                </a:solidFill>
              </a:rPr>
            </a:br>
            <a:r>
              <a:rPr lang="en-US" dirty="0"/>
              <a:t>and </a:t>
            </a:r>
            <a:r>
              <a:rPr lang="en-US" b="1" dirty="0">
                <a:solidFill>
                  <a:schemeClr val="bg1"/>
                </a:solidFill>
              </a:rPr>
              <a:t>XML</a:t>
            </a:r>
            <a:endParaRPr lang="bg-BG" b="1" dirty="0">
              <a:solidFill>
                <a:schemeClr val="bg1"/>
              </a:solidFill>
            </a:endParaRPr>
          </a:p>
          <a:p>
            <a:pPr lvl="1">
              <a:buClr>
                <a:schemeClr val="tx1"/>
              </a:buClr>
            </a:pPr>
            <a:r>
              <a:rPr lang="en-US" dirty="0"/>
              <a:t>Open-source project: </a:t>
            </a:r>
            <a:r>
              <a:rPr lang="en-US" b="1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http://www.newtonsoft.com</a:t>
            </a:r>
            <a:endParaRPr lang="en-US" b="1" dirty="0">
              <a:solidFill>
                <a:schemeClr val="bg1"/>
              </a:solidFill>
            </a:endParaRPr>
          </a:p>
          <a:p>
            <a:pPr lvl="1">
              <a:buClr>
                <a:schemeClr val="tx1"/>
              </a:buClr>
            </a:pP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Newtonsoft.Json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vs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System.Text.Json</a:t>
            </a:r>
            <a:endParaRPr lang="en-US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2">
              <a:buClr>
                <a:schemeClr val="tx1"/>
              </a:buClr>
            </a:pPr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Performance comparison</a:t>
            </a:r>
            <a:endParaRPr lang="en-US" dirty="0">
              <a:solidFill>
                <a:schemeClr val="bg1"/>
              </a:solidFill>
            </a:endParaRPr>
          </a:p>
          <a:p>
            <a:pPr lvl="2">
              <a:buClr>
                <a:schemeClr val="tx1"/>
              </a:buClr>
            </a:pPr>
            <a:r>
              <a:rPr lang="en-US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Table of differences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JSON.NET?</a:t>
            </a:r>
          </a:p>
        </p:txBody>
      </p:sp>
    </p:spTree>
    <p:extLst>
      <p:ext uri="{BB962C8B-B14F-4D97-AF65-F5344CB8AC3E}">
        <p14:creationId xmlns:p14="http://schemas.microsoft.com/office/powerpoint/2010/main" val="175838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To install JSON.NET use the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NuGet</a:t>
            </a:r>
            <a:r>
              <a:rPr lang="en-US" b="1" dirty="0">
                <a:solidFill>
                  <a:schemeClr val="bg1"/>
                </a:solidFill>
              </a:rPr>
              <a:t> Package Manager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Or with a command in the Package Manager Console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JSON.NET</a:t>
            </a:r>
          </a:p>
        </p:txBody>
      </p:sp>
      <p:sp>
        <p:nvSpPr>
          <p:cNvPr id="4" name="Text Placeholder 5"/>
          <p:cNvSpPr txBox="1">
            <a:spLocks/>
          </p:cNvSpPr>
          <p:nvPr/>
        </p:nvSpPr>
        <p:spPr>
          <a:xfrm>
            <a:off x="786000" y="3978968"/>
            <a:ext cx="549201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r>
              <a:rPr lang="en-US" sz="2400" dirty="0">
                <a:solidFill>
                  <a:schemeClr val="bg1"/>
                </a:solidFill>
                <a:effectLst/>
              </a:rPr>
              <a:t>Install-Package</a:t>
            </a:r>
            <a:r>
              <a:rPr lang="en-US" sz="2400" dirty="0">
                <a:solidFill>
                  <a:schemeClr val="tx1"/>
                </a:solidFill>
                <a:effectLst/>
              </a:rPr>
              <a:t> Newtonsoft.Json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DC18445-B7F1-4A80-9172-905186FCB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84E4D8-0386-4C89-BC5B-85BF3D788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000" y="2088517"/>
            <a:ext cx="8280000" cy="99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1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JSON.NET exposes a static service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JsonConvert</a:t>
            </a:r>
          </a:p>
          <a:p>
            <a:r>
              <a:rPr lang="en-US" noProof="1"/>
              <a:t>Used for parsing and configuration to</a:t>
            </a:r>
          </a:p>
          <a:p>
            <a:pPr lvl="1"/>
            <a:r>
              <a:rPr lang="en-US" b="1" dirty="0">
                <a:latin typeface="+mj-lt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Serialize</a:t>
            </a:r>
            <a:r>
              <a:rPr lang="en-US" dirty="0"/>
              <a:t> an object</a:t>
            </a:r>
          </a:p>
          <a:p>
            <a:pPr marL="609219" lvl="1" indent="0">
              <a:buNone/>
            </a:pPr>
            <a:endParaRPr lang="en-US" dirty="0"/>
          </a:p>
          <a:p>
            <a:pPr lvl="1"/>
            <a:r>
              <a:rPr lang="en-US" noProof="1"/>
              <a:t> </a:t>
            </a:r>
            <a:r>
              <a:rPr lang="en-US" b="1" noProof="1">
                <a:solidFill>
                  <a:schemeClr val="bg1"/>
                </a:solidFill>
                <a:latin typeface="+mj-lt"/>
              </a:rPr>
              <a:t>Deserialize</a:t>
            </a:r>
            <a:r>
              <a:rPr lang="en-US" dirty="0"/>
              <a:t> an object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Usage</a:t>
            </a: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1146000" y="3339000"/>
            <a:ext cx="961242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r>
              <a:rPr lang="en-US" sz="2400" noProof="1">
                <a:solidFill>
                  <a:schemeClr val="tx1"/>
                </a:solidFill>
                <a:effectLst/>
              </a:rPr>
              <a:t>var jsonProduct = </a:t>
            </a:r>
            <a:r>
              <a:rPr lang="en-US" sz="2400" noProof="1">
                <a:solidFill>
                  <a:schemeClr val="bg1"/>
                </a:solidFill>
                <a:effectLst/>
              </a:rPr>
              <a:t>JsonConvert</a:t>
            </a:r>
            <a:r>
              <a:rPr lang="en-US" sz="2400" noProof="1">
                <a:solidFill>
                  <a:schemeClr val="tx1"/>
                </a:solidFill>
                <a:effectLst/>
              </a:rPr>
              <a:t>.</a:t>
            </a:r>
            <a:r>
              <a:rPr lang="en-US" sz="2400" noProof="1">
                <a:solidFill>
                  <a:schemeClr val="bg1"/>
                </a:solidFill>
                <a:effectLst/>
              </a:rPr>
              <a:t>SerializeObject</a:t>
            </a:r>
            <a:r>
              <a:rPr lang="en-US" sz="2400" noProof="1">
                <a:solidFill>
                  <a:schemeClr val="tx1"/>
                </a:solidFill>
                <a:effectLst/>
              </a:rPr>
              <a:t>(product);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1160475" y="4689000"/>
            <a:ext cx="9612420" cy="83099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r>
              <a:rPr lang="en-US" sz="2400" noProof="1">
                <a:solidFill>
                  <a:schemeClr val="tx1"/>
                </a:solidFill>
                <a:effectLst/>
              </a:rPr>
              <a:t>var objProduct = </a:t>
            </a:r>
          </a:p>
          <a:p>
            <a:r>
              <a:rPr lang="en-US" sz="2400" noProof="1">
                <a:solidFill>
                  <a:schemeClr val="tx1"/>
                </a:solidFill>
                <a:effectLst/>
              </a:rPr>
              <a:t>   </a:t>
            </a:r>
            <a:r>
              <a:rPr lang="en-US" sz="2400" noProof="1">
                <a:solidFill>
                  <a:schemeClr val="bg1"/>
                </a:solidFill>
                <a:effectLst/>
              </a:rPr>
              <a:t>JsonConvert</a:t>
            </a:r>
            <a:r>
              <a:rPr lang="en-US" sz="2400" noProof="1">
                <a:solidFill>
                  <a:schemeClr val="tx1"/>
                </a:solidFill>
                <a:effectLst/>
              </a:rPr>
              <a:t>.</a:t>
            </a:r>
            <a:r>
              <a:rPr lang="en-US" sz="2400" noProof="1">
                <a:solidFill>
                  <a:schemeClr val="bg1"/>
                </a:solidFill>
                <a:effectLst/>
              </a:rPr>
              <a:t>DeserializeObject</a:t>
            </a:r>
            <a:r>
              <a:rPr lang="en-US" sz="2400" noProof="1">
                <a:solidFill>
                  <a:schemeClr val="tx1"/>
                </a:solidFill>
                <a:effectLst/>
              </a:rPr>
              <a:t>&lt;Product&gt;(jsonProduct);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7EF9AE1-F941-4678-BC91-97D15ACB48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8592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JSON.NET can be configured to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Indent</a:t>
            </a:r>
            <a:r>
              <a:rPr lang="en-US" dirty="0"/>
              <a:t> the output JSON string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Convert JSON to </a:t>
            </a:r>
            <a:r>
              <a:rPr lang="en-US" b="1" dirty="0">
                <a:solidFill>
                  <a:schemeClr val="bg1"/>
                </a:solidFill>
              </a:rPr>
              <a:t>anonymous types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Control the </a:t>
            </a:r>
            <a:r>
              <a:rPr lang="en-US" b="1" dirty="0">
                <a:solidFill>
                  <a:schemeClr val="bg1"/>
                </a:solidFill>
              </a:rPr>
              <a:t>casing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properties</a:t>
            </a:r>
            <a:r>
              <a:rPr lang="en-US" dirty="0"/>
              <a:t> to parse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Skip errors</a:t>
            </a:r>
          </a:p>
          <a:p>
            <a:r>
              <a:rPr lang="en-US" dirty="0"/>
              <a:t>JSON.NET also supports</a:t>
            </a:r>
          </a:p>
          <a:p>
            <a:pPr lvl="1"/>
            <a:r>
              <a:rPr lang="en-US" dirty="0"/>
              <a:t>LINQ-to-JSON</a:t>
            </a:r>
          </a:p>
          <a:p>
            <a:pPr lvl="1"/>
            <a:r>
              <a:rPr lang="en-US" dirty="0"/>
              <a:t>Direct parsing between XML and JSON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JSON.NET Features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9A09ACE-94F9-4550-ADAD-225A96A02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4580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By default, the result is a </a:t>
            </a:r>
            <a:r>
              <a:rPr lang="en-US" b="1" dirty="0">
                <a:solidFill>
                  <a:schemeClr val="bg1"/>
                </a:solidFill>
              </a:rPr>
              <a:t>single line of text</a:t>
            </a:r>
          </a:p>
          <a:p>
            <a:r>
              <a:rPr lang="en-US" dirty="0"/>
              <a:t>To indent the output string use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Formatting.Indented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JSON.NET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741000" y="2561677"/>
            <a:ext cx="103632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r>
              <a:rPr lang="en-US" sz="2400" noProof="1">
                <a:solidFill>
                  <a:schemeClr val="tx1"/>
                </a:solidFill>
                <a:effectLst/>
              </a:rPr>
              <a:t>JsonConvert.</a:t>
            </a:r>
            <a:r>
              <a:rPr lang="en-US" sz="2400" noProof="1">
                <a:solidFill>
                  <a:schemeClr val="bg1"/>
                </a:solidFill>
                <a:effectLst/>
              </a:rPr>
              <a:t>SerializeObject</a:t>
            </a:r>
            <a:r>
              <a:rPr lang="en-US" sz="2400" noProof="1">
                <a:solidFill>
                  <a:schemeClr val="tx1"/>
                </a:solidFill>
                <a:effectLst/>
              </a:rPr>
              <a:t>(products, </a:t>
            </a:r>
            <a:r>
              <a:rPr lang="en-US" sz="2400" noProof="1">
                <a:solidFill>
                  <a:schemeClr val="bg1"/>
                </a:solidFill>
                <a:effectLst/>
              </a:rPr>
              <a:t>Formatting.Indented</a:t>
            </a:r>
            <a:r>
              <a:rPr lang="en-US" sz="2400" noProof="1">
                <a:solidFill>
                  <a:schemeClr val="tx1"/>
                </a:solidFill>
                <a:effectLst/>
              </a:rPr>
              <a:t>);</a:t>
            </a: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741000" y="3234306"/>
            <a:ext cx="4191000" cy="354385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pPr>
              <a:lnSpc>
                <a:spcPct val="8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  "pump": {</a:t>
            </a:r>
          </a:p>
          <a:p>
            <a:pPr>
              <a:lnSpc>
                <a:spcPct val="8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    "Id": 0,</a:t>
            </a:r>
          </a:p>
          <a:p>
            <a:pPr>
              <a:lnSpc>
                <a:spcPct val="8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    "Name": "Oil Pump",</a:t>
            </a:r>
          </a:p>
          <a:p>
            <a:pPr>
              <a:lnSpc>
                <a:spcPct val="8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    "Description": null,</a:t>
            </a:r>
          </a:p>
          <a:p>
            <a:pPr>
              <a:lnSpc>
                <a:spcPct val="8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    "Cost": 25.0</a:t>
            </a:r>
          </a:p>
          <a:p>
            <a:pPr>
              <a:lnSpc>
                <a:spcPct val="8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  },</a:t>
            </a:r>
          </a:p>
          <a:p>
            <a:pPr>
              <a:lnSpc>
                <a:spcPct val="8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  "filter": {</a:t>
            </a:r>
          </a:p>
          <a:p>
            <a:pPr>
              <a:lnSpc>
                <a:spcPct val="8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    "Id": 0,</a:t>
            </a:r>
          </a:p>
          <a:p>
            <a:pPr>
              <a:lnSpc>
                <a:spcPct val="8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    "Name": "Oil Filter",</a:t>
            </a:r>
          </a:p>
          <a:p>
            <a:pPr>
              <a:lnSpc>
                <a:spcPct val="8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    "Description": null,</a:t>
            </a:r>
          </a:p>
          <a:p>
            <a:pPr>
              <a:lnSpc>
                <a:spcPct val="8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    "Cost": 15.0</a:t>
            </a:r>
          </a:p>
          <a:p>
            <a:pPr>
              <a:lnSpc>
                <a:spcPct val="8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  }</a:t>
            </a:r>
          </a:p>
          <a:p>
            <a:pPr>
              <a:lnSpc>
                <a:spcPct val="8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0DA1026-8615-4C87-82A2-0B8F2FA18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8860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noProof="1"/>
              <a:t>Deserializing</a:t>
            </a:r>
            <a:r>
              <a:rPr lang="en-US" dirty="0"/>
              <a:t> to </a:t>
            </a:r>
            <a:r>
              <a:rPr lang="en-US" b="1" dirty="0">
                <a:solidFill>
                  <a:schemeClr val="bg1"/>
                </a:solidFill>
              </a:rPr>
              <a:t>anonymous</a:t>
            </a:r>
            <a:r>
              <a:rPr lang="en-US" dirty="0"/>
              <a:t> types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1191000" y="2048809"/>
            <a:ext cx="9906000" cy="446276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r>
              <a:rPr lang="en-US" sz="2400" noProof="1">
                <a:solidFill>
                  <a:schemeClr val="tx1"/>
                </a:solidFill>
                <a:effectLst/>
              </a:rPr>
              <a:t>var json = @"{ 'firstName': 'Svetlin',</a:t>
            </a:r>
          </a:p>
          <a:p>
            <a:r>
              <a:rPr lang="en-US" sz="2400" noProof="1">
                <a:solidFill>
                  <a:schemeClr val="tx1"/>
                </a:solidFill>
                <a:effectLst/>
              </a:rPr>
              <a:t>               'lastName': 'Nakov',</a:t>
            </a:r>
            <a:endParaRPr lang="bg-BG" sz="2400" noProof="1">
              <a:solidFill>
                <a:schemeClr val="tx1"/>
              </a:solidFill>
              <a:effectLst/>
            </a:endParaRPr>
          </a:p>
          <a:p>
            <a:r>
              <a:rPr lang="en-US" sz="2400" noProof="1">
                <a:solidFill>
                  <a:schemeClr val="tx1"/>
                </a:solidFill>
                <a:effectLst/>
              </a:rPr>
              <a:t>               'jobTitle': 'Technical Trainer' }";</a:t>
            </a:r>
          </a:p>
          <a:p>
            <a:pPr>
              <a:spcBef>
                <a:spcPts val="1200"/>
              </a:spcBef>
            </a:pPr>
            <a:r>
              <a:rPr lang="en-US" sz="2400" noProof="1">
                <a:solidFill>
                  <a:schemeClr val="tx1"/>
                </a:solidFill>
                <a:effectLst/>
              </a:rPr>
              <a:t>var template = new </a:t>
            </a:r>
          </a:p>
          <a:p>
            <a:r>
              <a:rPr lang="en-US" sz="2400" noProof="1">
                <a:solidFill>
                  <a:schemeClr val="tx1"/>
                </a:solidFill>
                <a:effectLst/>
              </a:rPr>
              <a:t>{</a:t>
            </a:r>
          </a:p>
          <a:p>
            <a:r>
              <a:rPr lang="en-US" sz="2400" noProof="1">
                <a:solidFill>
                  <a:schemeClr val="tx1"/>
                </a:solidFill>
                <a:effectLst/>
              </a:rPr>
              <a:t>    FirstName = string.Empty,</a:t>
            </a:r>
          </a:p>
          <a:p>
            <a:r>
              <a:rPr lang="en-US" sz="2400" noProof="1">
                <a:solidFill>
                  <a:schemeClr val="tx1"/>
                </a:solidFill>
                <a:effectLst/>
              </a:rPr>
              <a:t>    LastName = string.Empty,</a:t>
            </a:r>
          </a:p>
          <a:p>
            <a:r>
              <a:rPr lang="en-US" sz="2400" noProof="1">
                <a:solidFill>
                  <a:schemeClr val="tx1"/>
                </a:solidFill>
                <a:effectLst/>
              </a:rPr>
              <a:t>    JobTitle = string.Empty</a:t>
            </a:r>
          </a:p>
          <a:p>
            <a:r>
              <a:rPr lang="en-US" sz="2400" noProof="1">
                <a:solidFill>
                  <a:schemeClr val="tx1"/>
                </a:solidFill>
                <a:effectLst/>
              </a:rPr>
              <a:t>};</a:t>
            </a:r>
          </a:p>
          <a:p>
            <a:pPr>
              <a:spcBef>
                <a:spcPts val="1200"/>
              </a:spcBef>
            </a:pPr>
            <a:r>
              <a:rPr lang="en-US" sz="2400" noProof="1">
                <a:solidFill>
                  <a:schemeClr val="tx1"/>
                </a:solidFill>
                <a:effectLst/>
              </a:rPr>
              <a:t>var person = JsonConvert.</a:t>
            </a:r>
            <a:r>
              <a:rPr lang="en-US" sz="2400" noProof="1">
                <a:solidFill>
                  <a:schemeClr val="bg1"/>
                </a:solidFill>
                <a:effectLst/>
              </a:rPr>
              <a:t>DeserializeAnonymousType</a:t>
            </a:r>
            <a:r>
              <a:rPr lang="en-US" sz="2400" noProof="1">
                <a:solidFill>
                  <a:schemeClr val="tx1"/>
                </a:solidFill>
                <a:effectLst/>
              </a:rPr>
              <a:t>(json, template);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JSON.NET</a:t>
            </a: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8209337" y="1390809"/>
            <a:ext cx="2895600" cy="578882"/>
          </a:xfrm>
          <a:prstGeom prst="wedgeRoundRectCallout">
            <a:avLst>
              <a:gd name="adj1" fmla="val -57545"/>
              <a:gd name="adj2" fmla="val 5209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Incoming JSON</a:t>
            </a:r>
            <a:endParaRPr lang="bg-BG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6546000" y="4280189"/>
            <a:ext cx="1981200" cy="1055608"/>
          </a:xfrm>
          <a:prstGeom prst="wedgeRoundRectCallout">
            <a:avLst>
              <a:gd name="adj1" fmla="val -55665"/>
              <a:gd name="adj2" fmla="val -4310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Template objects</a:t>
            </a:r>
            <a:endParaRPr lang="bg-BG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1191000" y="2048809"/>
            <a:ext cx="8595000" cy="1222949"/>
          </a:xfrm>
          <a:prstGeom prst="roundRect">
            <a:avLst/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191000" y="3350876"/>
            <a:ext cx="5040000" cy="2310999"/>
          </a:xfrm>
          <a:prstGeom prst="roundRect">
            <a:avLst>
              <a:gd name="adj" fmla="val 1000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B0942BBB-3832-4A6C-8C18-306BC89CA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5216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2" grpId="0" animBg="1"/>
      <p:bldP spid="2" grpId="1" animBg="1"/>
      <p:bldP spid="15" grpId="0" animBg="1"/>
      <p:bldP spid="15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By default JSON.NET takes each property / field from the class </a:t>
            </a:r>
            <a:br>
              <a:rPr lang="en-US" dirty="0"/>
            </a:br>
            <a:r>
              <a:rPr lang="en-US" dirty="0"/>
              <a:t>and parses it</a:t>
            </a:r>
          </a:p>
          <a:p>
            <a:pPr lvl="1"/>
            <a:r>
              <a:rPr lang="en-US" dirty="0"/>
              <a:t>This can be controlled using </a:t>
            </a:r>
            <a:r>
              <a:rPr lang="en-US" b="1" dirty="0">
                <a:solidFill>
                  <a:schemeClr val="bg1"/>
                </a:solidFill>
              </a:rPr>
              <a:t>attributes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JSON.NET Attributes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1227732" y="3276600"/>
            <a:ext cx="7523268" cy="31239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r>
              <a:rPr lang="en-US" sz="2600" dirty="0">
                <a:solidFill>
                  <a:schemeClr val="tx1"/>
                </a:solidFill>
                <a:effectLst/>
              </a:rPr>
              <a:t>public class User</a:t>
            </a:r>
          </a:p>
          <a:p>
            <a:r>
              <a:rPr lang="en-US" sz="2600" dirty="0">
                <a:solidFill>
                  <a:schemeClr val="tx1"/>
                </a:solidFill>
                <a:effectLst/>
              </a:rPr>
              <a:t>{</a:t>
            </a:r>
          </a:p>
          <a:p>
            <a:r>
              <a:rPr lang="en-US" sz="2600" dirty="0">
                <a:solidFill>
                  <a:schemeClr val="tx1"/>
                </a:solidFill>
                <a:effectLst/>
              </a:rPr>
              <a:t>  </a:t>
            </a:r>
            <a:r>
              <a:rPr lang="en-US" sz="2600" dirty="0">
                <a:solidFill>
                  <a:schemeClr val="bg1"/>
                </a:solidFill>
                <a:effectLst/>
              </a:rPr>
              <a:t>[JsonProperty("user")]</a:t>
            </a:r>
          </a:p>
          <a:p>
            <a:r>
              <a:rPr lang="en-US" sz="2600" dirty="0">
                <a:solidFill>
                  <a:schemeClr val="tx1"/>
                </a:solidFill>
                <a:effectLst/>
              </a:rPr>
              <a:t>  public string Username { get; set; }</a:t>
            </a:r>
          </a:p>
          <a:p>
            <a:pPr>
              <a:spcBef>
                <a:spcPts val="1800"/>
              </a:spcBef>
            </a:pPr>
            <a:r>
              <a:rPr lang="en-US" sz="2600" dirty="0">
                <a:solidFill>
                  <a:schemeClr val="tx1"/>
                </a:solidFill>
                <a:effectLst/>
              </a:rPr>
              <a:t>  </a:t>
            </a:r>
            <a:r>
              <a:rPr lang="en-US" sz="2600" dirty="0">
                <a:solidFill>
                  <a:schemeClr val="bg1"/>
                </a:solidFill>
                <a:effectLst/>
              </a:rPr>
              <a:t>[JsonIgnore]</a:t>
            </a:r>
          </a:p>
          <a:p>
            <a:r>
              <a:rPr lang="en-US" sz="2600" dirty="0">
                <a:solidFill>
                  <a:schemeClr val="tx1"/>
                </a:solidFill>
                <a:effectLst/>
              </a:rPr>
              <a:t>  public string Password { get; set; }</a:t>
            </a:r>
          </a:p>
          <a:p>
            <a:r>
              <a:rPr lang="en-US" sz="2600" dirty="0"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 rot="10800000" flipV="1">
            <a:off x="5871000" y="3416089"/>
            <a:ext cx="2438402" cy="919401"/>
          </a:xfrm>
          <a:prstGeom prst="wedgeRoundRectCallout">
            <a:avLst>
              <a:gd name="adj1" fmla="val 55316"/>
              <a:gd name="adj2" fmla="val 4899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Parse 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Username</a:t>
            </a:r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user</a:t>
            </a:r>
            <a:endParaRPr lang="bg-BG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 rot="10800000" flipV="1">
            <a:off x="4071000" y="5014656"/>
            <a:ext cx="2510334" cy="510778"/>
          </a:xfrm>
          <a:prstGeom prst="wedgeRoundRectCallout">
            <a:avLst>
              <a:gd name="adj1" fmla="val 54537"/>
              <a:gd name="adj2" fmla="val 1710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Skip the property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D7951948-E584-4D4F-89D6-C308A813E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1795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By default JSON.NET takes each property / field from the class </a:t>
            </a:r>
            <a:br>
              <a:rPr lang="en-US" dirty="0"/>
            </a:br>
            <a:r>
              <a:rPr lang="en-US" dirty="0"/>
              <a:t>and parses it</a:t>
            </a:r>
          </a:p>
          <a:p>
            <a:pPr lvl="1"/>
            <a:r>
              <a:rPr lang="en-US" dirty="0"/>
              <a:t>This can be controlled using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ContractResolver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JSON.NET Parsing of Objects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1636470" y="3114000"/>
            <a:ext cx="8919059" cy="347787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r>
              <a:rPr lang="en-US" dirty="0" err="1">
                <a:solidFill>
                  <a:schemeClr val="bg1"/>
                </a:solidFill>
                <a:effectLst/>
              </a:rPr>
              <a:t>DefaultContractResolver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contractResolver</a:t>
            </a:r>
            <a:r>
              <a:rPr lang="en-US" dirty="0">
                <a:solidFill>
                  <a:schemeClr val="tx1"/>
                </a:solidFill>
                <a:effectLst/>
              </a:rPr>
              <a:t> =</a:t>
            </a:r>
          </a:p>
          <a:p>
            <a:r>
              <a:rPr lang="en-US" dirty="0">
                <a:solidFill>
                  <a:schemeClr val="tx1"/>
                </a:solidFill>
                <a:effectLst/>
              </a:rPr>
              <a:t>    new </a:t>
            </a:r>
            <a:r>
              <a:rPr lang="en-US" dirty="0" err="1">
                <a:solidFill>
                  <a:schemeClr val="bg1"/>
                </a:solidFill>
                <a:effectLst/>
              </a:rPr>
              <a:t>DefaultContractResolver</a:t>
            </a:r>
            <a:r>
              <a:rPr lang="en-US" dirty="0">
                <a:solidFill>
                  <a:schemeClr val="tx1"/>
                </a:solidFill>
                <a:effectLst/>
              </a:rPr>
              <a:t>()</a:t>
            </a:r>
          </a:p>
          <a:p>
            <a:r>
              <a:rPr lang="en-US" dirty="0">
                <a:solidFill>
                  <a:schemeClr val="tx1"/>
                </a:solidFill>
                <a:effectLst/>
              </a:rPr>
              <a:t>    {</a:t>
            </a:r>
          </a:p>
          <a:p>
            <a:r>
              <a:rPr lang="en-US" dirty="0">
                <a:solidFill>
                  <a:schemeClr val="tx1"/>
                </a:solidFill>
                <a:effectLst/>
              </a:rPr>
              <a:t>        </a:t>
            </a:r>
            <a:r>
              <a:rPr lang="en-US" dirty="0" err="1">
                <a:solidFill>
                  <a:schemeClr val="tx1"/>
                </a:solidFill>
                <a:effectLst/>
              </a:rPr>
              <a:t>NamingStrategy</a:t>
            </a:r>
            <a:r>
              <a:rPr lang="en-US" dirty="0">
                <a:solidFill>
                  <a:schemeClr val="tx1"/>
                </a:solidFill>
                <a:effectLst/>
              </a:rPr>
              <a:t> = new </a:t>
            </a:r>
            <a:r>
              <a:rPr lang="en-US" dirty="0" err="1">
                <a:solidFill>
                  <a:schemeClr val="bg1"/>
                </a:solidFill>
                <a:effectLst/>
              </a:rPr>
              <a:t>SnakeCaseNamingStrategy</a:t>
            </a:r>
            <a:r>
              <a:rPr lang="en-US" dirty="0">
                <a:solidFill>
                  <a:schemeClr val="tx1"/>
                </a:solidFill>
                <a:effectLst/>
              </a:rPr>
              <a:t>()</a:t>
            </a:r>
          </a:p>
          <a:p>
            <a:r>
              <a:rPr lang="en-US" dirty="0">
                <a:solidFill>
                  <a:schemeClr val="tx1"/>
                </a:solidFill>
                <a:effectLst/>
              </a:rPr>
              <a:t>    };</a:t>
            </a:r>
          </a:p>
          <a:p>
            <a:r>
              <a:rPr lang="en-US" dirty="0">
                <a:solidFill>
                  <a:schemeClr val="tx1"/>
                </a:solidFill>
                <a:effectLst/>
              </a:rPr>
              <a:t>var serialized = </a:t>
            </a:r>
            <a:r>
              <a:rPr lang="en-US" dirty="0" err="1">
                <a:solidFill>
                  <a:schemeClr val="bg1"/>
                </a:solidFill>
                <a:effectLst/>
              </a:rPr>
              <a:t>JsonConvert</a:t>
            </a:r>
            <a:r>
              <a:rPr lang="en-US" dirty="0" err="1">
                <a:solidFill>
                  <a:schemeClr val="tx1"/>
                </a:solidFill>
                <a:effectLst/>
              </a:rPr>
              <a:t>.</a:t>
            </a:r>
            <a:r>
              <a:rPr lang="en-US" dirty="0" err="1">
                <a:solidFill>
                  <a:schemeClr val="bg1"/>
                </a:solidFill>
                <a:effectLst/>
              </a:rPr>
              <a:t>SerializeObject</a:t>
            </a:r>
            <a:r>
              <a:rPr lang="en-US" dirty="0">
                <a:solidFill>
                  <a:schemeClr val="tx1"/>
                </a:solidFill>
                <a:effectLst/>
              </a:rPr>
              <a:t>(person,</a:t>
            </a:r>
          </a:p>
          <a:p>
            <a:r>
              <a:rPr lang="en-US" dirty="0">
                <a:solidFill>
                  <a:schemeClr val="tx1"/>
                </a:solidFill>
                <a:effectLst/>
              </a:rPr>
              <a:t>    new </a:t>
            </a:r>
            <a:r>
              <a:rPr lang="en-US" dirty="0" err="1">
                <a:solidFill>
                  <a:schemeClr val="bg1"/>
                </a:solidFill>
                <a:effectLst/>
              </a:rPr>
              <a:t>JsonSerializerSettings</a:t>
            </a:r>
            <a:r>
              <a:rPr lang="en-US" dirty="0">
                <a:solidFill>
                  <a:schemeClr val="tx1"/>
                </a:solidFill>
                <a:effectLst/>
              </a:rPr>
              <a:t>()</a:t>
            </a:r>
          </a:p>
          <a:p>
            <a:r>
              <a:rPr lang="en-US" dirty="0">
                <a:solidFill>
                  <a:schemeClr val="tx1"/>
                </a:solidFill>
                <a:effectLst/>
              </a:rPr>
              <a:t>    {</a:t>
            </a:r>
          </a:p>
          <a:p>
            <a:r>
              <a:rPr lang="en-US" dirty="0">
                <a:solidFill>
                  <a:schemeClr val="tx1"/>
                </a:solidFill>
                <a:effectLst/>
              </a:rPr>
              <a:t>        </a:t>
            </a:r>
            <a:r>
              <a:rPr lang="en-US" dirty="0" err="1">
                <a:solidFill>
                  <a:schemeClr val="tx1"/>
                </a:solidFill>
                <a:effectLst/>
              </a:rPr>
              <a:t>ContractResolver</a:t>
            </a:r>
            <a:r>
              <a:rPr lang="en-US" dirty="0">
                <a:solidFill>
                  <a:schemeClr val="tx1"/>
                </a:solidFill>
                <a:effectLst/>
              </a:rPr>
              <a:t> = </a:t>
            </a:r>
            <a:r>
              <a:rPr lang="en-US" dirty="0" err="1">
                <a:solidFill>
                  <a:schemeClr val="tx1"/>
                </a:solidFill>
                <a:effectLst/>
              </a:rPr>
              <a:t>contractResolver</a:t>
            </a:r>
            <a:r>
              <a:rPr lang="en-US" dirty="0">
                <a:solidFill>
                  <a:schemeClr val="tx1"/>
                </a:solidFill>
                <a:effectLst/>
              </a:rPr>
              <a:t>,</a:t>
            </a:r>
          </a:p>
          <a:p>
            <a:r>
              <a:rPr lang="en-US" dirty="0">
                <a:solidFill>
                  <a:schemeClr val="tx1"/>
                </a:solidFill>
                <a:effectLst/>
              </a:rPr>
              <a:t>        Formatting = </a:t>
            </a:r>
            <a:r>
              <a:rPr lang="en-US" dirty="0" err="1">
                <a:solidFill>
                  <a:schemeClr val="bg1"/>
                </a:solidFill>
                <a:effectLst/>
              </a:rPr>
              <a:t>Formatting</a:t>
            </a:r>
            <a:r>
              <a:rPr lang="en-US" dirty="0" err="1">
                <a:solidFill>
                  <a:schemeClr val="tx1"/>
                </a:solidFill>
                <a:effectLst/>
              </a:rPr>
              <a:t>.</a:t>
            </a:r>
            <a:r>
              <a:rPr lang="en-US" dirty="0" err="1">
                <a:solidFill>
                  <a:schemeClr val="bg1"/>
                </a:solidFill>
                <a:effectLst/>
              </a:rPr>
              <a:t>Indented</a:t>
            </a:r>
            <a:endParaRPr lang="en-US" dirty="0">
              <a:solidFill>
                <a:schemeClr val="bg1"/>
              </a:solidFill>
              <a:effectLst/>
            </a:endParaRPr>
          </a:p>
          <a:p>
            <a:r>
              <a:rPr lang="en-US" dirty="0">
                <a:solidFill>
                  <a:schemeClr val="tx1"/>
                </a:solidFill>
                <a:effectLst/>
              </a:rPr>
              <a:t>    });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FDD1363-8971-46C6-9C09-7AC8ECA69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13761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LINQ-to-JSON works with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JObject</a:t>
            </a:r>
            <a:r>
              <a:rPr lang="en-US" b="1" noProof="1">
                <a:solidFill>
                  <a:schemeClr val="bg1"/>
                </a:solidFill>
              </a:rPr>
              <a:t>s</a:t>
            </a:r>
          </a:p>
          <a:p>
            <a:pPr lvl="1"/>
            <a:r>
              <a:rPr lang="en-US" noProof="1"/>
              <a:t>Create from JSON string</a:t>
            </a:r>
          </a:p>
          <a:p>
            <a:pPr lvl="1"/>
            <a:endParaRPr lang="en-US" noProof="1"/>
          </a:p>
          <a:p>
            <a:pPr lvl="1"/>
            <a:r>
              <a:rPr lang="en-US" noProof="1"/>
              <a:t>Reading from file</a:t>
            </a:r>
          </a:p>
          <a:p>
            <a:pPr lvl="1"/>
            <a:endParaRPr lang="en-US" noProof="1"/>
          </a:p>
          <a:p>
            <a:pPr lvl="1"/>
            <a:r>
              <a:rPr lang="en-US" noProof="1"/>
              <a:t>Using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JObject</a:t>
            </a:r>
            <a:endParaRPr lang="en-US" noProof="1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LINQ-to-JSON</a:t>
            </a: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687964" y="2590801"/>
            <a:ext cx="7160637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r>
              <a:rPr lang="en-US" sz="2400" noProof="1">
                <a:solidFill>
                  <a:schemeClr val="bg1"/>
                </a:solidFill>
                <a:effectLst/>
              </a:rPr>
              <a:t>JObject</a:t>
            </a:r>
            <a:r>
              <a:rPr lang="en-US" sz="2400" noProof="1">
                <a:solidFill>
                  <a:schemeClr val="tx1"/>
                </a:solidFill>
                <a:effectLst/>
              </a:rPr>
              <a:t> obj = </a:t>
            </a:r>
            <a:r>
              <a:rPr lang="en-US" sz="2400" noProof="1">
                <a:solidFill>
                  <a:schemeClr val="bg1"/>
                </a:solidFill>
                <a:effectLst/>
              </a:rPr>
              <a:t>JObject</a:t>
            </a:r>
            <a:r>
              <a:rPr lang="en-US" sz="2400" noProof="1">
                <a:solidFill>
                  <a:schemeClr val="tx1"/>
                </a:solidFill>
                <a:effectLst/>
              </a:rPr>
              <a:t>.</a:t>
            </a:r>
            <a:r>
              <a:rPr lang="en-US" sz="2400" noProof="1">
                <a:solidFill>
                  <a:schemeClr val="bg1"/>
                </a:solidFill>
                <a:effectLst/>
              </a:rPr>
              <a:t>Parse</a:t>
            </a:r>
            <a:r>
              <a:rPr lang="en-US" sz="2400" noProof="1">
                <a:solidFill>
                  <a:schemeClr val="tx1"/>
                </a:solidFill>
                <a:effectLst/>
              </a:rPr>
              <a:t>(jsonProduct);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687963" y="3962401"/>
            <a:ext cx="10812898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r>
              <a:rPr lang="en-US" sz="2400" noProof="1">
                <a:solidFill>
                  <a:schemeClr val="tx1"/>
                </a:solidFill>
                <a:effectLst/>
              </a:rPr>
              <a:t>var people = JObject.</a:t>
            </a:r>
            <a:r>
              <a:rPr lang="en-US" sz="2400" noProof="1">
                <a:solidFill>
                  <a:schemeClr val="bg1"/>
                </a:solidFill>
                <a:effectLst/>
              </a:rPr>
              <a:t>Parse</a:t>
            </a:r>
            <a:r>
              <a:rPr lang="en-US" sz="2400" noProof="1">
                <a:solidFill>
                  <a:schemeClr val="tx1"/>
                </a:solidFill>
                <a:effectLst/>
              </a:rPr>
              <a:t>(File.ReadAllText(@"c:\people.json"))</a:t>
            </a: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687963" y="5159392"/>
            <a:ext cx="7313037" cy="132786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pPr>
              <a:lnSpc>
                <a:spcPct val="8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foreach (JToken person in people)</a:t>
            </a:r>
          </a:p>
          <a:p>
            <a:pPr>
              <a:lnSpc>
                <a:spcPct val="8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  Console.WriteLine(person</a:t>
            </a:r>
            <a:r>
              <a:rPr lang="en-US" noProof="1">
                <a:solidFill>
                  <a:schemeClr val="bg1"/>
                </a:solidFill>
                <a:effectLst/>
              </a:rPr>
              <a:t>["FirstName"]</a:t>
            </a:r>
            <a:r>
              <a:rPr lang="en-US" noProof="1">
                <a:solidFill>
                  <a:schemeClr val="tx1"/>
                </a:solidFill>
                <a:effectLst/>
              </a:rPr>
              <a:t>); </a:t>
            </a:r>
            <a:r>
              <a:rPr lang="en-US" noProof="1">
                <a:solidFill>
                  <a:schemeClr val="accent2"/>
                </a:solidFill>
                <a:effectLst/>
              </a:rPr>
              <a:t>// </a:t>
            </a:r>
            <a:r>
              <a:rPr lang="en-US" i="1" noProof="1">
                <a:solidFill>
                  <a:schemeClr val="accent2"/>
                </a:solidFill>
                <a:effectLst/>
              </a:rPr>
              <a:t>Ivan</a:t>
            </a:r>
          </a:p>
          <a:p>
            <a:pPr>
              <a:lnSpc>
                <a:spcPct val="8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  Console.WriteLine(person</a:t>
            </a:r>
            <a:r>
              <a:rPr lang="en-US" noProof="1">
                <a:solidFill>
                  <a:schemeClr val="bg1"/>
                </a:solidFill>
                <a:effectLst/>
              </a:rPr>
              <a:t>["LastName"]</a:t>
            </a:r>
            <a:r>
              <a:rPr lang="en-US" noProof="1">
                <a:solidFill>
                  <a:schemeClr val="tx1"/>
                </a:solidFill>
                <a:effectLst/>
              </a:rPr>
              <a:t>); </a:t>
            </a:r>
            <a:r>
              <a:rPr lang="en-US" noProof="1">
                <a:solidFill>
                  <a:schemeClr val="accent2"/>
                </a:solidFill>
                <a:effectLst/>
              </a:rPr>
              <a:t>// </a:t>
            </a:r>
            <a:r>
              <a:rPr lang="en-US" i="1" noProof="1">
                <a:solidFill>
                  <a:schemeClr val="accent2"/>
                </a:solidFill>
                <a:effectLst/>
              </a:rPr>
              <a:t>Petrov</a:t>
            </a:r>
          </a:p>
          <a:p>
            <a:pPr>
              <a:lnSpc>
                <a:spcPct val="8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0714E4DF-06DE-43A6-A257-6BC9253E0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01727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265113" indent="-265113"/>
            <a:r>
              <a:rPr lang="en-US" b="1" noProof="1">
                <a:latin typeface="+mj-lt"/>
              </a:rPr>
              <a:t>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JObjects</a:t>
            </a:r>
            <a:r>
              <a:rPr lang="en-US" dirty="0"/>
              <a:t> can be queried with LINQ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LINQ-to-JSON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685800" y="1981201"/>
            <a:ext cx="10820400" cy="452431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r>
              <a:rPr lang="en-US" sz="2400" noProof="1">
                <a:solidFill>
                  <a:schemeClr val="tx1"/>
                </a:solidFill>
                <a:effectLst/>
              </a:rPr>
              <a:t>var json = JObject.Parse(@"{'products': [</a:t>
            </a:r>
          </a:p>
          <a:p>
            <a:r>
              <a:rPr lang="en-US" sz="2400" noProof="1">
                <a:solidFill>
                  <a:schemeClr val="tx1"/>
                </a:solidFill>
                <a:effectLst/>
              </a:rPr>
              <a:t>  {'name': 'Fruits', 'products': ['apple', 'banana']},</a:t>
            </a:r>
          </a:p>
          <a:p>
            <a:r>
              <a:rPr lang="en-US" sz="2400" noProof="1">
                <a:solidFill>
                  <a:schemeClr val="tx1"/>
                </a:solidFill>
                <a:effectLst/>
              </a:rPr>
              <a:t>  {'name': 'Vegetables', 'products': ['cucumber']}]}");</a:t>
            </a:r>
          </a:p>
          <a:p>
            <a:endParaRPr lang="en-US" sz="2400" noProof="1">
              <a:solidFill>
                <a:schemeClr val="tx1"/>
              </a:solidFill>
              <a:effectLst/>
            </a:endParaRPr>
          </a:p>
          <a:p>
            <a:r>
              <a:rPr lang="en-US" sz="2400" noProof="1">
                <a:solidFill>
                  <a:schemeClr val="tx1"/>
                </a:solidFill>
                <a:effectLst/>
              </a:rPr>
              <a:t>var products = json</a:t>
            </a:r>
            <a:r>
              <a:rPr lang="en-US" sz="2400" noProof="1">
                <a:solidFill>
                  <a:schemeClr val="bg1"/>
                </a:solidFill>
                <a:effectLst/>
              </a:rPr>
              <a:t>["products"]</a:t>
            </a:r>
            <a:r>
              <a:rPr lang="en-US" sz="2400" noProof="1">
                <a:solidFill>
                  <a:schemeClr val="tx1"/>
                </a:solidFill>
                <a:effectLst/>
              </a:rPr>
              <a:t>.Select(t =&gt;</a:t>
            </a:r>
          </a:p>
          <a:p>
            <a:r>
              <a:rPr lang="en-US" sz="2400" noProof="1">
                <a:solidFill>
                  <a:schemeClr val="tx1"/>
                </a:solidFill>
                <a:effectLst/>
              </a:rPr>
              <a:t>  string.Format("{0} ({1})",</a:t>
            </a:r>
          </a:p>
          <a:p>
            <a:r>
              <a:rPr lang="en-US" sz="2400" noProof="1">
                <a:solidFill>
                  <a:schemeClr val="tx1"/>
                </a:solidFill>
                <a:effectLst/>
              </a:rPr>
              <a:t>    t</a:t>
            </a:r>
            <a:r>
              <a:rPr lang="en-US" sz="2400" noProof="1">
                <a:solidFill>
                  <a:schemeClr val="bg1"/>
                </a:solidFill>
                <a:effectLst/>
              </a:rPr>
              <a:t>["name"]</a:t>
            </a:r>
            <a:r>
              <a:rPr lang="en-US" sz="2400" noProof="1">
                <a:solidFill>
                  <a:schemeClr val="tx1"/>
                </a:solidFill>
                <a:effectLst/>
              </a:rPr>
              <a:t>,</a:t>
            </a:r>
          </a:p>
          <a:p>
            <a:r>
              <a:rPr lang="en-US" sz="2400" noProof="1">
                <a:solidFill>
                  <a:schemeClr val="tx1"/>
                </a:solidFill>
                <a:effectLst/>
              </a:rPr>
              <a:t>    string.Join(", ", c</a:t>
            </a:r>
            <a:r>
              <a:rPr lang="en-US" sz="2400" noProof="1">
                <a:solidFill>
                  <a:schemeClr val="bg1"/>
                </a:solidFill>
                <a:effectLst/>
              </a:rPr>
              <a:t>["products"]</a:t>
            </a:r>
            <a:r>
              <a:rPr lang="en-US" sz="2400" noProof="1">
                <a:solidFill>
                  <a:schemeClr val="tx1"/>
                </a:solidFill>
                <a:effectLst/>
              </a:rPr>
              <a:t>)</a:t>
            </a:r>
          </a:p>
          <a:p>
            <a:r>
              <a:rPr lang="en-US" sz="2400" noProof="1">
                <a:solidFill>
                  <a:schemeClr val="tx1"/>
                </a:solidFill>
                <a:effectLst/>
              </a:rPr>
              <a:t>));</a:t>
            </a:r>
          </a:p>
          <a:p>
            <a:endParaRPr lang="en-US" sz="2400" noProof="1">
              <a:solidFill>
                <a:schemeClr val="tx1"/>
              </a:solidFill>
              <a:effectLst/>
            </a:endParaRPr>
          </a:p>
          <a:p>
            <a:r>
              <a:rPr lang="en-US" sz="2400" noProof="1">
                <a:solidFill>
                  <a:schemeClr val="accent2"/>
                </a:solidFill>
                <a:effectLst/>
              </a:rPr>
              <a:t>// </a:t>
            </a:r>
            <a:r>
              <a:rPr lang="en-US" sz="2400" i="1" noProof="1">
                <a:solidFill>
                  <a:schemeClr val="accent2"/>
                </a:solidFill>
                <a:effectLst/>
              </a:rPr>
              <a:t>Fruits (apple, banana)</a:t>
            </a:r>
          </a:p>
          <a:p>
            <a:r>
              <a:rPr lang="en-US" sz="2400" noProof="1">
                <a:solidFill>
                  <a:schemeClr val="accent2"/>
                </a:solidFill>
                <a:effectLst/>
              </a:rPr>
              <a:t>// </a:t>
            </a:r>
            <a:r>
              <a:rPr lang="en-US" sz="2400" i="1" noProof="1">
                <a:solidFill>
                  <a:schemeClr val="accent2"/>
                </a:solidFill>
                <a:effectLst/>
              </a:rPr>
              <a:t>Vegetables (cucumber)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998526E-0178-4E60-A924-0DC8DA265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8483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XML-to-JSON</a:t>
            </a: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335999" y="1879714"/>
            <a:ext cx="6561543" cy="401648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pPr lvl="0" eaLnBrk="0" hangingPunct="0">
              <a:spcBef>
                <a:spcPct val="0"/>
              </a:spcBef>
            </a:pPr>
            <a:r>
              <a:rPr lang="bg-BG" altLang="bg-BG" sz="1700" noProof="1">
                <a:solidFill>
                  <a:schemeClr val="bg1"/>
                </a:solidFill>
                <a:effectLst/>
              </a:rPr>
              <a:t>string</a:t>
            </a:r>
            <a:r>
              <a:rPr lang="bg-BG" altLang="bg-BG" sz="1700" b="0" dirty="0">
                <a:solidFill>
                  <a:srgbClr val="000000"/>
                </a:solidFill>
                <a:effectLst/>
              </a:rPr>
              <a:t> 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xml</a:t>
            </a:r>
            <a:r>
              <a:rPr lang="bg-BG" altLang="bg-BG" sz="1700" b="0" dirty="0">
                <a:solidFill>
                  <a:srgbClr val="000000"/>
                </a:solidFill>
                <a:effectLst/>
              </a:rPr>
              <a:t> = 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@"&lt;?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xml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 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version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='1.0' 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standalone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='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no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'?&gt; </a:t>
            </a:r>
            <a:endParaRPr lang="en-US" altLang="bg-BG" sz="1700" dirty="0">
              <a:solidFill>
                <a:schemeClr val="tx1"/>
              </a:solidFill>
              <a:effectLst/>
            </a:endParaRP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&lt;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root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&gt; </a:t>
            </a:r>
            <a:endParaRPr lang="en-US" altLang="bg-BG" sz="1700" dirty="0">
              <a:solidFill>
                <a:schemeClr val="tx1"/>
              </a:solidFill>
              <a:effectLst/>
            </a:endParaRPr>
          </a:p>
          <a:p>
            <a:pPr lvl="0" eaLnBrk="0" hangingPunct="0">
              <a:spcBef>
                <a:spcPct val="0"/>
              </a:spcBef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&lt;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person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 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id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='1'&gt; </a:t>
            </a:r>
            <a:endParaRPr lang="en-US" altLang="bg-BG" sz="1700" dirty="0">
              <a:solidFill>
                <a:schemeClr val="tx1"/>
              </a:solidFill>
              <a:effectLst/>
            </a:endParaRP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    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&lt;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name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&gt;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Alan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&lt;/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name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&gt; </a:t>
            </a:r>
            <a:endParaRPr lang="en-US" altLang="bg-BG" sz="1700" dirty="0">
              <a:solidFill>
                <a:schemeClr val="tx1"/>
              </a:solidFill>
              <a:effectLst/>
            </a:endParaRP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    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&lt;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url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&gt;www.google.com&lt;/url&gt; </a:t>
            </a:r>
            <a:endParaRPr lang="en-US" altLang="bg-BG" sz="1700" dirty="0">
              <a:solidFill>
                <a:schemeClr val="tx1"/>
              </a:solidFill>
              <a:effectLst/>
            </a:endParaRP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&lt;/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person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&gt; </a:t>
            </a:r>
            <a:endParaRPr lang="en-US" altLang="bg-BG" sz="1700" dirty="0">
              <a:solidFill>
                <a:schemeClr val="tx1"/>
              </a:solidFill>
              <a:effectLst/>
            </a:endParaRPr>
          </a:p>
          <a:p>
            <a:pPr lvl="0" eaLnBrk="0" hangingPunct="0">
              <a:spcBef>
                <a:spcPct val="0"/>
              </a:spcBef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&lt;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person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 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id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='2'&gt; </a:t>
            </a:r>
            <a:endParaRPr lang="en-US" altLang="bg-BG" sz="1700" dirty="0">
              <a:solidFill>
                <a:schemeClr val="tx1"/>
              </a:solidFill>
              <a:effectLst/>
            </a:endParaRP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    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&lt;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name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&gt;Louis&lt;/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name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&gt; </a:t>
            </a:r>
            <a:endParaRPr lang="en-US" altLang="bg-BG" sz="1700" dirty="0">
              <a:solidFill>
                <a:schemeClr val="tx1"/>
              </a:solidFill>
              <a:effectLst/>
            </a:endParaRP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    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&lt;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url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&gt;www.yahoo.com&lt;/url&gt; </a:t>
            </a:r>
            <a:endParaRPr lang="en-US" altLang="bg-BG" sz="1700" dirty="0">
              <a:solidFill>
                <a:schemeClr val="tx1"/>
              </a:solidFill>
              <a:effectLst/>
            </a:endParaRP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&lt;/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person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&gt; </a:t>
            </a:r>
            <a:endParaRPr lang="en-US" altLang="bg-BG" sz="1700" dirty="0">
              <a:solidFill>
                <a:schemeClr val="tx1"/>
              </a:solidFill>
              <a:effectLst/>
            </a:endParaRP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bg-BG" altLang="bg-BG" sz="1700" dirty="0">
                <a:solidFill>
                  <a:schemeClr val="tx1"/>
                </a:solidFill>
                <a:effectLst/>
              </a:rPr>
              <a:t>&lt;/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root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&gt;"; </a:t>
            </a:r>
            <a:endParaRPr lang="en-US" altLang="bg-BG" sz="1700" dirty="0">
              <a:solidFill>
                <a:schemeClr val="tx1"/>
              </a:solidFill>
              <a:effectLst/>
            </a:endParaRPr>
          </a:p>
          <a:p>
            <a:pPr lvl="0" eaLnBrk="0" hangingPunct="0">
              <a:spcBef>
                <a:spcPct val="0"/>
              </a:spcBef>
              <a:buClrTx/>
              <a:buSzTx/>
            </a:pPr>
            <a:endParaRPr lang="en-US" altLang="bg-BG" sz="1700" b="0" dirty="0">
              <a:solidFill>
                <a:srgbClr val="000000"/>
              </a:solidFill>
              <a:effectLst/>
            </a:endParaRP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bg-BG" altLang="bg-BG" sz="1700" dirty="0" err="1">
                <a:solidFill>
                  <a:schemeClr val="bg1"/>
                </a:solidFill>
                <a:effectLst/>
              </a:rPr>
              <a:t>XmlDocument</a:t>
            </a:r>
            <a:r>
              <a:rPr lang="bg-BG" altLang="bg-BG" sz="1700" b="0" dirty="0">
                <a:solidFill>
                  <a:srgbClr val="000000"/>
                </a:solidFill>
                <a:effectLst/>
              </a:rPr>
              <a:t> 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doc</a:t>
            </a:r>
            <a:r>
              <a:rPr lang="bg-BG" altLang="bg-BG" sz="1700" b="0" dirty="0">
                <a:solidFill>
                  <a:srgbClr val="000000"/>
                </a:solidFill>
                <a:effectLst/>
              </a:rPr>
              <a:t> </a:t>
            </a:r>
            <a:r>
              <a:rPr lang="bg-BG" altLang="bg-BG" sz="1700" b="0" dirty="0">
                <a:solidFill>
                  <a:schemeClr val="tx1"/>
                </a:solidFill>
                <a:effectLst/>
              </a:rPr>
              <a:t>=</a:t>
            </a:r>
            <a:r>
              <a:rPr lang="bg-BG" altLang="bg-BG" sz="1700" b="0" dirty="0">
                <a:solidFill>
                  <a:srgbClr val="000000"/>
                </a:solidFill>
                <a:effectLst/>
              </a:rPr>
              <a:t> </a:t>
            </a:r>
            <a:r>
              <a:rPr lang="bg-BG" altLang="bg-BG" sz="1700" dirty="0" err="1">
                <a:solidFill>
                  <a:schemeClr val="bg1"/>
                </a:solidFill>
                <a:effectLst/>
              </a:rPr>
              <a:t>new</a:t>
            </a:r>
            <a:r>
              <a:rPr lang="bg-BG" altLang="bg-BG" sz="1700" dirty="0">
                <a:solidFill>
                  <a:schemeClr val="bg1"/>
                </a:solidFill>
                <a:effectLst/>
              </a:rPr>
              <a:t> </a:t>
            </a:r>
            <a:r>
              <a:rPr lang="bg-BG" altLang="bg-BG" sz="1700" dirty="0" err="1">
                <a:solidFill>
                  <a:schemeClr val="bg1"/>
                </a:solidFill>
                <a:effectLst/>
              </a:rPr>
              <a:t>XmlDocument</a:t>
            </a:r>
            <a:r>
              <a:rPr lang="bg-BG" altLang="bg-BG" sz="1700" dirty="0">
                <a:solidFill>
                  <a:schemeClr val="bg1"/>
                </a:solidFill>
                <a:effectLst/>
              </a:rPr>
              <a:t>()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;</a:t>
            </a:r>
            <a:r>
              <a:rPr lang="bg-BG" altLang="bg-BG" sz="1700" b="0" dirty="0">
                <a:solidFill>
                  <a:schemeClr val="tx1"/>
                </a:solidFill>
                <a:effectLst/>
              </a:rPr>
              <a:t> </a:t>
            </a:r>
            <a:endParaRPr lang="en-US" altLang="bg-BG" sz="1700" b="0" dirty="0">
              <a:solidFill>
                <a:schemeClr val="tx1"/>
              </a:solidFill>
              <a:effectLst/>
            </a:endParaRP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bg-BG" altLang="bg-BG" sz="1700" dirty="0" err="1">
                <a:solidFill>
                  <a:schemeClr val="tx1"/>
                </a:solidFill>
                <a:effectLst/>
              </a:rPr>
              <a:t>doc.</a:t>
            </a:r>
            <a:r>
              <a:rPr lang="bg-BG" altLang="bg-BG" sz="1700" dirty="0" err="1">
                <a:solidFill>
                  <a:schemeClr val="bg1"/>
                </a:solidFill>
                <a:effectLst/>
              </a:rPr>
              <a:t>LoadXml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(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xml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);</a:t>
            </a:r>
            <a:r>
              <a:rPr lang="bg-BG" altLang="bg-BG" sz="1700" dirty="0">
                <a:solidFill>
                  <a:srgbClr val="000000"/>
                </a:solidFill>
                <a:effectLst/>
              </a:rPr>
              <a:t> </a:t>
            </a:r>
            <a:endParaRPr lang="en-US" altLang="bg-BG" sz="1700" dirty="0">
              <a:solidFill>
                <a:srgbClr val="000000"/>
              </a:solidFill>
              <a:effectLst/>
            </a:endParaRP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bg-BG" altLang="bg-BG" sz="1700" dirty="0" err="1">
                <a:solidFill>
                  <a:schemeClr val="bg1"/>
                </a:solidFill>
                <a:effectLst/>
              </a:rPr>
              <a:t>string</a:t>
            </a:r>
            <a:r>
              <a:rPr lang="bg-BG" altLang="bg-BG" sz="1700" b="0" dirty="0">
                <a:solidFill>
                  <a:srgbClr val="000000"/>
                </a:solidFill>
                <a:effectLst/>
              </a:rPr>
              <a:t> 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jsonText</a:t>
            </a:r>
            <a:r>
              <a:rPr lang="bg-BG" altLang="bg-BG" sz="1700" b="0" dirty="0">
                <a:solidFill>
                  <a:srgbClr val="000000"/>
                </a:solidFill>
                <a:effectLst/>
              </a:rPr>
              <a:t> </a:t>
            </a:r>
            <a:r>
              <a:rPr lang="bg-BG" altLang="bg-BG" sz="1700" b="0" dirty="0">
                <a:solidFill>
                  <a:schemeClr val="tx1"/>
                </a:solidFill>
                <a:effectLst/>
              </a:rPr>
              <a:t>=</a:t>
            </a:r>
            <a:r>
              <a:rPr lang="bg-BG" altLang="bg-BG" sz="1700" b="0" dirty="0">
                <a:solidFill>
                  <a:srgbClr val="000000"/>
                </a:solidFill>
                <a:effectLst/>
              </a:rPr>
              <a:t> </a:t>
            </a:r>
            <a:r>
              <a:rPr lang="bg-BG" altLang="bg-BG" sz="1700" dirty="0" err="1">
                <a:solidFill>
                  <a:schemeClr val="bg1"/>
                </a:solidFill>
                <a:effectLst/>
              </a:rPr>
              <a:t>JsonConvert</a:t>
            </a:r>
            <a:r>
              <a:rPr lang="en-US" altLang="bg-BG" sz="1700" dirty="0">
                <a:solidFill>
                  <a:schemeClr val="tx1"/>
                </a:solidFill>
                <a:effectLst/>
              </a:rPr>
              <a:t>.</a:t>
            </a:r>
            <a:r>
              <a:rPr lang="bg-BG" altLang="bg-BG" sz="1700" dirty="0" err="1">
                <a:solidFill>
                  <a:schemeClr val="bg1"/>
                </a:solidFill>
                <a:effectLst/>
              </a:rPr>
              <a:t>SerializeXmlNode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(</a:t>
            </a:r>
            <a:r>
              <a:rPr lang="bg-BG" altLang="bg-BG" sz="1700" dirty="0" err="1">
                <a:solidFill>
                  <a:schemeClr val="tx1"/>
                </a:solidFill>
                <a:effectLst/>
              </a:rPr>
              <a:t>doc</a:t>
            </a:r>
            <a:r>
              <a:rPr lang="bg-BG" altLang="bg-BG" sz="1700" dirty="0">
                <a:solidFill>
                  <a:schemeClr val="tx1"/>
                </a:solidFill>
                <a:effectLst/>
              </a:rPr>
              <a:t>); </a:t>
            </a:r>
            <a:endParaRPr lang="bg-BG" altLang="bg-BG" sz="170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7221000" y="1225690"/>
            <a:ext cx="4725000" cy="532453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indent="0" fontAlgn="base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fontAlgn="base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22338" indent="-273050" fontAlgn="base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187450" indent="-228600" fontAlgn="base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425575" indent="-228600" fontAlgn="base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/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/>
            </a:lvl9pPr>
          </a:lstStyle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{</a:t>
            </a: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"?xml": {</a:t>
            </a: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"@version": "1.0",</a:t>
            </a: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"@standalone": "no"</a:t>
            </a: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},</a:t>
            </a: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"root": {</a:t>
            </a: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"person": [</a:t>
            </a: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  {</a:t>
            </a: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    "@id": "1",</a:t>
            </a: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    "name": "Alan",</a:t>
            </a: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    "</a:t>
            </a:r>
            <a:r>
              <a:rPr lang="en-US" altLang="bg-BG" sz="1700" dirty="0" err="1">
                <a:solidFill>
                  <a:schemeClr val="tx1"/>
                </a:solidFill>
                <a:effectLst/>
              </a:rPr>
              <a:t>url</a:t>
            </a:r>
            <a:r>
              <a:rPr lang="en-US" altLang="bg-BG" sz="1700" dirty="0">
                <a:solidFill>
                  <a:schemeClr val="tx1"/>
                </a:solidFill>
                <a:effectLst/>
              </a:rPr>
              <a:t>": "www.google.com"</a:t>
            </a: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  },</a:t>
            </a: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  {</a:t>
            </a: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    "@id": "2",</a:t>
            </a: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    "name": "Louis",</a:t>
            </a: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    "</a:t>
            </a:r>
            <a:r>
              <a:rPr lang="en-US" altLang="bg-BG" sz="1700" dirty="0" err="1">
                <a:solidFill>
                  <a:schemeClr val="tx1"/>
                </a:solidFill>
                <a:effectLst/>
              </a:rPr>
              <a:t>url</a:t>
            </a:r>
            <a:r>
              <a:rPr lang="en-US" altLang="bg-BG" sz="1700" dirty="0">
                <a:solidFill>
                  <a:schemeClr val="tx1"/>
                </a:solidFill>
                <a:effectLst/>
              </a:rPr>
              <a:t>": "www.yahoo.com"</a:t>
            </a: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  }</a:t>
            </a: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  ]</a:t>
            </a: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  }</a:t>
            </a:r>
          </a:p>
          <a:p>
            <a:pPr lvl="0" eaLnBrk="0" hangingPunct="0">
              <a:spcBef>
                <a:spcPct val="0"/>
              </a:spcBef>
              <a:buClrTx/>
              <a:buSzTx/>
            </a:pPr>
            <a:r>
              <a:rPr lang="en-US" altLang="bg-BG" sz="1700" dirty="0">
                <a:solidFill>
                  <a:schemeClr val="tx1"/>
                </a:solidFill>
                <a:effectLst/>
              </a:rPr>
              <a:t>}</a:t>
            </a:r>
            <a:endParaRPr lang="bg-BG" altLang="bg-BG" sz="1700" dirty="0">
              <a:solidFill>
                <a:schemeClr val="tx1"/>
              </a:solidFill>
              <a:effectLst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B92C36C-BA79-4C60-ACB3-7DCF87F2E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35946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65622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1942" y="1419750"/>
            <a:ext cx="8632995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24937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543073" y="1723767"/>
            <a:ext cx="8027927" cy="4672655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chemeClr val="bg2"/>
                </a:solidFill>
              </a:rPr>
              <a:t> </a:t>
            </a:r>
            <a:r>
              <a:rPr lang="en-US" sz="3600" b="1" dirty="0">
                <a:solidFill>
                  <a:schemeClr val="bg1"/>
                </a:solidFill>
              </a:rPr>
              <a:t>JSON</a:t>
            </a:r>
            <a:r>
              <a:rPr lang="en-US" sz="3600" b="1" dirty="0">
                <a:solidFill>
                  <a:schemeClr val="bg2"/>
                </a:solidFill>
              </a:rPr>
              <a:t> is a cross platform text-based</a:t>
            </a:r>
            <a:br>
              <a:rPr lang="en-US" sz="3600" b="1" dirty="0">
                <a:solidFill>
                  <a:schemeClr val="bg2"/>
                </a:solidFill>
              </a:rPr>
            </a:br>
            <a:r>
              <a:rPr lang="en-US" sz="3600" b="1" dirty="0">
                <a:solidFill>
                  <a:schemeClr val="bg2"/>
                </a:solidFill>
              </a:rPr>
              <a:t> data format</a:t>
            </a:r>
          </a:p>
          <a:p>
            <a:pPr>
              <a:lnSpc>
                <a:spcPct val="100000"/>
              </a:lnSpc>
              <a:buClr>
                <a:schemeClr val="bg2"/>
              </a:buClr>
            </a:pPr>
            <a:r>
              <a:rPr lang="en-US" sz="3600" b="1" dirty="0" err="1">
                <a:solidFill>
                  <a:schemeClr val="bg1"/>
                </a:solidFill>
                <a:latin typeface="+mj-lt"/>
              </a:rPr>
              <a:t>System.Text.Json</a:t>
            </a:r>
            <a:r>
              <a:rPr lang="bg-BG" sz="3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3600" b="1" dirty="0">
                <a:solidFill>
                  <a:schemeClr val="bg2"/>
                </a:solidFill>
                <a:latin typeface="+mj-lt"/>
              </a:rPr>
              <a:t>is the</a:t>
            </a:r>
            <a:r>
              <a:rPr lang="bg-BG" sz="3600" b="1" dirty="0">
                <a:solidFill>
                  <a:schemeClr val="bg2"/>
                </a:solidFill>
                <a:latin typeface="+mj-lt"/>
              </a:rPr>
              <a:t> </a:t>
            </a:r>
            <a:br>
              <a:rPr lang="bg-BG" sz="3600" b="1" dirty="0">
                <a:solidFill>
                  <a:schemeClr val="bg2"/>
                </a:solidFill>
                <a:latin typeface="+mj-lt"/>
              </a:rPr>
            </a:br>
            <a:r>
              <a:rPr lang="en-US" sz="3600" b="1" dirty="0">
                <a:solidFill>
                  <a:schemeClr val="bg2"/>
                </a:solidFill>
                <a:latin typeface="+mj-lt"/>
              </a:rPr>
              <a:t>JSON Parser in C#</a:t>
            </a:r>
          </a:p>
          <a:p>
            <a:pPr>
              <a:lnSpc>
                <a:spcPct val="100000"/>
              </a:lnSpc>
              <a:buClr>
                <a:schemeClr val="bg2"/>
              </a:buClr>
            </a:pP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JSON.NET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lang="en-US" sz="3600" b="1" dirty="0">
                <a:solidFill>
                  <a:schemeClr val="bg2"/>
                </a:solidFill>
              </a:rPr>
              <a:t>is a fast framework for </a:t>
            </a:r>
            <a:br>
              <a:rPr lang="en-US" sz="3600" b="1" dirty="0">
                <a:solidFill>
                  <a:schemeClr val="bg2"/>
                </a:solidFill>
              </a:rPr>
            </a:br>
            <a:r>
              <a:rPr lang="en-US" sz="3600" b="1" dirty="0">
                <a:solidFill>
                  <a:schemeClr val="bg2"/>
                </a:solidFill>
              </a:rPr>
              <a:t> working with JSON data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EDACDAAC-DFA2-491F-B999-AC9D38766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63800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2800" dirty="0">
                <a:hlinkClick r:id="rId4"/>
              </a:rPr>
              <a:t>about.softuni.bg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1DE5788-B4EE-4D5A-8EB8-270043650096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https://about.softuni.bg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E4E690F2-73D8-435F-884D-BF0BFE3DFC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73733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4792</TotalTime>
  <Words>1687</Words>
  <Application>Microsoft Office PowerPoint</Application>
  <PresentationFormat>Widescreen</PresentationFormat>
  <Paragraphs>311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Consolas</vt:lpstr>
      <vt:lpstr>Wingdings</vt:lpstr>
      <vt:lpstr>Wingdings 2</vt:lpstr>
      <vt:lpstr>SoftUni</vt:lpstr>
      <vt:lpstr>External Format Processing</vt:lpstr>
      <vt:lpstr>Have a Question?</vt:lpstr>
      <vt:lpstr>Table of Contents</vt:lpstr>
      <vt:lpstr>JSON Data Format</vt:lpstr>
      <vt:lpstr>JSON Data Format</vt:lpstr>
      <vt:lpstr>JSON Data Format</vt:lpstr>
      <vt:lpstr>Object, Array and Value in JSON</vt:lpstr>
      <vt:lpstr>Processing JSON</vt:lpstr>
      <vt:lpstr>Built-in JSON Support</vt:lpstr>
      <vt:lpstr>Serializing JSON</vt:lpstr>
      <vt:lpstr>Serializing JSON</vt:lpstr>
      <vt:lpstr>Deserializing JSON</vt:lpstr>
      <vt:lpstr>JSON.NET</vt:lpstr>
      <vt:lpstr>What is JSON.NET?</vt:lpstr>
      <vt:lpstr>Installing JSON.NET</vt:lpstr>
      <vt:lpstr>General Usage</vt:lpstr>
      <vt:lpstr>JSON.NET Features</vt:lpstr>
      <vt:lpstr>Configuring JSON.NET</vt:lpstr>
      <vt:lpstr>Configuring JSON.NET</vt:lpstr>
      <vt:lpstr>JSON.NET Attributes</vt:lpstr>
      <vt:lpstr>JSON.NET Parsing of Objects</vt:lpstr>
      <vt:lpstr>LINQ-to-JSON</vt:lpstr>
      <vt:lpstr>LINQ-to-JSON</vt:lpstr>
      <vt:lpstr>XML-to-JSON</vt:lpstr>
      <vt:lpstr>Summary</vt:lpstr>
      <vt:lpstr>Trainings @ Software University (SoftUni)</vt:lpstr>
      <vt:lpstr>License</vt:lpstr>
    </vt:vector>
  </TitlesOfParts>
  <Company>SoftUni – https://about.softuni.bg/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 Advanced - JSON Processing</dc:title>
  <dc:subject>Software Development Course</dc:subject>
  <dc:creator>Software University</dc:creator>
  <cp:keywords>DB; Advanced; JSON; Processing; tech; fundamentals; technologySoftware University; SoftUni; programming; coding; software development; education; training; course</cp:keywords>
  <dc:description>© SoftUni – https://about.softuni.bg/
© Software University – https://softuni.bg
Copyrighted document. Unauthorized copy, reproduction or use is not permitted.</dc:description>
  <cp:lastModifiedBy>Krasimir Tsanev</cp:lastModifiedBy>
  <cp:revision>113</cp:revision>
  <dcterms:created xsi:type="dcterms:W3CDTF">2018-05-23T13:08:44Z</dcterms:created>
  <dcterms:modified xsi:type="dcterms:W3CDTF">2025-10-13T06:02:55Z</dcterms:modified>
  <cp:category>programming;computer programming;software development;web development</cp:category>
</cp:coreProperties>
</file>