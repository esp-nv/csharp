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3"/>
  </p:notesMasterIdLst>
  <p:handoutMasterIdLst>
    <p:handoutMasterId r:id="rId44"/>
  </p:handoutMasterIdLst>
  <p:sldIdLst>
    <p:sldId id="402" r:id="rId2"/>
    <p:sldId id="508" r:id="rId3"/>
    <p:sldId id="548" r:id="rId4"/>
    <p:sldId id="467" r:id="rId5"/>
    <p:sldId id="549" r:id="rId6"/>
    <p:sldId id="550" r:id="rId7"/>
    <p:sldId id="551" r:id="rId8"/>
    <p:sldId id="552" r:id="rId9"/>
    <p:sldId id="553" r:id="rId10"/>
    <p:sldId id="554" r:id="rId11"/>
    <p:sldId id="573" r:id="rId12"/>
    <p:sldId id="574" r:id="rId13"/>
    <p:sldId id="576" r:id="rId14"/>
    <p:sldId id="577" r:id="rId15"/>
    <p:sldId id="578" r:id="rId16"/>
    <p:sldId id="473" r:id="rId17"/>
    <p:sldId id="557" r:id="rId18"/>
    <p:sldId id="558" r:id="rId19"/>
    <p:sldId id="559" r:id="rId20"/>
    <p:sldId id="560" r:id="rId21"/>
    <p:sldId id="561" r:id="rId22"/>
    <p:sldId id="562" r:id="rId23"/>
    <p:sldId id="563" r:id="rId24"/>
    <p:sldId id="588" r:id="rId25"/>
    <p:sldId id="589" r:id="rId26"/>
    <p:sldId id="590" r:id="rId27"/>
    <p:sldId id="591" r:id="rId28"/>
    <p:sldId id="592" r:id="rId29"/>
    <p:sldId id="580" r:id="rId30"/>
    <p:sldId id="571" r:id="rId31"/>
    <p:sldId id="572" r:id="rId32"/>
    <p:sldId id="581" r:id="rId33"/>
    <p:sldId id="582" r:id="rId34"/>
    <p:sldId id="583" r:id="rId35"/>
    <p:sldId id="584" r:id="rId36"/>
    <p:sldId id="585" r:id="rId37"/>
    <p:sldId id="586" r:id="rId38"/>
    <p:sldId id="587" r:id="rId39"/>
    <p:sldId id="349" r:id="rId40"/>
    <p:sldId id="405" r:id="rId41"/>
    <p:sldId id="49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CD81B49-181F-456D-B43C-BD2924551EEC}">
          <p14:sldIdLst>
            <p14:sldId id="402"/>
            <p14:sldId id="508"/>
            <p14:sldId id="548"/>
          </p14:sldIdLst>
        </p14:section>
        <p14:section name="Entity Framework Core" id="{4B3AC7A7-3FC7-467F-85B1-8313C91AECC5}">
          <p14:sldIdLst>
            <p14:sldId id="467"/>
            <p14:sldId id="549"/>
            <p14:sldId id="550"/>
            <p14:sldId id="551"/>
            <p14:sldId id="552"/>
            <p14:sldId id="553"/>
            <p14:sldId id="554"/>
          </p14:sldIdLst>
        </p14:section>
        <p14:section name="EF Core Components" id="{1D9E269E-00D7-40A8-B01A-10A76A05D9BB}">
          <p14:sldIdLst>
            <p14:sldId id="573"/>
            <p14:sldId id="574"/>
            <p14:sldId id="576"/>
            <p14:sldId id="577"/>
            <p14:sldId id="578"/>
          </p14:sldIdLst>
        </p14:section>
        <p14:section name="Reading Data" id="{76F3A521-408E-4585-B742-D8AC5A43BB1E}">
          <p14:sldIdLst>
            <p14:sldId id="473"/>
            <p14:sldId id="557"/>
            <p14:sldId id="558"/>
            <p14:sldId id="559"/>
            <p14:sldId id="560"/>
            <p14:sldId id="561"/>
            <p14:sldId id="562"/>
            <p14:sldId id="563"/>
          </p14:sldIdLst>
        </p14:section>
        <p14:section name="CRUD Operations" id="{74FCCB8F-030A-4BDF-B079-F82EA4F0EE4C}">
          <p14:sldIdLst>
            <p14:sldId id="588"/>
            <p14:sldId id="589"/>
            <p14:sldId id="590"/>
            <p14:sldId id="591"/>
            <p14:sldId id="592"/>
          </p14:sldIdLst>
        </p14:section>
        <p14:section name="EF Core Configuration" id="{6F07F434-065F-437B-9F6E-0276529053E6}">
          <p14:sldIdLst>
            <p14:sldId id="580"/>
            <p14:sldId id="571"/>
            <p14:sldId id="572"/>
            <p14:sldId id="581"/>
            <p14:sldId id="582"/>
            <p14:sldId id="583"/>
            <p14:sldId id="584"/>
          </p14:sldIdLst>
        </p14:section>
        <p14:section name="Database Migrations" id="{ED732722-1F61-4BAC-85B0-E6B781E29917}">
          <p14:sldIdLst>
            <p14:sldId id="585"/>
            <p14:sldId id="586"/>
            <p14:sldId id="587"/>
          </p14:sldIdLst>
        </p14:section>
        <p14:section name="Conclusion" id="{288DB462-5921-43B2-9D16-BEC4AE1C699D}">
          <p14:sldIdLst>
            <p14:sldId id="349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95214" autoAdjust="0"/>
  </p:normalViewPr>
  <p:slideViewPr>
    <p:cSldViewPr showGuides="1">
      <p:cViewPr varScale="1">
        <p:scale>
          <a:sx n="103" d="100"/>
          <a:sy n="103" d="100"/>
        </p:scale>
        <p:origin x="96" y="24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50B36217-F578-41E3-9927-2A0999838E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29029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2641EC2-3DE2-4D15-A1C1-A5B872F083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79882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06FF760-E459-4EB2-8B1D-45F4947F90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58527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1404301-02B3-4F49-B915-5B6519470D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42928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967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777168A0-5966-46CD-9728-A9B31A1B0E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195930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72A0D19-2B98-477A-989C-003B8F1420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57126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A50D2E49-54A2-4B78-AF6D-0D8076E197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7186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2D684853-3EC0-4C21-84A7-4799A3A176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94701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91AFA39-7281-455A-9A0E-0599877E5D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52195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CFC31AB-C749-4BEC-975F-0DB06B7A61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87265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88E6068-B20B-4360-9447-4DAF0DC9DE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62396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18B8F62-3562-478A-90DF-3B3CF3B7F5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07718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1F564D8-D80B-4B74-93C8-BE406255CC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20834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F7F0EC4-2BB5-40A0-B836-86F35D2D54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5006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554000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ORM Concept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Entity Framework Core </a:t>
            </a:r>
            <a:r>
              <a:rPr lang="bg-BG"/>
              <a:t>-</a:t>
            </a:r>
            <a:r>
              <a:rPr lang="en-US"/>
              <a:t> </a:t>
            </a:r>
            <a:r>
              <a:rPr lang="en-US" dirty="0"/>
              <a:t>Introduction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2216268"/>
            <a:ext cx="3657600" cy="2425464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91231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</a:t>
            </a:r>
            <a:r>
              <a:rPr lang="en-US" sz="11500" b="1" dirty="0" err="1"/>
              <a:t>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A52BA18-B31F-4198-BE5F-A156712A3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011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Entity Framework Core</a:t>
            </a:r>
            <a:endParaRPr lang="bg-BG" dirty="0"/>
          </a:p>
          <a:p>
            <a:r>
              <a:rPr lang="en-US" dirty="0"/>
              <a:t>EF Core Components</a:t>
            </a:r>
          </a:p>
          <a:p>
            <a:r>
              <a:rPr lang="en-US" dirty="0"/>
              <a:t>Reading Data</a:t>
            </a:r>
            <a:endParaRPr lang="bg-BG" dirty="0"/>
          </a:p>
          <a:p>
            <a:r>
              <a:rPr lang="en-US" dirty="0"/>
              <a:t>CRUD Operations</a:t>
            </a:r>
          </a:p>
          <a:p>
            <a:r>
              <a:rPr lang="en-US" dirty="0"/>
              <a:t>EF Core Configuration</a:t>
            </a:r>
          </a:p>
          <a:p>
            <a:pPr lvl="1"/>
            <a:r>
              <a:rPr lang="en-US" dirty="0"/>
              <a:t>Fluent API</a:t>
            </a:r>
          </a:p>
          <a:p>
            <a:r>
              <a:rPr lang="en-US" dirty="0"/>
              <a:t>Database Migrations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71AAA49-F9D3-4391-92C5-73715D20858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27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7258-4671-44FF-8FBA-EC5E615D58A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Entity Framework Core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00" y="1719000"/>
            <a:ext cx="2850120" cy="189000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8A8477B4-EB36-4B23-82E2-0E9F7D36C045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Overview and Features</a:t>
            </a:r>
          </a:p>
        </p:txBody>
      </p:sp>
    </p:spTree>
    <p:extLst>
      <p:ext uri="{BB962C8B-B14F-4D97-AF65-F5344CB8AC3E}">
        <p14:creationId xmlns:p14="http://schemas.microsoft.com/office/powerpoint/2010/main" val="84758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Framework Core: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792131" y="1212411"/>
            <a:ext cx="10328313" cy="5546589"/>
          </a:xfrm>
        </p:spPr>
        <p:txBody>
          <a:bodyPr>
            <a:normAutofit/>
          </a:bodyPr>
          <a:lstStyle/>
          <a:p>
            <a:r>
              <a:rPr lang="en-US" dirty="0"/>
              <a:t>The standard </a:t>
            </a:r>
            <a:r>
              <a:rPr lang="en-US" b="1" dirty="0">
                <a:solidFill>
                  <a:schemeClr val="bg1"/>
                </a:solidFill>
              </a:rPr>
              <a:t>ORM framework </a:t>
            </a:r>
            <a:r>
              <a:rPr lang="en-US" dirty="0"/>
              <a:t>for </a:t>
            </a:r>
            <a:r>
              <a:rPr lang="en-US" b="1" dirty="0">
                <a:solidFill>
                  <a:schemeClr val="bg1"/>
                </a:solidFill>
              </a:rPr>
              <a:t>.NET 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.NET Core</a:t>
            </a:r>
          </a:p>
          <a:p>
            <a:r>
              <a:rPr lang="en-US" dirty="0"/>
              <a:t>Provides LINQ-based data queries and </a:t>
            </a:r>
            <a:r>
              <a:rPr lang="en-US" b="1" dirty="0">
                <a:solidFill>
                  <a:schemeClr val="bg1"/>
                </a:solidFill>
              </a:rPr>
              <a:t>CRUD</a:t>
            </a:r>
            <a:r>
              <a:rPr lang="bg-BG" dirty="0"/>
              <a:t> </a:t>
            </a:r>
            <a:r>
              <a:rPr lang="en-US" dirty="0"/>
              <a:t>operations</a:t>
            </a:r>
          </a:p>
          <a:p>
            <a:r>
              <a:rPr lang="en-US" dirty="0"/>
              <a:t>Automatic </a:t>
            </a:r>
            <a:r>
              <a:rPr lang="en-US" b="1" dirty="0">
                <a:solidFill>
                  <a:schemeClr val="bg1"/>
                </a:solidFill>
              </a:rPr>
              <a:t>change tracking </a:t>
            </a:r>
            <a:r>
              <a:rPr lang="en-US" dirty="0"/>
              <a:t>of in-memory objects</a:t>
            </a:r>
          </a:p>
          <a:p>
            <a:r>
              <a:rPr lang="en-US" dirty="0"/>
              <a:t>Works with many relational databases (with </a:t>
            </a:r>
            <a:br>
              <a:rPr lang="bg-BG" dirty="0"/>
            </a:br>
            <a:r>
              <a:rPr lang="en-US" dirty="0"/>
              <a:t>different providers)</a:t>
            </a:r>
          </a:p>
          <a:p>
            <a:r>
              <a:rPr lang="en-US" dirty="0"/>
              <a:t>Open source with independent release cycle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03D4DBF-6B09-4447-B07C-37DC1FFBE1A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Core: Basic Workflow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45" y="3352800"/>
            <a:ext cx="2244280" cy="30772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2903" y="3352800"/>
            <a:ext cx="2373106" cy="30772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388" y="3352800"/>
            <a:ext cx="2329393" cy="30772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4152998" y="1151118"/>
            <a:ext cx="34670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dirty="0"/>
              <a:t>Write &amp; execute query over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IQueryable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3522" y="1151118"/>
            <a:ext cx="36611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dirty="0"/>
              <a:t>EF generates &amp; executes an </a:t>
            </a:r>
            <a:r>
              <a:rPr lang="en-US" sz="3200" b="1" dirty="0">
                <a:solidFill>
                  <a:schemeClr val="bg1"/>
                </a:solidFill>
              </a:rPr>
              <a:t>SQL query</a:t>
            </a:r>
            <a:r>
              <a:rPr lang="en-US" sz="3200" dirty="0"/>
              <a:t> in the </a:t>
            </a:r>
            <a:r>
              <a:rPr lang="en-US" sz="3200" b="1" dirty="0">
                <a:solidFill>
                  <a:schemeClr val="bg1"/>
                </a:solidFill>
              </a:rP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51119"/>
            <a:ext cx="3429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Define the data model (</a:t>
            </a:r>
            <a:r>
              <a:rPr lang="en-US" sz="3200" b="1" dirty="0">
                <a:solidFill>
                  <a:schemeClr val="bg1"/>
                </a:solidFill>
              </a:rPr>
              <a:t>Code First</a:t>
            </a:r>
            <a:r>
              <a:rPr lang="en-US" sz="3200" dirty="0"/>
              <a:t> or </a:t>
            </a:r>
            <a:r>
              <a:rPr lang="en-US" sz="3200" b="1" dirty="0">
                <a:solidFill>
                  <a:schemeClr val="bg1"/>
                </a:solidFill>
              </a:rPr>
              <a:t>Scaffold from DB</a:t>
            </a:r>
            <a:r>
              <a:rPr lang="en-US" sz="3200" dirty="0"/>
              <a:t>)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3C0906FE-30B6-4ACC-9575-B497BF626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449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Core: Basic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6112" y="1151119"/>
            <a:ext cx="32400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3200" dirty="0"/>
              <a:t>Modify data with C# code and call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Save Changes()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7813522" y="1151119"/>
            <a:ext cx="36611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3200" dirty="0"/>
              <a:t>Entity Framework generates &amp; executes SQL command to modify the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51118"/>
            <a:ext cx="35239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3200" dirty="0"/>
              <a:t>EF transforms </a:t>
            </a:r>
            <a:br>
              <a:rPr lang="en-US" sz="3200" dirty="0"/>
            </a:br>
            <a:r>
              <a:rPr lang="en-US" sz="3200" dirty="0"/>
              <a:t>the query</a:t>
            </a:r>
            <a:br>
              <a:rPr lang="en-US" sz="3200" dirty="0"/>
            </a:br>
            <a:r>
              <a:rPr lang="en-US" sz="3200" dirty="0"/>
              <a:t>results into </a:t>
            </a:r>
            <a:br>
              <a:rPr lang="en-US" sz="3200" dirty="0"/>
            </a:br>
            <a:r>
              <a:rPr lang="en-US" sz="3200" dirty="0"/>
              <a:t>.NET objects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3903141"/>
            <a:ext cx="2860254" cy="21664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01" y="3447711"/>
            <a:ext cx="3582032" cy="30772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Slide Number">
            <a:extLst>
              <a:ext uri="{FF2B5EF4-FFF2-40B4-BE49-F238E27FC236}">
                <a16:creationId xmlns:a16="http://schemas.microsoft.com/office/drawing/2014/main" id="{24364FC0-DA47-4533-89A0-CF444A35D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6071C7-A912-46FB-B12A-3061CB32C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1000" y="4400798"/>
            <a:ext cx="4269789" cy="1216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133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To add </a:t>
            </a:r>
            <a:r>
              <a:rPr lang="en-US" b="1" dirty="0">
                <a:solidFill>
                  <a:schemeClr val="bg1"/>
                </a:solidFill>
              </a:rPr>
              <a:t>EF Core support </a:t>
            </a:r>
            <a:r>
              <a:rPr lang="en-US" dirty="0"/>
              <a:t>to a project in </a:t>
            </a:r>
            <a:r>
              <a:rPr lang="en-US" b="1" dirty="0">
                <a:solidFill>
                  <a:schemeClr val="bg1"/>
                </a:solidFill>
              </a:rPr>
              <a:t>Visual Studio</a:t>
            </a:r>
            <a:endParaRPr lang="en-US" dirty="0"/>
          </a:p>
          <a:p>
            <a:pPr lvl="1"/>
            <a:r>
              <a:rPr lang="en-US" dirty="0"/>
              <a:t>Install it from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NuGet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using Visual Studio or </a:t>
            </a:r>
            <a:r>
              <a:rPr lang="en-US" b="1" dirty="0">
                <a:solidFill>
                  <a:schemeClr val="bg1"/>
                </a:solidFill>
              </a:rPr>
              <a:t>dotnet CLI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EF Core is modular – any </a:t>
            </a:r>
            <a:r>
              <a:rPr lang="en-US" b="1" dirty="0">
                <a:solidFill>
                  <a:schemeClr val="bg1"/>
                </a:solidFill>
              </a:rPr>
              <a:t>data providers </a:t>
            </a:r>
            <a:r>
              <a:rPr lang="en-US" dirty="0"/>
              <a:t>must be installed too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 use the Entity Framework Core CLI tools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Framework Core: Setup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035EBD2-3BA3-4963-9819-A1E7C3CCB42E}"/>
              </a:ext>
            </a:extLst>
          </p:cNvPr>
          <p:cNvSpPr txBox="1">
            <a:spLocks/>
          </p:cNvSpPr>
          <p:nvPr/>
        </p:nvSpPr>
        <p:spPr>
          <a:xfrm>
            <a:off x="835024" y="2514600"/>
            <a:ext cx="10975976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dotnet add package Microsoft.EntityFrameworkCore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4E9A0-501F-4DC6-9C6C-30D28D50FF30}"/>
              </a:ext>
            </a:extLst>
          </p:cNvPr>
          <p:cNvSpPr txBox="1">
            <a:spLocks/>
          </p:cNvSpPr>
          <p:nvPr/>
        </p:nvSpPr>
        <p:spPr>
          <a:xfrm>
            <a:off x="835024" y="3895780"/>
            <a:ext cx="10975976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Microsoft.EntityFrameworkCore.SqlServer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55BA305-A9B5-425A-B889-B8EFE13C5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88E232C-BCCE-4F02-8DFB-B41183316DD9}"/>
              </a:ext>
            </a:extLst>
          </p:cNvPr>
          <p:cNvSpPr txBox="1">
            <a:spLocks/>
          </p:cNvSpPr>
          <p:nvPr/>
        </p:nvSpPr>
        <p:spPr>
          <a:xfrm>
            <a:off x="786000" y="5229000"/>
            <a:ext cx="10975976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dotnet tool install --global dotnet-ef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E5DA18D-C893-43DB-935C-2752326F742B}"/>
              </a:ext>
            </a:extLst>
          </p:cNvPr>
          <p:cNvSpPr txBox="1">
            <a:spLocks/>
          </p:cNvSpPr>
          <p:nvPr/>
        </p:nvSpPr>
        <p:spPr>
          <a:xfrm>
            <a:off x="786000" y="5904000"/>
            <a:ext cx="10975976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dotnet add package Microsoft.EntityFrameworkCore.Design</a:t>
            </a:r>
          </a:p>
        </p:txBody>
      </p:sp>
    </p:spTree>
    <p:extLst>
      <p:ext uri="{BB962C8B-B14F-4D97-AF65-F5344CB8AC3E}">
        <p14:creationId xmlns:p14="http://schemas.microsoft.com/office/powerpoint/2010/main" val="362577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48667-56EE-45C2-BE62-F8164DE5B83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Database First </a:t>
            </a:r>
            <a:r>
              <a:rPr lang="en-US" dirty="0"/>
              <a:t>model models the </a:t>
            </a:r>
            <a:r>
              <a:rPr lang="en-US" b="1" dirty="0">
                <a:solidFill>
                  <a:schemeClr val="bg1"/>
                </a:solidFill>
              </a:rPr>
              <a:t>entity classes after</a:t>
            </a:r>
            <a:r>
              <a:rPr lang="en-US" dirty="0"/>
              <a:t> </a:t>
            </a:r>
            <a:br>
              <a:rPr lang="bg-BG" dirty="0"/>
            </a:br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383147-6342-4630-9C10-06F61F79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First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58F87-06B2-4701-8451-F0DC562F4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943974" y="2626226"/>
            <a:ext cx="4070227" cy="3811500"/>
          </a:xfrm>
          <a:prstGeom prst="roundRect">
            <a:avLst>
              <a:gd name="adj" fmla="val 1465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90821E-A007-4AD2-A3D3-7D91241DE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877503" y="3069000"/>
            <a:ext cx="2699550" cy="2849525"/>
          </a:xfrm>
          <a:prstGeom prst="roundRect">
            <a:avLst>
              <a:gd name="adj" fmla="val 1465"/>
            </a:avLst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B7A457-4650-455A-BC28-638AABD92396}"/>
              </a:ext>
            </a:extLst>
          </p:cNvPr>
          <p:cNvSpPr/>
          <p:nvPr/>
        </p:nvSpPr>
        <p:spPr>
          <a:xfrm>
            <a:off x="6140258" y="4222450"/>
            <a:ext cx="611188" cy="619047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7E7C245-92F7-4A03-8422-9ACE1E62C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094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48667-56EE-45C2-BE62-F8164DE5B83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500" dirty="0"/>
              <a:t>Scaffolding </a:t>
            </a:r>
            <a:r>
              <a:rPr lang="en-US" sz="3500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sz="3500" dirty="0"/>
              <a:t> from DB with </a:t>
            </a:r>
            <a:r>
              <a:rPr lang="en-US" sz="3500" b="1" dirty="0">
                <a:solidFill>
                  <a:schemeClr val="bg1"/>
                </a:solidFill>
              </a:rPr>
              <a:t>EF Core CLI Tools</a:t>
            </a:r>
            <a:endParaRPr lang="en-US" sz="35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3500" dirty="0"/>
              <a:t>To update with the latest database changes, use the </a:t>
            </a:r>
            <a:r>
              <a:rPr lang="en-US" sz="3500" b="1" dirty="0">
                <a:solidFill>
                  <a:schemeClr val="bg1"/>
                </a:solidFill>
                <a:latin typeface="Consolas" panose="020B0609020204030204" pitchFamily="49" charset="0"/>
              </a:rPr>
              <a:t>-f</a:t>
            </a:r>
            <a:r>
              <a:rPr lang="en-US" sz="3500" dirty="0">
                <a:latin typeface="Consolas" panose="020B0609020204030204" pitchFamily="49" charset="0"/>
              </a:rPr>
              <a:t> </a:t>
            </a:r>
            <a:r>
              <a:rPr lang="en-US" sz="3500" dirty="0"/>
              <a:t>flag</a:t>
            </a:r>
          </a:p>
          <a:p>
            <a:pPr lvl="1"/>
            <a:r>
              <a:rPr lang="en-US" dirty="0"/>
              <a:t> To use attributes for configuring the model use </a:t>
            </a:r>
            <a:r>
              <a:rPr lang="en-US" sz="3200" dirty="0"/>
              <a:t>the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-d</a:t>
            </a:r>
            <a:r>
              <a:rPr lang="en-US" sz="3200" dirty="0"/>
              <a:t> flag</a:t>
            </a:r>
          </a:p>
          <a:p>
            <a:endParaRPr lang="en-US" dirty="0"/>
          </a:p>
          <a:p>
            <a:r>
              <a:rPr lang="en-US" sz="3500" dirty="0"/>
              <a:t>Scaffolding requires the following NuGet packages installed</a:t>
            </a:r>
          </a:p>
          <a:p>
            <a:pPr lvl="1"/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Microsoft.EntityFrameworkCore.SqlServer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Microsoft.EntityFrameworkCore.Design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383147-6342-4630-9C10-06F61F79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First Model: Setup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09BDA-12FC-4567-86D2-FE08A50BD86D}"/>
              </a:ext>
            </a:extLst>
          </p:cNvPr>
          <p:cNvSpPr txBox="1">
            <a:spLocks/>
          </p:cNvSpPr>
          <p:nvPr/>
        </p:nvSpPr>
        <p:spPr>
          <a:xfrm>
            <a:off x="606000" y="1858233"/>
            <a:ext cx="109800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dotnet ef dbcontext scaffold </a:t>
            </a:r>
            <a:r>
              <a:rPr lang="en-US" sz="2400" b="1" noProof="1">
                <a:latin typeface="Consolas" panose="020B0609020204030204" pitchFamily="49" charset="0"/>
              </a:rPr>
              <a:t>"Server=…;Database=…;Integrated Security=true" Microsoft.EntityFrameworkCore.SqlServer -o Models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DB96373-D144-4F90-9A4E-43824AA46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79D0854-CC73-4FEE-90E8-71BD1BFF3A1D}"/>
              </a:ext>
            </a:extLst>
          </p:cNvPr>
          <p:cNvSpPr txBox="1">
            <a:spLocks/>
          </p:cNvSpPr>
          <p:nvPr/>
        </p:nvSpPr>
        <p:spPr>
          <a:xfrm>
            <a:off x="606000" y="4182335"/>
            <a:ext cx="109800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dotnet ef dbcontext scaffold </a:t>
            </a:r>
            <a:r>
              <a:rPr lang="en-US" sz="2400" b="1" noProof="1">
                <a:latin typeface="Consolas" panose="020B0609020204030204" pitchFamily="49" charset="0"/>
              </a:rPr>
              <a:t>"…" Microsoft…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-o</a:t>
            </a:r>
            <a:r>
              <a:rPr lang="en-US" sz="2400" b="1" noProof="1">
                <a:latin typeface="Consolas" panose="020B0609020204030204" pitchFamily="49" charset="0"/>
              </a:rPr>
              <a:t> Models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-f -d</a:t>
            </a:r>
          </a:p>
        </p:txBody>
      </p:sp>
    </p:spTree>
    <p:extLst>
      <p:ext uri="{BB962C8B-B14F-4D97-AF65-F5344CB8AC3E}">
        <p14:creationId xmlns:p14="http://schemas.microsoft.com/office/powerpoint/2010/main" val="413293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824612-31A3-42F7-8DF8-39CD7BB0749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EF Core Components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730713" y="1643713"/>
            <a:ext cx="2662861" cy="1943712"/>
            <a:chOff x="3071824" y="2771796"/>
            <a:chExt cx="3328976" cy="1876404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3071824" y="2771796"/>
              <a:ext cx="1881176" cy="506016"/>
            </a:xfrm>
            <a:prstGeom prst="roundRect">
              <a:avLst/>
            </a:prstGeom>
            <a:solidFill>
              <a:schemeClr val="accent6">
                <a:lumMod val="25000"/>
              </a:schemeClr>
            </a:solidFill>
            <a:ln w="76200">
              <a:solidFill>
                <a:schemeClr val="bg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99" b="1" noProof="1">
                  <a:solidFill>
                    <a:schemeClr val="bg2"/>
                  </a:solidFill>
                  <a:latin typeface="Consolas" panose="020B0609020204030204" pitchFamily="49" charset="0"/>
                </a:rPr>
                <a:t>DbContext</a:t>
              </a:r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3848092" y="3457644"/>
              <a:ext cx="2552708" cy="506016"/>
            </a:xfrm>
            <a:prstGeom prst="roundRect">
              <a:avLst/>
            </a:prstGeom>
            <a:solidFill>
              <a:schemeClr val="accent6">
                <a:lumMod val="25000"/>
              </a:schemeClr>
            </a:solidFill>
            <a:ln w="76200">
              <a:solidFill>
                <a:schemeClr val="bg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99" b="1" noProof="1">
                  <a:solidFill>
                    <a:schemeClr val="bg2"/>
                  </a:solidFill>
                  <a:latin typeface="Consolas" panose="020B0609020204030204" pitchFamily="49" charset="0"/>
                </a:rPr>
                <a:t>Post</a:t>
              </a:r>
            </a:p>
          </p:txBody>
        </p:sp>
        <p:sp>
          <p:nvSpPr>
            <p:cNvPr id="9" name="Rectangle: Rounded Corners 8"/>
            <p:cNvSpPr/>
            <p:nvPr/>
          </p:nvSpPr>
          <p:spPr>
            <a:xfrm>
              <a:off x="3848092" y="4142184"/>
              <a:ext cx="2552708" cy="506016"/>
            </a:xfrm>
            <a:prstGeom prst="roundRect">
              <a:avLst/>
            </a:prstGeom>
            <a:solidFill>
              <a:schemeClr val="accent6">
                <a:lumMod val="25000"/>
              </a:schemeClr>
            </a:solidFill>
            <a:ln w="76200">
              <a:solidFill>
                <a:schemeClr val="bg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99" b="1" noProof="1">
                  <a:solidFill>
                    <a:schemeClr val="bg2"/>
                  </a:solidFill>
                  <a:latin typeface="Consolas" panose="020B0609020204030204" pitchFamily="49" charset="0"/>
                </a:rPr>
                <a:t>User</a:t>
              </a:r>
            </a:p>
          </p:txBody>
        </p:sp>
        <p:cxnSp>
          <p:nvCxnSpPr>
            <p:cNvPr id="11" name="Connector: Elbow 10"/>
            <p:cNvCxnSpPr>
              <a:cxnSpLocks/>
            </p:cNvCxnSpPr>
            <p:nvPr/>
          </p:nvCxnSpPr>
          <p:spPr>
            <a:xfrm rot="16200000" flipH="1">
              <a:off x="3420952" y="3297780"/>
              <a:ext cx="432840" cy="392904"/>
            </a:xfrm>
            <a:prstGeom prst="bentConnector2">
              <a:avLst/>
            </a:prstGeom>
            <a:ln w="762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/>
            <p:cNvCxnSpPr>
              <a:cxnSpLocks/>
            </p:cNvCxnSpPr>
            <p:nvPr/>
          </p:nvCxnSpPr>
          <p:spPr>
            <a:xfrm rot="16200000" flipH="1">
              <a:off x="3078682" y="3640050"/>
              <a:ext cx="1117380" cy="392904"/>
            </a:xfrm>
            <a:prstGeom prst="bentConnector2">
              <a:avLst/>
            </a:prstGeom>
            <a:ln w="762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ubtitle 9">
            <a:extLst>
              <a:ext uri="{FF2B5EF4-FFF2-40B4-BE49-F238E27FC236}">
                <a16:creationId xmlns:a16="http://schemas.microsoft.com/office/drawing/2014/main" id="{DAC03011-B994-49FB-B5F0-CA10BDBD7204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Overview of System Objects</a:t>
            </a:r>
          </a:p>
        </p:txBody>
      </p:sp>
    </p:spTree>
    <p:extLst>
      <p:ext uri="{BB962C8B-B14F-4D97-AF65-F5344CB8AC3E}">
        <p14:creationId xmlns:p14="http://schemas.microsoft.com/office/powerpoint/2010/main" val="373843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Bunch of normal C# classes (POCO)</a:t>
            </a:r>
          </a:p>
          <a:p>
            <a:pPr lvl="1"/>
            <a:r>
              <a:rPr lang="en-US" dirty="0"/>
              <a:t>May contain </a:t>
            </a:r>
            <a:r>
              <a:rPr lang="en-US" b="1" dirty="0">
                <a:solidFill>
                  <a:schemeClr val="bg1"/>
                </a:solidFill>
              </a:rPr>
              <a:t>navigation properties </a:t>
            </a:r>
            <a:r>
              <a:rPr lang="en-US" dirty="0"/>
              <a:t>for </a:t>
            </a:r>
            <a:r>
              <a:rPr lang="en-US" b="1" dirty="0">
                <a:solidFill>
                  <a:schemeClr val="bg1"/>
                </a:solidFill>
              </a:rPr>
              <a:t>table relationships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r>
              <a:rPr lang="en-US" dirty="0"/>
              <a:t>Recommended to be in a </a:t>
            </a:r>
            <a:r>
              <a:rPr lang="en-US" b="1" dirty="0">
                <a:solidFill>
                  <a:schemeClr val="bg1"/>
                </a:solidFill>
              </a:rPr>
              <a:t>separate class library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Classes (Models)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915749" y="2891400"/>
            <a:ext cx="10360501" cy="250464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sz="2799" noProof="1"/>
              <a:t>public class PostAnswer</a:t>
            </a:r>
          </a:p>
          <a:p>
            <a:r>
              <a:rPr lang="en-US" sz="2799" noProof="1"/>
              <a:t>{</a:t>
            </a:r>
          </a:p>
          <a:p>
            <a:r>
              <a:rPr lang="en-US" sz="2799" noProof="1"/>
              <a:t>    public int </a:t>
            </a:r>
            <a:r>
              <a:rPr lang="en-US" sz="2799" noProof="1">
                <a:solidFill>
                  <a:schemeClr val="bg1"/>
                </a:solidFill>
              </a:rPr>
              <a:t>Id</a:t>
            </a:r>
            <a:r>
              <a:rPr lang="en-US" sz="2799" noProof="1"/>
              <a:t> { get; set; }</a:t>
            </a:r>
          </a:p>
          <a:p>
            <a:r>
              <a:rPr lang="en-US" sz="2799" noProof="1"/>
              <a:t>    public string Content { get; set; }</a:t>
            </a:r>
          </a:p>
          <a:p>
            <a:r>
              <a:rPr lang="en-US" sz="2799" noProof="1"/>
              <a:t>    public int </a:t>
            </a:r>
            <a:r>
              <a:rPr lang="en-US" sz="2799" noProof="1">
                <a:solidFill>
                  <a:schemeClr val="bg1"/>
                </a:solidFill>
              </a:rPr>
              <a:t>PostId</a:t>
            </a:r>
            <a:r>
              <a:rPr lang="en-US" sz="2799" noProof="1"/>
              <a:t> { get; set; }</a:t>
            </a:r>
          </a:p>
          <a:p>
            <a:r>
              <a:rPr lang="en-US" sz="2799" noProof="1"/>
              <a:t>    public </a:t>
            </a:r>
            <a:r>
              <a:rPr lang="en-US" sz="2799" noProof="1">
                <a:solidFill>
                  <a:schemeClr val="bg1"/>
                </a:solidFill>
              </a:rPr>
              <a:t>Post</a:t>
            </a:r>
            <a:r>
              <a:rPr lang="en-US" sz="2799" noProof="1"/>
              <a:t> </a:t>
            </a:r>
            <a:r>
              <a:rPr lang="en-US" sz="2799" noProof="1">
                <a:solidFill>
                  <a:schemeClr val="bg1"/>
                </a:solidFill>
              </a:rPr>
              <a:t>Post</a:t>
            </a:r>
            <a:r>
              <a:rPr lang="en-US" sz="2799" noProof="1"/>
              <a:t> { get; set; }</a:t>
            </a:r>
          </a:p>
          <a:p>
            <a:r>
              <a:rPr lang="en-US" sz="2799" noProof="1"/>
              <a:t>}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6595402" y="2982977"/>
            <a:ext cx="2056864" cy="533606"/>
          </a:xfrm>
          <a:prstGeom prst="wedgeRoundRectCallout">
            <a:avLst>
              <a:gd name="adj1" fmla="val -60442"/>
              <a:gd name="adj2" fmla="val 4202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8649754" y="4143724"/>
            <a:ext cx="1995080" cy="510778"/>
          </a:xfrm>
          <a:prstGeom prst="wedgeRoundRectCallout">
            <a:avLst>
              <a:gd name="adj1" fmla="val -64489"/>
              <a:gd name="adj2" fmla="val 2211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7107932" y="5028478"/>
            <a:ext cx="3180083" cy="599716"/>
          </a:xfrm>
          <a:prstGeom prst="wedgeRoundRectCallout">
            <a:avLst>
              <a:gd name="adj1" fmla="val -54627"/>
              <a:gd name="adj2" fmla="val -4553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Navigation property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E6DEA9D-C952-4CF5-9DA1-D2C0A4A0B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249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Maps a </a:t>
            </a:r>
            <a:r>
              <a:rPr lang="en-US" b="1" dirty="0">
                <a:solidFill>
                  <a:schemeClr val="bg1"/>
                </a:solidFill>
              </a:rPr>
              <a:t>collection</a:t>
            </a:r>
            <a:r>
              <a:rPr lang="en-US" dirty="0"/>
              <a:t> of </a:t>
            </a:r>
            <a:r>
              <a:rPr lang="en-US" b="1" dirty="0">
                <a:solidFill>
                  <a:schemeClr val="bg1"/>
                </a:solidFill>
              </a:rPr>
              <a:t>entities</a:t>
            </a:r>
            <a:r>
              <a:rPr lang="en-US" dirty="0"/>
              <a:t> from a </a:t>
            </a:r>
            <a:r>
              <a:rPr lang="en-US" b="1" dirty="0">
                <a:solidFill>
                  <a:schemeClr val="bg1"/>
                </a:solidFill>
              </a:rPr>
              <a:t>table</a:t>
            </a:r>
          </a:p>
          <a:p>
            <a:r>
              <a:rPr lang="en-US" dirty="0"/>
              <a:t>Set operations: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Add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Attach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Find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contains multiple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DbSet&lt;T&gt;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properties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DbSet</a:t>
            </a:r>
            <a:r>
              <a:rPr lang="en-US" dirty="0"/>
              <a:t> Type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000" y="3429000"/>
            <a:ext cx="7706745" cy="16436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 Placeholder 5"/>
          <p:cNvSpPr txBox="1">
            <a:spLocks/>
          </p:cNvSpPr>
          <p:nvPr/>
        </p:nvSpPr>
        <p:spPr>
          <a:xfrm>
            <a:off x="1821000" y="5589000"/>
            <a:ext cx="7706745" cy="44308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800" b="1">
                <a:latin typeface="Consolas" pitchFamily="49" charset="0"/>
              </a:defRPr>
            </a:lvl1pPr>
          </a:lstStyle>
          <a:p>
            <a:r>
              <a:rPr lang="en-US" sz="2799" noProof="1"/>
              <a:t>public </a:t>
            </a:r>
            <a:r>
              <a:rPr lang="en-US" sz="2799" noProof="1">
                <a:solidFill>
                  <a:schemeClr val="bg1"/>
                </a:solidFill>
              </a:rPr>
              <a:t>DbSet</a:t>
            </a:r>
            <a:r>
              <a:rPr lang="en-US" sz="2799" noProof="1"/>
              <a:t>&lt;Post&gt; Posts { get; set; }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45BC1A0E-9A27-4A83-8E81-D8342BA63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831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500" dirty="0"/>
              <a:t>Usually named after the database,</a:t>
            </a:r>
            <a:r>
              <a:rPr lang="en-US" sz="3500" b="1" noProof="1">
                <a:solidFill>
                  <a:schemeClr val="bg1"/>
                </a:solidFill>
              </a:rPr>
              <a:t> </a:t>
            </a:r>
            <a:r>
              <a:rPr lang="en-US" sz="3500" dirty="0"/>
              <a:t>e.g.,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BlogDbContext</a:t>
            </a:r>
            <a:r>
              <a:rPr lang="en-US" sz="3500" dirty="0"/>
              <a:t>, </a:t>
            </a:r>
            <a:br>
              <a:rPr lang="en-US" sz="3500" dirty="0"/>
            </a:b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ForumDbContext</a:t>
            </a:r>
          </a:p>
          <a:p>
            <a:r>
              <a:rPr lang="en-US" sz="3500" dirty="0"/>
              <a:t>Inherits from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endParaRPr lang="en-US" sz="35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3500" dirty="0"/>
              <a:t>Manages model classes using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DbSet&lt;T&gt;</a:t>
            </a:r>
            <a:r>
              <a:rPr lang="en-US" sz="3500" dirty="0"/>
              <a:t> type</a:t>
            </a:r>
          </a:p>
          <a:p>
            <a:r>
              <a:rPr lang="en-US" sz="3500" dirty="0"/>
              <a:t>Implements </a:t>
            </a:r>
            <a:r>
              <a:rPr lang="en-US" sz="3500" b="1" dirty="0">
                <a:solidFill>
                  <a:schemeClr val="bg1"/>
                </a:solidFill>
              </a:rPr>
              <a:t>identity tracking</a:t>
            </a:r>
            <a:r>
              <a:rPr lang="en-US" sz="3500" dirty="0"/>
              <a:t>, </a:t>
            </a:r>
            <a:r>
              <a:rPr lang="en-US" sz="3500" b="1" dirty="0">
                <a:solidFill>
                  <a:schemeClr val="bg1"/>
                </a:solidFill>
              </a:rPr>
              <a:t>change tracking</a:t>
            </a:r>
          </a:p>
          <a:p>
            <a:r>
              <a:rPr lang="en-US" sz="3500" dirty="0"/>
              <a:t>Provides </a:t>
            </a:r>
            <a:r>
              <a:rPr lang="en-US" sz="3500" b="1" dirty="0">
                <a:solidFill>
                  <a:schemeClr val="bg1"/>
                </a:solidFill>
              </a:rPr>
              <a:t>API</a:t>
            </a:r>
            <a:r>
              <a:rPr lang="en-US" sz="3500" dirty="0"/>
              <a:t> for </a:t>
            </a:r>
            <a:r>
              <a:rPr lang="en-US" sz="3500" b="1" dirty="0">
                <a:solidFill>
                  <a:schemeClr val="bg1"/>
                </a:solidFill>
              </a:rPr>
              <a:t>CRUD</a:t>
            </a:r>
            <a:r>
              <a:rPr lang="en-US" sz="3500" dirty="0"/>
              <a:t> operations and </a:t>
            </a:r>
            <a:r>
              <a:rPr lang="en-US" sz="3500" b="1" dirty="0">
                <a:solidFill>
                  <a:schemeClr val="bg1"/>
                </a:solidFill>
              </a:rPr>
              <a:t>LINQ-based</a:t>
            </a:r>
            <a:r>
              <a:rPr lang="en-US" sz="3500" dirty="0"/>
              <a:t> data access</a:t>
            </a:r>
          </a:p>
          <a:p>
            <a:r>
              <a:rPr lang="en-US" sz="3500" dirty="0"/>
              <a:t>Recommended to be in a separate class library</a:t>
            </a:r>
          </a:p>
          <a:p>
            <a:pPr lvl="1"/>
            <a:r>
              <a:rPr lang="en-US" dirty="0"/>
              <a:t>Don't forget to reference the EF Core library + any providers</a:t>
            </a:r>
          </a:p>
          <a:p>
            <a:r>
              <a:rPr lang="en-US" sz="3500" dirty="0"/>
              <a:t>Use several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sz="3500" dirty="0"/>
              <a:t> if you have too much models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noProof="1"/>
              <a:t>DbContext</a:t>
            </a:r>
            <a:r>
              <a:rPr lang="en-US" dirty="0"/>
              <a:t> Class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9AC524D-58D2-4ADA-B9A2-EDA9E5344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665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</a:t>
            </a:r>
            <a:r>
              <a:rPr lang="en-US" noProof="1"/>
              <a:t>DbContext</a:t>
            </a:r>
            <a:r>
              <a:rPr lang="en-US" dirty="0"/>
              <a:t> Class </a:t>
            </a:r>
            <a:r>
              <a:rPr lang="bg-BG" dirty="0"/>
              <a:t>-</a:t>
            </a:r>
            <a:r>
              <a:rPr lang="en-US" dirty="0"/>
              <a:t> Example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831000" y="2349000"/>
            <a:ext cx="10363676" cy="31997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800" b="1">
                <a:latin typeface="Consolas" pitchFamily="49" charset="0"/>
              </a:defRPr>
            </a:lvl1pPr>
          </a:lstStyle>
          <a:p>
            <a:r>
              <a:rPr lang="en-US" sz="2799" noProof="1"/>
              <a:t>using Microsoft.EntityFrameworkCore;</a:t>
            </a:r>
          </a:p>
          <a:p>
            <a:r>
              <a:rPr lang="en-US" sz="2799" noProof="1"/>
              <a:t>using CodeFirst.Data.Models;</a:t>
            </a:r>
          </a:p>
          <a:p>
            <a:endParaRPr lang="en-US" sz="2799" noProof="1"/>
          </a:p>
          <a:p>
            <a:r>
              <a:rPr lang="en-US" sz="2799" noProof="1"/>
              <a:t>public class </a:t>
            </a:r>
            <a:r>
              <a:rPr lang="en-US" sz="2799" noProof="1">
                <a:solidFill>
                  <a:schemeClr val="bg1"/>
                </a:solidFill>
              </a:rPr>
              <a:t>ForumDbContext</a:t>
            </a:r>
            <a:r>
              <a:rPr lang="en-US" sz="2799" noProof="1"/>
              <a:t> : </a:t>
            </a:r>
            <a:r>
              <a:rPr lang="en-US" sz="2799" noProof="1">
                <a:solidFill>
                  <a:schemeClr val="bg1"/>
                </a:solidFill>
              </a:rPr>
              <a:t>DbContext</a:t>
            </a:r>
          </a:p>
          <a:p>
            <a:r>
              <a:rPr lang="en-US" sz="2799" noProof="1"/>
              <a:t>{</a:t>
            </a:r>
          </a:p>
          <a:p>
            <a:r>
              <a:rPr lang="en-US" sz="2799" noProof="1"/>
              <a:t>  public </a:t>
            </a:r>
            <a:r>
              <a:rPr lang="en-US" sz="2799" noProof="1">
                <a:solidFill>
                  <a:schemeClr val="bg1"/>
                </a:solidFill>
              </a:rPr>
              <a:t>DbSet</a:t>
            </a:r>
            <a:r>
              <a:rPr lang="en-US" sz="2799" noProof="1"/>
              <a:t>&lt;Category&gt; Categories { get; set; }</a:t>
            </a:r>
          </a:p>
          <a:p>
            <a:r>
              <a:rPr lang="en-US" sz="2799" noProof="1"/>
              <a:t>  public </a:t>
            </a:r>
            <a:r>
              <a:rPr lang="en-US" sz="2799" noProof="1">
                <a:solidFill>
                  <a:schemeClr val="bg1"/>
                </a:solidFill>
              </a:rPr>
              <a:t>DbSet</a:t>
            </a:r>
            <a:r>
              <a:rPr lang="en-US" sz="2799" noProof="1"/>
              <a:t>&lt;Post&gt; Posts { get; set; }</a:t>
            </a:r>
          </a:p>
          <a:p>
            <a:r>
              <a:rPr lang="en-US" sz="2799" noProof="1"/>
              <a:t>  public </a:t>
            </a:r>
            <a:r>
              <a:rPr lang="en-US" sz="2799" noProof="1">
                <a:solidFill>
                  <a:schemeClr val="bg1"/>
                </a:solidFill>
              </a:rPr>
              <a:t>DbSet</a:t>
            </a:r>
            <a:r>
              <a:rPr lang="en-US" sz="2799" noProof="1"/>
              <a:t>&lt;User&gt; Users { get; set; }</a:t>
            </a:r>
          </a:p>
          <a:p>
            <a:r>
              <a:rPr lang="en-US" sz="2799" noProof="1"/>
              <a:t>}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7864343" y="1709593"/>
            <a:ext cx="1921658" cy="512006"/>
          </a:xfrm>
          <a:prstGeom prst="wedgeRoundRectCallout">
            <a:avLst>
              <a:gd name="adj1" fmla="val -44022"/>
              <a:gd name="adj2" fmla="val 8944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 Reference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6501000" y="2863696"/>
            <a:ext cx="2745000" cy="510778"/>
          </a:xfrm>
          <a:prstGeom prst="wedgeRoundRectCallout">
            <a:avLst>
              <a:gd name="adj1" fmla="val -58644"/>
              <a:gd name="adj2" fmla="val 645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 Namespace</a:t>
            </a:r>
            <a:endParaRPr lang="bg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D4894965-BB0F-4259-91AC-3D445FAA5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282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545E-F8BC-4D1A-AD4F-8E92B5DFEA4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Reading Data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0553ED1-B30F-48D9-A1C2-45D8A8AD47C8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Querying the DB Using Entity 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11A57-A28D-4CE8-8D2A-D0CF0BE81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356" y="1270577"/>
            <a:ext cx="5303291" cy="267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4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Context</a:t>
            </a:r>
            <a:r>
              <a:rPr lang="en-US" dirty="0"/>
              <a:t> provides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CRUD Operations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A way to </a:t>
            </a:r>
            <a:r>
              <a:rPr lang="en-US" b="1" dirty="0">
                <a:solidFill>
                  <a:schemeClr val="bg1"/>
                </a:solidFill>
              </a:rPr>
              <a:t>access entities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Methods for </a:t>
            </a:r>
            <a:r>
              <a:rPr lang="en-US" b="1" dirty="0">
                <a:solidFill>
                  <a:schemeClr val="bg1"/>
                </a:solidFill>
              </a:rPr>
              <a:t>creating</a:t>
            </a:r>
            <a:r>
              <a:rPr lang="en-US" dirty="0"/>
              <a:t> new entities (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Add()</a:t>
            </a:r>
            <a:r>
              <a:rPr lang="en-US" b="1" noProof="1">
                <a:solidFill>
                  <a:schemeClr val="bg1"/>
                </a:solidFill>
              </a:rPr>
              <a:t> </a:t>
            </a:r>
            <a:r>
              <a:rPr lang="en-US" dirty="0"/>
              <a:t>method)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Ability to </a:t>
            </a:r>
            <a:r>
              <a:rPr lang="en-US" b="1" dirty="0">
                <a:solidFill>
                  <a:schemeClr val="bg1"/>
                </a:solidFill>
              </a:rPr>
              <a:t>manipulate database data by </a:t>
            </a:r>
            <a:r>
              <a:rPr lang="en-US" dirty="0"/>
              <a:t>modifying </a:t>
            </a:r>
            <a:r>
              <a:rPr lang="en-US" b="1" dirty="0">
                <a:solidFill>
                  <a:schemeClr val="bg1"/>
                </a:solidFill>
              </a:rPr>
              <a:t>objects</a:t>
            </a:r>
          </a:p>
          <a:p>
            <a:r>
              <a:rPr lang="en-US" dirty="0"/>
              <a:t>Easily navigate through </a:t>
            </a:r>
            <a:r>
              <a:rPr lang="en-US" b="1" dirty="0">
                <a:solidFill>
                  <a:schemeClr val="bg1"/>
                </a:solidFill>
              </a:rPr>
              <a:t>table relations</a:t>
            </a:r>
          </a:p>
          <a:p>
            <a:r>
              <a:rPr lang="en-US" dirty="0"/>
              <a:t>Executing </a:t>
            </a:r>
            <a:r>
              <a:rPr lang="en-US" b="1" dirty="0">
                <a:solidFill>
                  <a:schemeClr val="bg1"/>
                </a:solidFill>
              </a:rPr>
              <a:t>LINQ queries </a:t>
            </a:r>
            <a:r>
              <a:rPr lang="en-US" dirty="0"/>
              <a:t>as native </a:t>
            </a:r>
            <a:r>
              <a:rPr lang="en-US" b="1" dirty="0">
                <a:solidFill>
                  <a:schemeClr val="bg1"/>
                </a:solidFill>
              </a:rPr>
              <a:t>SQL queries</a:t>
            </a:r>
          </a:p>
          <a:p>
            <a:r>
              <a:rPr lang="en-US" dirty="0"/>
              <a:t>Managing database </a:t>
            </a:r>
            <a:r>
              <a:rPr lang="en-US" b="1" dirty="0">
                <a:solidFill>
                  <a:schemeClr val="bg1"/>
                </a:solidFill>
              </a:rPr>
              <a:t>creation</a:t>
            </a:r>
            <a:r>
              <a:rPr lang="en-US" dirty="0"/>
              <a:t>/</a:t>
            </a:r>
            <a:r>
              <a:rPr lang="en-US" b="1" dirty="0">
                <a:solidFill>
                  <a:schemeClr val="bg1"/>
                </a:solidFill>
              </a:rPr>
              <a:t>deletion</a:t>
            </a:r>
            <a:r>
              <a:rPr lang="en-US" dirty="0"/>
              <a:t>/</a:t>
            </a:r>
            <a:r>
              <a:rPr lang="en-US" b="1" dirty="0">
                <a:solidFill>
                  <a:schemeClr val="bg1"/>
                </a:solidFill>
              </a:rPr>
              <a:t>migration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noProof="1"/>
              <a:t>DbContext </a:t>
            </a:r>
            <a:r>
              <a:rPr lang="en-US" dirty="0"/>
              <a:t>Class</a:t>
            </a:r>
            <a:endParaRPr lang="bg-BG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2680860-9C41-4249-9484-64E406C3F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148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fontScale="92500"/>
          </a:bodyPr>
          <a:lstStyle/>
          <a:p>
            <a:r>
              <a:rPr lang="en-US" sz="3500" dirty="0"/>
              <a:t>First create instance of the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endParaRPr lang="en-US" sz="3500" dirty="0"/>
          </a:p>
          <a:p>
            <a:pPr lvl="1"/>
            <a:endParaRPr lang="en-US" sz="3500" dirty="0"/>
          </a:p>
          <a:p>
            <a:r>
              <a:rPr lang="en-US" sz="3500" dirty="0"/>
              <a:t>In the constructor you can pass a database connection string</a:t>
            </a:r>
          </a:p>
          <a:p>
            <a:pPr>
              <a:buClr>
                <a:schemeClr val="tx1"/>
              </a:buClr>
            </a:pPr>
            <a:r>
              <a:rPr lang="en-US" sz="35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sz="3500" dirty="0"/>
              <a:t> properties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Database</a:t>
            </a:r>
            <a:r>
              <a:rPr lang="en-US" dirty="0"/>
              <a:t> </a:t>
            </a:r>
            <a:r>
              <a:rPr lang="bg-BG" dirty="0"/>
              <a:t>-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EnsureCreated</a:t>
            </a:r>
            <a:r>
              <a:rPr lang="en-US" dirty="0"/>
              <a:t>/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Deleted</a:t>
            </a:r>
            <a:r>
              <a:rPr lang="en-US" dirty="0"/>
              <a:t> methods, DB Connection</a:t>
            </a:r>
          </a:p>
          <a:p>
            <a:pPr lvl="1">
              <a:buClr>
                <a:schemeClr val="tx1"/>
              </a:buClr>
            </a:pP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ChangeTracker</a:t>
            </a:r>
            <a:r>
              <a:rPr lang="en-US" dirty="0"/>
              <a:t> </a:t>
            </a:r>
            <a:r>
              <a:rPr lang="bg-BG" dirty="0"/>
              <a:t>-</a:t>
            </a:r>
            <a:r>
              <a:rPr lang="en-US" dirty="0"/>
              <a:t> Holds info about the </a:t>
            </a:r>
            <a:r>
              <a:rPr lang="en-US" b="1" dirty="0">
                <a:solidFill>
                  <a:schemeClr val="bg1"/>
                </a:solidFill>
              </a:rPr>
              <a:t>automatic change tracker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All entity classes (tables) are listed as properties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e.g.,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DbSet&lt;Employee&gt; Employees { get; set; 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DbContext Class</a:t>
            </a:r>
            <a:endParaRPr lang="bg-BG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741000" y="1944000"/>
            <a:ext cx="64350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var context = new SoftUniDbContext();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A8AD500-2853-48DA-BCFB-B3596F4CB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232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Executing </a:t>
            </a:r>
            <a:r>
              <a:rPr lang="en-US" b="1" dirty="0">
                <a:solidFill>
                  <a:schemeClr val="bg1"/>
                </a:solidFill>
              </a:rPr>
              <a:t>LINQ-to-SQL</a:t>
            </a:r>
            <a:r>
              <a:rPr lang="en-US" dirty="0"/>
              <a:t> query over EF entity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Employees</a:t>
            </a:r>
            <a:r>
              <a:rPr lang="en-US" dirty="0"/>
              <a:t> property in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with LINQ Query</a:t>
            </a:r>
            <a:endParaRPr lang="bg-BG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698700" y="4711532"/>
            <a:ext cx="7605000" cy="175432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public partial class SoftUniEntities : DbContext</a:t>
            </a:r>
          </a:p>
          <a:p>
            <a:pPr>
              <a:lnSpc>
                <a:spcPct val="9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</a:t>
            </a:r>
            <a:r>
              <a:rPr lang="en-US" noProof="1">
                <a:solidFill>
                  <a:schemeClr val="bg1"/>
                </a:solidFill>
                <a:effectLst/>
              </a:rPr>
              <a:t>public DbSet&lt;Employee&gt; Employees { get; set; }</a:t>
            </a:r>
          </a:p>
          <a:p>
            <a:pPr>
              <a:lnSpc>
                <a:spcPct val="9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public DbSet&lt;Project&gt; Projects { get; set; }</a:t>
            </a:r>
          </a:p>
          <a:p>
            <a:pPr>
              <a:lnSpc>
                <a:spcPct val="9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  public DbSet&lt;Department&gt; Departments { get; set; }</a:t>
            </a:r>
          </a:p>
          <a:p>
            <a:pPr>
              <a:lnSpc>
                <a:spcPct val="90000"/>
              </a:lnSpc>
            </a:pPr>
            <a:r>
              <a:rPr lang="en-US" noProof="1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698700" y="1989000"/>
            <a:ext cx="7605000" cy="175432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using (var context = new SoftUniEntities())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var employees = context.Employees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  .Where(e =&gt; e.JobTitle == "Design Engineer")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  .ToArray();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158833" y="3122792"/>
            <a:ext cx="2672167" cy="919401"/>
          </a:xfrm>
          <a:prstGeom prst="wedgeRoundRectCallout">
            <a:avLst>
              <a:gd name="adj1" fmla="val -58448"/>
              <a:gd name="adj2" fmla="val -4665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 translates this to an SQL query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E15429A7-24F9-41C1-AAC6-31CD4D307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4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We can also use </a:t>
            </a:r>
            <a:r>
              <a:rPr lang="en-US" b="1" dirty="0">
                <a:solidFill>
                  <a:schemeClr val="bg1"/>
                </a:solidFill>
              </a:rPr>
              <a:t>extension methods </a:t>
            </a:r>
            <a:r>
              <a:rPr lang="en-US" dirty="0"/>
              <a:t>for constructing the query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 element by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with LINQ Query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709315" y="4626530"/>
            <a:ext cx="7947000" cy="14773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using (var context = new SoftUniEntities())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var project = context.Projects.Find(2);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Console.WriteLine(project.Name);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709315" y="1854000"/>
            <a:ext cx="7947000" cy="20313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using (var context = new SoftUniEntities())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var employees = context.Employees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    .Where(c =&gt; c.JobTitle == "Design Engineering")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    .Select(c =&gt; c.FirstName)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      .ToList();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3396000" y="3333869"/>
            <a:ext cx="4560497" cy="510778"/>
          </a:xfrm>
          <a:prstGeom prst="wedgeRoundRectCallout">
            <a:avLst>
              <a:gd name="adj1" fmla="val -55252"/>
              <a:gd name="adj2" fmla="val -3468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ToList()</a:t>
            </a: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materializes the query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0019209-2496-4628-9BF4-DE58ADB7C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548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7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Where()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Searches by given condition</a:t>
            </a:r>
          </a:p>
          <a:p>
            <a:pPr>
              <a:buClr>
                <a:schemeClr val="tx1"/>
              </a:buClr>
            </a:pP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First()</a:t>
            </a:r>
            <a:r>
              <a:rPr lang="en-US" sz="3500" b="1" noProof="1">
                <a:solidFill>
                  <a:schemeClr val="bg1"/>
                </a:solidFill>
              </a:rPr>
              <a:t>/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Last()</a:t>
            </a:r>
            <a:r>
              <a:rPr lang="en-US" sz="3500" b="1" noProof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3500" noProof="1">
                <a:latin typeface="+mj-lt"/>
              </a:rPr>
              <a:t>/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FirstOrDefault()</a:t>
            </a:r>
            <a:r>
              <a:rPr lang="en-US" sz="3500" b="1" noProof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3500" noProof="1">
                <a:latin typeface="+mj-lt"/>
              </a:rPr>
              <a:t>/</a:t>
            </a:r>
            <a:r>
              <a:rPr lang="en-US" sz="3500" b="1" noProof="1">
                <a:solidFill>
                  <a:schemeClr val="bg1"/>
                </a:solidFill>
                <a:latin typeface="+mj-lt"/>
              </a:rPr>
              <a:t>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LastOrDefault()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Gets the </a:t>
            </a:r>
            <a:r>
              <a:rPr lang="en-US" b="1" dirty="0">
                <a:solidFill>
                  <a:schemeClr val="bg1"/>
                </a:solidFill>
              </a:rPr>
              <a:t>first</a:t>
            </a:r>
            <a:r>
              <a:rPr lang="en-US" dirty="0"/>
              <a:t>/</a:t>
            </a:r>
            <a:r>
              <a:rPr lang="en-US" b="1" dirty="0">
                <a:solidFill>
                  <a:schemeClr val="bg1"/>
                </a:solidFill>
              </a:rPr>
              <a:t>last</a:t>
            </a:r>
            <a:r>
              <a:rPr lang="en-US" dirty="0"/>
              <a:t> element which matches the condition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Throws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InvalidOperationException</a:t>
            </a:r>
            <a:r>
              <a:rPr lang="en-US" dirty="0"/>
              <a:t> without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OrDefault</a:t>
            </a:r>
          </a:p>
          <a:p>
            <a:pPr>
              <a:buClr>
                <a:schemeClr val="tx1"/>
              </a:buClr>
            </a:pP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Select() 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Projects (conversion) collection to another type</a:t>
            </a:r>
          </a:p>
          <a:p>
            <a:pPr>
              <a:buClr>
                <a:schemeClr val="tx1"/>
              </a:buClr>
            </a:pP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OrderBy() </a:t>
            </a:r>
            <a:r>
              <a:rPr lang="en-US" sz="3500" noProof="1"/>
              <a:t>/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ThenBy() </a:t>
            </a:r>
            <a:r>
              <a:rPr lang="en-US" sz="3500" noProof="1"/>
              <a:t>/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OrderByDescending()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Orders a collection</a:t>
            </a:r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LINQ: Simple Operations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B068B44-D036-459B-9AF7-2B66A5533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2661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7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Any()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Checks if any element matches a condition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All()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Checks if all elements match a condition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Distinct()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Returns only unique elements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Skip() </a:t>
            </a:r>
            <a:r>
              <a:rPr lang="en-US" noProof="1"/>
              <a:t>/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Take()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Skips or takes X number of elements</a:t>
            </a:r>
            <a:endParaRPr lang="en-US" noProof="1"/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LINQ: Simple Operations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7E990E0-1E54-4EE9-9844-1E20DBC23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9732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Queries sent to SQL Server can be </a:t>
            </a:r>
            <a:r>
              <a:rPr lang="en-US" b="1" dirty="0">
                <a:solidFill>
                  <a:schemeClr val="bg1"/>
                </a:solidFill>
              </a:rPr>
              <a:t>monitored</a:t>
            </a:r>
            <a:r>
              <a:rPr lang="en-US" dirty="0"/>
              <a:t> with the SQL Server Profiler</a:t>
            </a:r>
          </a:p>
          <a:p>
            <a:pPr lvl="1"/>
            <a:r>
              <a:rPr lang="en-US" dirty="0"/>
              <a:t>Included with the </a:t>
            </a:r>
            <a:r>
              <a:rPr lang="en-US" b="1" dirty="0">
                <a:solidFill>
                  <a:schemeClr val="bg1"/>
                </a:solidFill>
              </a:rPr>
              <a:t>SQL Server </a:t>
            </a:r>
            <a:r>
              <a:rPr lang="en-US" dirty="0"/>
              <a:t>installation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400" dirty="0"/>
              <a:t>Queries can be gotten using the built-in </a:t>
            </a:r>
            <a:r>
              <a:rPr lang="en-US" sz="3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ToQueryString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  <a:r>
              <a:rPr lang="en-US" sz="34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400" dirty="0"/>
              <a:t>method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the Native SQL Queries</a:t>
            </a:r>
            <a:endParaRPr lang="bg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7D0F3-10C4-4895-AD35-77EC9D27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0" y="3249000"/>
            <a:ext cx="6334125" cy="1619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25AECA29-C54C-4525-9691-360B5AD59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FB62CC4-1FE7-44B3-9DD0-060AD818E222}"/>
              </a:ext>
            </a:extLst>
          </p:cNvPr>
          <p:cNvSpPr txBox="1">
            <a:spLocks/>
          </p:cNvSpPr>
          <p:nvPr/>
        </p:nvSpPr>
        <p:spPr>
          <a:xfrm>
            <a:off x="696000" y="6387918"/>
            <a:ext cx="9630000" cy="3693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nsolas" pitchFamily="49" charset="0"/>
                <a:cs typeface="Consolas" pitchFamily="49" charset="0"/>
              </a:rPr>
              <a:t>db.Courses.Where(x =&gt; x.Title == "EF Core")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.ToQueryString()</a:t>
            </a:r>
          </a:p>
        </p:txBody>
      </p:sp>
    </p:spTree>
    <p:extLst>
      <p:ext uri="{BB962C8B-B14F-4D97-AF65-F5344CB8AC3E}">
        <p14:creationId xmlns:p14="http://schemas.microsoft.com/office/powerpoint/2010/main" val="111341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1C4E1C-B768-4DA4-9F84-F1BED002E36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CRUD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398" y="1676856"/>
            <a:ext cx="3351927" cy="1761360"/>
          </a:xfrm>
          <a:prstGeom prst="rect">
            <a:avLst/>
          </a:prstGeom>
          <a:noFill/>
          <a:ln w="12700">
            <a:noFill/>
          </a:ln>
          <a:scene3d>
            <a:camera prst="perspectiveHeroicExtremeRightFacing"/>
            <a:lightRig rig="threePt" dir="t"/>
          </a:scene3d>
        </p:spPr>
        <p:txBody>
          <a:bodyPr vert="horz" wrap="square" lIns="143963" tIns="107972" rIns="143963" bIns="107972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9597" b="1" i="1" dirty="0">
                <a:solidFill>
                  <a:schemeClr val="bg2"/>
                </a:solidFill>
              </a:rPr>
              <a:t>CRUD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6B1CAD4-C451-4DAF-8FCC-8CA2B1E4F91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With Entity Framework</a:t>
            </a:r>
          </a:p>
        </p:txBody>
      </p:sp>
    </p:spTree>
    <p:extLst>
      <p:ext uri="{BB962C8B-B14F-4D97-AF65-F5344CB8AC3E}">
        <p14:creationId xmlns:p14="http://schemas.microsoft.com/office/powerpoint/2010/main" val="222120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noProof="1"/>
              <a:t>To create a new database table row use the method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Add(…)</a:t>
            </a:r>
            <a:r>
              <a:rPr lang="en-US" b="1" noProof="1">
                <a:solidFill>
                  <a:schemeClr val="bg1"/>
                </a:solidFill>
                <a:latin typeface="+mj-lt"/>
              </a:rPr>
              <a:t> </a:t>
            </a:r>
            <a:r>
              <a:rPr lang="en-US" noProof="1"/>
              <a:t>of the </a:t>
            </a:r>
            <a:r>
              <a:rPr lang="en-US" dirty="0"/>
              <a:t>corresponding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  <a:endParaRPr lang="en-US" noProof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Data</a:t>
            </a:r>
            <a:endParaRPr lang="bg-BG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758387" y="2723768"/>
            <a:ext cx="8687713" cy="353850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99" b="1" noProof="1">
                <a:latin typeface="Consolas" pitchFamily="49" charset="0"/>
                <a:cs typeface="Consolas" pitchFamily="49" charset="0"/>
              </a:rPr>
              <a:t>var project = new Project()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99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99" b="1" noProof="1">
                <a:latin typeface="Consolas" pitchFamily="49" charset="0"/>
                <a:cs typeface="Consolas" pitchFamily="49" charset="0"/>
              </a:rPr>
              <a:t>  Name = "Judge System",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99" b="1" noProof="1">
                <a:latin typeface="Consolas" pitchFamily="49" charset="0"/>
                <a:cs typeface="Consolas" pitchFamily="49" charset="0"/>
              </a:rPr>
              <a:t>  StartDate = new DateTime(20</a:t>
            </a:r>
            <a:r>
              <a:rPr lang="bg-BG" sz="2799" b="1" noProof="1">
                <a:latin typeface="Consolas" pitchFamily="49" charset="0"/>
                <a:cs typeface="Consolas" pitchFamily="49" charset="0"/>
              </a:rPr>
              <a:t>23</a:t>
            </a:r>
            <a:r>
              <a:rPr lang="en-US" sz="2799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bg-BG" sz="2799" b="1" noProof="1">
                <a:latin typeface="Consolas" pitchFamily="49" charset="0"/>
                <a:cs typeface="Consolas" pitchFamily="49" charset="0"/>
              </a:rPr>
              <a:t>1,</a:t>
            </a:r>
            <a:r>
              <a:rPr lang="en-US" sz="2799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bg-BG" sz="2799" b="1" noProof="1">
                <a:latin typeface="Consolas" pitchFamily="49" charset="0"/>
                <a:cs typeface="Consolas" pitchFamily="49" charset="0"/>
              </a:rPr>
              <a:t>26</a:t>
            </a:r>
            <a:r>
              <a:rPr lang="en-US" sz="2799" b="1" noProof="1">
                <a:latin typeface="Consolas" pitchFamily="49" charset="0"/>
                <a:cs typeface="Consolas" pitchFamily="49" charset="0"/>
              </a:rPr>
              <a:t>),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99" b="1" noProof="1">
                <a:latin typeface="Consolas" pitchFamily="49" charset="0"/>
                <a:cs typeface="Consolas" pitchFamily="49" charset="0"/>
              </a:rPr>
              <a:t>};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799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99" b="1" noProof="1">
                <a:latin typeface="Consolas" pitchFamily="49" charset="0"/>
                <a:cs typeface="Consolas" pitchFamily="49" charset="0"/>
              </a:rPr>
              <a:t>context.Projects.Add(project);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799" b="1" noProof="1">
                <a:latin typeface="Consolas" pitchFamily="49" charset="0"/>
                <a:cs typeface="Consolas" pitchFamily="49" charset="0"/>
              </a:rPr>
              <a:t>context.SaveChanges();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1753731" y="5523954"/>
            <a:ext cx="8684538" cy="1104612"/>
          </a:xfrm>
          <a:prstGeom prst="rect">
            <a:avLst/>
          </a:prstGeom>
        </p:spPr>
        <p:txBody>
          <a:bodyPr/>
          <a:lstStyle>
            <a:lvl1pPr marL="282575" indent="-282575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bg-BG" sz="3199" dirty="0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551143" y="6026254"/>
            <a:ext cx="3354857" cy="510778"/>
          </a:xfrm>
          <a:prstGeom prst="wedgeRoundRectCallout">
            <a:avLst>
              <a:gd name="adj1" fmla="val -59756"/>
              <a:gd name="adj2" fmla="val -409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 SQL statements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7311000" y="1747482"/>
            <a:ext cx="2069658" cy="1328023"/>
          </a:xfrm>
          <a:prstGeom prst="wedgeRoundRectCallout">
            <a:avLst>
              <a:gd name="adj1" fmla="val -57436"/>
              <a:gd name="adj2" fmla="val 4025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new</a:t>
            </a:r>
            <a:r>
              <a:rPr lang="en-US" sz="2400" b="1" noProof="1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Project</a:t>
            </a:r>
            <a:r>
              <a:rPr lang="en-US" sz="2400" b="1" noProof="1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6906000" y="4931231"/>
            <a:ext cx="3836388" cy="510778"/>
          </a:xfrm>
          <a:prstGeom prst="wedgeRoundRectCallout">
            <a:avLst>
              <a:gd name="adj1" fmla="val -53061"/>
              <a:gd name="adj2" fmla="val 4328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the object to the </a:t>
            </a:r>
            <a:r>
              <a:rPr lang="en-US" sz="24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DbSet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E9CD83BB-0D9E-4667-AE8C-2324B143D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9735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We can also add cascading entities to the database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Project</a:t>
            </a:r>
            <a:r>
              <a:rPr lang="en-US" dirty="0"/>
              <a:t> will be added when 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Employee</a:t>
            </a:r>
            <a:r>
              <a:rPr lang="en-US" dirty="0"/>
              <a:t> entity </a:t>
            </a:r>
            <a:br>
              <a:rPr lang="en-US" dirty="0"/>
            </a:br>
            <a:r>
              <a:rPr lang="en-US" dirty="0"/>
              <a:t>(employee) is inserted to the database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Inserts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419784" y="2034000"/>
            <a:ext cx="11352432" cy="23723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19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5000"/>
              </a:lnSpc>
            </a:pPr>
            <a:r>
              <a:rPr lang="en-US" sz="2599" noProof="1">
                <a:solidFill>
                  <a:schemeClr val="tx1"/>
                </a:solidFill>
                <a:effectLst/>
              </a:rPr>
              <a:t>Employee employee = new Employee();</a:t>
            </a:r>
          </a:p>
          <a:p>
            <a:pPr>
              <a:lnSpc>
                <a:spcPct val="95000"/>
              </a:lnSpc>
            </a:pPr>
            <a:r>
              <a:rPr lang="en-US" sz="2599" noProof="1">
                <a:solidFill>
                  <a:schemeClr val="tx1"/>
                </a:solidFill>
                <a:effectLst/>
              </a:rPr>
              <a:t>employee.FirstName = </a:t>
            </a:r>
            <a:r>
              <a:rPr lang="bg-BG" sz="2599" noProof="1">
                <a:solidFill>
                  <a:schemeClr val="tx1"/>
                </a:solidFill>
                <a:effectLst/>
              </a:rPr>
              <a:t>"</a:t>
            </a:r>
            <a:r>
              <a:rPr lang="en-US" sz="2599" noProof="1">
                <a:solidFill>
                  <a:schemeClr val="tx1"/>
                </a:solidFill>
                <a:effectLst/>
              </a:rPr>
              <a:t>John";</a:t>
            </a:r>
          </a:p>
          <a:p>
            <a:pPr>
              <a:lnSpc>
                <a:spcPct val="95000"/>
              </a:lnSpc>
            </a:pPr>
            <a:r>
              <a:rPr lang="en-US" sz="2599" noProof="1">
                <a:solidFill>
                  <a:schemeClr val="tx1"/>
                </a:solidFill>
                <a:effectLst/>
              </a:rPr>
              <a:t>employee.LastName = "Doe";</a:t>
            </a:r>
          </a:p>
          <a:p>
            <a:pPr>
              <a:lnSpc>
                <a:spcPct val="95000"/>
              </a:lnSpc>
            </a:pPr>
            <a:r>
              <a:rPr lang="en-US" sz="2599" noProof="1">
                <a:solidFill>
                  <a:schemeClr val="bg1"/>
                </a:solidFill>
                <a:effectLst/>
              </a:rPr>
              <a:t>employee.Projects.Add(new Project { Name = "SoftUni Conf"} ); </a:t>
            </a:r>
          </a:p>
          <a:p>
            <a:pPr>
              <a:lnSpc>
                <a:spcPct val="95000"/>
              </a:lnSpc>
            </a:pPr>
            <a:r>
              <a:rPr lang="en-US" sz="2599" noProof="1">
                <a:solidFill>
                  <a:schemeClr val="tx1"/>
                </a:solidFill>
                <a:effectLst/>
              </a:rPr>
              <a:t>softUniEntities.Employees.Add(employee);</a:t>
            </a:r>
          </a:p>
          <a:p>
            <a:pPr>
              <a:lnSpc>
                <a:spcPct val="95000"/>
              </a:lnSpc>
            </a:pPr>
            <a:r>
              <a:rPr lang="en-US" sz="2599" noProof="1">
                <a:solidFill>
                  <a:schemeClr val="tx1"/>
                </a:solidFill>
                <a:effectLst/>
              </a:rPr>
              <a:t>softUniEntities.SaveChanges();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65651D2-EC22-4426-ABD2-49503E09A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17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allows modifying entity properties and persisting </a:t>
            </a:r>
            <a:br>
              <a:rPr lang="en-US" dirty="0"/>
            </a:br>
            <a:r>
              <a:rPr lang="en-US" dirty="0"/>
              <a:t>them in the database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Just load an entity, modify it and call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SaveChanges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automatically tracks all changes made on its </a:t>
            </a:r>
            <a:br>
              <a:rPr lang="en-US" dirty="0"/>
            </a:br>
            <a:r>
              <a:rPr lang="en-US" dirty="0"/>
              <a:t>entity objects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Existing Data</a:t>
            </a:r>
            <a:endParaRPr lang="bg-BG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741000" y="4408365"/>
            <a:ext cx="6780034" cy="16923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Employees employee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  softUniEntities.Employees.First();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employees.FirstName = "Alex";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context.SaveChanges();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5083268" y="5897614"/>
            <a:ext cx="2088502" cy="919401"/>
          </a:xfrm>
          <a:prstGeom prst="wedgeRoundRectCallout">
            <a:avLst>
              <a:gd name="adj1" fmla="val -58872"/>
              <a:gd name="adj2" fmla="val -5209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 an SQL UPDATE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7521035" y="4193078"/>
            <a:ext cx="2090215" cy="919401"/>
          </a:xfrm>
          <a:prstGeom prst="wedgeRoundRectCallout">
            <a:avLst>
              <a:gd name="adj1" fmla="val -55927"/>
              <a:gd name="adj2" fmla="val 3810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the first order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4FE9F33E-20B6-4D02-8491-E72323D32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200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Delete is done by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latin typeface="+mj-lt"/>
              </a:rPr>
              <a:t> </a:t>
            </a:r>
            <a:r>
              <a:rPr lang="en-US" dirty="0"/>
              <a:t>on the specified entity collection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SaveChanges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method performs the delete action in </a:t>
            </a:r>
            <a:br>
              <a:rPr lang="bg-BG" dirty="0"/>
            </a:br>
            <a:r>
              <a:rPr lang="en-US" dirty="0"/>
              <a:t>the database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Existing Data</a:t>
            </a:r>
            <a:endParaRPr lang="bg-BG" dirty="0"/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763390" y="3367200"/>
            <a:ext cx="8075097" cy="200002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Employees employee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  softUniEntities.Employees.First();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softUniEntities.Employees.</a:t>
            </a:r>
            <a:r>
              <a:rPr lang="en-US" sz="2599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Remove</a:t>
            </a:r>
            <a:r>
              <a:rPr lang="en-US" sz="2599" b="1" noProof="1">
                <a:latin typeface="Consolas" pitchFamily="49" charset="0"/>
                <a:cs typeface="Consolas" pitchFamily="49" charset="0"/>
              </a:rPr>
              <a:t>(employee);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599" b="1" noProof="1">
                <a:latin typeface="Consolas" pitchFamily="49" charset="0"/>
                <a:cs typeface="Consolas" pitchFamily="49" charset="0"/>
              </a:rPr>
              <a:t>softUniEntities.</a:t>
            </a:r>
            <a:r>
              <a:rPr lang="en-US" sz="2599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SaveChanges</a:t>
            </a:r>
            <a:r>
              <a:rPr lang="en-US" sz="2599" b="1" noProof="1">
                <a:latin typeface="Consolas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718260" y="3436678"/>
            <a:ext cx="3828481" cy="919401"/>
          </a:xfrm>
          <a:prstGeom prst="wedgeRoundRectCallout">
            <a:avLst>
              <a:gd name="adj1" fmla="val -53507"/>
              <a:gd name="adj2" fmla="val 4941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 the entity for deleting at the next save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6553081" y="5120192"/>
            <a:ext cx="3415314" cy="919401"/>
          </a:xfrm>
          <a:prstGeom prst="wedgeRoundRectCallout">
            <a:avLst>
              <a:gd name="adj1" fmla="val -56428"/>
              <a:gd name="adj2" fmla="val -3723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 the SQL DELETE command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37921EC-4646-4EC0-AC62-72B7327EE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656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10C76D-52EF-4522-BD43-81B59705CD7D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EF Core Configuration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673970" y="1470773"/>
            <a:ext cx="2844060" cy="2834731"/>
            <a:chOff x="4656666" y="1419461"/>
            <a:chExt cx="2844801" cy="283546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6666" y="1419461"/>
              <a:ext cx="2184400" cy="218440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3124" y="1992339"/>
              <a:ext cx="2298343" cy="2262591"/>
            </a:xfrm>
            <a:prstGeom prst="rect">
              <a:avLst/>
            </a:prstGeom>
          </p:spPr>
        </p:pic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FEDAB4E4-54C3-4373-AB4C-FC672080C9D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NuGet Packages, Configuration</a:t>
            </a:r>
          </a:p>
        </p:txBody>
      </p:sp>
    </p:spTree>
    <p:extLst>
      <p:ext uri="{BB962C8B-B14F-4D97-AF65-F5344CB8AC3E}">
        <p14:creationId xmlns:p14="http://schemas.microsoft.com/office/powerpoint/2010/main" val="87510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96766" y="1212411"/>
            <a:ext cx="10129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Code First </a:t>
            </a:r>
            <a:r>
              <a:rPr lang="en-US" dirty="0"/>
              <a:t>means to write the .NET classes and let </a:t>
            </a:r>
            <a:br>
              <a:rPr lang="en-US" dirty="0"/>
            </a:br>
            <a:r>
              <a:rPr lang="en-US" dirty="0"/>
              <a:t>EF Core create the </a:t>
            </a:r>
            <a:r>
              <a:rPr lang="en-US" b="1" dirty="0">
                <a:solidFill>
                  <a:schemeClr val="bg1"/>
                </a:solidFill>
              </a:rPr>
              <a:t>database</a:t>
            </a:r>
            <a:r>
              <a:rPr lang="en-US" dirty="0"/>
              <a:t> from the </a:t>
            </a:r>
            <a:r>
              <a:rPr lang="en-US" b="1" dirty="0">
                <a:solidFill>
                  <a:schemeClr val="bg1"/>
                </a:solidFill>
              </a:rPr>
              <a:t>mappings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Code First Model?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791" y="2691779"/>
            <a:ext cx="3709034" cy="3430578"/>
          </a:xfrm>
          <a:prstGeom prst="roundRect">
            <a:avLst>
              <a:gd name="adj" fmla="val 1465"/>
            </a:avLst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39027"/>
          <a:stretch/>
        </p:blipFill>
        <p:spPr>
          <a:xfrm>
            <a:off x="7014106" y="3048477"/>
            <a:ext cx="4170692" cy="2717181"/>
          </a:xfrm>
          <a:prstGeom prst="roundRect">
            <a:avLst>
              <a:gd name="adj" fmla="val 1465"/>
            </a:avLst>
          </a:prstGeom>
        </p:spPr>
      </p:pic>
      <p:sp>
        <p:nvSpPr>
          <p:cNvPr id="7" name="Arrow: Right 6"/>
          <p:cNvSpPr/>
          <p:nvPr/>
        </p:nvSpPr>
        <p:spPr>
          <a:xfrm>
            <a:off x="6526341" y="4031285"/>
            <a:ext cx="457081" cy="37578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FCD49CD-A1E0-484C-B702-9C38E7E1A6F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39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Write code </a:t>
            </a:r>
            <a:r>
              <a:rPr lang="en-US" b="1" dirty="0">
                <a:solidFill>
                  <a:schemeClr val="bg1"/>
                </a:solidFill>
              </a:rPr>
              <a:t>without</a:t>
            </a:r>
            <a:r>
              <a:rPr lang="en-US" dirty="0"/>
              <a:t> having to define </a:t>
            </a:r>
            <a:r>
              <a:rPr lang="en-US" b="1" dirty="0">
                <a:solidFill>
                  <a:schemeClr val="bg1"/>
                </a:solidFill>
              </a:rPr>
              <a:t>mappings</a:t>
            </a:r>
            <a:r>
              <a:rPr lang="en-US" dirty="0"/>
              <a:t> in XML or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create</a:t>
            </a:r>
            <a:r>
              <a:rPr lang="en-US" dirty="0"/>
              <a:t> database </a:t>
            </a:r>
            <a:r>
              <a:rPr lang="en-US" b="1" dirty="0">
                <a:solidFill>
                  <a:schemeClr val="bg1"/>
                </a:solidFill>
              </a:rPr>
              <a:t>tables</a:t>
            </a:r>
          </a:p>
          <a:p>
            <a:r>
              <a:rPr lang="en-US" dirty="0"/>
              <a:t>Define objects in </a:t>
            </a:r>
            <a:r>
              <a:rPr lang="en-US" b="1" dirty="0">
                <a:solidFill>
                  <a:schemeClr val="bg1"/>
                </a:solidFill>
              </a:rPr>
              <a:t>C# format</a:t>
            </a:r>
          </a:p>
          <a:p>
            <a:r>
              <a:rPr lang="en-US" dirty="0"/>
              <a:t>Enables database persistence with no configuration</a:t>
            </a:r>
          </a:p>
          <a:p>
            <a:r>
              <a:rPr lang="en-US" dirty="0"/>
              <a:t>Changes to code can be </a:t>
            </a:r>
            <a:r>
              <a:rPr lang="en-US" b="1" dirty="0">
                <a:solidFill>
                  <a:schemeClr val="bg1"/>
                </a:solidFill>
              </a:rPr>
              <a:t>reflected</a:t>
            </a:r>
            <a:r>
              <a:rPr lang="en-US" dirty="0"/>
              <a:t> (migrated) in the schema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 Annotations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Fluent API </a:t>
            </a:r>
            <a:r>
              <a:rPr lang="en-US" dirty="0"/>
              <a:t>describe properties</a:t>
            </a:r>
          </a:p>
          <a:p>
            <a:pPr lvl="1"/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Key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Required</a:t>
            </a:r>
            <a:r>
              <a:rPr lang="en-US" dirty="0"/>
              <a:t>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MinLength</a:t>
            </a:r>
            <a:r>
              <a:rPr lang="en-US" dirty="0"/>
              <a:t>,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Code First?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8591E10-B3CE-44A1-8413-F16238208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96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dirty="0"/>
              <a:t>To add EF Core support to a project in Visual Studio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sz="3400" dirty="0"/>
              <a:t>Install it from </a:t>
            </a:r>
            <a:r>
              <a:rPr lang="en-US" sz="3400" b="1" dirty="0">
                <a:solidFill>
                  <a:schemeClr val="bg1"/>
                </a:solidFill>
              </a:rPr>
              <a:t>Package Manager Console</a:t>
            </a:r>
          </a:p>
          <a:p>
            <a:pPr lvl="1"/>
            <a:endParaRPr lang="en-US" dirty="0"/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sz="3400" dirty="0"/>
              <a:t>Or using </a:t>
            </a:r>
            <a:r>
              <a:rPr lang="en-US" sz="3400" b="1" dirty="0">
                <a:solidFill>
                  <a:schemeClr val="bg1"/>
                </a:solidFill>
              </a:rPr>
              <a:t>.NET Core CLI</a:t>
            </a:r>
          </a:p>
          <a:p>
            <a:pPr lvl="1"/>
            <a:endParaRPr lang="en-US" dirty="0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dirty="0"/>
              <a:t>EF Core is modular – any </a:t>
            </a:r>
            <a:r>
              <a:rPr lang="en-US" sz="3600" b="1" dirty="0">
                <a:solidFill>
                  <a:schemeClr val="bg1"/>
                </a:solidFill>
              </a:rPr>
              <a:t>data providers </a:t>
            </a:r>
            <a:r>
              <a:rPr lang="en-US" sz="3600" dirty="0"/>
              <a:t>must be </a:t>
            </a:r>
            <a:br>
              <a:rPr lang="en-US" sz="3600" dirty="0"/>
            </a:br>
            <a:r>
              <a:rPr lang="en-US" sz="3600" dirty="0"/>
              <a:t>installed too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First with EF Core: Setup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035EBD2-3BA3-4963-9819-A1E7C3CCB42E}"/>
              </a:ext>
            </a:extLst>
          </p:cNvPr>
          <p:cNvSpPr txBox="1">
            <a:spLocks/>
          </p:cNvSpPr>
          <p:nvPr/>
        </p:nvSpPr>
        <p:spPr>
          <a:xfrm>
            <a:off x="876000" y="2718684"/>
            <a:ext cx="10530000" cy="4181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800" b="1">
                <a:latin typeface="Consolas" pitchFamily="49" charset="0"/>
              </a:defRPr>
            </a:lvl1pPr>
          </a:lstStyle>
          <a:p>
            <a:r>
              <a:rPr lang="en-US" sz="2500" noProof="1"/>
              <a:t>Install-Package Microsoft.EntityFrameworkCore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4E9A0-501F-4DC6-9C6C-30D28D50FF30}"/>
              </a:ext>
            </a:extLst>
          </p:cNvPr>
          <p:cNvSpPr txBox="1">
            <a:spLocks/>
          </p:cNvSpPr>
          <p:nvPr/>
        </p:nvSpPr>
        <p:spPr>
          <a:xfrm>
            <a:off x="887280" y="6039000"/>
            <a:ext cx="10513008" cy="3931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800" b="1">
                <a:latin typeface="Consolas" pitchFamily="49" charset="0"/>
              </a:defRPr>
            </a:lvl1pPr>
          </a:lstStyle>
          <a:p>
            <a:r>
              <a:rPr lang="en-US" sz="2400" noProof="1"/>
              <a:t>Microsoft.EntityFrameworkCore.SqlServer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85C7E8C-CD64-4D28-89FB-1E985EDEA45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115AE68-D9D3-4355-9932-DD6BF1327F16}"/>
              </a:ext>
            </a:extLst>
          </p:cNvPr>
          <p:cNvSpPr txBox="1">
            <a:spLocks/>
          </p:cNvSpPr>
          <p:nvPr/>
        </p:nvSpPr>
        <p:spPr>
          <a:xfrm>
            <a:off x="870288" y="4104000"/>
            <a:ext cx="10530000" cy="4056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500" b="1">
                <a:latin typeface="Consolas" pitchFamily="49" charset="0"/>
              </a:defRPr>
            </a:lvl1pPr>
          </a:lstStyle>
          <a:p>
            <a:r>
              <a:rPr lang="en-US" noProof="1"/>
              <a:t>dotnet add package Microsoft.EntityFrameworkCore</a:t>
            </a:r>
          </a:p>
        </p:txBody>
      </p:sp>
    </p:spTree>
    <p:extLst>
      <p:ext uri="{BB962C8B-B14F-4D97-AF65-F5344CB8AC3E}">
        <p14:creationId xmlns:p14="http://schemas.microsoft.com/office/powerpoint/2010/main" val="226357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3199" dirty="0"/>
              <a:t>One way to connect is to create a </a:t>
            </a:r>
            <a:r>
              <a:rPr lang="en-US" sz="3199" b="1" dirty="0">
                <a:solidFill>
                  <a:schemeClr val="bg1"/>
                </a:solidFill>
                <a:latin typeface="Consolas" panose="020B0609020204030204" pitchFamily="49" charset="0"/>
              </a:rPr>
              <a:t>Configuration</a:t>
            </a:r>
            <a:r>
              <a:rPr lang="en-US" sz="3199" dirty="0"/>
              <a:t> class with your </a:t>
            </a:r>
            <a:br>
              <a:rPr lang="en-US" sz="3199" dirty="0"/>
            </a:br>
            <a:r>
              <a:rPr lang="en-US" sz="3199" dirty="0"/>
              <a:t>connection string</a:t>
            </a:r>
          </a:p>
          <a:p>
            <a:endParaRPr lang="en-US" sz="3199" dirty="0"/>
          </a:p>
          <a:p>
            <a:endParaRPr lang="en-US" sz="3199" dirty="0"/>
          </a:p>
          <a:p>
            <a:r>
              <a:rPr lang="en-US" sz="3199" dirty="0"/>
              <a:t>Then add the connection string in the </a:t>
            </a:r>
            <a:r>
              <a:rPr lang="en-US" sz="3199" b="1" noProof="1">
                <a:solidFill>
                  <a:schemeClr val="bg1"/>
                </a:solidFill>
                <a:latin typeface="Consolas" panose="020B0609020204030204" pitchFamily="49" charset="0"/>
              </a:rPr>
              <a:t>OnConfiguring</a:t>
            </a:r>
            <a:r>
              <a:rPr lang="en-US" sz="3199" dirty="0"/>
              <a:t> method in </a:t>
            </a:r>
            <a:br>
              <a:rPr lang="en-US" sz="3199" dirty="0"/>
            </a:br>
            <a:r>
              <a:rPr lang="en-US" sz="3199" dirty="0"/>
              <a:t>the </a:t>
            </a:r>
            <a:r>
              <a:rPr lang="en-US" sz="3199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sz="3199" dirty="0"/>
              <a:t> class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 to SQL Server?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586145" y="2394000"/>
            <a:ext cx="10115072" cy="118051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800" b="1">
                <a:latin typeface="Consolas" pitchFamily="49" charset="0"/>
              </a:defRPr>
            </a:lvl1pPr>
          </a:lstStyle>
          <a:p>
            <a:r>
              <a:rPr lang="en-US" sz="2200" noProof="1"/>
              <a:t>public static class </a:t>
            </a:r>
            <a:r>
              <a:rPr lang="en-US" sz="2200" noProof="1">
                <a:solidFill>
                  <a:schemeClr val="bg1"/>
                </a:solidFill>
              </a:rPr>
              <a:t>Configuration</a:t>
            </a:r>
          </a:p>
          <a:p>
            <a:r>
              <a:rPr lang="en-US" sz="2200" noProof="1"/>
              <a:t>{</a:t>
            </a:r>
          </a:p>
          <a:p>
            <a:r>
              <a:rPr lang="en-US" sz="2200" noProof="1"/>
              <a:t>  public const string </a:t>
            </a:r>
            <a:r>
              <a:rPr lang="en-US" sz="2200" noProof="1">
                <a:solidFill>
                  <a:schemeClr val="bg1"/>
                </a:solidFill>
              </a:rPr>
              <a:t>ConnectionString</a:t>
            </a:r>
            <a:r>
              <a:rPr lang="en-US" sz="2200" noProof="1"/>
              <a:t> = "Server=.;Database=…;";</a:t>
            </a:r>
          </a:p>
          <a:p>
            <a:r>
              <a:rPr lang="en-US" sz="2200" noProof="1"/>
              <a:t>}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83422" y="5055641"/>
            <a:ext cx="11025156" cy="145135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800" b="1">
                <a:latin typeface="Consolas" pitchFamily="49" charset="0"/>
              </a:defRPr>
            </a:lvl1pPr>
          </a:lstStyle>
          <a:p>
            <a:r>
              <a:rPr lang="en-US" sz="2200" noProof="1"/>
              <a:t>protected override void </a:t>
            </a:r>
            <a:r>
              <a:rPr lang="en-US" sz="2200" noProof="1">
                <a:solidFill>
                  <a:schemeClr val="bg1"/>
                </a:solidFill>
              </a:rPr>
              <a:t>OnConfiguring</a:t>
            </a:r>
            <a:r>
              <a:rPr lang="en-US" sz="2200" noProof="1"/>
              <a:t>(DbContextOptionsBuilder builder)</a:t>
            </a:r>
          </a:p>
          <a:p>
            <a:r>
              <a:rPr lang="en-US" sz="2200" noProof="1"/>
              <a:t>{</a:t>
            </a:r>
          </a:p>
          <a:p>
            <a:r>
              <a:rPr lang="en-US" sz="2200" noProof="1"/>
              <a:t>  if (!builder.IsConfigured)</a:t>
            </a:r>
          </a:p>
          <a:p>
            <a:r>
              <a:rPr lang="en-US" sz="2200" noProof="1"/>
              <a:t>    builder.UseSqlServer(Configuration.ConnectionString);</a:t>
            </a:r>
          </a:p>
          <a:p>
            <a:r>
              <a:rPr lang="en-US" sz="2200" noProof="1"/>
              <a:t>}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3818B6C-4155-4AE0-B63F-66C89C1B3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568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32999-B877-4851-A9CB-CD9073CBC00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OnModelCreating</a:t>
            </a:r>
            <a:r>
              <a:rPr lang="en-US" dirty="0"/>
              <a:t> method let us use the Fluent API to </a:t>
            </a:r>
            <a:br>
              <a:rPr lang="en-US" dirty="0"/>
            </a:br>
            <a:r>
              <a:rPr lang="en-US" dirty="0"/>
              <a:t>describe our </a:t>
            </a:r>
            <a:r>
              <a:rPr lang="en-US" b="1" dirty="0">
                <a:solidFill>
                  <a:schemeClr val="bg1"/>
                </a:solidFill>
              </a:rPr>
              <a:t>table relations </a:t>
            </a:r>
            <a:r>
              <a:rPr lang="en-US" dirty="0"/>
              <a:t>to </a:t>
            </a:r>
            <a:r>
              <a:rPr lang="en-US" b="1" dirty="0">
                <a:solidFill>
                  <a:schemeClr val="bg1"/>
                </a:solidFill>
              </a:rPr>
              <a:t>EF Core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C5DEF9-56C2-410C-BADD-7FEC4354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Fluent API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2D6F74A-7526-4411-A88F-DC0BA7C3D4E3}"/>
              </a:ext>
            </a:extLst>
          </p:cNvPr>
          <p:cNvSpPr txBox="1">
            <a:spLocks/>
          </p:cNvSpPr>
          <p:nvPr/>
        </p:nvSpPr>
        <p:spPr>
          <a:xfrm>
            <a:off x="696000" y="2529000"/>
            <a:ext cx="9621429" cy="38889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800" b="1">
                <a:latin typeface="Consolas" pitchFamily="49" charset="0"/>
              </a:defRPr>
            </a:lvl1pPr>
          </a:lstStyle>
          <a:p>
            <a:r>
              <a:rPr lang="en-US" sz="2200" noProof="1"/>
              <a:t>protected </a:t>
            </a:r>
            <a:r>
              <a:rPr lang="en-US" sz="2200" noProof="1">
                <a:solidFill>
                  <a:schemeClr val="bg1"/>
                </a:solidFill>
              </a:rPr>
              <a:t>override</a:t>
            </a:r>
            <a:r>
              <a:rPr lang="en-US" sz="2200" noProof="1"/>
              <a:t> void </a:t>
            </a:r>
            <a:r>
              <a:rPr lang="en-US" sz="2200" noProof="1">
                <a:solidFill>
                  <a:schemeClr val="bg1"/>
                </a:solidFill>
              </a:rPr>
              <a:t>OnModelCreating</a:t>
            </a:r>
            <a:r>
              <a:rPr lang="en-US" sz="2200" noProof="1"/>
              <a:t>(</a:t>
            </a:r>
            <a:r>
              <a:rPr lang="en-US" sz="2200" noProof="1">
                <a:solidFill>
                  <a:schemeClr val="bg1"/>
                </a:solidFill>
              </a:rPr>
              <a:t>ModelBuilder</a:t>
            </a:r>
            <a:r>
              <a:rPr lang="en-US" sz="2200" noProof="1"/>
              <a:t> builder)</a:t>
            </a:r>
          </a:p>
          <a:p>
            <a:r>
              <a:rPr lang="en-US" sz="2200" noProof="1"/>
              <a:t>{</a:t>
            </a:r>
          </a:p>
          <a:p>
            <a:r>
              <a:rPr lang="en-US" sz="2200" noProof="1"/>
              <a:t>  builder.</a:t>
            </a:r>
            <a:r>
              <a:rPr lang="en-US" sz="2200" noProof="1">
                <a:solidFill>
                  <a:schemeClr val="bg1"/>
                </a:solidFill>
              </a:rPr>
              <a:t>Entity</a:t>
            </a:r>
            <a:r>
              <a:rPr lang="en-US" sz="2200" noProof="1"/>
              <a:t>&lt;</a:t>
            </a:r>
            <a:r>
              <a:rPr lang="en-US" sz="2200" noProof="1">
                <a:solidFill>
                  <a:schemeClr val="bg1"/>
                </a:solidFill>
              </a:rPr>
              <a:t>Category</a:t>
            </a:r>
            <a:r>
              <a:rPr lang="en-US" sz="2200" noProof="1"/>
              <a:t>&gt;()</a:t>
            </a:r>
          </a:p>
          <a:p>
            <a:r>
              <a:rPr lang="en-US" sz="2200" noProof="1"/>
              <a:t>    .</a:t>
            </a:r>
            <a:r>
              <a:rPr lang="en-US" sz="2200" noProof="1">
                <a:solidFill>
                  <a:schemeClr val="bg1"/>
                </a:solidFill>
              </a:rPr>
              <a:t>HasMany</a:t>
            </a:r>
            <a:r>
              <a:rPr lang="en-US" sz="2200" noProof="1"/>
              <a:t>(c =&gt; c.Posts)</a:t>
            </a:r>
          </a:p>
          <a:p>
            <a:r>
              <a:rPr lang="en-US" sz="2200" noProof="1"/>
              <a:t>    .</a:t>
            </a:r>
            <a:r>
              <a:rPr lang="en-US" sz="2200" noProof="1">
                <a:solidFill>
                  <a:schemeClr val="bg1"/>
                </a:solidFill>
              </a:rPr>
              <a:t>WithOne</a:t>
            </a:r>
            <a:r>
              <a:rPr lang="en-US" sz="2200" noProof="1"/>
              <a:t>(p =&gt; p.Category);</a:t>
            </a:r>
          </a:p>
          <a:p>
            <a:endParaRPr lang="en-US" sz="2200" noProof="1"/>
          </a:p>
          <a:p>
            <a:r>
              <a:rPr lang="en-US" sz="2200" noProof="1"/>
              <a:t>  builder.</a:t>
            </a:r>
            <a:r>
              <a:rPr lang="en-US" sz="2200" noProof="1">
                <a:solidFill>
                  <a:schemeClr val="bg1"/>
                </a:solidFill>
              </a:rPr>
              <a:t>Entity</a:t>
            </a:r>
            <a:r>
              <a:rPr lang="en-US" sz="2200" noProof="1"/>
              <a:t>&lt;</a:t>
            </a:r>
            <a:r>
              <a:rPr lang="en-US" sz="2200" noProof="1">
                <a:solidFill>
                  <a:schemeClr val="bg1"/>
                </a:solidFill>
              </a:rPr>
              <a:t>Post</a:t>
            </a:r>
            <a:r>
              <a:rPr lang="en-US" sz="2200" noProof="1"/>
              <a:t>&gt;()</a:t>
            </a:r>
          </a:p>
          <a:p>
            <a:r>
              <a:rPr lang="en-US" sz="2200" noProof="1"/>
              <a:t>    .</a:t>
            </a:r>
            <a:r>
              <a:rPr lang="en-US" sz="2200" noProof="1">
                <a:solidFill>
                  <a:schemeClr val="bg1"/>
                </a:solidFill>
              </a:rPr>
              <a:t>HasMany</a:t>
            </a:r>
            <a:r>
              <a:rPr lang="en-US" sz="2200" noProof="1"/>
              <a:t>(p =&gt; p.Replies)</a:t>
            </a:r>
          </a:p>
          <a:p>
            <a:r>
              <a:rPr lang="en-US" sz="2200" noProof="1"/>
              <a:t>    .</a:t>
            </a:r>
            <a:r>
              <a:rPr lang="en-US" sz="2200" noProof="1">
                <a:solidFill>
                  <a:schemeClr val="bg1"/>
                </a:solidFill>
              </a:rPr>
              <a:t>WithOne</a:t>
            </a:r>
            <a:r>
              <a:rPr lang="en-US" sz="2200" noProof="1"/>
              <a:t>(r =&gt; r.Post);</a:t>
            </a:r>
          </a:p>
          <a:p>
            <a:endParaRPr lang="en-US" sz="2200" noProof="1"/>
          </a:p>
          <a:p>
            <a:r>
              <a:rPr lang="en-US" sz="2200" noProof="1"/>
              <a:t>   builder.</a:t>
            </a:r>
            <a:r>
              <a:rPr lang="en-US" sz="2200" noProof="1">
                <a:solidFill>
                  <a:schemeClr val="bg1"/>
                </a:solidFill>
              </a:rPr>
              <a:t>Entity</a:t>
            </a:r>
            <a:r>
              <a:rPr lang="en-US" sz="2200" noProof="1"/>
              <a:t>&lt;</a:t>
            </a:r>
            <a:r>
              <a:rPr lang="en-US" sz="2200" noProof="1">
                <a:solidFill>
                  <a:schemeClr val="bg1"/>
                </a:solidFill>
              </a:rPr>
              <a:t>User</a:t>
            </a:r>
            <a:r>
              <a:rPr lang="en-US" sz="2200" noProof="1"/>
              <a:t>&gt;()</a:t>
            </a:r>
          </a:p>
          <a:p>
            <a:r>
              <a:rPr lang="en-US" sz="2200" noProof="1"/>
              <a:t>    .</a:t>
            </a:r>
            <a:r>
              <a:rPr lang="en-US" sz="2200" noProof="1">
                <a:solidFill>
                  <a:schemeClr val="bg1"/>
                </a:solidFill>
              </a:rPr>
              <a:t>HasMany</a:t>
            </a:r>
            <a:r>
              <a:rPr lang="en-US" sz="2200" noProof="1"/>
              <a:t>(u =&gt; u.Posts)</a:t>
            </a:r>
          </a:p>
          <a:p>
            <a:r>
              <a:rPr lang="en-US" sz="2200" noProof="1"/>
              <a:t>    .</a:t>
            </a:r>
            <a:r>
              <a:rPr lang="en-US" sz="2200" noProof="1">
                <a:solidFill>
                  <a:schemeClr val="bg1"/>
                </a:solidFill>
              </a:rPr>
              <a:t>WithOne</a:t>
            </a:r>
            <a:r>
              <a:rPr lang="en-US" sz="2200" noProof="1"/>
              <a:t>(p =&gt; p.Author);</a:t>
            </a:r>
          </a:p>
          <a:p>
            <a:r>
              <a:rPr lang="en-US" sz="2200" noProof="1"/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A97083E-0FB6-47EE-9D45-F2F33F77D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401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Connection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794" y="2054719"/>
            <a:ext cx="3047207" cy="799068"/>
          </a:xfrm>
          <a:prstGeom prst="roundRect">
            <a:avLst/>
          </a:prstGeom>
          <a:solidFill>
            <a:srgbClr val="D1D5DD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9" b="1" dirty="0">
                <a:solidFill>
                  <a:schemeClr val="tx1"/>
                </a:solidFill>
              </a:rPr>
              <a:t>Database Exists?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3514" y="4343164"/>
            <a:ext cx="2496258" cy="1066523"/>
          </a:xfrm>
          <a:prstGeom prst="roundRect">
            <a:avLst/>
          </a:prstGeom>
          <a:solidFill>
            <a:srgbClr val="D1D5DD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9" b="1" dirty="0">
                <a:solidFill>
                  <a:schemeClr val="tx1"/>
                </a:solidFill>
              </a:rPr>
              <a:t>Create Database</a:t>
            </a:r>
          </a:p>
        </p:txBody>
      </p:sp>
      <p:cxnSp>
        <p:nvCxnSpPr>
          <p:cNvPr id="25" name="Straight Arrow Connector 24"/>
          <p:cNvCxnSpPr>
            <a:stCxn id="7" idx="2"/>
            <a:endCxn id="24" idx="0"/>
          </p:cNvCxnSpPr>
          <p:nvPr/>
        </p:nvCxnSpPr>
        <p:spPr>
          <a:xfrm>
            <a:off x="4572399" y="2853789"/>
            <a:ext cx="29247" cy="1489375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99372" y="3171961"/>
            <a:ext cx="2576523" cy="799066"/>
          </a:xfrm>
          <a:prstGeom prst="roundRect">
            <a:avLst/>
          </a:prstGeom>
          <a:solidFill>
            <a:srgbClr val="D1D5DD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9" b="1" dirty="0">
                <a:solidFill>
                  <a:schemeClr val="tx1"/>
                </a:solidFill>
              </a:rPr>
              <a:t>Use Database</a:t>
            </a:r>
          </a:p>
        </p:txBody>
      </p:sp>
      <p:cxnSp>
        <p:nvCxnSpPr>
          <p:cNvPr id="30" name="Straight Arrow Connector 29"/>
          <p:cNvCxnSpPr>
            <a:stCxn id="7" idx="3"/>
            <a:endCxn id="29" idx="1"/>
          </p:cNvCxnSpPr>
          <p:nvPr/>
        </p:nvCxnSpPr>
        <p:spPr>
          <a:xfrm>
            <a:off x="6096000" y="2454254"/>
            <a:ext cx="803372" cy="11172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4" idx="3"/>
            <a:endCxn id="29" idx="1"/>
          </p:cNvCxnSpPr>
          <p:nvPr/>
        </p:nvCxnSpPr>
        <p:spPr>
          <a:xfrm flipV="1">
            <a:off x="5849773" y="3571494"/>
            <a:ext cx="1049599" cy="130493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82060" y="3447943"/>
            <a:ext cx="606098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9" dirty="0"/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7731" y="2485257"/>
            <a:ext cx="652445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9" dirty="0"/>
              <a:t>Yes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B118D2F8-BC2A-494B-A1DD-354A43952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19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29" grpId="0" animBg="1"/>
      <p:bldP spid="38" grpId="0"/>
      <p:bldP spid="3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FEEF6B-6782-4A05-85C3-E6395034A84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Database Migrations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992" y="1240758"/>
            <a:ext cx="3351765" cy="27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A03590-032F-4C0C-9D53-9053A2E2D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2766" y="983404"/>
            <a:ext cx="10129234" cy="5546589"/>
          </a:xfrm>
        </p:spPr>
        <p:txBody>
          <a:bodyPr/>
          <a:lstStyle/>
          <a:p>
            <a:r>
              <a:rPr lang="en-US" dirty="0"/>
              <a:t>Updating database schema </a:t>
            </a:r>
            <a:r>
              <a:rPr lang="en-US" b="1" dirty="0">
                <a:solidFill>
                  <a:schemeClr val="bg1"/>
                </a:solidFill>
              </a:rPr>
              <a:t>without losing data</a:t>
            </a:r>
          </a:p>
          <a:p>
            <a:pPr lvl="1"/>
            <a:r>
              <a:rPr lang="en-US" dirty="0"/>
              <a:t>Adding/dropping tables, columns, etc.</a:t>
            </a:r>
          </a:p>
          <a:p>
            <a:r>
              <a:rPr lang="en-US" dirty="0"/>
              <a:t>Migrations in EF Core keep their </a:t>
            </a:r>
            <a:r>
              <a:rPr lang="en-US" b="1" dirty="0">
                <a:solidFill>
                  <a:schemeClr val="bg1"/>
                </a:solidFill>
              </a:rPr>
              <a:t>history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Entity Classes, DB Context versions are all </a:t>
            </a:r>
            <a:r>
              <a:rPr lang="en-US" b="1" dirty="0">
                <a:solidFill>
                  <a:schemeClr val="bg1"/>
                </a:solidFill>
              </a:rPr>
              <a:t>preserved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Automatically</a:t>
            </a:r>
            <a:r>
              <a:rPr lang="en-US" dirty="0"/>
              <a:t> generated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D42B3F-D7A7-4EE5-ADE0-5EE273134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Database Migrations?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ADD09B-582A-40CF-9EBA-21EBAA59C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251000" y="4689000"/>
            <a:ext cx="5321923" cy="1409289"/>
          </a:xfrm>
          <a:prstGeom prst="roundRect">
            <a:avLst>
              <a:gd name="adj" fmla="val 1465"/>
            </a:avLst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ED1CDDBF-5411-4F85-9CCA-C90A3877F90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74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9E84-D9E5-47CD-9954-C0AA1CFF136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To use migrations in EF Core, we use 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dotnet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ef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migrations add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command from the EF CLI Tools</a:t>
            </a:r>
          </a:p>
          <a:p>
            <a:endParaRPr lang="en-US" dirty="0"/>
          </a:p>
          <a:p>
            <a:r>
              <a:rPr lang="en-US" dirty="0"/>
              <a:t>To undo a migration, we use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migrations remove</a:t>
            </a:r>
          </a:p>
          <a:p>
            <a:endParaRPr lang="en-US" dirty="0"/>
          </a:p>
          <a:p>
            <a:r>
              <a:rPr lang="en-US" dirty="0"/>
              <a:t>Commit changes to the database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EA454D-A1AB-479E-9714-D92E55B2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Migrations in EF Core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B08CA78-94C9-44ED-8395-CF1EB86EBEC1}"/>
              </a:ext>
            </a:extLst>
          </p:cNvPr>
          <p:cNvSpPr txBox="1">
            <a:spLocks/>
          </p:cNvSpPr>
          <p:nvPr/>
        </p:nvSpPr>
        <p:spPr>
          <a:xfrm>
            <a:off x="651000" y="2528701"/>
            <a:ext cx="8316489" cy="4181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sz="2600" noProof="1"/>
              <a:t>dotnet ef migrations add </a:t>
            </a:r>
            <a:r>
              <a:rPr lang="en-US" sz="2600" noProof="1">
                <a:solidFill>
                  <a:schemeClr val="bg1"/>
                </a:solidFill>
              </a:rPr>
              <a:t>{MigrationName}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829CA3-F6D0-425F-84A3-E15A543856D3}"/>
              </a:ext>
            </a:extLst>
          </p:cNvPr>
          <p:cNvSpPr txBox="1">
            <a:spLocks/>
          </p:cNvSpPr>
          <p:nvPr/>
        </p:nvSpPr>
        <p:spPr>
          <a:xfrm>
            <a:off x="659508" y="3911171"/>
            <a:ext cx="8316492" cy="4181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sz="2600" noProof="1"/>
              <a:t>dotnet ef migrations remove </a:t>
            </a:r>
            <a:r>
              <a:rPr lang="en-US" sz="2600" noProof="1">
                <a:solidFill>
                  <a:schemeClr val="bg1"/>
                </a:solidFill>
              </a:rPr>
              <a:t>{MigrationName}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23A22BD-F47F-40CD-9E91-2CE00E8BAC20}"/>
              </a:ext>
            </a:extLst>
          </p:cNvPr>
          <p:cNvSpPr txBox="1">
            <a:spLocks/>
          </p:cNvSpPr>
          <p:nvPr/>
        </p:nvSpPr>
        <p:spPr>
          <a:xfrm>
            <a:off x="651000" y="5274000"/>
            <a:ext cx="8325000" cy="4181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sz="2600" noProof="1"/>
              <a:t>dotnet ef database update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FE9E31A-86D3-41D8-99B8-721ED3873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C1FD017-C4C8-485F-BD20-37280B2643E0}"/>
              </a:ext>
            </a:extLst>
          </p:cNvPr>
          <p:cNvSpPr txBox="1">
            <a:spLocks/>
          </p:cNvSpPr>
          <p:nvPr/>
        </p:nvSpPr>
        <p:spPr>
          <a:xfrm>
            <a:off x="651000" y="5904000"/>
            <a:ext cx="8325000" cy="4181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sz="2600" noProof="1"/>
              <a:t>db.Database.Migrate()</a:t>
            </a:r>
          </a:p>
        </p:txBody>
      </p:sp>
    </p:spTree>
    <p:extLst>
      <p:ext uri="{BB962C8B-B14F-4D97-AF65-F5344CB8AC3E}">
        <p14:creationId xmlns:p14="http://schemas.microsoft.com/office/powerpoint/2010/main" val="205680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43073" y="1723767"/>
            <a:ext cx="8281864" cy="470671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2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ORM frameworks</a:t>
            </a:r>
            <a:r>
              <a:rPr lang="en-US" sz="3600" b="1" dirty="0">
                <a:solidFill>
                  <a:schemeClr val="bg2"/>
                </a:solidFill>
              </a:rPr>
              <a:t> maps database </a:t>
            </a:r>
            <a:br>
              <a:rPr lang="en-US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 schema to objects in a </a:t>
            </a:r>
            <a:br>
              <a:rPr lang="bg-BG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programming language</a:t>
            </a: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2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Entity Framework Core </a:t>
            </a:r>
            <a:r>
              <a:rPr lang="en-US" sz="3600" b="1" dirty="0">
                <a:solidFill>
                  <a:schemeClr val="bg2"/>
                </a:solidFill>
              </a:rPr>
              <a:t>is the standard </a:t>
            </a:r>
            <a:br>
              <a:rPr lang="en-US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.NET ORM</a:t>
            </a: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2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LINQ</a:t>
            </a:r>
            <a:r>
              <a:rPr lang="en-US" sz="3600" b="1" dirty="0">
                <a:solidFill>
                  <a:schemeClr val="bg2"/>
                </a:solidFill>
              </a:rPr>
              <a:t> can be used to query the </a:t>
            </a:r>
            <a:r>
              <a:rPr lang="en-US" sz="3600" b="1" dirty="0">
                <a:solidFill>
                  <a:schemeClr val="bg1"/>
                </a:solidFill>
              </a:rPr>
              <a:t>DB</a:t>
            </a:r>
            <a:r>
              <a:rPr lang="en-US" sz="3600" b="1" dirty="0">
                <a:solidFill>
                  <a:schemeClr val="bg2"/>
                </a:solidFill>
              </a:rPr>
              <a:t> </a:t>
            </a:r>
            <a:br>
              <a:rPr lang="en-US" sz="3600" b="1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2"/>
                </a:solidFill>
              </a:rPr>
              <a:t> through the </a:t>
            </a:r>
            <a:r>
              <a:rPr lang="en-US" sz="3600" b="1" dirty="0">
                <a:solidFill>
                  <a:schemeClr val="bg1"/>
                </a:solidFill>
              </a:rPr>
              <a:t>DB context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16D0B5A3-1612-4477-8E8E-C797BA2CF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557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E57705A-5FC3-45C6-AA2D-4E1416AEF1C1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6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15D5F8F-6E47-46D8-AD77-1E5F41E6E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75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9596</TotalTime>
  <Words>2331</Words>
  <Application>Microsoft Office PowerPoint</Application>
  <PresentationFormat>Widescreen</PresentationFormat>
  <Paragraphs>400</Paragraphs>
  <Slides>41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Consolas</vt:lpstr>
      <vt:lpstr>Wingdings</vt:lpstr>
      <vt:lpstr>Wingdings 2</vt:lpstr>
      <vt:lpstr>SoftUni</vt:lpstr>
      <vt:lpstr>Entity Framework Core - Introduction</vt:lpstr>
      <vt:lpstr>Have a Question?</vt:lpstr>
      <vt:lpstr>Table of Contents</vt:lpstr>
      <vt:lpstr>Entity Framework Core</vt:lpstr>
      <vt:lpstr>Entity Framework Core: Overview</vt:lpstr>
      <vt:lpstr>EF Core: Basic Workflow</vt:lpstr>
      <vt:lpstr>EF Core: Basic Workflow</vt:lpstr>
      <vt:lpstr>Entity Framework Core: Setup</vt:lpstr>
      <vt:lpstr>Database First Model</vt:lpstr>
      <vt:lpstr>Database First Model: Setup</vt:lpstr>
      <vt:lpstr>EF Core Components</vt:lpstr>
      <vt:lpstr>Domain Classes (Models)</vt:lpstr>
      <vt:lpstr>DbSet Type</vt:lpstr>
      <vt:lpstr>The DbContext Class</vt:lpstr>
      <vt:lpstr>Defining DbContext Class - Example</vt:lpstr>
      <vt:lpstr>Reading Data</vt:lpstr>
      <vt:lpstr>The DbContext Class</vt:lpstr>
      <vt:lpstr>Using DbContext Class</vt:lpstr>
      <vt:lpstr>Reading Data with LINQ Query</vt:lpstr>
      <vt:lpstr>Reading Data with LINQ Query</vt:lpstr>
      <vt:lpstr>LINQ: Simple Operations</vt:lpstr>
      <vt:lpstr>LINQ: Simple Operations</vt:lpstr>
      <vt:lpstr>Logging the Native SQL Queries</vt:lpstr>
      <vt:lpstr>CRUD Operations</vt:lpstr>
      <vt:lpstr>Creating New Data</vt:lpstr>
      <vt:lpstr>Cascading Inserts</vt:lpstr>
      <vt:lpstr>Updating Existing Data</vt:lpstr>
      <vt:lpstr>Deleting Existing Data</vt:lpstr>
      <vt:lpstr>EF Core Configuration</vt:lpstr>
      <vt:lpstr>What is the Code First Model?</vt:lpstr>
      <vt:lpstr>Why Use Code First?</vt:lpstr>
      <vt:lpstr>Code First with EF Core: Setup</vt:lpstr>
      <vt:lpstr>How to Connect to SQL Server?</vt:lpstr>
      <vt:lpstr>Fluent API</vt:lpstr>
      <vt:lpstr>Database Connection Workflow</vt:lpstr>
      <vt:lpstr>Database Migrations</vt:lpstr>
      <vt:lpstr>What Are Database Migrations?</vt:lpstr>
      <vt:lpstr>Migrations in EF Core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CSharp DB Advanced - EF Core Introduction to EntityFramework</dc:title>
  <dc:subject>Software Development Course</dc:subject>
  <dc:creator>Software University</dc:creator>
  <cp:keywords>CSharp; DB; Advanced; EF; Core; Introduction; Entity; Framework; tech; fundamentals; technologySoftware University; SoftUni; programming; coding; software development; education; training; course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132</cp:revision>
  <dcterms:created xsi:type="dcterms:W3CDTF">2018-05-23T13:08:44Z</dcterms:created>
  <dcterms:modified xsi:type="dcterms:W3CDTF">2025-10-13T05:49:40Z</dcterms:modified>
  <cp:category>programming;computer programming;software development;web development</cp:category>
</cp:coreProperties>
</file>