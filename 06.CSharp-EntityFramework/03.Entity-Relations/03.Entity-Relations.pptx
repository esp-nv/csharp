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4"/>
  </p:notesMasterIdLst>
  <p:handoutMasterIdLst>
    <p:handoutMasterId r:id="rId45"/>
  </p:handoutMasterIdLst>
  <p:sldIdLst>
    <p:sldId id="402" r:id="rId2"/>
    <p:sldId id="594" r:id="rId3"/>
    <p:sldId id="493" r:id="rId4"/>
    <p:sldId id="467" r:id="rId5"/>
    <p:sldId id="548" r:id="rId6"/>
    <p:sldId id="549" r:id="rId7"/>
    <p:sldId id="473" r:id="rId8"/>
    <p:sldId id="551" r:id="rId9"/>
    <p:sldId id="552" r:id="rId10"/>
    <p:sldId id="570" r:id="rId11"/>
    <p:sldId id="571" r:id="rId12"/>
    <p:sldId id="572" r:id="rId13"/>
    <p:sldId id="573" r:id="rId14"/>
    <p:sldId id="584" r:id="rId15"/>
    <p:sldId id="585" r:id="rId16"/>
    <p:sldId id="586" r:id="rId17"/>
    <p:sldId id="587" r:id="rId18"/>
    <p:sldId id="619" r:id="rId19"/>
    <p:sldId id="588" r:id="rId20"/>
    <p:sldId id="589" r:id="rId21"/>
    <p:sldId id="590" r:id="rId22"/>
    <p:sldId id="591" r:id="rId23"/>
    <p:sldId id="480" r:id="rId24"/>
    <p:sldId id="553" r:id="rId25"/>
    <p:sldId id="554" r:id="rId26"/>
    <p:sldId id="555" r:id="rId27"/>
    <p:sldId id="556" r:id="rId28"/>
    <p:sldId id="557" r:id="rId29"/>
    <p:sldId id="558" r:id="rId30"/>
    <p:sldId id="559" r:id="rId31"/>
    <p:sldId id="560" r:id="rId32"/>
    <p:sldId id="561" r:id="rId33"/>
    <p:sldId id="562" r:id="rId34"/>
    <p:sldId id="564" r:id="rId35"/>
    <p:sldId id="618" r:id="rId36"/>
    <p:sldId id="616" r:id="rId37"/>
    <p:sldId id="565" r:id="rId38"/>
    <p:sldId id="566" r:id="rId39"/>
    <p:sldId id="567" r:id="rId40"/>
    <p:sldId id="349" r:id="rId41"/>
    <p:sldId id="405" r:id="rId42"/>
    <p:sldId id="596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9407A5A-629B-4B3F-96EF-1AA789A43DCE}">
          <p14:sldIdLst>
            <p14:sldId id="402"/>
            <p14:sldId id="594"/>
            <p14:sldId id="493"/>
          </p14:sldIdLst>
        </p14:section>
        <p14:section name="Object Composition" id="{D0C781E6-2281-4133-BDFB-BF15CAB9F67A}">
          <p14:sldIdLst>
            <p14:sldId id="467"/>
            <p14:sldId id="548"/>
            <p14:sldId id="549"/>
          </p14:sldIdLst>
        </p14:section>
        <p14:section name="Fluent API" id="{8EE8B4A0-15BF-4217-AF50-4F636331923B}">
          <p14:sldIdLst>
            <p14:sldId id="473"/>
            <p14:sldId id="551"/>
            <p14:sldId id="552"/>
            <p14:sldId id="570"/>
            <p14:sldId id="571"/>
            <p14:sldId id="572"/>
            <p14:sldId id="573"/>
          </p14:sldIdLst>
        </p14:section>
        <p14:section name="Attributes" id="{44976A79-7730-48DE-BEE6-BCC4FA2F6A9B}">
          <p14:sldIdLst>
            <p14:sldId id="584"/>
            <p14:sldId id="585"/>
            <p14:sldId id="586"/>
            <p14:sldId id="587"/>
            <p14:sldId id="619"/>
            <p14:sldId id="588"/>
            <p14:sldId id="589"/>
            <p14:sldId id="590"/>
            <p14:sldId id="591"/>
          </p14:sldIdLst>
        </p14:section>
        <p14:section name="Table Relationships" id="{071C5215-E2AC-4D51-AA52-DD420CF58BE2}">
          <p14:sldIdLst>
            <p14:sldId id="480"/>
            <p14:sldId id="553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4"/>
            <p14:sldId id="618"/>
            <p14:sldId id="616"/>
            <p14:sldId id="565"/>
            <p14:sldId id="566"/>
            <p14:sldId id="567"/>
          </p14:sldIdLst>
        </p14:section>
        <p14:section name="Conclusion" id="{FE9C5012-641D-4FCF-BEC8-606F4D39B2C4}">
          <p14:sldIdLst>
            <p14:sldId id="349"/>
            <p14:sldId id="405"/>
            <p14:sldId id="5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40D"/>
    <a:srgbClr val="464646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1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140" y="7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6F37D88C-E668-4BE2-ABDA-7A6EE69FDE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228173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6D04BF3-E85C-4A2F-8C09-6BB4DCAD1C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651685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9FB29EC-3755-4A4F-B193-9CB69F8B15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38344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4548B66-41E2-4BE7-BB07-F65E6BE0B8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00058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90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2050763-F78C-4404-8882-EA98C80646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61692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34D444E-7889-4663-B6A3-0EEC3BE177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374386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7B698B7E-7B5A-4C48-9B4A-F177ABD3D2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22874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4394290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Customizing Entity Models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Entity </a:t>
            </a:r>
            <a:r>
              <a:rPr lang="en-US" dirty="0"/>
              <a:t>Relations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https://about.softuni.bg/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Technical Trainers</a:t>
            </a:r>
          </a:p>
        </p:txBody>
      </p: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CAB939E2-5AC8-4DCF-9B4F-56BF6D473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477" y="2057401"/>
            <a:ext cx="3083623" cy="308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41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#csharp-</a:t>
            </a:r>
            <a:r>
              <a:rPr lang="en-US" sz="11500" b="1" dirty="0" err="1"/>
              <a:t>db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3C26960-ED25-4136-8232-9A221C7D0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198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A566F-0E0E-4BF9-A3B0-6F01080380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Object Composition</a:t>
            </a:r>
            <a:endParaRPr lang="bg-BG" dirty="0"/>
          </a:p>
          <a:p>
            <a:r>
              <a:rPr lang="en-GB" dirty="0"/>
              <a:t>Fluent API</a:t>
            </a:r>
          </a:p>
          <a:p>
            <a:r>
              <a:rPr lang="en-GB" dirty="0"/>
              <a:t>Attributes</a:t>
            </a:r>
            <a:endParaRPr lang="bg-BG" dirty="0"/>
          </a:p>
          <a:p>
            <a:r>
              <a:rPr lang="en-GB" dirty="0"/>
              <a:t>Table Relationships</a:t>
            </a:r>
          </a:p>
          <a:p>
            <a:pPr lvl="1"/>
            <a:r>
              <a:rPr lang="en-GB" dirty="0"/>
              <a:t>One-to-One</a:t>
            </a:r>
          </a:p>
          <a:p>
            <a:pPr lvl="1"/>
            <a:r>
              <a:rPr lang="en-GB" dirty="0"/>
              <a:t>One-to-Many</a:t>
            </a:r>
          </a:p>
          <a:p>
            <a:pPr lvl="1"/>
            <a:r>
              <a:rPr lang="en-GB" dirty="0"/>
              <a:t>Many-to-Many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603285-689A-4E41-8F77-BD9FEA5C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Table of Contents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06B426F-A208-4457-A214-1A9398D4EFB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90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2A9-9247-4248-A0B0-E504D5389CA1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Object Composition</a:t>
            </a:r>
          </a:p>
        </p:txBody>
      </p:sp>
      <p:pic>
        <p:nvPicPr>
          <p:cNvPr id="2052" name="Picture 4" descr="Image result for database relationship png">
            <a:extLst>
              <a:ext uri="{FF2B5EF4-FFF2-40B4-BE49-F238E27FC236}">
                <a16:creationId xmlns:a16="http://schemas.microsoft.com/office/drawing/2014/main" id="{626C62AC-6CCB-4E3D-A308-00F5C323D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828800"/>
            <a:ext cx="2995050" cy="187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8EC249EC-EB6F-47D5-9920-AD53CEDC0402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Describing Database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55265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021735" y="983196"/>
            <a:ext cx="10129234" cy="5546589"/>
          </a:xfrm>
        </p:spPr>
        <p:txBody>
          <a:bodyPr/>
          <a:lstStyle/>
          <a:p>
            <a:r>
              <a:rPr lang="en-US" dirty="0"/>
              <a:t>Object composition denotes a "</a:t>
            </a:r>
            <a:r>
              <a:rPr lang="en-US" b="1" dirty="0">
                <a:solidFill>
                  <a:schemeClr val="bg1"/>
                </a:solidFill>
              </a:rPr>
              <a:t>has-a</a:t>
            </a:r>
            <a:r>
              <a:rPr lang="en-US" dirty="0"/>
              <a:t>" relationship</a:t>
            </a:r>
          </a:p>
          <a:p>
            <a:pPr lvl="1"/>
            <a:r>
              <a:rPr lang="en-US" dirty="0"/>
              <a:t>e.g., the </a:t>
            </a:r>
            <a:r>
              <a:rPr lang="en-US" b="1" dirty="0">
                <a:solidFill>
                  <a:schemeClr val="bg1"/>
                </a:solidFill>
              </a:rPr>
              <a:t>car</a:t>
            </a:r>
            <a:r>
              <a:rPr lang="en-US" dirty="0"/>
              <a:t> has an </a:t>
            </a:r>
            <a:r>
              <a:rPr lang="en-US" b="1" dirty="0">
                <a:solidFill>
                  <a:schemeClr val="bg1"/>
                </a:solidFill>
              </a:rPr>
              <a:t>engine</a:t>
            </a:r>
          </a:p>
          <a:p>
            <a:r>
              <a:rPr lang="en-US" dirty="0"/>
              <a:t>Defined in C# by one object having a property that is a reference to another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Composition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171000" y="3969000"/>
            <a:ext cx="2350182" cy="2152176"/>
            <a:chOff x="2601230" y="3733800"/>
            <a:chExt cx="3048000" cy="2791202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2601230" y="3733800"/>
              <a:ext cx="3048000" cy="2791202"/>
            </a:xfrm>
            <a:prstGeom prst="roundRect">
              <a:avLst>
                <a:gd name="adj" fmla="val 5385"/>
              </a:avLst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Person</a:t>
              </a:r>
            </a:p>
          </p:txBody>
        </p:sp>
        <p:sp>
          <p:nvSpPr>
            <p:cNvPr id="7" name="Rectangle: Rounded Corners 6"/>
            <p:cNvSpPr/>
            <p:nvPr/>
          </p:nvSpPr>
          <p:spPr>
            <a:xfrm>
              <a:off x="2873939" y="5715000"/>
              <a:ext cx="2502582" cy="531750"/>
            </a:xfrm>
            <a:prstGeom prst="roundRect">
              <a:avLst>
                <a:gd name="adj" fmla="val 5385"/>
              </a:avLst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noProof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Pet</a:t>
              </a:r>
            </a:p>
          </p:txBody>
        </p:sp>
        <p:sp>
          <p:nvSpPr>
            <p:cNvPr id="14" name="Rectangle: Rounded Corners 13"/>
            <p:cNvSpPr/>
            <p:nvPr/>
          </p:nvSpPr>
          <p:spPr>
            <a:xfrm>
              <a:off x="2873939" y="5042800"/>
              <a:ext cx="2502582" cy="531750"/>
            </a:xfrm>
            <a:prstGeom prst="roundRect">
              <a:avLst>
                <a:gd name="adj" fmla="val 5385"/>
              </a:avLst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noProof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Age</a:t>
              </a:r>
            </a:p>
          </p:txBody>
        </p:sp>
        <p:sp>
          <p:nvSpPr>
            <p:cNvPr id="15" name="Rectangle: Rounded Corners 14"/>
            <p:cNvSpPr/>
            <p:nvPr/>
          </p:nvSpPr>
          <p:spPr>
            <a:xfrm>
              <a:off x="2873939" y="4370600"/>
              <a:ext cx="2502582" cy="531750"/>
            </a:xfrm>
            <a:prstGeom prst="roundRect">
              <a:avLst>
                <a:gd name="adj" fmla="val 5385"/>
              </a:avLst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noProof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Name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9583CB-9FFB-4262-8AD5-D8171D096C13}"/>
              </a:ext>
            </a:extLst>
          </p:cNvPr>
          <p:cNvGrpSpPr/>
          <p:nvPr/>
        </p:nvGrpSpPr>
        <p:grpSpPr>
          <a:xfrm>
            <a:off x="7732620" y="4126593"/>
            <a:ext cx="2350182" cy="1703882"/>
            <a:chOff x="2601230" y="3733800"/>
            <a:chExt cx="3048000" cy="22098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2071958-DD93-4C73-93F7-470D58411148}"/>
                </a:ext>
              </a:extLst>
            </p:cNvPr>
            <p:cNvSpPr/>
            <p:nvPr/>
          </p:nvSpPr>
          <p:spPr>
            <a:xfrm>
              <a:off x="2601230" y="3733800"/>
              <a:ext cx="3048000" cy="2209800"/>
            </a:xfrm>
            <a:prstGeom prst="roundRect">
              <a:avLst>
                <a:gd name="adj" fmla="val 5385"/>
              </a:avLst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Dog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94A31C0-C51E-4EE2-B477-DA0A57AA89F8}"/>
                </a:ext>
              </a:extLst>
            </p:cNvPr>
            <p:cNvSpPr/>
            <p:nvPr/>
          </p:nvSpPr>
          <p:spPr>
            <a:xfrm>
              <a:off x="2873939" y="5042800"/>
              <a:ext cx="2502582" cy="531750"/>
            </a:xfrm>
            <a:prstGeom prst="roundRect">
              <a:avLst>
                <a:gd name="adj" fmla="val 5385"/>
              </a:avLst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noProof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Age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32D8C40-C8B5-4833-AB3E-B60EEDE0A52F}"/>
                </a:ext>
              </a:extLst>
            </p:cNvPr>
            <p:cNvSpPr/>
            <p:nvPr/>
          </p:nvSpPr>
          <p:spPr>
            <a:xfrm>
              <a:off x="2873939" y="4370600"/>
              <a:ext cx="2502582" cy="531750"/>
            </a:xfrm>
            <a:prstGeom prst="roundRect">
              <a:avLst>
                <a:gd name="adj" fmla="val 5385"/>
              </a:avLst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noProof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Name</a:t>
              </a:r>
            </a:p>
          </p:txBody>
        </p:sp>
      </p:grpSp>
      <p:cxnSp>
        <p:nvCxnSpPr>
          <p:cNvPr id="21" name="Connector: Elbow 10">
            <a:extLst>
              <a:ext uri="{FF2B5EF4-FFF2-40B4-BE49-F238E27FC236}">
                <a16:creationId xmlns:a16="http://schemas.microsoft.com/office/drawing/2014/main" id="{FD92E02A-F487-4855-B560-A531A067F6AE}"/>
              </a:ext>
            </a:extLst>
          </p:cNvPr>
          <p:cNvCxnSpPr>
            <a:cxnSpLocks/>
          </p:cNvCxnSpPr>
          <p:nvPr/>
        </p:nvCxnSpPr>
        <p:spPr>
          <a:xfrm flipV="1">
            <a:off x="5370280" y="4460009"/>
            <a:ext cx="2362341" cy="1309488"/>
          </a:xfrm>
          <a:prstGeom prst="bentConnector3">
            <a:avLst>
              <a:gd name="adj1" fmla="val 50000"/>
            </a:avLst>
          </a:prstGeom>
          <a:ln w="57150">
            <a:solidFill>
              <a:schemeClr val="tx1">
                <a:alpha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">
            <a:extLst>
              <a:ext uri="{FF2B5EF4-FFF2-40B4-BE49-F238E27FC236}">
                <a16:creationId xmlns:a16="http://schemas.microsoft.com/office/drawing/2014/main" id="{F5FB35E1-A957-40E0-81BD-48D89BE2CC0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08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Navigation properties create a </a:t>
            </a:r>
            <a:r>
              <a:rPr lang="en-US" b="1" dirty="0">
                <a:solidFill>
                  <a:schemeClr val="bg1"/>
                </a:solidFill>
              </a:rPr>
              <a:t>relationship</a:t>
            </a:r>
            <a:r>
              <a:rPr lang="en-US" dirty="0"/>
              <a:t> between entities</a:t>
            </a:r>
          </a:p>
          <a:p>
            <a:pPr lvl="1"/>
            <a:r>
              <a:rPr lang="en-US" dirty="0"/>
              <a:t>Either an </a:t>
            </a:r>
            <a:r>
              <a:rPr lang="en-US" b="1" noProof="1">
                <a:solidFill>
                  <a:schemeClr val="bg1"/>
                </a:solidFill>
              </a:rPr>
              <a:t>Entity Reference</a:t>
            </a:r>
            <a:r>
              <a:rPr lang="en-US" dirty="0"/>
              <a:t> (one-to-one-or-zero) or an</a:t>
            </a:r>
            <a:br>
              <a:rPr lang="en-US" dirty="0"/>
            </a:b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ICollection</a:t>
            </a:r>
            <a:r>
              <a:rPr lang="en-US" dirty="0"/>
              <a:t> (one-to-many or many-to-many)</a:t>
            </a:r>
          </a:p>
          <a:p>
            <a:r>
              <a:rPr lang="en-US" dirty="0"/>
              <a:t>They provide </a:t>
            </a:r>
            <a:r>
              <a:rPr lang="en-US" b="1" dirty="0">
                <a:solidFill>
                  <a:schemeClr val="bg1"/>
                </a:solidFill>
              </a:rPr>
              <a:t>fast querying </a:t>
            </a:r>
            <a:r>
              <a:rPr lang="en-US" dirty="0"/>
              <a:t>of related records</a:t>
            </a:r>
          </a:p>
          <a:p>
            <a:r>
              <a:rPr lang="en-US" dirty="0"/>
              <a:t>Can be </a:t>
            </a:r>
            <a:r>
              <a:rPr lang="en-US" b="1" dirty="0">
                <a:solidFill>
                  <a:schemeClr val="bg1"/>
                </a:solidFill>
              </a:rPr>
              <a:t>modified</a:t>
            </a:r>
            <a:r>
              <a:rPr lang="en-US" dirty="0"/>
              <a:t> by </a:t>
            </a:r>
            <a:r>
              <a:rPr lang="en-US" b="1" dirty="0">
                <a:solidFill>
                  <a:schemeClr val="bg1"/>
                </a:solidFill>
              </a:rPr>
              <a:t>directly</a:t>
            </a:r>
            <a:r>
              <a:rPr lang="en-US" dirty="0"/>
              <a:t> setting the reference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Properties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ABD3C05-E6D3-453F-B328-215ADA37F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2890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A0F819-5F9F-453D-BC22-0DF95D2A6F4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Fluent API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95801" y="1981201"/>
            <a:ext cx="3200400" cy="118298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6000" b="1" i="1" dirty="0">
                <a:solidFill>
                  <a:schemeClr val="bg2"/>
                </a:solidFill>
              </a:rPr>
              <a:t>f() =&gt; API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0B14068-A9A7-45CC-A88F-4A63997A3BD1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Working with Model Builder</a:t>
            </a:r>
          </a:p>
        </p:txBody>
      </p:sp>
    </p:spTree>
    <p:extLst>
      <p:ext uri="{BB962C8B-B14F-4D97-AF65-F5344CB8AC3E}">
        <p14:creationId xmlns:p14="http://schemas.microsoft.com/office/powerpoint/2010/main" val="349638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Code First </a:t>
            </a:r>
            <a:r>
              <a:rPr lang="en-US" dirty="0"/>
              <a:t>maps your POCO (</a:t>
            </a:r>
            <a:r>
              <a:rPr lang="en-US" b="1" dirty="0"/>
              <a:t>P</a:t>
            </a:r>
            <a:r>
              <a:rPr lang="en-US" dirty="0"/>
              <a:t>lain </a:t>
            </a:r>
            <a:r>
              <a:rPr lang="en-US" b="1" dirty="0"/>
              <a:t>O</a:t>
            </a:r>
            <a:r>
              <a:rPr lang="en-US" dirty="0"/>
              <a:t>ld </a:t>
            </a:r>
            <a:r>
              <a:rPr lang="en-US" b="1" dirty="0"/>
              <a:t>C</a:t>
            </a:r>
            <a:r>
              <a:rPr lang="en-US" dirty="0"/>
              <a:t>LR </a:t>
            </a:r>
            <a:r>
              <a:rPr lang="en-US" b="1" dirty="0"/>
              <a:t>O</a:t>
            </a:r>
            <a:r>
              <a:rPr lang="en-US" dirty="0"/>
              <a:t>bjects) classes to tables using a </a:t>
            </a:r>
            <a:r>
              <a:rPr lang="en-US" b="1" dirty="0">
                <a:solidFill>
                  <a:schemeClr val="bg1"/>
                </a:solidFill>
              </a:rPr>
              <a:t>set of conventions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e.g., property named "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en-US" dirty="0"/>
              <a:t>" maps to the </a:t>
            </a:r>
            <a:r>
              <a:rPr lang="en-US" b="1" dirty="0">
                <a:solidFill>
                  <a:schemeClr val="bg1"/>
                </a:solidFill>
              </a:rPr>
              <a:t>Primary Key</a:t>
            </a:r>
          </a:p>
          <a:p>
            <a:r>
              <a:rPr lang="en-US" dirty="0"/>
              <a:t>Can be customized using </a:t>
            </a:r>
            <a:r>
              <a:rPr lang="en-US" b="1" dirty="0">
                <a:solidFill>
                  <a:schemeClr val="bg1"/>
                </a:solidFill>
              </a:rPr>
              <a:t>annotations</a:t>
            </a:r>
            <a:r>
              <a:rPr lang="en-US" dirty="0"/>
              <a:t> and the </a:t>
            </a:r>
            <a:r>
              <a:rPr lang="en-US" b="1" dirty="0">
                <a:solidFill>
                  <a:schemeClr val="bg1"/>
                </a:solidFill>
              </a:rPr>
              <a:t>Fluent API</a:t>
            </a:r>
          </a:p>
          <a:p>
            <a:r>
              <a:rPr lang="en-US" dirty="0"/>
              <a:t>Fluent API (Model Builder) allows </a:t>
            </a:r>
            <a:r>
              <a:rPr lang="en-US" b="1" dirty="0">
                <a:solidFill>
                  <a:schemeClr val="bg1"/>
                </a:solidFill>
              </a:rPr>
              <a:t>full control </a:t>
            </a:r>
            <a:r>
              <a:rPr lang="en-US" dirty="0"/>
              <a:t>over DB mappings</a:t>
            </a:r>
          </a:p>
          <a:p>
            <a:pPr lvl="1"/>
            <a:r>
              <a:rPr lang="en-US" dirty="0"/>
              <a:t>Custom names of objects (columns, tables, etc.) in the DB</a:t>
            </a:r>
          </a:p>
          <a:p>
            <a:pPr lvl="1"/>
            <a:r>
              <a:rPr lang="en-US" dirty="0"/>
              <a:t>Validation and data types</a:t>
            </a:r>
          </a:p>
          <a:p>
            <a:pPr lvl="1"/>
            <a:r>
              <a:rPr lang="en-US" dirty="0"/>
              <a:t>Define complicated entity relationships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Fluent API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FC027-E46C-436C-8C56-1AAF4811A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605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Custom mappings are placed inside the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OnModelCreating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method of the DB context class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Fluent API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81000" y="2882598"/>
            <a:ext cx="11520000" cy="252483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 latinLnBrk="1">
              <a:spcBef>
                <a:spcPts val="600"/>
              </a:spcBef>
              <a:spcAft>
                <a:spcPts val="600"/>
              </a:spcAft>
            </a:pPr>
            <a:r>
              <a:rPr lang="en-US" sz="2398" b="1" noProof="1">
                <a:latin typeface="Consolas" pitchFamily="49" charset="0"/>
              </a:rPr>
              <a:t>protected override void </a:t>
            </a:r>
            <a:r>
              <a:rPr lang="en-US" sz="2398" b="1" noProof="1">
                <a:solidFill>
                  <a:schemeClr val="bg1"/>
                </a:solidFill>
                <a:latin typeface="Consolas" pitchFamily="49" charset="0"/>
              </a:rPr>
              <a:t>OnModelCreating</a:t>
            </a:r>
            <a:r>
              <a:rPr lang="en-US" sz="2398" b="1" noProof="1">
                <a:latin typeface="Consolas" pitchFamily="49" charset="0"/>
              </a:rPr>
              <a:t>(ModelBuilder modelBuilder)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</a:pPr>
            <a:r>
              <a:rPr lang="en-US" sz="2398" b="1" noProof="1">
                <a:latin typeface="Consolas" pitchFamily="49" charset="0"/>
              </a:rPr>
              <a:t>{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</a:pPr>
            <a:r>
              <a:rPr lang="en-US" sz="2398" b="1" noProof="1">
                <a:latin typeface="Consolas" pitchFamily="49" charset="0"/>
              </a:rPr>
              <a:t> modelBuilder.Entity&lt;Student&gt;()</a:t>
            </a:r>
            <a:br>
              <a:rPr lang="en-US" sz="2398" b="1" noProof="1">
                <a:latin typeface="Consolas" pitchFamily="49" charset="0"/>
              </a:rPr>
            </a:br>
            <a:r>
              <a:rPr lang="en-US" sz="2398" b="1" noProof="1">
                <a:latin typeface="Consolas" pitchFamily="49" charset="0"/>
              </a:rPr>
              <a:t>	.HasKey(s =&gt; s.StudentKey);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</a:pPr>
            <a:r>
              <a:rPr lang="en-US" sz="2398" b="1" noProof="1">
                <a:latin typeface="Consolas" pitchFamily="49" charset="0"/>
              </a:rPr>
              <a:t>}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7A048A1-2D84-43C5-8F06-EFDF88F2A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431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Specifying Custom Table name</a:t>
            </a:r>
          </a:p>
          <a:p>
            <a:pPr marL="0" indent="0">
              <a:spcBef>
                <a:spcPts val="3000"/>
              </a:spcBef>
              <a:buNone/>
            </a:pPr>
            <a:endParaRPr lang="en-US" dirty="0"/>
          </a:p>
          <a:p>
            <a:r>
              <a:rPr lang="en-US" dirty="0"/>
              <a:t>Custom Column name/DB Type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Fluent API: Renaming DB Objects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51000" y="1989000"/>
            <a:ext cx="6483930" cy="68840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modelBuilder.Entity&lt;Order&gt;()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	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ToTable</a:t>
            </a:r>
            <a:r>
              <a:rPr lang="en-US" sz="2399" b="1" noProof="1">
                <a:latin typeface="Consolas" pitchFamily="49" charset="0"/>
              </a:rPr>
              <a:t>("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OrderRef</a:t>
            </a:r>
            <a:r>
              <a:rPr lang="en-US" sz="2399" b="1" noProof="1">
                <a:latin typeface="Consolas" pitchFamily="49" charset="0"/>
              </a:rPr>
              <a:t>", "Admin");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7266000" y="1873622"/>
            <a:ext cx="2556820" cy="919162"/>
          </a:xfrm>
          <a:prstGeom prst="wedgeRoundRectCallout">
            <a:avLst>
              <a:gd name="adj1" fmla="val -59952"/>
              <a:gd name="adj2" fmla="val 1824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 schema name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53499" y="3622712"/>
            <a:ext cx="6481431" cy="12738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modelBuilder.Entity&lt;Student&gt;()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Property</a:t>
            </a:r>
            <a:r>
              <a:rPr lang="en-US" sz="2399" b="1" noProof="1">
                <a:latin typeface="Consolas" pitchFamily="49" charset="0"/>
              </a:rPr>
              <a:t>(s =&gt; s.Name)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HasColumnName</a:t>
            </a:r>
            <a:r>
              <a:rPr lang="en-US" sz="2399" b="1" noProof="1">
                <a:latin typeface="Consolas" pitchFamily="49" charset="0"/>
              </a:rPr>
              <a:t>("StudentName")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HasColumnType</a:t>
            </a:r>
            <a:r>
              <a:rPr lang="en-US" sz="2399" b="1" noProof="1">
                <a:latin typeface="Consolas" pitchFamily="49" charset="0"/>
              </a:rPr>
              <a:t>("varchar");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4560F966-7F87-4488-9301-FFCC7E388A79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95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uiExpand="1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Explicitly set Primary Key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Other column attributes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Fluent API: Column Attributes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51000" y="1978154"/>
            <a:ext cx="7919625" cy="98366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modelBuilder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	.Entity&lt;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Student</a:t>
            </a:r>
            <a:r>
              <a:rPr lang="en-US" sz="2399" b="1" noProof="1">
                <a:latin typeface="Consolas" pitchFamily="49" charset="0"/>
              </a:rPr>
              <a:t>&gt;()</a:t>
            </a:r>
            <a:br>
              <a:rPr lang="en-US" sz="2399" b="1" noProof="1">
                <a:latin typeface="Consolas" pitchFamily="49" charset="0"/>
              </a:rPr>
            </a:br>
            <a:r>
              <a:rPr lang="en-US" sz="2399" b="1" noProof="1">
                <a:latin typeface="Consolas" pitchFamily="49" charset="0"/>
              </a:rPr>
              <a:t>	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HasKey</a:t>
            </a:r>
            <a:r>
              <a:rPr lang="en-US" sz="2399" b="1" noProof="1">
                <a:latin typeface="Consolas" pitchFamily="49" charset="0"/>
              </a:rPr>
              <a:t>("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StudentKey</a:t>
            </a:r>
            <a:r>
              <a:rPr lang="en-US" sz="2399" b="1" noProof="1">
                <a:latin typeface="Consolas" pitchFamily="49" charset="0"/>
              </a:rPr>
              <a:t>");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51000" y="3960508"/>
            <a:ext cx="7919625" cy="12738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modelBuilder.Entity&lt;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Person</a:t>
            </a:r>
            <a:r>
              <a:rPr lang="en-US" sz="2399" b="1" noProof="1">
                <a:latin typeface="Consolas" pitchFamily="49" charset="0"/>
              </a:rPr>
              <a:t>&gt;()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Property</a:t>
            </a:r>
            <a:r>
              <a:rPr lang="en-US" sz="2399" b="1" noProof="1">
                <a:latin typeface="Consolas" pitchFamily="49" charset="0"/>
              </a:rPr>
              <a:t>(p =&gt; p.FirstName)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IsRequired</a:t>
            </a:r>
            <a:r>
              <a:rPr lang="en-US" sz="2399" b="1" noProof="1">
                <a:latin typeface="Consolas" pitchFamily="49" charset="0"/>
              </a:rPr>
              <a:t>()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HasMaxLength</a:t>
            </a:r>
            <a:r>
              <a:rPr lang="en-US" sz="2399" b="1" noProof="1">
                <a:latin typeface="Consolas" pitchFamily="49" charset="0"/>
              </a:rPr>
              <a:t>(50)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5B4A58-01D0-4543-8030-D9913D82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04" y="5547971"/>
            <a:ext cx="7919621" cy="97847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modelBuilder.Entity&lt;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Post</a:t>
            </a:r>
            <a:r>
              <a:rPr lang="en-US" sz="2399" b="1" noProof="1">
                <a:latin typeface="Consolas" pitchFamily="49" charset="0"/>
              </a:rPr>
              <a:t>&gt;()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Property</a:t>
            </a:r>
            <a:r>
              <a:rPr lang="en-US" sz="2399" b="1" noProof="1">
                <a:latin typeface="Consolas" pitchFamily="49" charset="0"/>
              </a:rPr>
              <a:t>(p =&gt; p.LastUpdated)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ValueGeneratedOnAddOrUpdate</a:t>
            </a:r>
            <a:r>
              <a:rPr lang="en-US" sz="2399" b="1" noProof="1">
                <a:latin typeface="Consolas" pitchFamily="49" charset="0"/>
              </a:rPr>
              <a:t>()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9DC521D-8D59-4588-95F1-0E50329D0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43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Do not include property in DB (e.g., business logic properties)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Disabling cascade delete</a:t>
            </a:r>
          </a:p>
          <a:p>
            <a:pPr lvl="1"/>
            <a:r>
              <a:rPr lang="en-US" dirty="0"/>
              <a:t>If a FK property is non-</a:t>
            </a:r>
            <a:r>
              <a:rPr lang="en-US" dirty="0" err="1"/>
              <a:t>nullable</a:t>
            </a:r>
            <a:r>
              <a:rPr lang="en-US" dirty="0"/>
              <a:t>, cascade delete is </a:t>
            </a:r>
            <a:r>
              <a:rPr lang="en-US" b="1" dirty="0">
                <a:solidFill>
                  <a:schemeClr val="bg1"/>
                </a:solidFill>
              </a:rPr>
              <a:t>on by default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Fluent API: Miscellaneous Config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86000" y="4824000"/>
            <a:ext cx="10225301" cy="156925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modelBuilder.Entity&lt;Course&gt;() 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.HasRequired(t =&gt; t.Department) 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.WithMany(t =&gt; t.Courses) 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.HasForeignKey(d =&gt; d.DepartmentID) 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OnDelete</a:t>
            </a:r>
            <a:r>
              <a:rPr lang="en-US" sz="2399" b="1" noProof="1">
                <a:latin typeface="Consolas" pitchFamily="49" charset="0"/>
              </a:rPr>
              <a:t>(DeleteBehavior.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Restrict</a:t>
            </a:r>
            <a:r>
              <a:rPr lang="en-US" sz="2399" b="1" noProof="1">
                <a:latin typeface="Consolas" pitchFamily="49" charset="0"/>
              </a:rPr>
              <a:t>);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86000" y="2026395"/>
            <a:ext cx="10220248" cy="98366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modelBuilder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	.Entity&lt;Department&gt;()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  </a:t>
            </a:r>
            <a:r>
              <a:rPr lang="en-US" sz="1000" b="1" noProof="1">
                <a:latin typeface="Consolas" pitchFamily="49" charset="0"/>
              </a:rPr>
              <a:t> </a:t>
            </a:r>
            <a:r>
              <a:rPr lang="en-US" sz="2399" b="1" noProof="1">
                <a:latin typeface="Consolas" pitchFamily="49" charset="0"/>
              </a:rPr>
              <a:t>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Ignore</a:t>
            </a:r>
            <a:r>
              <a:rPr lang="en-US" sz="2399" b="1" noProof="1">
                <a:latin typeface="Consolas" pitchFamily="49" charset="0"/>
              </a:rPr>
              <a:t>(d =&gt; d.Budget);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D60A8CAC-3A19-4EEE-8EFA-D80474DFF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9466" y="6048293"/>
            <a:ext cx="4030433" cy="510778"/>
          </a:xfrm>
          <a:prstGeom prst="wedgeRoundRectCallout">
            <a:avLst>
              <a:gd name="adj1" fmla="val -54414"/>
              <a:gd name="adj2" fmla="val -2035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Throws exception on delete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30842BB1-887E-420C-99DB-38695BC39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713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Mappings can be placed in entity-specific classes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Include in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OnModelCreating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Specialized Configuration Classes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7210" y="2034000"/>
            <a:ext cx="10817580" cy="245541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public class StudentConfiguration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: 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IEntityTypeConfiguration</a:t>
            </a:r>
            <a:r>
              <a:rPr lang="en-US" sz="2399" b="1" noProof="1">
                <a:latin typeface="Consolas" pitchFamily="49" charset="0"/>
              </a:rPr>
              <a:t>&lt;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Student</a:t>
            </a:r>
            <a:r>
              <a:rPr lang="en-US" sz="2399" b="1" noProof="1">
                <a:latin typeface="Consolas" pitchFamily="49" charset="0"/>
              </a:rPr>
              <a:t>&gt;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public void Configure(EntityTypeBuilder&lt;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Student</a:t>
            </a:r>
            <a:r>
              <a:rPr lang="en-US" sz="2399" b="1" noProof="1">
                <a:latin typeface="Consolas" pitchFamily="49" charset="0"/>
              </a:rPr>
              <a:t>&gt; builder)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{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  builder.HasKey(c =&gt; c.StudentKey);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}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}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7446000" y="2349000"/>
            <a:ext cx="3148780" cy="510645"/>
          </a:xfrm>
          <a:prstGeom prst="wedgeRoundRectCallout">
            <a:avLst>
              <a:gd name="adj1" fmla="val -60905"/>
              <a:gd name="adj2" fmla="val -1782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Specify </a:t>
            </a:r>
            <a:r>
              <a:rPr lang="en-US" sz="2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 model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87210" y="5467446"/>
            <a:ext cx="10817580" cy="39299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builder.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ApplyConfiguration</a:t>
            </a:r>
            <a:r>
              <a:rPr lang="en-US" sz="2399" b="1" noProof="1">
                <a:latin typeface="Consolas" pitchFamily="49" charset="0"/>
              </a:rPr>
              <a:t>(new 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StudentConfiguration</a:t>
            </a:r>
            <a:r>
              <a:rPr lang="en-US" sz="2399" b="1" noProof="1">
                <a:latin typeface="Consolas" pitchFamily="49" charset="0"/>
              </a:rPr>
              <a:t>());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BE4F59E-CDB4-4C55-8114-078B1BEFB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3320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89B388-9B9B-4A0C-A2A8-B92B70FE346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210" y="1237473"/>
            <a:ext cx="2888254" cy="2714959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C8A43F93-2A28-4A88-B408-1E52310CBD0A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Custom Entity Framework Behavior</a:t>
            </a:r>
          </a:p>
        </p:txBody>
      </p:sp>
    </p:spTree>
    <p:extLst>
      <p:ext uri="{BB962C8B-B14F-4D97-AF65-F5344CB8AC3E}">
        <p14:creationId xmlns:p14="http://schemas.microsoft.com/office/powerpoint/2010/main" val="220041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EF Code First provides a set of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DataAnnotation</a:t>
            </a:r>
            <a:r>
              <a:rPr lang="en-US" b="1" dirty="0">
                <a:solidFill>
                  <a:schemeClr val="bg1"/>
                </a:solidFill>
              </a:rPr>
              <a:t> attributes</a:t>
            </a:r>
          </a:p>
          <a:p>
            <a:pPr lvl="1"/>
            <a:r>
              <a:rPr lang="en-US" dirty="0"/>
              <a:t>You can override default Entity Framework behavior</a:t>
            </a:r>
          </a:p>
          <a:p>
            <a:r>
              <a:rPr lang="en-US" dirty="0"/>
              <a:t>Access nullability and size of fields</a:t>
            </a:r>
          </a:p>
          <a:p>
            <a:endParaRPr lang="en-US" dirty="0"/>
          </a:p>
          <a:p>
            <a:r>
              <a:rPr lang="en-US" dirty="0"/>
              <a:t>Access schema customizations</a:t>
            </a:r>
          </a:p>
          <a:p>
            <a:endParaRPr lang="en-US" dirty="0"/>
          </a:p>
          <a:p>
            <a:r>
              <a:rPr lang="en-US" dirty="0"/>
              <a:t>For a full set of configuration options you need the </a:t>
            </a:r>
            <a:r>
              <a:rPr lang="en-US" b="1" dirty="0">
                <a:solidFill>
                  <a:schemeClr val="bg1"/>
                </a:solidFill>
              </a:rPr>
              <a:t>Fluent API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41000" y="3339000"/>
            <a:ext cx="10352311" cy="4431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800" b="1" noProof="1">
                <a:latin typeface="Consolas" pitchFamily="49" charset="0"/>
              </a:rPr>
              <a:t>using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System.ComponentModel.DataAnnotations</a:t>
            </a:r>
            <a:r>
              <a:rPr lang="en-US" sz="2800" b="1" noProof="1">
                <a:latin typeface="Consolas" pitchFamily="49" charset="0"/>
              </a:rPr>
              <a:t>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41000" y="4734000"/>
            <a:ext cx="10352311" cy="4431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800" b="1" noProof="1">
                <a:latin typeface="Consolas" pitchFamily="49" charset="0"/>
              </a:rPr>
              <a:t>using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System.ComponentModel.DataAnnotations.Schema</a:t>
            </a:r>
            <a:r>
              <a:rPr lang="en-US" sz="2800" b="1" noProof="1">
                <a:latin typeface="Consolas" pitchFamily="49" charset="0"/>
              </a:rPr>
              <a:t>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834875E-C380-4ECD-9D42-BC970C571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8598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[Key]</a:t>
            </a:r>
            <a:r>
              <a:rPr lang="en-US" dirty="0"/>
              <a:t> – explicitly specify </a:t>
            </a:r>
            <a:r>
              <a:rPr lang="en-US" b="1" dirty="0">
                <a:solidFill>
                  <a:schemeClr val="bg1"/>
                </a:solidFill>
              </a:rPr>
              <a:t>primary key</a:t>
            </a:r>
          </a:p>
          <a:p>
            <a:pPr lvl="1"/>
            <a:r>
              <a:rPr lang="en-US" dirty="0"/>
              <a:t>When your PK column doesn't have an "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en-US" dirty="0"/>
              <a:t>" or </a:t>
            </a:r>
            <a:br>
              <a:rPr lang="bg-BG" dirty="0"/>
            </a:br>
            <a:r>
              <a:rPr lang="en-US" dirty="0"/>
              <a:t>"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&lt;TypeName&gt;Id</a:t>
            </a:r>
            <a:r>
              <a:rPr lang="en-US" dirty="0"/>
              <a:t>" suffix</a:t>
            </a:r>
          </a:p>
          <a:p>
            <a:pPr marL="609036" lvl="1" indent="0">
              <a:buNone/>
            </a:pPr>
            <a:endParaRPr lang="en-US" dirty="0"/>
          </a:p>
          <a:p>
            <a:pPr marL="609036" lvl="1" indent="0">
              <a:buNone/>
            </a:pPr>
            <a:endParaRPr lang="en-US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Composite key </a:t>
            </a:r>
            <a:r>
              <a:rPr lang="en-US" dirty="0"/>
              <a:t>is defined using </a:t>
            </a:r>
            <a:r>
              <a:rPr lang="en-US" b="1" dirty="0">
                <a:solidFill>
                  <a:schemeClr val="bg1"/>
                </a:solidFill>
              </a:rPr>
              <a:t>Fluent API</a:t>
            </a:r>
          </a:p>
          <a:p>
            <a:pPr lvl="1">
              <a:buClr>
                <a:schemeClr val="tx1"/>
              </a:buClr>
            </a:pPr>
            <a:endParaRPr lang="en-US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endParaRPr lang="en-US" b="1" dirty="0">
              <a:solidFill>
                <a:schemeClr val="bg1"/>
              </a:solidFill>
            </a:endParaRPr>
          </a:p>
          <a:p>
            <a:pPr lvl="2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PrimaryKey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/>
              <a:t>available </a:t>
            </a:r>
            <a:r>
              <a:rPr lang="en-US" b="1" dirty="0"/>
              <a:t>only</a:t>
            </a:r>
            <a:r>
              <a:rPr lang="en-US" dirty="0"/>
              <a:t> in EF7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Attribute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12866" y="3087457"/>
            <a:ext cx="8943134" cy="6830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[Key]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public int StudentKey { get; set; 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12867" y="4914000"/>
            <a:ext cx="8943134" cy="8307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399" b="1" noProof="1">
                <a:latin typeface="Consolas" pitchFamily="49" charset="0"/>
              </a:rPr>
              <a:t>builder.Entity&lt;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Car</a:t>
            </a:r>
            <a:r>
              <a:rPr lang="en-US" sz="2399" b="1" noProof="1">
                <a:latin typeface="Consolas" pitchFamily="49" charset="0"/>
              </a:rPr>
              <a:t>&gt;()</a:t>
            </a:r>
          </a:p>
          <a:p>
            <a:r>
              <a:rPr lang="en-US" sz="2399" b="1" noProof="1">
                <a:latin typeface="Consolas" pitchFamily="49" charset="0"/>
              </a:rPr>
              <a:t>	.HasKey(c =&gt; new { c.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State</a:t>
            </a:r>
            <a:r>
              <a:rPr lang="en-US" sz="2399" b="1" noProof="1">
                <a:latin typeface="Consolas" pitchFamily="49" charset="0"/>
              </a:rPr>
              <a:t>, c.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LicensePlate</a:t>
            </a:r>
            <a:r>
              <a:rPr lang="en-US" sz="2399" b="1" noProof="1">
                <a:latin typeface="Consolas" pitchFamily="49" charset="0"/>
              </a:rPr>
              <a:t> });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E1242FEA-204C-4265-B05B-95875F0AB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462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 fontScale="92500"/>
          </a:bodyPr>
          <a:lstStyle/>
          <a:p>
            <a:pPr>
              <a:buClr>
                <a:schemeClr val="tx1"/>
              </a:buClr>
            </a:pP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[ForeignKey]</a:t>
            </a:r>
            <a:r>
              <a:rPr lang="en-US" sz="3000" dirty="0"/>
              <a:t> – explicitly </a:t>
            </a:r>
            <a:r>
              <a:rPr lang="en-US" sz="3000" b="1" dirty="0">
                <a:solidFill>
                  <a:schemeClr val="bg1"/>
                </a:solidFill>
              </a:rPr>
              <a:t>link</a:t>
            </a:r>
            <a:r>
              <a:rPr lang="en-US" sz="3000" dirty="0"/>
              <a:t> navigation property and foreign key property within the same class</a:t>
            </a:r>
          </a:p>
          <a:p>
            <a:r>
              <a:rPr lang="en-US" sz="3000" dirty="0"/>
              <a:t>Works in </a:t>
            </a:r>
            <a:r>
              <a:rPr lang="en-US" sz="3000" b="1" dirty="0">
                <a:solidFill>
                  <a:schemeClr val="bg1"/>
                </a:solidFill>
              </a:rPr>
              <a:t>either</a:t>
            </a:r>
            <a:r>
              <a:rPr lang="en-US" sz="3000" dirty="0"/>
              <a:t> </a:t>
            </a:r>
            <a:r>
              <a:rPr lang="en-US" sz="3000" b="1" dirty="0">
                <a:solidFill>
                  <a:schemeClr val="bg1"/>
                </a:solidFill>
              </a:rPr>
              <a:t>direction</a:t>
            </a:r>
            <a:r>
              <a:rPr lang="en-US" sz="3000" dirty="0"/>
              <a:t> (FK to navigation property or navigation property </a:t>
            </a:r>
            <a:br>
              <a:rPr lang="bg-BG" sz="3000" dirty="0"/>
            </a:br>
            <a:r>
              <a:rPr lang="en-US" sz="3000" dirty="0"/>
              <a:t>to FK)</a:t>
            </a:r>
          </a:p>
          <a:p>
            <a:pPr lvl="1"/>
            <a:r>
              <a:rPr lang="en-US" sz="2800" b="1" dirty="0">
                <a:latin typeface="+mj-lt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ForeignKey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NavigationPropertyName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)]</a:t>
            </a:r>
            <a:r>
              <a:rPr lang="en-US" sz="2800" dirty="0">
                <a:latin typeface="+mj-lt"/>
              </a:rPr>
              <a:t> – on the foreign key scalar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 property in the dependent entity </a:t>
            </a:r>
          </a:p>
          <a:p>
            <a:pPr lvl="1"/>
            <a:r>
              <a:rPr lang="en-US" sz="2800" b="1" dirty="0">
                <a:latin typeface="+mj-lt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ForeignKey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ForeignKeyPropertyName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)]</a:t>
            </a:r>
            <a:r>
              <a:rPr lang="en-US" sz="2800" dirty="0">
                <a:latin typeface="+mj-lt"/>
              </a:rPr>
              <a:t> – on the related reference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 navigation property in the dependent entity</a:t>
            </a:r>
          </a:p>
          <a:p>
            <a:pPr lvl="1"/>
            <a:r>
              <a:rPr lang="en-US" sz="2800" b="1" dirty="0">
                <a:latin typeface="+mj-lt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ForeignKey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ForeignKeyPropertyName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)]</a:t>
            </a:r>
            <a:r>
              <a:rPr lang="en-US" sz="2800" dirty="0">
                <a:latin typeface="+mj-lt"/>
              </a:rPr>
              <a:t> – on the navigation property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 in the principal entity</a:t>
            </a:r>
            <a:endParaRPr lang="en-US" sz="2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ForeignKey</a:t>
            </a:r>
            <a:r>
              <a:rPr lang="en-US" dirty="0"/>
              <a:t> Attribute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9BA07BD-7DA0-4E21-8AF4-8AC293DDB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867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39BA07BD-7DA0-4E21-8AF4-8AC293DDB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0401" y="1196125"/>
            <a:ext cx="6277769" cy="5528766"/>
          </a:xfrm>
        </p:spPr>
        <p:txBody>
          <a:bodyPr>
            <a:normAutofit/>
          </a:bodyPr>
          <a:lstStyle/>
          <a:p>
            <a:pPr marL="182563" indent="-182563">
              <a:buClr>
                <a:schemeClr val="tx1"/>
              </a:buClr>
            </a:pPr>
            <a:r>
              <a:rPr lang="en-US" sz="2200" b="1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sz="2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ForeignKey</a:t>
            </a:r>
            <a:r>
              <a:rPr lang="en-US" sz="22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NavigationPropertyName</a:t>
            </a:r>
            <a:r>
              <a:rPr lang="en-US" sz="2200" b="1" dirty="0">
                <a:solidFill>
                  <a:schemeClr val="bg1"/>
                </a:solidFill>
                <a:latin typeface="Consolas" panose="020B0609020204030204" pitchFamily="49" charset="0"/>
              </a:rPr>
              <a:t>)]</a:t>
            </a:r>
            <a:endParaRPr lang="en-US" sz="2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ForeignKey</a:t>
            </a:r>
            <a:r>
              <a:rPr lang="en-US" dirty="0"/>
              <a:t> Attribute – Example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43561" y="1888846"/>
            <a:ext cx="5447439" cy="182030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public class Order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  …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  [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ForeignKey</a:t>
            </a:r>
            <a:r>
              <a:rPr lang="en-US" sz="2000" b="1" noProof="1">
                <a:latin typeface="Consolas" pitchFamily="49" charset="0"/>
              </a:rPr>
              <a:t>(nameof(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Client</a:t>
            </a:r>
            <a:r>
              <a:rPr lang="en-US" sz="2000" b="1" noProof="1">
                <a:latin typeface="Consolas" pitchFamily="49" charset="0"/>
              </a:rPr>
              <a:t>))]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  public int ClientId { get; set; }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  public Client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Client</a:t>
            </a:r>
            <a:r>
              <a:rPr lang="en-US" sz="2000" b="1" noProof="1">
                <a:latin typeface="Consolas" pitchFamily="49" charset="0"/>
              </a:rPr>
              <a:t> { get; set; }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9D18CD-4AA6-4E84-A511-583727C13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002" y="1888845"/>
            <a:ext cx="5447440" cy="182030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public class Order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  …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  public int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ClientId</a:t>
            </a:r>
            <a:r>
              <a:rPr lang="en-US" sz="2000" b="1" noProof="1">
                <a:latin typeface="Consolas" pitchFamily="49" charset="0"/>
              </a:rPr>
              <a:t> { get; set; }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  [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ForeignKey</a:t>
            </a:r>
            <a:r>
              <a:rPr lang="en-US" sz="2000" b="1" noProof="1">
                <a:latin typeface="Consolas" pitchFamily="49" charset="0"/>
              </a:rPr>
              <a:t>(nameof(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ClientId</a:t>
            </a:r>
            <a:r>
              <a:rPr lang="en-US" sz="2000" b="1" noProof="1">
                <a:latin typeface="Consolas" pitchFamily="49" charset="0"/>
              </a:rPr>
              <a:t>))]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  public Client Client { get; set; }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A3CC55-48BE-420F-8DBE-A8015CB7D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726" y="4546732"/>
            <a:ext cx="7152548" cy="132786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public class Client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  …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  public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ICollection</a:t>
            </a:r>
            <a:r>
              <a:rPr lang="en-US" sz="2000" b="1" noProof="1">
                <a:latin typeface="Consolas" pitchFamily="49" charset="0"/>
              </a:rPr>
              <a:t>&lt;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Order</a:t>
            </a:r>
            <a:r>
              <a:rPr lang="en-US" sz="2000" b="1" noProof="1">
                <a:latin typeface="Consolas" pitchFamily="49" charset="0"/>
              </a:rPr>
              <a:t>&gt;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</a:rPr>
              <a:t>Orders</a:t>
            </a:r>
            <a:r>
              <a:rPr lang="en-US" sz="2000" b="1" noProof="1">
                <a:latin typeface="Consolas" pitchFamily="49" charset="0"/>
              </a:rPr>
              <a:t> { get; set; }</a:t>
            </a:r>
          </a:p>
          <a:p>
            <a:pPr>
              <a:lnSpc>
                <a:spcPct val="80000"/>
              </a:lnSpc>
            </a:pPr>
            <a:r>
              <a:rPr lang="en-US" sz="2000" b="1" noProof="1">
                <a:latin typeface="Consolas" pitchFamily="49" charset="0"/>
              </a:rPr>
              <a:t>}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C6CEFAB-10E4-48C2-B6DB-9153CB408905}"/>
              </a:ext>
            </a:extLst>
          </p:cNvPr>
          <p:cNvSpPr txBox="1">
            <a:spLocks/>
          </p:cNvSpPr>
          <p:nvPr/>
        </p:nvSpPr>
        <p:spPr>
          <a:xfrm>
            <a:off x="5691000" y="1126734"/>
            <a:ext cx="5680598" cy="55287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6036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1055AB-8B03-4E13-BEB1-FCBD0DC9CEE7}"/>
              </a:ext>
            </a:extLst>
          </p:cNvPr>
          <p:cNvSpPr txBox="1">
            <a:spLocks/>
          </p:cNvSpPr>
          <p:nvPr/>
        </p:nvSpPr>
        <p:spPr>
          <a:xfrm>
            <a:off x="6193114" y="1193930"/>
            <a:ext cx="6508316" cy="55287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6036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>
              <a:buClr>
                <a:schemeClr val="tx1"/>
              </a:buClr>
            </a:pPr>
            <a:r>
              <a:rPr lang="en-US" sz="2200" b="1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sz="2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ForeignKey</a:t>
            </a:r>
            <a:r>
              <a:rPr lang="en-US" sz="22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ForeignKeyPropertyName</a:t>
            </a:r>
            <a:r>
              <a:rPr lang="en-US" sz="2200" b="1" dirty="0">
                <a:solidFill>
                  <a:schemeClr val="bg1"/>
                </a:solidFill>
                <a:latin typeface="Consolas" panose="020B0609020204030204" pitchFamily="49" charset="0"/>
              </a:rPr>
              <a:t>)]</a:t>
            </a:r>
            <a:endParaRPr lang="en-US" sz="2200" dirty="0"/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0159991D-CAB7-48EE-B917-C32C2A65DD66}"/>
              </a:ext>
            </a:extLst>
          </p:cNvPr>
          <p:cNvSpPr/>
          <p:nvPr/>
        </p:nvSpPr>
        <p:spPr bwMode="auto">
          <a:xfrm rot="10800000" flipH="1">
            <a:off x="798038" y="4131629"/>
            <a:ext cx="1516615" cy="1530001"/>
          </a:xfrm>
          <a:prstGeom prst="bentArrow">
            <a:avLst>
              <a:gd name="adj1" fmla="val 25000"/>
              <a:gd name="adj2" fmla="val 25317"/>
              <a:gd name="adj3" fmla="val 25000"/>
              <a:gd name="adj4" fmla="val 43750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1DA083C0-18AF-4674-839D-7D1369ECA7C3}"/>
              </a:ext>
            </a:extLst>
          </p:cNvPr>
          <p:cNvSpPr/>
          <p:nvPr/>
        </p:nvSpPr>
        <p:spPr bwMode="auto">
          <a:xfrm rot="10800000">
            <a:off x="9877347" y="4131629"/>
            <a:ext cx="1531642" cy="1530000"/>
          </a:xfrm>
          <a:prstGeom prst="ben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070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Table</a:t>
            </a:r>
            <a:r>
              <a:rPr lang="en-US" dirty="0"/>
              <a:t> – manually specify the name of the table in the DB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Renaming Objects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99269" y="2214000"/>
            <a:ext cx="7618016" cy="156925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[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Table</a:t>
            </a:r>
            <a:r>
              <a:rPr lang="en-US" sz="2399" b="1" noProof="1">
                <a:latin typeface="Consolas" pitchFamily="49" charset="0"/>
              </a:rPr>
              <a:t>("StudentMaster")]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public class Student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…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}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286992" y="4343163"/>
            <a:ext cx="7618016" cy="156925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[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Table</a:t>
            </a:r>
            <a:r>
              <a:rPr lang="en-US" sz="2399" b="1" noProof="1">
                <a:latin typeface="Consolas" pitchFamily="49" charset="0"/>
              </a:rPr>
              <a:t>("StudentMaster", 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Schema</a:t>
            </a:r>
            <a:r>
              <a:rPr lang="en-US" sz="2399" b="1" noProof="1">
                <a:latin typeface="Consolas" pitchFamily="49" charset="0"/>
              </a:rPr>
              <a:t> = "Admin")]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public class Student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…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}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EC59806-0CA0-42EE-A6EF-E3F1F01FC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61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Column</a:t>
            </a:r>
            <a:r>
              <a:rPr lang="en-US" dirty="0"/>
              <a:t> – manually specify the name of the column in the DB</a:t>
            </a:r>
          </a:p>
          <a:p>
            <a:pPr lvl="1"/>
            <a:r>
              <a:rPr lang="en-US" dirty="0"/>
              <a:t>You can also specify order and explicit data type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Renaming Objects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9569" y="2864242"/>
            <a:ext cx="10512862" cy="1864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public class Student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…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[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Column</a:t>
            </a:r>
            <a:r>
              <a:rPr lang="en-US" sz="2399" b="1" noProof="1">
                <a:latin typeface="Consolas" pitchFamily="49" charset="0"/>
              </a:rPr>
              <a:t>("StudentName", 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Order</a:t>
            </a:r>
            <a:r>
              <a:rPr lang="en-US" sz="2399" b="1" noProof="1">
                <a:latin typeface="Consolas" pitchFamily="49" charset="0"/>
              </a:rPr>
              <a:t> = 2, 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TypeName</a:t>
            </a:r>
            <a:r>
              <a:rPr lang="en-US" sz="2399" b="1" noProof="1">
                <a:latin typeface="Consolas" pitchFamily="49" charset="0"/>
              </a:rPr>
              <a:t>="varchar(50)")]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public string Name { get; set; }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}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DD0DD81-79AB-41DF-8829-CBA6EF833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4809BAAC-DB98-4F5B-8628-C33865DC4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6000" y="3173611"/>
            <a:ext cx="3411432" cy="510778"/>
          </a:xfrm>
          <a:prstGeom prst="wedgeRoundRectCallout">
            <a:avLst>
              <a:gd name="adj1" fmla="val -55328"/>
              <a:gd name="adj2" fmla="val 4689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 parameters</a:t>
            </a:r>
          </a:p>
        </p:txBody>
      </p:sp>
    </p:spTree>
    <p:extLst>
      <p:ext uri="{BB962C8B-B14F-4D97-AF65-F5344CB8AC3E}">
        <p14:creationId xmlns:p14="http://schemas.microsoft.com/office/powerpoint/2010/main" val="378500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Required</a:t>
            </a:r>
            <a:r>
              <a:rPr lang="en-US" dirty="0"/>
              <a:t> – mark a nullable property as </a:t>
            </a:r>
            <a:r>
              <a:rPr lang="en-US" b="1" dirty="0">
                <a:solidFill>
                  <a:schemeClr val="bg1"/>
                </a:solidFill>
              </a:rPr>
              <a:t>NOT</a:t>
            </a:r>
            <a:r>
              <a:rPr lang="en-US" b="1" dirty="0"/>
              <a:t> </a:t>
            </a:r>
            <a:r>
              <a:rPr lang="en-US" b="1" dirty="0">
                <a:solidFill>
                  <a:schemeClr val="bg1"/>
                </a:solidFill>
              </a:rPr>
              <a:t>NULL</a:t>
            </a:r>
            <a:r>
              <a:rPr lang="en-US" b="1" dirty="0"/>
              <a:t> </a:t>
            </a:r>
            <a:r>
              <a:rPr lang="en-US" dirty="0"/>
              <a:t>in the DB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Will throw an exception if not set to a value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Non-nullable types (e.g.,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dirty="0"/>
              <a:t>) will </a:t>
            </a:r>
            <a:r>
              <a:rPr lang="en-US" b="1" dirty="0">
                <a:solidFill>
                  <a:schemeClr val="bg1"/>
                </a:solidFill>
              </a:rPr>
              <a:t>not throw </a:t>
            </a:r>
            <a:r>
              <a:rPr lang="en-US" dirty="0"/>
              <a:t>an exception (will be set to language-specific default value)</a:t>
            </a:r>
          </a:p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MinLength</a:t>
            </a:r>
            <a:r>
              <a:rPr lang="en-US" noProof="1"/>
              <a:t> </a:t>
            </a:r>
            <a:r>
              <a:rPr lang="en-US" dirty="0"/>
              <a:t>– specifies min length of a string (client validation)</a:t>
            </a:r>
          </a:p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MaxLength</a:t>
            </a:r>
            <a:r>
              <a:rPr lang="en-US" noProof="1"/>
              <a:t> /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StringLength</a:t>
            </a:r>
            <a:r>
              <a:rPr lang="en-US" noProof="1"/>
              <a:t> </a:t>
            </a:r>
            <a:r>
              <a:rPr lang="en-US" dirty="0"/>
              <a:t>– specifies max length of a string </a:t>
            </a:r>
            <a:br>
              <a:rPr lang="en-US" dirty="0"/>
            </a:br>
            <a:r>
              <a:rPr lang="en-US" dirty="0"/>
              <a:t>(both client and DB validation)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Range</a:t>
            </a:r>
            <a:r>
              <a:rPr lang="en-US" dirty="0"/>
              <a:t> – set lower and/or upper limits of numeric property </a:t>
            </a:r>
            <a:br>
              <a:rPr lang="en-US" dirty="0"/>
            </a:br>
            <a:r>
              <a:rPr lang="en-US" dirty="0"/>
              <a:t>(client validation)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Validation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9E1E3B5-01F7-43CB-8C71-8992BBEC3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929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Index</a:t>
            </a:r>
            <a:r>
              <a:rPr lang="en-US" dirty="0"/>
              <a:t> – create index for column(s)</a:t>
            </a:r>
          </a:p>
          <a:p>
            <a:pPr lvl="1"/>
            <a:r>
              <a:rPr lang="en-US" dirty="0"/>
              <a:t>Primary key will always have an index</a:t>
            </a:r>
          </a:p>
          <a:p>
            <a:pPr lvl="1"/>
            <a:endParaRPr lang="en-US" dirty="0"/>
          </a:p>
          <a:p>
            <a:pPr marL="0" indent="0">
              <a:buClr>
                <a:schemeClr val="tx1"/>
              </a:buClr>
              <a:buNone/>
            </a:pPr>
            <a:endParaRPr lang="en-US" b="1" noProof="1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NotMapped</a:t>
            </a:r>
            <a:r>
              <a:rPr lang="en-US" dirty="0"/>
              <a:t> – property will not be mapped to a column</a:t>
            </a:r>
          </a:p>
          <a:p>
            <a:pPr lvl="1"/>
            <a:r>
              <a:rPr lang="en-US" dirty="0"/>
              <a:t>For business logic properties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Attributes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803899-42AA-464A-8062-1D347F2F9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000" y="2574000"/>
            <a:ext cx="10710000" cy="127900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[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Index</a:t>
            </a:r>
            <a:r>
              <a:rPr lang="en-US" sz="2399" b="1" noProof="1">
                <a:latin typeface="Consolas" pitchFamily="49" charset="0"/>
              </a:rPr>
              <a:t>(nameof(Url))]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public class Student {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public string Url { get; set; }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}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05CD21D-4EEF-4FA3-9AF6-2FCB87D6D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258C52-FBEB-44D9-9852-10BE99E18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000" y="5274000"/>
            <a:ext cx="10710000" cy="6883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[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NotMapped</a:t>
            </a:r>
            <a:r>
              <a:rPr lang="en-US" sz="2399" b="1" noProof="1">
                <a:latin typeface="Consolas" pitchFamily="49" charset="0"/>
              </a:rPr>
              <a:t>]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public string FullName =&gt; this.FirstName + this.LastName;</a:t>
            </a:r>
          </a:p>
        </p:txBody>
      </p:sp>
    </p:spTree>
    <p:extLst>
      <p:ext uri="{BB962C8B-B14F-4D97-AF65-F5344CB8AC3E}">
        <p14:creationId xmlns:p14="http://schemas.microsoft.com/office/powerpoint/2010/main" val="375205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CD1C6C-E4EB-4BEE-BBA8-6A4358DA14D4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Table Relationships</a:t>
            </a:r>
          </a:p>
        </p:txBody>
      </p:sp>
      <p:pic>
        <p:nvPicPr>
          <p:cNvPr id="3074" name="Picture 2" descr="Image result for properties png">
            <a:extLst>
              <a:ext uri="{FF2B5EF4-FFF2-40B4-BE49-F238E27FC236}">
                <a16:creationId xmlns:a16="http://schemas.microsoft.com/office/drawing/2014/main" id="{5D4786BD-B8E1-4EB8-B154-FB785B321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990600"/>
            <a:ext cx="3524774" cy="352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E3E986-FDB8-44B8-8A9D-A11ECE4EF96E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Expressed As Properties and Attributes</a:t>
            </a:r>
          </a:p>
        </p:txBody>
      </p:sp>
    </p:spTree>
    <p:extLst>
      <p:ext uri="{BB962C8B-B14F-4D97-AF65-F5344CB8AC3E}">
        <p14:creationId xmlns:p14="http://schemas.microsoft.com/office/powerpoint/2010/main" val="114702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Expressed in SQL Server as a shared primary key</a:t>
            </a:r>
          </a:p>
          <a:p>
            <a:r>
              <a:rPr lang="en-US" dirty="0"/>
              <a:t> Relationship direction must be explicitly specified with a</a:t>
            </a:r>
            <a:br>
              <a:rPr lang="en-US" dirty="0"/>
            </a:br>
            <a:r>
              <a:rPr lang="en-US" dirty="0"/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ForeignKey</a:t>
            </a:r>
            <a:r>
              <a:rPr lang="en-US" dirty="0"/>
              <a:t> attribute</a:t>
            </a:r>
          </a:p>
          <a:p>
            <a:r>
              <a:rPr lang="en-US" b="1" noProof="1">
                <a:latin typeface="+mj-lt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ForeignKey</a:t>
            </a:r>
            <a:r>
              <a:rPr lang="en-US" dirty="0"/>
              <a:t> is placed above the key property and contains the 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name</a:t>
            </a:r>
            <a:r>
              <a:rPr lang="en-US" dirty="0"/>
              <a:t> of the navigation property and vice versa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One-to-Zero-or-One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2361000" y="4959000"/>
            <a:ext cx="2502582" cy="808023"/>
          </a:xfrm>
          <a:prstGeom prst="roundRect">
            <a:avLst>
              <a:gd name="adj" fmla="val 0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7085400" y="4958999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</a:t>
            </a:r>
          </a:p>
        </p:txBody>
      </p:sp>
      <p:cxnSp>
        <p:nvCxnSpPr>
          <p:cNvPr id="9" name="Straight Arrow Connector 8"/>
          <p:cNvCxnSpPr>
            <a:cxnSpLocks/>
            <a:stCxn id="6" idx="3"/>
            <a:endCxn id="7" idx="1"/>
          </p:cNvCxnSpPr>
          <p:nvPr/>
        </p:nvCxnSpPr>
        <p:spPr>
          <a:xfrm flipV="1">
            <a:off x="4863582" y="5363011"/>
            <a:ext cx="2221818" cy="1"/>
          </a:xfrm>
          <a:prstGeom prst="straightConnector1">
            <a:avLst/>
          </a:prstGeom>
          <a:ln w="57150">
            <a:solidFill>
              <a:schemeClr val="tx1">
                <a:alpha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C20A5E25-3B68-4D28-8662-FB908B6D1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2392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74DCB0-826E-4C41-A21B-CFC34776E5E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Using the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ForeignKey</a:t>
            </a:r>
            <a:r>
              <a:rPr lang="en-US" dirty="0"/>
              <a:t> Attribute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One-to-Zero-or-One: Implementation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371600" y="1956791"/>
            <a:ext cx="9448800" cy="426921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public class Student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[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Key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]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public int Id { get; set; }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string Name { get; set; }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[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ForeignKey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("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Address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")]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int AddressId { get; set; }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Address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Address</a:t>
            </a:r>
            <a:r>
              <a:rPr lang="en-US" sz="2800" b="1" noProof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{ get; set; }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3441000" y="2664000"/>
            <a:ext cx="1879928" cy="510778"/>
          </a:xfrm>
          <a:prstGeom prst="wedgeRoundRectCallout">
            <a:avLst>
              <a:gd name="adj1" fmla="val -61323"/>
              <a:gd name="adj2" fmla="val 3659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Attributes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9502C5A-F07C-4C9C-B345-27640C27F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2627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D59E-28EE-4578-A2E3-CFEF18D8836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Using the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ForeignKey</a:t>
            </a:r>
            <a:r>
              <a:rPr lang="en-US" dirty="0"/>
              <a:t> Attribute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DA37A8-45D0-472E-950E-4B359FEA0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One-to-Zero-or-One: Implementation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1C7C59-06A5-4E05-AF20-93AE99E49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169000"/>
            <a:ext cx="8839200" cy="381678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public class Address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int Id { get; set; }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string Text { get; set; }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[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ForeignKey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(nameof(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))]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int StudentId { get; set; }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Student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{ get; set; }</a:t>
            </a:r>
          </a:p>
          <a:p>
            <a:pPr>
              <a:lnSpc>
                <a:spcPct val="10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3C768F-40A5-4A3A-A5E3-FEF6A6F72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020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HasOne</a:t>
            </a:r>
            <a:r>
              <a:rPr lang="en-US" dirty="0"/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→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WithOne</a:t>
            </a:r>
            <a:endParaRPr lang="en-US" b="1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StudentId</a:t>
            </a:r>
            <a:r>
              <a:rPr lang="en-US" dirty="0"/>
              <a:t> property is </a:t>
            </a:r>
            <a:r>
              <a:rPr lang="en-US" b="1" dirty="0">
                <a:solidFill>
                  <a:schemeClr val="bg1"/>
                </a:solidFill>
              </a:rPr>
              <a:t>nullable</a:t>
            </a:r>
            <a:r>
              <a:rPr lang="en-US" dirty="0"/>
              <a:t> (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int?</a:t>
            </a:r>
            <a:r>
              <a:rPr lang="en-US" dirty="0"/>
              <a:t>), relation becomes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One-To-Zero-Or-One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One-to-Zero-or-One: Fluent API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51000" y="1899000"/>
            <a:ext cx="9450000" cy="19416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modelBuilder.Entity&lt;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Address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&gt;()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HasOne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(a =&gt; a.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WithOne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 =&gt; s.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Address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HasForeignKey&lt;Student&gt;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(a =&gt; a.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StudentId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6833867" y="2344099"/>
            <a:ext cx="3048000" cy="919401"/>
          </a:xfrm>
          <a:prstGeom prst="wedgeRoundRectCallout">
            <a:avLst>
              <a:gd name="adj1" fmla="val -57225"/>
              <a:gd name="adj2" fmla="val 3981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Address</a:t>
            </a:r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contains FK to 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Student</a:t>
            </a:r>
            <a:endParaRPr lang="bg-BG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7DCF487-B1E2-41D2-B0C1-3633FA35E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406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Most common type of relationship</a:t>
            </a:r>
          </a:p>
          <a:p>
            <a:r>
              <a:rPr lang="en-US" dirty="0"/>
              <a:t>Implemented with a </a:t>
            </a:r>
            <a:r>
              <a:rPr lang="en-US" b="1" dirty="0">
                <a:solidFill>
                  <a:schemeClr val="bg1"/>
                </a:solidFill>
              </a:rPr>
              <a:t>collection</a:t>
            </a:r>
            <a:r>
              <a:rPr lang="en-US" dirty="0"/>
              <a:t> inside the </a:t>
            </a:r>
            <a:r>
              <a:rPr lang="en-US" b="1" dirty="0">
                <a:solidFill>
                  <a:schemeClr val="bg1"/>
                </a:solidFill>
              </a:rPr>
              <a:t>parent entity</a:t>
            </a:r>
          </a:p>
          <a:p>
            <a:pPr lvl="1"/>
            <a:r>
              <a:rPr lang="en-US" dirty="0"/>
              <a:t>The collection should be </a:t>
            </a:r>
            <a:r>
              <a:rPr lang="en-US" b="1" dirty="0">
                <a:solidFill>
                  <a:schemeClr val="bg1"/>
                </a:solidFill>
              </a:rPr>
              <a:t>initialized</a:t>
            </a:r>
            <a:r>
              <a:rPr lang="en-US" dirty="0"/>
              <a:t> in the </a:t>
            </a:r>
            <a:r>
              <a:rPr lang="en-US" b="1" dirty="0">
                <a:solidFill>
                  <a:schemeClr val="bg1"/>
                </a:solidFill>
              </a:rPr>
              <a:t>constructor</a:t>
            </a:r>
            <a:r>
              <a:rPr lang="en-US" dirty="0"/>
              <a:t>!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2482509" y="4401135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7206909" y="4401134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Employee</a:t>
            </a:r>
          </a:p>
        </p:txBody>
      </p:sp>
      <p:sp>
        <p:nvSpPr>
          <p:cNvPr id="11" name="Rectangle: Rounded Corners 10"/>
          <p:cNvSpPr/>
          <p:nvPr/>
        </p:nvSpPr>
        <p:spPr>
          <a:xfrm>
            <a:off x="7206909" y="5373267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Employee</a:t>
            </a:r>
          </a:p>
        </p:txBody>
      </p:sp>
      <p:sp>
        <p:nvSpPr>
          <p:cNvPr id="12" name="Rectangle: Rounded Corners 11"/>
          <p:cNvSpPr/>
          <p:nvPr/>
        </p:nvSpPr>
        <p:spPr>
          <a:xfrm>
            <a:off x="7206909" y="3429001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Employee</a:t>
            </a:r>
          </a:p>
        </p:txBody>
      </p:sp>
      <p:cxnSp>
        <p:nvCxnSpPr>
          <p:cNvPr id="19" name="Straight Arrow Connector 18"/>
          <p:cNvCxnSpPr>
            <a:stCxn id="6" idx="3"/>
            <a:endCxn id="12" idx="1"/>
          </p:cNvCxnSpPr>
          <p:nvPr/>
        </p:nvCxnSpPr>
        <p:spPr>
          <a:xfrm flipV="1">
            <a:off x="4985091" y="3833012"/>
            <a:ext cx="2221818" cy="972134"/>
          </a:xfrm>
          <a:prstGeom prst="straightConnector1">
            <a:avLst/>
          </a:prstGeom>
          <a:ln w="57150">
            <a:solidFill>
              <a:schemeClr val="tx1">
                <a:alpha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3"/>
            <a:endCxn id="7" idx="1"/>
          </p:cNvCxnSpPr>
          <p:nvPr/>
        </p:nvCxnSpPr>
        <p:spPr>
          <a:xfrm flipV="1">
            <a:off x="4985091" y="4805146"/>
            <a:ext cx="2221818" cy="1"/>
          </a:xfrm>
          <a:prstGeom prst="straightConnector1">
            <a:avLst/>
          </a:prstGeom>
          <a:ln w="57150">
            <a:solidFill>
              <a:schemeClr val="tx1">
                <a:alpha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6" idx="3"/>
            <a:endCxn id="11" idx="1"/>
          </p:cNvCxnSpPr>
          <p:nvPr/>
        </p:nvCxnSpPr>
        <p:spPr>
          <a:xfrm>
            <a:off x="4985091" y="4805146"/>
            <a:ext cx="2221818" cy="972132"/>
          </a:xfrm>
          <a:prstGeom prst="straightConnector1">
            <a:avLst/>
          </a:prstGeom>
          <a:ln w="57150">
            <a:solidFill>
              <a:schemeClr val="tx1">
                <a:alpha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">
            <a:extLst>
              <a:ext uri="{FF2B5EF4-FFF2-40B4-BE49-F238E27FC236}">
                <a16:creationId xmlns:a16="http://schemas.microsoft.com/office/drawing/2014/main" id="{EEC83915-BF04-4347-BEC9-316691498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1659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45AE7B-1809-42FA-ADC0-2C7EEF3C8DE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One department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has </a:t>
            </a:r>
            <a:r>
              <a:rPr lang="en-US" b="1" dirty="0">
                <a:solidFill>
                  <a:schemeClr val="bg1"/>
                </a:solidFill>
              </a:rPr>
              <a:t>many employees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One-to-Many: Implementation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33400" y="1981200"/>
            <a:ext cx="11125200" cy="32343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public class Department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int Id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string Name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ICollection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Employee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&gt; Employees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112B31B-50ED-41C0-8033-6D9122B29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18667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B5126-AB05-4C68-BA11-9F0BB021FD3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Each employee</a:t>
            </a:r>
            <a:r>
              <a:rPr lang="en-US" dirty="0"/>
              <a:t> has one </a:t>
            </a:r>
            <a:r>
              <a:rPr lang="en-US" b="1" dirty="0">
                <a:solidFill>
                  <a:schemeClr val="bg1"/>
                </a:solidFill>
              </a:rPr>
              <a:t>department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1CBE51-031E-4142-854A-B764640E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One-to-Many: Implementation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ABA085-497B-434A-965F-AA808E6A5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81200"/>
            <a:ext cx="8991600" cy="409609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public class Employee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int Id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string FirstName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string LastName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int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DepartmentId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Department Department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878BE6F-E426-469B-B9AB-65F06E981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150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HasMany</a:t>
            </a:r>
            <a:r>
              <a:rPr lang="en-US" dirty="0"/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→</a:t>
            </a:r>
            <a:r>
              <a:rPr lang="en-US" dirty="0"/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WithOne </a:t>
            </a:r>
            <a:r>
              <a:rPr lang="en-US" b="1" noProof="1">
                <a:latin typeface="Consolas" panose="020B0609020204030204" pitchFamily="49" charset="0"/>
              </a:rPr>
              <a:t>/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 HasOne</a:t>
            </a:r>
            <a:r>
              <a:rPr lang="en-US" b="1" noProof="1">
                <a:solidFill>
                  <a:schemeClr val="bg1"/>
                </a:solidFill>
                <a:latin typeface="+mj-lt"/>
              </a:rPr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→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  <a:cs typeface="Calibri" panose="020F0502020204030204" pitchFamily="34" charset="0"/>
                <a:sym typeface="Wingdings" panose="05000000000000000000" pitchFamily="2" charset="2"/>
              </a:rPr>
              <a:t>WithMany</a:t>
            </a:r>
            <a:endParaRPr lang="en-US" b="1" noProof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One-to-Many: Fluent API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96000" y="1981200"/>
            <a:ext cx="8018188" cy="19416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modelBuilder.Entity&lt;Department&gt;()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HasMany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(d =&gt; d.Employees)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WithOne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(e =&gt; e.Department)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HasForeignKey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(e =&gt; e.DepartmentId);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66F079-91BC-45E0-80B5-4A18716A5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000" y="4191000"/>
            <a:ext cx="8018188" cy="19416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modelBuilder.Entity&lt;Employee&gt;()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HasOne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(e =&gt; e.Department)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WithMany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(d =&gt; d.Employees)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HasForeignKey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(e =&gt; e.DepartmentId);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AAF5012-352A-4F1C-9D17-9A7BB81C1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86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Requires a </a:t>
            </a:r>
            <a:r>
              <a:rPr lang="en-US" b="1" dirty="0">
                <a:solidFill>
                  <a:schemeClr val="bg1"/>
                </a:solidFill>
              </a:rPr>
              <a:t>collection navigation property on both sides</a:t>
            </a:r>
            <a:endParaRPr lang="en-US" dirty="0"/>
          </a:p>
          <a:p>
            <a:pPr lvl="1"/>
            <a:r>
              <a:rPr lang="en-US" dirty="0"/>
              <a:t>Implemented with collections in each entity, referring the other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2482509" y="4013600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7206909" y="4589963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Course</a:t>
            </a:r>
          </a:p>
        </p:txBody>
      </p:sp>
      <p:sp>
        <p:nvSpPr>
          <p:cNvPr id="12" name="Rectangle: Rounded Corners 11"/>
          <p:cNvSpPr/>
          <p:nvPr/>
        </p:nvSpPr>
        <p:spPr>
          <a:xfrm>
            <a:off x="7206909" y="3479183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Course</a:t>
            </a:r>
          </a:p>
        </p:txBody>
      </p:sp>
      <p:sp>
        <p:nvSpPr>
          <p:cNvPr id="15" name="Rectangle: Rounded Corners 14"/>
          <p:cNvSpPr/>
          <p:nvPr/>
        </p:nvSpPr>
        <p:spPr>
          <a:xfrm>
            <a:off x="2482509" y="2895601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</a:t>
            </a:r>
          </a:p>
        </p:txBody>
      </p:sp>
      <p:sp>
        <p:nvSpPr>
          <p:cNvPr id="16" name="Rectangle: Rounded Corners 15"/>
          <p:cNvSpPr/>
          <p:nvPr/>
        </p:nvSpPr>
        <p:spPr>
          <a:xfrm>
            <a:off x="2482509" y="5131599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</a:t>
            </a:r>
          </a:p>
        </p:txBody>
      </p:sp>
      <p:cxnSp>
        <p:nvCxnSpPr>
          <p:cNvPr id="25" name="Straight Arrow Connector 24"/>
          <p:cNvCxnSpPr>
            <a:stCxn id="15" idx="3"/>
            <a:endCxn id="12" idx="1"/>
          </p:cNvCxnSpPr>
          <p:nvPr/>
        </p:nvCxnSpPr>
        <p:spPr>
          <a:xfrm>
            <a:off x="4985091" y="3299612"/>
            <a:ext cx="2221818" cy="583582"/>
          </a:xfrm>
          <a:prstGeom prst="straightConnector1">
            <a:avLst/>
          </a:prstGeom>
          <a:ln w="57150">
            <a:solidFill>
              <a:schemeClr val="tx1">
                <a:alpha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6" idx="3"/>
            <a:endCxn id="12" idx="1"/>
          </p:cNvCxnSpPr>
          <p:nvPr/>
        </p:nvCxnSpPr>
        <p:spPr>
          <a:xfrm flipV="1">
            <a:off x="4985091" y="3883195"/>
            <a:ext cx="2221818" cy="534417"/>
          </a:xfrm>
          <a:prstGeom prst="straightConnector1">
            <a:avLst/>
          </a:prstGeom>
          <a:ln w="57150">
            <a:solidFill>
              <a:schemeClr val="tx1">
                <a:alpha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6" idx="3"/>
            <a:endCxn id="12" idx="1"/>
          </p:cNvCxnSpPr>
          <p:nvPr/>
        </p:nvCxnSpPr>
        <p:spPr>
          <a:xfrm flipV="1">
            <a:off x="4985091" y="3883194"/>
            <a:ext cx="2221818" cy="1652416"/>
          </a:xfrm>
          <a:prstGeom prst="straightConnector1">
            <a:avLst/>
          </a:prstGeom>
          <a:ln w="57150">
            <a:solidFill>
              <a:schemeClr val="tx1">
                <a:alpha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6" idx="3"/>
            <a:endCxn id="7" idx="1"/>
          </p:cNvCxnSpPr>
          <p:nvPr/>
        </p:nvCxnSpPr>
        <p:spPr>
          <a:xfrm flipV="1">
            <a:off x="4985091" y="4993974"/>
            <a:ext cx="2221818" cy="541636"/>
          </a:xfrm>
          <a:prstGeom prst="straightConnector1">
            <a:avLst/>
          </a:prstGeom>
          <a:ln w="57150">
            <a:solidFill>
              <a:schemeClr val="tx1">
                <a:alpha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">
            <a:extLst>
              <a:ext uri="{FF2B5EF4-FFF2-40B4-BE49-F238E27FC236}">
                <a16:creationId xmlns:a16="http://schemas.microsoft.com/office/drawing/2014/main" id="{DCCFC096-5DCD-482A-A935-7031C560C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523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12" grpId="0" animBg="1"/>
      <p:bldP spid="15" grpId="0" animBg="1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 Implementation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326000" y="1488732"/>
            <a:ext cx="9238800" cy="221865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public class Course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spcAft>
                <a:spcPts val="1200"/>
              </a:spcAft>
              <a:buClr>
                <a:srgbClr val="F2B254"/>
              </a:buClr>
              <a:buSzPct val="10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public string Name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public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ICollection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Students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2D2EE6-F616-427F-B07D-508264C3A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000" y="3919011"/>
            <a:ext cx="9238800" cy="25879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public class Student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public string FirstName { get; set; }</a:t>
            </a:r>
          </a:p>
          <a:p>
            <a:pPr>
              <a:spcAft>
                <a:spcPts val="1200"/>
              </a:spcAft>
              <a:buClr>
                <a:srgbClr val="F2B254"/>
              </a:buClr>
              <a:buSzPct val="10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public string LastName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public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ICollection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Courses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4D784D5-4129-45B1-BA50-14E4AF6731A4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77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Mapping </a:t>
            </a:r>
            <a:r>
              <a:rPr lang="en-US" b="1" dirty="0">
                <a:solidFill>
                  <a:schemeClr val="bg1"/>
                </a:solidFill>
              </a:rPr>
              <a:t>both sides </a:t>
            </a:r>
            <a:r>
              <a:rPr lang="en-US" dirty="0"/>
              <a:t>of relationship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Many-to-Many: Fluent API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96000" y="1828801"/>
            <a:ext cx="10800000" cy="492754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builder.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Entity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&gt;()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HasMany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(s =&gt; s.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Courses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WithMany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(s =&gt; s.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Students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UsingEntity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Dictionary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,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object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&gt;&gt;(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	"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StudentCourse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",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	r =&gt; r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HasOne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&gt;()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WithMany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()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HasForeignKey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("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CourseId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")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HasConstraintName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("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FK_StudentCourse_Courses_CourseId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")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OnDelete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(DeleteBehavior.Cascade),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	r =&gt; r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HasOne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&gt;()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WithMany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()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HasForeignKey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("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StudentId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)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HasConstraintName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("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FK_StudentCourse_Students_StudentId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")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OnDelete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(DeleteBehaviour.Cascade),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j =&gt; 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j.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HasKey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("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StudentId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", "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CourseId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");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j.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ToTable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("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StudentsCourses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");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j.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IndexerProperty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&gt;("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StudentId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").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HasColumnName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("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StudentId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");</a:t>
            </a:r>
          </a:p>
          <a:p>
            <a:pPr lvl="2"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j.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IndexerProperty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&gt;("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CourseId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").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HasColumnName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("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CourseId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");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       });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ECEA6A2-74A3-4D4B-8B83-6CDB184D4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BF5E871C-7FD2-4D21-A70F-BC280A1AA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015" y="5153579"/>
            <a:ext cx="3375000" cy="510778"/>
          </a:xfrm>
          <a:prstGeom prst="wedgeRoundRectCallout">
            <a:avLst>
              <a:gd name="adj1" fmla="val -69990"/>
              <a:gd name="adj2" fmla="val 5853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Composite Primary Key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421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F1127-D5F9-4423-B031-82086BC323C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You can optionally create a </a:t>
            </a:r>
            <a:r>
              <a:rPr lang="en-US" b="1" dirty="0">
                <a:solidFill>
                  <a:schemeClr val="bg1"/>
                </a:solidFill>
              </a:rPr>
              <a:t>join entity type 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5C9A33-ECDC-4211-B96B-E8F3363B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 Implementation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6AD7DF-BCA8-49F9-8C69-70475C521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85" y="2258999"/>
            <a:ext cx="5960006" cy="166465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1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spcAft>
                <a:spcPts val="1200"/>
              </a:spcAft>
              <a:buClr>
                <a:srgbClr val="F2B254"/>
              </a:buClr>
              <a:buSzPct val="100000"/>
            </a:pPr>
            <a:r>
              <a:rPr lang="en-US" sz="1400" b="1" noProof="1">
                <a:latin typeface="+mj-lt"/>
                <a:cs typeface="Consolas" pitchFamily="49" charset="0"/>
              </a:rPr>
              <a:t>   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public string Name { get; set; }</a:t>
            </a:r>
            <a:br>
              <a:rPr lang="en-US" sz="1400" b="1" noProof="1">
                <a:latin typeface="Consolas" pitchFamily="49" charset="0"/>
                <a:cs typeface="Consolas" pitchFamily="49" charset="0"/>
              </a:rPr>
            </a:br>
            <a:r>
              <a:rPr lang="en-US" sz="1400" b="1" noProof="1">
                <a:latin typeface="+mj-lt"/>
                <a:cs typeface="Consolas" pitchFamily="49" charset="0"/>
              </a:rPr>
              <a:t>   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public string Teacher { get; set;</a:t>
            </a:r>
            <a:r>
              <a:rPr lang="bg-BG" sz="14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400" b="1" noProof="1">
                <a:latin typeface="+mj-lt"/>
                <a:cs typeface="Consolas" pitchFamily="49" charset="0"/>
              </a:rPr>
              <a:t> </a:t>
            </a:r>
            <a:r>
              <a:rPr lang="bg-BG" sz="1400" b="1" noProof="1">
                <a:latin typeface="+mj-lt"/>
                <a:cs typeface="Consolas" pitchFamily="49" charset="0"/>
              </a:rPr>
              <a:t>  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1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List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StudentCourse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1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StudentsCourses 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70B27E0-40FD-4F66-BA67-7D9AA8B57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8050D4-E1D6-4C38-8AA9-33BFCB308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924" y="4545247"/>
            <a:ext cx="4534872" cy="206476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StudentCourse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public int 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CourseId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public 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 Course 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endParaRPr lang="en-US" sz="1500" b="1" noProof="1">
              <a:latin typeface="Consolas" pitchFamily="49" charset="0"/>
              <a:cs typeface="Consolas" pitchFamily="49" charset="0"/>
            </a:endParaRP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public int 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StudentId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  public </a:t>
            </a:r>
            <a:r>
              <a:rPr lang="en-US" sz="15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 Student </a:t>
            </a:r>
            <a:r>
              <a:rPr lang="en-US" sz="1500" b="1" noProof="1">
                <a:latin typeface="Consolas" pitchFamily="49" charset="0"/>
                <a:cs typeface="Consolas" pitchFamily="49" charset="0"/>
              </a:rPr>
              <a:t>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5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EF78DE-CBB2-43DB-B3FB-B1D74AEEE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491" y="2258999"/>
            <a:ext cx="6055024" cy="166465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1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1400" b="1" noProof="1">
                <a:latin typeface="+mj-lt"/>
                <a:cs typeface="Consolas" pitchFamily="49" charset="0"/>
              </a:rPr>
              <a:t> 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public string FirstName { get; set; }</a:t>
            </a:r>
          </a:p>
          <a:p>
            <a:pPr>
              <a:spcAft>
                <a:spcPts val="1200"/>
              </a:spcAft>
              <a:buClr>
                <a:srgbClr val="F2B254"/>
              </a:buClr>
              <a:buSzPct val="100000"/>
            </a:pPr>
            <a:r>
              <a:rPr lang="en-US" sz="1400" b="1" noProof="1">
                <a:latin typeface="+mj-lt"/>
                <a:cs typeface="Consolas" pitchFamily="49" charset="0"/>
              </a:rPr>
              <a:t>   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public string LastName { get; set; }</a:t>
            </a:r>
          </a:p>
          <a:p>
            <a:pPr>
              <a:spcAft>
                <a:spcPts val="1200"/>
              </a:spcAft>
              <a:buClr>
                <a:srgbClr val="F2B254"/>
              </a:buClr>
              <a:buSzPct val="100000"/>
            </a:pPr>
            <a:r>
              <a:rPr lang="bg-BG" sz="1400" b="1" noProof="1">
                <a:latin typeface="+mj-lt"/>
                <a:cs typeface="Consolas" pitchFamily="49" charset="0"/>
              </a:rPr>
              <a:t>  </a:t>
            </a:r>
            <a:r>
              <a:rPr lang="en-US" sz="1400" b="1" noProof="1">
                <a:latin typeface="+mj-lt"/>
                <a:cs typeface="Consolas" pitchFamily="49" charset="0"/>
              </a:rPr>
              <a:t> 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1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List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StudentCourse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1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StudentsCourses 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{</a:t>
            </a:r>
            <a:r>
              <a:rPr lang="bg-BG" sz="14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get; set; }</a:t>
            </a:r>
            <a:br>
              <a:rPr lang="en-US" sz="1400" b="1" noProof="1">
                <a:latin typeface="Consolas" pitchFamily="49" charset="0"/>
                <a:cs typeface="Consolas" pitchFamily="49" charset="0"/>
              </a:rPr>
            </a:br>
            <a:r>
              <a:rPr lang="en-US" sz="14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9BB6103E-18E0-4233-90F9-C6F6E09B51F5}"/>
              </a:ext>
            </a:extLst>
          </p:cNvPr>
          <p:cNvSpPr/>
          <p:nvPr/>
        </p:nvSpPr>
        <p:spPr bwMode="auto">
          <a:xfrm rot="10800000" flipH="1">
            <a:off x="1819358" y="4545246"/>
            <a:ext cx="1516615" cy="1530001"/>
          </a:xfrm>
          <a:prstGeom prst="bentArrow">
            <a:avLst>
              <a:gd name="adj1" fmla="val 25000"/>
              <a:gd name="adj2" fmla="val 25317"/>
              <a:gd name="adj3" fmla="val 25000"/>
              <a:gd name="adj4" fmla="val 43750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DA490E7A-628A-4189-B25E-BD73B41A4610}"/>
              </a:ext>
            </a:extLst>
          </p:cNvPr>
          <p:cNvSpPr/>
          <p:nvPr/>
        </p:nvSpPr>
        <p:spPr bwMode="auto">
          <a:xfrm rot="10800000">
            <a:off x="8841000" y="4545247"/>
            <a:ext cx="1531642" cy="1530000"/>
          </a:xfrm>
          <a:prstGeom prst="ben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4563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1" dirty="0"/>
              <a:t> </a:t>
            </a:r>
            <a:r>
              <a:rPr lang="en-US" b="1" dirty="0">
                <a:solidFill>
                  <a:schemeClr val="bg1"/>
                </a:solidFill>
              </a:rPr>
              <a:t>Indirect</a:t>
            </a:r>
            <a:r>
              <a:rPr lang="en-US" dirty="0"/>
              <a:t> many-to-many relationships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Many-to-Many: Fluent API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96000" y="1828801"/>
            <a:ext cx="10800000" cy="461315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modelBuilder.Entity&lt;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StudentCourse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&gt;()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HasKey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(sc =&gt; new { sc.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StudentId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, sc.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CourseId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});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builder.Entity&lt;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StudentCourse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&gt;()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HasOne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(sc =&gt; sc.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WithMany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 =&gt; s.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StudentCourses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HasForeignKey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(sc =&gt; sc.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StudentId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);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builder.Entity&lt;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StudentCourse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&gt;()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HasOne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(sc =&gt; sc.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WithMany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 =&gt; s.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StudentCourses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lnSpc>
                <a:spcPct val="85000"/>
              </a:lnSpc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HasForeignKey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(sc =&gt; sc.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CourseId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B02CB362-0208-47D5-B252-AFBC8AE0B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0342" y="2743201"/>
            <a:ext cx="2190344" cy="925251"/>
          </a:xfrm>
          <a:prstGeom prst="wedgeRoundRectCallout">
            <a:avLst>
              <a:gd name="adj1" fmla="val -58297"/>
              <a:gd name="adj2" fmla="val -5076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Composite Primary Key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ECEA6A2-74A3-4D4B-8B83-6CDB184D4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806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When two entities are related by more than one key</a:t>
            </a:r>
          </a:p>
          <a:p>
            <a:r>
              <a:rPr lang="en-US" dirty="0"/>
              <a:t>Entity Framework needs help from </a:t>
            </a:r>
            <a:r>
              <a:rPr lang="en-US" b="1" dirty="0">
                <a:solidFill>
                  <a:schemeClr val="bg1"/>
                </a:solidFill>
              </a:rPr>
              <a:t>Inverse Properties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Relations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8077200" y="4865070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Town</a:t>
            </a:r>
          </a:p>
        </p:txBody>
      </p:sp>
      <p:sp>
        <p:nvSpPr>
          <p:cNvPr id="12" name="Rectangle: Rounded Corners 11"/>
          <p:cNvSpPr/>
          <p:nvPr/>
        </p:nvSpPr>
        <p:spPr>
          <a:xfrm>
            <a:off x="8077200" y="3249024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Town</a:t>
            </a:r>
          </a:p>
        </p:txBody>
      </p:sp>
      <p:sp>
        <p:nvSpPr>
          <p:cNvPr id="15" name="Rectangle: Rounded Corners 14"/>
          <p:cNvSpPr/>
          <p:nvPr/>
        </p:nvSpPr>
        <p:spPr>
          <a:xfrm>
            <a:off x="1371600" y="4057047"/>
            <a:ext cx="2502582" cy="808023"/>
          </a:xfrm>
          <a:prstGeom prst="roundRect">
            <a:avLst>
              <a:gd name="adj" fmla="val 5385"/>
            </a:avLst>
          </a:prstGeom>
          <a:solidFill>
            <a:schemeClr val="dk2">
              <a:alpha val="85000"/>
            </a:schemeClr>
          </a:solidFill>
          <a:ln w="57150">
            <a:solidFill>
              <a:schemeClr val="tx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</a:t>
            </a:r>
          </a:p>
        </p:txBody>
      </p:sp>
      <p:cxnSp>
        <p:nvCxnSpPr>
          <p:cNvPr id="8" name="Straight Arrow Connector 7"/>
          <p:cNvCxnSpPr>
            <a:stCxn id="15" idx="3"/>
            <a:endCxn id="12" idx="1"/>
          </p:cNvCxnSpPr>
          <p:nvPr/>
        </p:nvCxnSpPr>
        <p:spPr>
          <a:xfrm flipV="1">
            <a:off x="3874182" y="3653036"/>
            <a:ext cx="4203018" cy="808023"/>
          </a:xfrm>
          <a:prstGeom prst="straightConnector1">
            <a:avLst/>
          </a:prstGeom>
          <a:ln w="57150">
            <a:solidFill>
              <a:schemeClr val="tx1">
                <a:alpha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5" idx="3"/>
            <a:endCxn id="7" idx="1"/>
          </p:cNvCxnSpPr>
          <p:nvPr/>
        </p:nvCxnSpPr>
        <p:spPr>
          <a:xfrm>
            <a:off x="3874182" y="4461059"/>
            <a:ext cx="4203018" cy="808023"/>
          </a:xfrm>
          <a:prstGeom prst="straightConnector1">
            <a:avLst/>
          </a:prstGeom>
          <a:ln w="57150">
            <a:solidFill>
              <a:schemeClr val="tx1">
                <a:alpha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49509" y="3048001"/>
            <a:ext cx="144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Place of Birth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0909" y="4994034"/>
            <a:ext cx="1905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Current Residence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6CD238DE-CAA7-4BC6-9451-A35E018A1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485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5" grpId="0" animBg="1"/>
      <p:bldP spid="18" grpId="0"/>
      <p:bldP spid="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Person</a:t>
            </a:r>
            <a:r>
              <a:rPr lang="en-US" dirty="0"/>
              <a:t> Domain Model – defined as usual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Relations Implementation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47800" y="2133601"/>
            <a:ext cx="9296400" cy="397298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public class Person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int Id { get; set; }</a:t>
            </a:r>
          </a:p>
          <a:p>
            <a:pPr>
              <a:spcBef>
                <a:spcPts val="600"/>
              </a:spcBef>
              <a:buClr>
                <a:srgbClr val="F2B254"/>
              </a:buClr>
              <a:buSzPct val="10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string Name { get; set; }</a:t>
            </a:r>
          </a:p>
          <a:p>
            <a:pPr>
              <a:spcBef>
                <a:spcPts val="600"/>
              </a:spcBef>
              <a:buClr>
                <a:srgbClr val="F2B254"/>
              </a:buClr>
              <a:buSzPct val="10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</a:t>
            </a:r>
          </a:p>
          <a:p>
            <a:pPr>
              <a:spcBef>
                <a:spcPts val="600"/>
              </a:spcBef>
              <a:buClr>
                <a:srgbClr val="F2B254"/>
              </a:buClr>
              <a:buSzPct val="10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Town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PlaceOfBirth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{ get; set; }</a:t>
            </a:r>
          </a:p>
          <a:p>
            <a:pPr>
              <a:spcBef>
                <a:spcPts val="600"/>
              </a:spcBef>
              <a:buClr>
                <a:srgbClr val="F2B254"/>
              </a:buClr>
              <a:buSzPct val="10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Town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CurrentResidence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0A56789-82D8-4109-B0AA-053B5CDD2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2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Town</a:t>
            </a:r>
            <a:r>
              <a:rPr lang="en-US" dirty="0"/>
              <a:t> Domain Model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Relations Implementation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24001" y="1828800"/>
            <a:ext cx="10943998" cy="432692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public class Town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int Id { get; set; }</a:t>
            </a:r>
          </a:p>
          <a:p>
            <a:pPr>
              <a:spcBef>
                <a:spcPts val="600"/>
              </a:spcBef>
              <a:buClr>
                <a:srgbClr val="F2B254"/>
              </a:buClr>
              <a:buSzPct val="10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string Name { get; set; }</a:t>
            </a:r>
          </a:p>
          <a:p>
            <a:pPr>
              <a:spcBef>
                <a:spcPts val="600"/>
              </a:spcBef>
              <a:buClr>
                <a:srgbClr val="F2B254"/>
              </a:buClr>
              <a:buSzPct val="10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[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InverseProperty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("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PlaceOfBirth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")]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ICollection&lt;Person&gt; Natives { get; set; }</a:t>
            </a:r>
          </a:p>
          <a:p>
            <a:pPr>
              <a:spcBef>
                <a:spcPts val="600"/>
              </a:spcBef>
              <a:buClr>
                <a:srgbClr val="F2B254"/>
              </a:buClr>
              <a:buSzPct val="10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[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InverseProperty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("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CurrentResidence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")]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public ICollection&lt;Person&gt; Residents { get; set; }</a:t>
            </a:r>
          </a:p>
          <a:p>
            <a:pPr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7940999" y="2964916"/>
            <a:ext cx="2474879" cy="919401"/>
          </a:xfrm>
          <a:prstGeom prst="wedgeRoundRectCallout">
            <a:avLst>
              <a:gd name="adj1" fmla="val -55328"/>
              <a:gd name="adj2" fmla="val 4689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 towards related property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46720EF-816F-41D5-9C76-D4287BC5F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552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3" y="1419750"/>
            <a:ext cx="860405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543073" y="1723767"/>
            <a:ext cx="8297927" cy="4672655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>
                <a:solidFill>
                  <a:schemeClr val="bg2"/>
                </a:solidFill>
              </a:rPr>
              <a:t> The </a:t>
            </a:r>
            <a:r>
              <a:rPr lang="en-GB" sz="3200" b="1" dirty="0">
                <a:solidFill>
                  <a:schemeClr val="bg1"/>
                </a:solidFill>
              </a:rPr>
              <a:t>Fluent API </a:t>
            </a:r>
            <a:r>
              <a:rPr lang="en-GB" sz="3200" b="1" dirty="0">
                <a:solidFill>
                  <a:schemeClr val="bg2"/>
                </a:solidFill>
              </a:rPr>
              <a:t>gives us full control over</a:t>
            </a:r>
            <a:r>
              <a:rPr lang="bg-BG" sz="3200" b="1" dirty="0">
                <a:solidFill>
                  <a:schemeClr val="bg2"/>
                </a:solidFill>
              </a:rPr>
              <a:t> </a:t>
            </a:r>
            <a:br>
              <a:rPr lang="en-US" sz="3200" b="1" dirty="0">
                <a:solidFill>
                  <a:schemeClr val="bg2"/>
                </a:solidFill>
              </a:rPr>
            </a:br>
            <a:r>
              <a:rPr lang="en-US" sz="3200" b="1" dirty="0">
                <a:solidFill>
                  <a:schemeClr val="bg2"/>
                </a:solidFill>
              </a:rPr>
              <a:t> </a:t>
            </a:r>
            <a:r>
              <a:rPr lang="en-GB" sz="3200" b="1" dirty="0">
                <a:solidFill>
                  <a:schemeClr val="bg2"/>
                </a:solidFill>
              </a:rPr>
              <a:t>Entity Framework object mappings</a:t>
            </a:r>
          </a:p>
          <a:p>
            <a:r>
              <a:rPr lang="en-GB" sz="3200" b="1" dirty="0">
                <a:solidFill>
                  <a:schemeClr val="bg2"/>
                </a:solidFill>
              </a:rPr>
              <a:t> </a:t>
            </a:r>
            <a:r>
              <a:rPr lang="en-GB" sz="3200" b="1" dirty="0">
                <a:solidFill>
                  <a:schemeClr val="bg1"/>
                </a:solidFill>
              </a:rPr>
              <a:t>Attributes </a:t>
            </a:r>
            <a:r>
              <a:rPr lang="en-GB" sz="3200" b="1" dirty="0">
                <a:solidFill>
                  <a:schemeClr val="bg2"/>
                </a:solidFill>
              </a:rPr>
              <a:t>can be used to express special</a:t>
            </a:r>
            <a:br>
              <a:rPr lang="en-GB" sz="3200" b="1" dirty="0">
                <a:solidFill>
                  <a:schemeClr val="bg2"/>
                </a:solidFill>
              </a:rPr>
            </a:br>
            <a:r>
              <a:rPr lang="en-GB" sz="3200" b="1" dirty="0">
                <a:solidFill>
                  <a:schemeClr val="bg2"/>
                </a:solidFill>
              </a:rPr>
              <a:t> table relationships and to customize</a:t>
            </a:r>
            <a:br>
              <a:rPr lang="en-GB" sz="3200" b="1" dirty="0">
                <a:solidFill>
                  <a:schemeClr val="bg2"/>
                </a:solidFill>
              </a:rPr>
            </a:br>
            <a:r>
              <a:rPr lang="en-GB" sz="3200" b="1" dirty="0">
                <a:solidFill>
                  <a:schemeClr val="bg2"/>
                </a:solidFill>
              </a:rPr>
              <a:t> entity behaviour</a:t>
            </a:r>
          </a:p>
          <a:p>
            <a:r>
              <a:rPr lang="en-US" sz="3200" b="1" dirty="0">
                <a:solidFill>
                  <a:schemeClr val="bg2"/>
                </a:solidFill>
              </a:rPr>
              <a:t> Objects can be composed from other </a:t>
            </a:r>
            <a:br>
              <a:rPr lang="en-US" sz="3200" b="1" dirty="0">
                <a:solidFill>
                  <a:schemeClr val="bg2"/>
                </a:solidFill>
              </a:rPr>
            </a:br>
            <a:r>
              <a:rPr lang="en-US" sz="3200" b="1" dirty="0">
                <a:solidFill>
                  <a:schemeClr val="bg2"/>
                </a:solidFill>
              </a:rPr>
              <a:t> objects to represent complex </a:t>
            </a:r>
            <a:r>
              <a:rPr lang="en-US" sz="3200" b="1" dirty="0">
                <a:solidFill>
                  <a:schemeClr val="bg1"/>
                </a:solidFill>
              </a:rPr>
              <a:t>relationships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9DE48318-098E-44D3-9E9F-5D6C2901E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8109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249D3BD-2A77-4ECA-B510-A46170EC5053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59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554A43B-45B5-4226-9621-53210DABE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654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9988</TotalTime>
  <Words>2625</Words>
  <Application>Microsoft Office PowerPoint</Application>
  <PresentationFormat>Widescreen</PresentationFormat>
  <Paragraphs>468</Paragraphs>
  <Slides>42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Consolas</vt:lpstr>
      <vt:lpstr>Wingdings</vt:lpstr>
      <vt:lpstr>Wingdings 2</vt:lpstr>
      <vt:lpstr>SoftUni</vt:lpstr>
      <vt:lpstr>Entity Relations</vt:lpstr>
      <vt:lpstr>Have a Question?</vt:lpstr>
      <vt:lpstr>Table of Contents</vt:lpstr>
      <vt:lpstr>Object Composition</vt:lpstr>
      <vt:lpstr>Object Composition</vt:lpstr>
      <vt:lpstr>Navigation Properties</vt:lpstr>
      <vt:lpstr>Fluent API</vt:lpstr>
      <vt:lpstr>Fluent API</vt:lpstr>
      <vt:lpstr>Working with Fluent API</vt:lpstr>
      <vt:lpstr>Fluent API: Renaming DB Objects</vt:lpstr>
      <vt:lpstr>Fluent API: Column Attributes</vt:lpstr>
      <vt:lpstr>Fluent API: Miscellaneous Config</vt:lpstr>
      <vt:lpstr>Specialized Configuration Classes</vt:lpstr>
      <vt:lpstr>Attributes</vt:lpstr>
      <vt:lpstr>Attributes</vt:lpstr>
      <vt:lpstr>Key Attribute</vt:lpstr>
      <vt:lpstr>ForeignKey Attribute</vt:lpstr>
      <vt:lpstr>ForeignKey Attribute – Example </vt:lpstr>
      <vt:lpstr>Renaming Objects</vt:lpstr>
      <vt:lpstr>Renaming Objects</vt:lpstr>
      <vt:lpstr>Entity Validation</vt:lpstr>
      <vt:lpstr>Other Attributes</vt:lpstr>
      <vt:lpstr>Table Relationships</vt:lpstr>
      <vt:lpstr>One-to-Zero-or-One</vt:lpstr>
      <vt:lpstr>One-to-Zero-or-One: Implementation</vt:lpstr>
      <vt:lpstr>One-to-Zero-or-One: Implementation</vt:lpstr>
      <vt:lpstr>One-to-Zero-or-One: Fluent API</vt:lpstr>
      <vt:lpstr>One-to-Many</vt:lpstr>
      <vt:lpstr>One-to-Many: Implementation</vt:lpstr>
      <vt:lpstr>One-to-Many: Implementation</vt:lpstr>
      <vt:lpstr>One-to-Many: Fluent API</vt:lpstr>
      <vt:lpstr>Many-to-Many</vt:lpstr>
      <vt:lpstr>Many-to-Many Implementation</vt:lpstr>
      <vt:lpstr>Many-to-Many: Fluent API</vt:lpstr>
      <vt:lpstr>Many-to-Many Implementation</vt:lpstr>
      <vt:lpstr>Many-to-Many: Fluent API</vt:lpstr>
      <vt:lpstr>Multiple Relations</vt:lpstr>
      <vt:lpstr>Multiple Relations Implementation</vt:lpstr>
      <vt:lpstr>Multiple Relations Implementation</vt:lpstr>
      <vt:lpstr>Summary</vt:lpstr>
      <vt:lpstr>Trainings @ Software University (SoftUni)</vt:lpstr>
      <vt:lpstr>License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 Advanced - EF Core Entity Relations</dc:title>
  <dc:subject>Software Development Course</dc:subject>
  <dc:creator>Software University</dc:creator>
  <cp:keywords>DB; Advanced; EF; Core; Entity; Relations; tech; fundamentals; technologySoftware University; SoftUni; programming; coding; software development; education; training; course</cp:keywords>
  <dc:description>© SoftUni – https://softuni.org_x000d_
© Software University – https://softuni.bg_x000d_
_x000d_
Copyrighted document. Unauthorized copy, reproduction or use is not permitted.</dc:description>
  <cp:lastModifiedBy>Krasimir Tsanev</cp:lastModifiedBy>
  <cp:revision>211</cp:revision>
  <dcterms:created xsi:type="dcterms:W3CDTF">2018-05-23T13:08:44Z</dcterms:created>
  <dcterms:modified xsi:type="dcterms:W3CDTF">2025-10-13T05:53:55Z</dcterms:modified>
  <cp:category>programming;computer programming;software development;web development</cp:category>
</cp:coreProperties>
</file>