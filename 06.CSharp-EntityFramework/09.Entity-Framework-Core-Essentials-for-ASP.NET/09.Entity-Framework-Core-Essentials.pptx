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7"/>
  </p:notesMasterIdLst>
  <p:handoutMasterIdLst>
    <p:handoutMasterId r:id="rId28"/>
  </p:handoutMasterIdLst>
  <p:sldIdLst>
    <p:sldId id="1493" r:id="rId2"/>
    <p:sldId id="1520" r:id="rId3"/>
    <p:sldId id="1494" r:id="rId4"/>
    <p:sldId id="1496" r:id="rId5"/>
    <p:sldId id="1521" r:id="rId6"/>
    <p:sldId id="1522" r:id="rId7"/>
    <p:sldId id="1523" r:id="rId8"/>
    <p:sldId id="1524" r:id="rId9"/>
    <p:sldId id="1525" r:id="rId10"/>
    <p:sldId id="1526" r:id="rId11"/>
    <p:sldId id="1527" r:id="rId12"/>
    <p:sldId id="1504" r:id="rId13"/>
    <p:sldId id="1528" r:id="rId14"/>
    <p:sldId id="1529" r:id="rId15"/>
    <p:sldId id="1530" r:id="rId16"/>
    <p:sldId id="1531" r:id="rId17"/>
    <p:sldId id="1532" r:id="rId18"/>
    <p:sldId id="1533" r:id="rId19"/>
    <p:sldId id="1534" r:id="rId20"/>
    <p:sldId id="1535" r:id="rId21"/>
    <p:sldId id="1536" r:id="rId22"/>
    <p:sldId id="496" r:id="rId23"/>
    <p:sldId id="1488" r:id="rId24"/>
    <p:sldId id="405" r:id="rId25"/>
    <p:sldId id="49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69E679F-93B0-4AFC-9734-581B62C743A9}">
          <p14:sldIdLst>
            <p14:sldId id="1493"/>
            <p14:sldId id="1520"/>
            <p14:sldId id="1494"/>
          </p14:sldIdLst>
        </p14:section>
        <p14:section name="Features Overview" id="{20E593F7-3BF6-4395-BDC3-7E559D1B6379}">
          <p14:sldIdLst>
            <p14:sldId id="1496"/>
            <p14:sldId id="1521"/>
            <p14:sldId id="1522"/>
            <p14:sldId id="1523"/>
            <p14:sldId id="1524"/>
            <p14:sldId id="1525"/>
            <p14:sldId id="1526"/>
            <p14:sldId id="1527"/>
          </p14:sldIdLst>
        </p14:section>
        <p14:section name="Repository Pattern" id="{E116AD70-0C2A-460B-9E17-B08E25E0B7D8}">
          <p14:sldIdLst>
            <p14:sldId id="1504"/>
            <p14:sldId id="1528"/>
            <p14:sldId id="1529"/>
            <p14:sldId id="1530"/>
            <p14:sldId id="1531"/>
            <p14:sldId id="1532"/>
            <p14:sldId id="1533"/>
          </p14:sldIdLst>
        </p14:section>
        <p14:section name="Inversion od Control" id="{9982B81A-1FAA-4812-94C2-2293BC61CB2A}">
          <p14:sldIdLst>
            <p14:sldId id="1534"/>
            <p14:sldId id="1535"/>
            <p14:sldId id="1536"/>
          </p14:sldIdLst>
        </p14:section>
        <p14:section name="Live Demo" id="{A63485A7-B499-4A2C-AB00-D90D276CAB02}">
          <p14:sldIdLst>
            <p14:sldId id="496"/>
          </p14:sldIdLst>
        </p14:section>
        <p14:section name="Conclusion" id="{5E27D746-0E75-49CC-8CD8-4EA339A177D4}">
          <p14:sldIdLst>
            <p14:sldId id="1488"/>
            <p14:sldId id="405"/>
            <p14:sldId id="4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40D"/>
    <a:srgbClr val="464646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100" y="7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E21622BF-E8FF-47C4-B6E1-99A3BBE1546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005996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58D1DCC-B9D7-4FD7-921E-AD798CA48E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0503720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6ABE725-EA5B-4855-9A45-BA891E6AAF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978795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C6D6E-905E-40C8-A17E-2C3164FAB13C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3DD3B-B4A6-4198-B6C8-9CFBFCF079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7889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EA0C841-2E7C-42ED-93F2-1090740266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384267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7D62E9-17C1-4ED8-93B8-DC4AC686C2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729645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0950DEA7-8109-4F04-90DE-E5823655D1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325391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4" Type="http://schemas.openxmlformats.org/officeDocument/2006/relationships/hyperlink" Target="https://softuni.org/" TargetMode="External"/><Relationship Id="rId9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23832" y="4399785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noProof="1"/>
              <a:t>Key Optimizing Strategies for Better Performance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 Core Essentials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https://about.softuni.bg/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noProof="1"/>
              <a:t>SoftUni</a:t>
            </a:r>
            <a:r>
              <a:rPr lang="en-US" dirty="0"/>
              <a:t> Team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20"/>
          </p:nvPr>
        </p:nvSpPr>
        <p:spPr>
          <a:xfrm>
            <a:off x="582260" y="5331407"/>
            <a:ext cx="2951518" cy="444536"/>
          </a:xfrm>
        </p:spPr>
        <p:txBody>
          <a:bodyPr/>
          <a:lstStyle/>
          <a:p>
            <a:r>
              <a:rPr lang="en-US" dirty="0"/>
              <a:t>Technical Trainers</a:t>
            </a:r>
          </a:p>
        </p:txBody>
      </p:sp>
      <p:pic>
        <p:nvPicPr>
          <p:cNvPr id="4" name="Picture 3" descr="A purple square with white text and blue circles&#10;&#10;Description automatically generated">
            <a:extLst>
              <a:ext uri="{FF2B5EF4-FFF2-40B4-BE49-F238E27FC236}">
                <a16:creationId xmlns:a16="http://schemas.microsoft.com/office/drawing/2014/main" id="{056632DF-ABD3-D247-DA42-AF8FBBD7B0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428" y="2084695"/>
            <a:ext cx="2767143" cy="276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11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bg-BG" sz="4000" b="1" dirty="0"/>
          </a:p>
          <a:p>
            <a:pPr marL="0" indent="0" algn="ctr">
              <a:buNone/>
            </a:pPr>
            <a:r>
              <a:rPr lang="en-US" sz="8800" b="1" u="sng" dirty="0">
                <a:solidFill>
                  <a:schemeClr val="bg1"/>
                </a:solidFill>
              </a:rPr>
              <a:t>sli.do</a:t>
            </a:r>
            <a:endParaRPr lang="bg-BG" sz="7200" b="1" u="sng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b="1" dirty="0"/>
              <a:t>#csharp-</a:t>
            </a:r>
            <a:r>
              <a:rPr lang="en-US" sz="11500" b="1" dirty="0" err="1"/>
              <a:t>db</a:t>
            </a:r>
            <a:endParaRPr lang="en-US" sz="11500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Question?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AB1D61FD-74ED-4507-8E55-2608B42C7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2267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1"/>
              <a:t>EF Core Features Overview</a:t>
            </a:r>
          </a:p>
          <a:p>
            <a:r>
              <a:rPr lang="en-US" noProof="1"/>
              <a:t>Generic Repository Design Pattern</a:t>
            </a:r>
          </a:p>
          <a:p>
            <a:r>
              <a:rPr lang="en-US" noProof="1"/>
              <a:t>Inversion of Control</a:t>
            </a:r>
          </a:p>
          <a:p>
            <a:r>
              <a:rPr lang="en-US" noProof="1"/>
              <a:t>Dependency Injection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63F87427-AC6B-4DD4-876F-8D88CA33AD7A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E8F1-6325-4569-85C1-A4BDE97CEF01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Features in EF Core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8EFBE27-B8A0-4D7A-A625-B71AE23FEC11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pic>
        <p:nvPicPr>
          <p:cNvPr id="4" name="Picture 3" descr="A blue and white sticker with a black background&#10;&#10;Description automatically generated">
            <a:extLst>
              <a:ext uri="{FF2B5EF4-FFF2-40B4-BE49-F238E27FC236}">
                <a16:creationId xmlns:a16="http://schemas.microsoft.com/office/drawing/2014/main" id="{9B60F3F5-1002-0E06-792B-E6CA5367B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812" y="1403698"/>
            <a:ext cx="3774375" cy="283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2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3986FA-0883-8629-EB47-81998E82D4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46000" y="1121143"/>
            <a:ext cx="9949234" cy="5546589"/>
          </a:xfrm>
        </p:spPr>
        <p:txBody>
          <a:bodyPr/>
          <a:lstStyle/>
          <a:p>
            <a:r>
              <a:rPr lang="en-US" dirty="0"/>
              <a:t>Entity Framework Core is a </a:t>
            </a:r>
            <a:br>
              <a:rPr lang="en-US" dirty="0"/>
            </a:br>
            <a:r>
              <a:rPr lang="en-US" dirty="0"/>
              <a:t>lightweight, extensible, </a:t>
            </a:r>
            <a:r>
              <a:rPr lang="en-US" b="1" dirty="0">
                <a:solidFill>
                  <a:schemeClr val="bg1"/>
                </a:solidFill>
              </a:rPr>
              <a:t>cross-platform</a:t>
            </a:r>
          </a:p>
          <a:p>
            <a:r>
              <a:rPr lang="en-US" dirty="0"/>
              <a:t>ORM (</a:t>
            </a:r>
            <a:r>
              <a:rPr lang="en-US" b="1" dirty="0">
                <a:solidFill>
                  <a:schemeClr val="bg1"/>
                </a:solidFill>
              </a:rPr>
              <a:t>Object Relational Mapping</a:t>
            </a:r>
            <a:r>
              <a:rPr lang="en-US" dirty="0"/>
              <a:t>) framework for </a:t>
            </a:r>
            <a:r>
              <a:rPr lang="en-US" b="1" dirty="0"/>
              <a:t>.NET </a:t>
            </a:r>
            <a:r>
              <a:rPr lang="en-US" dirty="0"/>
              <a:t>applications</a:t>
            </a:r>
          </a:p>
          <a:p>
            <a:r>
              <a:rPr lang="en-US" dirty="0"/>
              <a:t>Provides a </a:t>
            </a:r>
            <a:r>
              <a:rPr lang="en-US" b="1" dirty="0">
                <a:solidFill>
                  <a:schemeClr val="bg1"/>
                </a:solidFill>
              </a:rPr>
              <a:t>high-level abstraction </a:t>
            </a:r>
            <a:r>
              <a:rPr lang="en-US" dirty="0"/>
              <a:t>for managing relational databases with minimal code</a:t>
            </a:r>
          </a:p>
          <a:p>
            <a:r>
              <a:rPr lang="en-US" dirty="0"/>
              <a:t>Supports </a:t>
            </a:r>
            <a:r>
              <a:rPr lang="en-US" b="1" dirty="0">
                <a:solidFill>
                  <a:schemeClr val="bg1"/>
                </a:solidFill>
              </a:rPr>
              <a:t>many database engines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E2169BF-F587-E3B4-2E8B-9DCB4D4F2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of EF Core Basics</a:t>
            </a:r>
          </a:p>
        </p:txBody>
      </p:sp>
    </p:spTree>
    <p:extLst>
      <p:ext uri="{BB962C8B-B14F-4D97-AF65-F5344CB8AC3E}">
        <p14:creationId xmlns:p14="http://schemas.microsoft.com/office/powerpoint/2010/main" val="3106818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06A57C-1236-D2FD-B38F-4A7FD283F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374CCE-BCE1-D1C5-1F28-B372FFEAE8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300598" cy="5528766"/>
          </a:xfrm>
        </p:spPr>
        <p:txBody>
          <a:bodyPr/>
          <a:lstStyle/>
          <a:p>
            <a:r>
              <a:rPr lang="en-US" dirty="0"/>
              <a:t>With EF Core, </a:t>
            </a:r>
            <a:r>
              <a:rPr lang="en-US" b="1" dirty="0">
                <a:solidFill>
                  <a:schemeClr val="bg1"/>
                </a:solidFill>
              </a:rPr>
              <a:t>data access </a:t>
            </a:r>
            <a:r>
              <a:rPr lang="en-US" dirty="0"/>
              <a:t>is performed </a:t>
            </a:r>
            <a:r>
              <a:rPr lang="en-US" b="1" dirty="0"/>
              <a:t>using a model</a:t>
            </a:r>
          </a:p>
          <a:p>
            <a:r>
              <a:rPr lang="en-US" dirty="0"/>
              <a:t>A model is made up of </a:t>
            </a:r>
            <a:r>
              <a:rPr lang="en-US" b="1" dirty="0">
                <a:solidFill>
                  <a:schemeClr val="bg1"/>
                </a:solidFill>
              </a:rPr>
              <a:t>entity classes </a:t>
            </a:r>
            <a:r>
              <a:rPr lang="en-US" dirty="0"/>
              <a:t>and a </a:t>
            </a:r>
            <a:r>
              <a:rPr lang="en-US" b="1" dirty="0">
                <a:solidFill>
                  <a:schemeClr val="bg1"/>
                </a:solidFill>
              </a:rPr>
              <a:t>context object </a:t>
            </a:r>
            <a:r>
              <a:rPr lang="en-US" dirty="0"/>
              <a:t>that represents a </a:t>
            </a:r>
            <a:r>
              <a:rPr lang="en-US" b="1" dirty="0"/>
              <a:t>session with the database</a:t>
            </a:r>
          </a:p>
          <a:p>
            <a:r>
              <a:rPr lang="en-US" dirty="0"/>
              <a:t>The context object allows </a:t>
            </a:r>
            <a:r>
              <a:rPr lang="en-US" b="1" dirty="0">
                <a:solidFill>
                  <a:schemeClr val="bg1"/>
                </a:solidFill>
              </a:rPr>
              <a:t>querying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saving data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5BF862-B7DC-8846-E147-AEC7CE393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</a:t>
            </a:r>
          </a:p>
        </p:txBody>
      </p:sp>
      <p:pic>
        <p:nvPicPr>
          <p:cNvPr id="8" name="Picture 7" descr="A hand placing a block on a tower of wooden blocks&#10;&#10;Description automatically generated">
            <a:extLst>
              <a:ext uri="{FF2B5EF4-FFF2-40B4-BE49-F238E27FC236}">
                <a16:creationId xmlns:a16="http://schemas.microsoft.com/office/drawing/2014/main" id="{D147FF3E-C293-7D5D-D46E-E9387BD32E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5"/>
          <a:stretch/>
        </p:blipFill>
        <p:spPr>
          <a:xfrm>
            <a:off x="7491000" y="2349000"/>
            <a:ext cx="4501776" cy="2946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04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DB1EDF-5B0D-C027-B37B-A55867B43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39D40-79D8-A9E6-321D-423289D49F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940598" cy="5528766"/>
          </a:xfrm>
        </p:spPr>
        <p:txBody>
          <a:bodyPr>
            <a:normAutofit/>
          </a:bodyPr>
          <a:lstStyle/>
          <a:p>
            <a:r>
              <a:rPr lang="en-US" dirty="0"/>
              <a:t>Generate a model from an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existing database</a:t>
            </a:r>
          </a:p>
          <a:p>
            <a:r>
              <a:rPr lang="en-US" dirty="0"/>
              <a:t>Hand </a:t>
            </a:r>
            <a:r>
              <a:rPr lang="en-US" b="1" dirty="0">
                <a:solidFill>
                  <a:schemeClr val="bg1"/>
                </a:solidFill>
              </a:rPr>
              <a:t>code a model </a:t>
            </a:r>
            <a:r>
              <a:rPr lang="en-US" dirty="0"/>
              <a:t>to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match the database</a:t>
            </a:r>
          </a:p>
          <a:p>
            <a:r>
              <a:rPr lang="en-US" dirty="0"/>
              <a:t>Once a model is created, use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EF Migrations</a:t>
            </a:r>
            <a:r>
              <a:rPr lang="en-US" dirty="0"/>
              <a:t> to create a database from the model </a:t>
            </a:r>
          </a:p>
          <a:p>
            <a:r>
              <a:rPr lang="en-US" dirty="0"/>
              <a:t>Migrations allow </a:t>
            </a:r>
            <a:r>
              <a:rPr lang="en-US" b="1" dirty="0">
                <a:solidFill>
                  <a:schemeClr val="bg1"/>
                </a:solidFill>
              </a:rPr>
              <a:t>evolving the database</a:t>
            </a:r>
            <a:r>
              <a:rPr lang="en-US" dirty="0"/>
              <a:t> as the model changes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361C14-5ECB-A8F5-EC51-50B93373D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Development Approaches</a:t>
            </a:r>
          </a:p>
        </p:txBody>
      </p:sp>
      <p:pic>
        <p:nvPicPr>
          <p:cNvPr id="6" name="Picture 5" descr="A diagram of a database&#10;&#10;Description automatically generated">
            <a:extLst>
              <a:ext uri="{FF2B5EF4-FFF2-40B4-BE49-F238E27FC236}">
                <a16:creationId xmlns:a16="http://schemas.microsoft.com/office/drawing/2014/main" id="{F62144EB-ED0D-4EFF-C809-913F31955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000" y="1984070"/>
            <a:ext cx="4314825" cy="3952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1893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80F0AE-8A83-1859-EB2C-A8C3105AA6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C42FD-43EC-710F-6490-DF3342E609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715598" cy="5528766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Instances</a:t>
            </a:r>
            <a:r>
              <a:rPr lang="en-US" dirty="0"/>
              <a:t> of entity classes are </a:t>
            </a:r>
            <a:r>
              <a:rPr lang="en-US" b="1" dirty="0">
                <a:solidFill>
                  <a:schemeClr val="bg1"/>
                </a:solidFill>
              </a:rPr>
              <a:t>retrieved from the database </a:t>
            </a:r>
            <a:r>
              <a:rPr lang="en-US" dirty="0"/>
              <a:t>using </a:t>
            </a:r>
            <a:r>
              <a:rPr lang="en-US" b="1" dirty="0"/>
              <a:t>Language Integrated Query </a:t>
            </a:r>
            <a:r>
              <a:rPr lang="en-US" dirty="0"/>
              <a:t>(</a:t>
            </a:r>
            <a:r>
              <a:rPr lang="en-US" b="1" dirty="0">
                <a:solidFill>
                  <a:schemeClr val="bg1"/>
                </a:solidFill>
              </a:rPr>
              <a:t>LINQ</a:t>
            </a:r>
            <a:r>
              <a:rPr lang="en-US" dirty="0"/>
              <a:t>)</a:t>
            </a:r>
          </a:p>
          <a:p>
            <a:r>
              <a:rPr lang="en-US" dirty="0"/>
              <a:t>LINQ allows you to use C# to write </a:t>
            </a:r>
            <a:r>
              <a:rPr lang="en-US" b="1" dirty="0">
                <a:solidFill>
                  <a:schemeClr val="bg1"/>
                </a:solidFill>
              </a:rPr>
              <a:t>strongly typed queries</a:t>
            </a:r>
          </a:p>
          <a:p>
            <a:r>
              <a:rPr lang="en-US" dirty="0"/>
              <a:t>It </a:t>
            </a:r>
            <a:r>
              <a:rPr lang="en-US" b="1" dirty="0">
                <a:solidFill>
                  <a:schemeClr val="bg1"/>
                </a:solidFill>
              </a:rPr>
              <a:t>uses your derived context </a:t>
            </a:r>
            <a:r>
              <a:rPr lang="en-US" dirty="0"/>
              <a:t>and entity classes to reference database objects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7FF9BD-E443-48A2-0D4F-F9B2DE162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</a:t>
            </a:r>
          </a:p>
        </p:txBody>
      </p:sp>
      <p:pic>
        <p:nvPicPr>
          <p:cNvPr id="10" name="Picture 9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0A624C09-9297-2DB4-2D30-4519823AA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9" r="6049"/>
          <a:stretch/>
        </p:blipFill>
        <p:spPr>
          <a:xfrm>
            <a:off x="7535999" y="2619000"/>
            <a:ext cx="4465599" cy="288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362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CBDE5C-CFC6-865B-DF3F-E04AF8894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070E4-3DFA-8FD3-3931-1B35E30D4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56000" y="1121143"/>
            <a:ext cx="10039236" cy="5546589"/>
          </a:xfrm>
        </p:spPr>
        <p:txBody>
          <a:bodyPr/>
          <a:lstStyle/>
          <a:p>
            <a:r>
              <a:rPr lang="en-US" dirty="0"/>
              <a:t>EF Core </a:t>
            </a:r>
            <a:r>
              <a:rPr lang="en-US" b="1" dirty="0">
                <a:solidFill>
                  <a:schemeClr val="bg1"/>
                </a:solidFill>
              </a:rPr>
              <a:t>passes a representation of the LINQ query </a:t>
            </a:r>
            <a:r>
              <a:rPr lang="en-US" dirty="0"/>
              <a:t>to the </a:t>
            </a:r>
            <a:r>
              <a:rPr lang="en-US" b="1" dirty="0"/>
              <a:t>database provider</a:t>
            </a:r>
          </a:p>
          <a:p>
            <a:r>
              <a:rPr lang="en-US" dirty="0"/>
              <a:t>Database providers in turn </a:t>
            </a:r>
            <a:r>
              <a:rPr lang="en-US" b="1" dirty="0">
                <a:solidFill>
                  <a:schemeClr val="bg1"/>
                </a:solidFill>
              </a:rPr>
              <a:t>translate it </a:t>
            </a:r>
            <a:r>
              <a:rPr lang="en-US" dirty="0"/>
              <a:t>to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database-specific query language</a:t>
            </a:r>
          </a:p>
          <a:p>
            <a:r>
              <a:rPr lang="en-US" dirty="0"/>
              <a:t>Queries are </a:t>
            </a:r>
            <a:r>
              <a:rPr lang="en-US" b="1" dirty="0">
                <a:solidFill>
                  <a:schemeClr val="bg1"/>
                </a:solidFill>
              </a:rPr>
              <a:t>always executed against the database </a:t>
            </a:r>
            <a:r>
              <a:rPr lang="en-US" dirty="0"/>
              <a:t>even if the entities returned in the result already exist in the context</a:t>
            </a:r>
          </a:p>
          <a:p>
            <a:r>
              <a:rPr lang="en-US" dirty="0"/>
              <a:t>Querying allows you to </a:t>
            </a:r>
            <a:r>
              <a:rPr lang="en-US" b="1" dirty="0">
                <a:solidFill>
                  <a:schemeClr val="bg1"/>
                </a:solidFill>
              </a:rPr>
              <a:t>read data from the database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D291A2F-4665-5047-D334-BF92317B9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</a:t>
            </a:r>
          </a:p>
        </p:txBody>
      </p:sp>
    </p:spTree>
    <p:extLst>
      <p:ext uri="{BB962C8B-B14F-4D97-AF65-F5344CB8AC3E}">
        <p14:creationId xmlns:p14="http://schemas.microsoft.com/office/powerpoint/2010/main" val="3728465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3E7EFB-9241-E2CE-35ED-4EE611A9B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03C2E6-7A53-6FCC-E815-51FEE9E43D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525598" cy="5528766"/>
          </a:xfrm>
        </p:spPr>
        <p:txBody>
          <a:bodyPr>
            <a:normAutofit/>
          </a:bodyPr>
          <a:lstStyle/>
          <a:p>
            <a:r>
              <a:rPr lang="en-US" dirty="0"/>
              <a:t>Data is </a:t>
            </a:r>
            <a:r>
              <a:rPr lang="en-US" b="1" dirty="0">
                <a:solidFill>
                  <a:schemeClr val="bg1"/>
                </a:solidFill>
              </a:rPr>
              <a:t>created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deleted</a:t>
            </a:r>
            <a:r>
              <a:rPr lang="en-US" dirty="0"/>
              <a:t>, and </a:t>
            </a:r>
            <a:r>
              <a:rPr lang="en-US" b="1" dirty="0">
                <a:solidFill>
                  <a:schemeClr val="bg1"/>
                </a:solidFill>
              </a:rPr>
              <a:t>modified</a:t>
            </a:r>
            <a:r>
              <a:rPr lang="en-US" dirty="0"/>
              <a:t> in the database using instances of your entity classes</a:t>
            </a:r>
          </a:p>
          <a:p>
            <a:r>
              <a:rPr lang="en-US" dirty="0"/>
              <a:t>Saving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data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/>
              <a:t>means </a:t>
            </a:r>
            <a:r>
              <a:rPr lang="en-US" b="1" dirty="0">
                <a:solidFill>
                  <a:schemeClr val="bg1"/>
                </a:solidFill>
              </a:rPr>
              <a:t>adding new entities to the database</a:t>
            </a:r>
            <a:r>
              <a:rPr lang="en-US" dirty="0"/>
              <a:t>, </a:t>
            </a:r>
            <a:r>
              <a:rPr lang="en-US" b="1" dirty="0">
                <a:solidFill>
                  <a:srgbClr val="F2A40D"/>
                </a:solidFill>
              </a:rPr>
              <a:t>removing entities</a:t>
            </a:r>
            <a:r>
              <a:rPr lang="en-US" dirty="0"/>
              <a:t>, or </a:t>
            </a:r>
            <a:r>
              <a:rPr lang="en-US" b="1" dirty="0">
                <a:solidFill>
                  <a:srgbClr val="F2A40D"/>
                </a:solidFill>
              </a:rPr>
              <a:t>modifying</a:t>
            </a:r>
            <a:r>
              <a:rPr lang="en-US" dirty="0"/>
              <a:t> the properties of existing entities in some way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69238F-E6B6-33C4-2F9B-9F3A23559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Data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7AC61D8-1190-D1B3-E25E-A6AB95393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000" y="2263841"/>
            <a:ext cx="3393333" cy="33933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0094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8737E4-F8D5-3998-A90E-77495638A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B6E00-D1D7-EB3C-877C-380FA9D2B9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525598" cy="5528766"/>
          </a:xfrm>
        </p:spPr>
        <p:txBody>
          <a:bodyPr/>
          <a:lstStyle/>
          <a:p>
            <a:r>
              <a:rPr lang="en-US" dirty="0"/>
              <a:t>Entity Framework Core (EF Core) supports </a:t>
            </a:r>
            <a:r>
              <a:rPr lang="en-US" b="1" dirty="0">
                <a:solidFill>
                  <a:srgbClr val="F2A40D"/>
                </a:solidFill>
              </a:rPr>
              <a:t>two fundamental approaches</a:t>
            </a:r>
            <a:r>
              <a:rPr lang="en-US" dirty="0"/>
              <a:t> for saving data to the database:</a:t>
            </a:r>
          </a:p>
          <a:p>
            <a:pPr lvl="1"/>
            <a:r>
              <a:rPr lang="en-US" b="1" dirty="0"/>
              <a:t>Change tracking </a:t>
            </a:r>
            <a:r>
              <a:rPr lang="en-US" dirty="0"/>
              <a:t>and </a:t>
            </a:r>
            <a:r>
              <a:rPr lang="en-US" b="1" dirty="0">
                <a:solidFill>
                  <a:srgbClr val="F2A40D"/>
                </a:solidFill>
              </a:rPr>
              <a:t>SaveChanges</a:t>
            </a:r>
          </a:p>
          <a:p>
            <a:pPr lvl="1">
              <a:buClr>
                <a:schemeClr val="tx1"/>
              </a:buClr>
            </a:pPr>
            <a:r>
              <a:rPr lang="en-US" sz="3398" b="1" dirty="0">
                <a:solidFill>
                  <a:srgbClr val="F2A40D"/>
                </a:solidFill>
              </a:rPr>
              <a:t>ExecuteUpdate</a:t>
            </a:r>
            <a:r>
              <a:rPr lang="en-US" sz="3398" dirty="0"/>
              <a:t> and </a:t>
            </a:r>
            <a:r>
              <a:rPr lang="en-US" sz="3398" b="1" dirty="0">
                <a:solidFill>
                  <a:srgbClr val="F2A40D"/>
                </a:solidFill>
              </a:rPr>
              <a:t>ExecuteDelete</a:t>
            </a:r>
            <a:r>
              <a:rPr lang="en-US" sz="3398" dirty="0"/>
              <a:t> </a:t>
            </a:r>
            <a:br>
              <a:rPr lang="en-US" sz="3398" dirty="0"/>
            </a:br>
            <a:r>
              <a:rPr lang="en-US" sz="3398" dirty="0"/>
              <a:t>("bulk update")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792483-3896-E90F-1292-D61746E4B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Data Approaches</a:t>
            </a:r>
          </a:p>
        </p:txBody>
      </p:sp>
      <p:pic>
        <p:nvPicPr>
          <p:cNvPr id="6" name="Picture 5" descr="A graphic of a server&#10;&#10;Description automatically generated with medium confidence">
            <a:extLst>
              <a:ext uri="{FF2B5EF4-FFF2-40B4-BE49-F238E27FC236}">
                <a16:creationId xmlns:a16="http://schemas.microsoft.com/office/drawing/2014/main" id="{263F4F90-83D2-33E4-4DFD-5535B0D5B4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35" t="20614" r="22835" b="19484"/>
          <a:stretch/>
        </p:blipFill>
        <p:spPr>
          <a:xfrm>
            <a:off x="7866600" y="2768007"/>
            <a:ext cx="4140000" cy="2385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990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7F0B-22E4-443D-9C4F-1F2763CE37D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Local Generic Repository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3805BBA-1D79-44BB-BE84-F0F1CDBBB3F6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Repository Pattern</a:t>
            </a:r>
          </a:p>
        </p:txBody>
      </p:sp>
      <p:pic>
        <p:nvPicPr>
          <p:cNvPr id="11" name="Picture 10" descr="A cloud computing symbol with a blue and silver cloud&#10;&#10;Description automatically generated">
            <a:extLst>
              <a:ext uri="{FF2B5EF4-FFF2-40B4-BE49-F238E27FC236}">
                <a16:creationId xmlns:a16="http://schemas.microsoft.com/office/drawing/2014/main" id="{CA1FDB1B-08FA-A5D7-BB9F-908E3F1F9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8519" y="1089000"/>
            <a:ext cx="2994962" cy="307708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9202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FD00BF-242D-0C76-988F-42E7E84F93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46000" y="1257411"/>
            <a:ext cx="10129234" cy="5546589"/>
          </a:xfrm>
        </p:spPr>
        <p:txBody>
          <a:bodyPr/>
          <a:lstStyle/>
          <a:p>
            <a:r>
              <a:rPr lang="en-US" dirty="0"/>
              <a:t>Without Repository </a:t>
            </a:r>
            <a:r>
              <a:rPr lang="en-US" b="1" dirty="0">
                <a:solidFill>
                  <a:srgbClr val="FF0000"/>
                </a:solidFill>
              </a:rPr>
              <a:t>direct access to DbContext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F2A40D"/>
                </a:solidFill>
              </a:rPr>
              <a:t>Repository Pattern </a:t>
            </a:r>
            <a:r>
              <a:rPr lang="en-US" dirty="0"/>
              <a:t>is a fundamental </a:t>
            </a:r>
            <a:r>
              <a:rPr lang="en-US" b="1" dirty="0">
                <a:solidFill>
                  <a:srgbClr val="F2A40D"/>
                </a:solidFill>
              </a:rPr>
              <a:t>design pattern</a:t>
            </a:r>
            <a:r>
              <a:rPr lang="en-US" dirty="0"/>
              <a:t> in software development </a:t>
            </a:r>
          </a:p>
          <a:p>
            <a:pPr lvl="1"/>
            <a:r>
              <a:rPr lang="en-US" dirty="0"/>
              <a:t>Provides</a:t>
            </a:r>
            <a:r>
              <a:rPr lang="en-US" b="1" dirty="0">
                <a:solidFill>
                  <a:srgbClr val="F2A40D"/>
                </a:solidFill>
              </a:rPr>
              <a:t> </a:t>
            </a:r>
            <a:r>
              <a:rPr lang="en-US" dirty="0"/>
              <a:t>an</a:t>
            </a:r>
            <a:r>
              <a:rPr lang="en-US" b="1" dirty="0">
                <a:solidFill>
                  <a:srgbClr val="F2A40D"/>
                </a:solidFill>
              </a:rPr>
              <a:t> abstraction</a:t>
            </a:r>
            <a:r>
              <a:rPr lang="en-US" dirty="0"/>
              <a:t> </a:t>
            </a:r>
            <a:r>
              <a:rPr lang="en-US" b="1" dirty="0">
                <a:solidFill>
                  <a:srgbClr val="F2A40D"/>
                </a:solidFill>
              </a:rPr>
              <a:t>layer</a:t>
            </a:r>
            <a:r>
              <a:rPr lang="en-US" dirty="0"/>
              <a:t> between the application's data access logic and the underlying </a:t>
            </a:r>
            <a:br>
              <a:rPr lang="bg-BG" dirty="0"/>
            </a:br>
            <a:r>
              <a:rPr lang="en-US" dirty="0"/>
              <a:t>data source</a:t>
            </a:r>
          </a:p>
          <a:p>
            <a:pPr lvl="1"/>
            <a:r>
              <a:rPr lang="en-US" dirty="0"/>
              <a:t>It promotes </a:t>
            </a:r>
            <a:r>
              <a:rPr lang="en-US" b="1" dirty="0">
                <a:solidFill>
                  <a:srgbClr val="F2A40D"/>
                </a:solidFill>
              </a:rPr>
              <a:t>separation of concerns </a:t>
            </a:r>
            <a:r>
              <a:rPr lang="en-US" dirty="0"/>
              <a:t>and enhances code </a:t>
            </a:r>
            <a:r>
              <a:rPr lang="en-US" b="1" dirty="0">
                <a:solidFill>
                  <a:srgbClr val="F2A40D"/>
                </a:solidFill>
              </a:rPr>
              <a:t>maintainability</a:t>
            </a:r>
            <a:r>
              <a:rPr lang="en-US" dirty="0"/>
              <a:t>, </a:t>
            </a:r>
            <a:r>
              <a:rPr lang="en-US" b="1" dirty="0">
                <a:solidFill>
                  <a:srgbClr val="F2A40D"/>
                </a:solidFill>
              </a:rPr>
              <a:t>testability</a:t>
            </a:r>
            <a:r>
              <a:rPr lang="en-US" dirty="0"/>
              <a:t>, and </a:t>
            </a:r>
            <a:r>
              <a:rPr lang="en-US" b="1" dirty="0">
                <a:solidFill>
                  <a:srgbClr val="F2A40D"/>
                </a:solidFill>
              </a:rPr>
              <a:t>scalability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60E2B4-A21C-956D-6049-35E15AC5D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 Pattern</a:t>
            </a:r>
          </a:p>
        </p:txBody>
      </p:sp>
    </p:spTree>
    <p:extLst>
      <p:ext uri="{BB962C8B-B14F-4D97-AF65-F5344CB8AC3E}">
        <p14:creationId xmlns:p14="http://schemas.microsoft.com/office/powerpoint/2010/main" val="2205833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36ADCD-8814-365D-5ABC-0B4D1CBA8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D813F8-4903-7A00-0A23-DE8723A26D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560598" cy="5528766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bg1"/>
                </a:solidFill>
              </a:rPr>
              <a:t>Generic </a:t>
            </a:r>
            <a:r>
              <a:rPr lang="en-US" dirty="0"/>
              <a:t>Repository pattern in C# is a design pattern that abstracts the application</a:t>
            </a:r>
            <a:r>
              <a:rPr lang="bg-BG" dirty="0"/>
              <a:t>'</a:t>
            </a:r>
            <a:r>
              <a:rPr lang="en-US" dirty="0"/>
              <a:t>s data layer, making it easier to manage data access logic across </a:t>
            </a:r>
            <a:r>
              <a:rPr lang="en-US" b="1" dirty="0">
                <a:solidFill>
                  <a:schemeClr val="bg1"/>
                </a:solidFill>
              </a:rPr>
              <a:t>different data sources</a:t>
            </a:r>
          </a:p>
          <a:p>
            <a:r>
              <a:rPr lang="en-US" dirty="0"/>
              <a:t>It aims to </a:t>
            </a:r>
            <a:r>
              <a:rPr lang="en-US" b="1" dirty="0">
                <a:solidFill>
                  <a:schemeClr val="bg1"/>
                </a:solidFill>
              </a:rPr>
              <a:t>reduce redundancy </a:t>
            </a:r>
            <a:r>
              <a:rPr lang="en-US" dirty="0"/>
              <a:t>by implementing </a:t>
            </a:r>
            <a:r>
              <a:rPr lang="en-US" b="1" dirty="0">
                <a:solidFill>
                  <a:schemeClr val="bg1"/>
                </a:solidFill>
              </a:rPr>
              <a:t>common data operations</a:t>
            </a:r>
            <a:r>
              <a:rPr lang="en-US" dirty="0"/>
              <a:t> in a single, </a:t>
            </a:r>
            <a:r>
              <a:rPr lang="en-US" b="1" dirty="0">
                <a:solidFill>
                  <a:schemeClr val="bg1"/>
                </a:solidFill>
              </a:rPr>
              <a:t>generic repository </a:t>
            </a:r>
            <a:r>
              <a:rPr lang="en-US" dirty="0"/>
              <a:t>rather than having separate repositories for each entity type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8F54959-7615-F233-3CC6-85060195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Repository Pattern</a:t>
            </a: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023D6CB-D729-B081-13B0-C63D0A0CB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000" y="2443167"/>
            <a:ext cx="3034682" cy="30346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7388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0E7B1-EC4D-8B50-0CAE-8D581C2DB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A1513-8EE3-088C-E334-33782F9D0D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10000"/>
          </a:bodyPr>
          <a:lstStyle/>
          <a:p>
            <a:pPr>
              <a:buClr>
                <a:srgbClr val="464646"/>
              </a:buClr>
            </a:pPr>
            <a:r>
              <a:rPr lang="en-US" b="1" dirty="0">
                <a:solidFill>
                  <a:schemeClr val="bg1"/>
                </a:solidFill>
              </a:rPr>
              <a:t>Generic Interface</a:t>
            </a:r>
          </a:p>
          <a:p>
            <a:pPr lvl="1"/>
            <a:r>
              <a:rPr lang="en-US" dirty="0"/>
              <a:t>A generic repository typically starts with a generic interface defining common operations like </a:t>
            </a:r>
            <a:r>
              <a:rPr lang="en-US" b="1" dirty="0">
                <a:solidFill>
                  <a:schemeClr val="bg1"/>
                </a:solidFill>
              </a:rPr>
              <a:t>Add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Delete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Find</a:t>
            </a:r>
            <a:r>
              <a:rPr lang="en-US" dirty="0"/>
              <a:t>, and </a:t>
            </a:r>
            <a:r>
              <a:rPr lang="en-US" b="1" dirty="0">
                <a:solidFill>
                  <a:schemeClr val="bg1"/>
                </a:solidFill>
              </a:rPr>
              <a:t>Update</a:t>
            </a:r>
          </a:p>
          <a:p>
            <a:pPr lvl="1"/>
            <a:r>
              <a:rPr lang="en-US" dirty="0"/>
              <a:t>These operations are </a:t>
            </a:r>
            <a:r>
              <a:rPr lang="en-US" b="1" dirty="0">
                <a:solidFill>
                  <a:schemeClr val="bg1"/>
                </a:solidFill>
              </a:rPr>
              <a:t>defined in a generic way</a:t>
            </a:r>
            <a:r>
              <a:rPr lang="en-US" dirty="0"/>
              <a:t>, </a:t>
            </a:r>
            <a:r>
              <a:rPr lang="en-US" b="1" dirty="0"/>
              <a:t>applicable to any entity type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Implementation</a:t>
            </a:r>
          </a:p>
          <a:p>
            <a:pPr lvl="1"/>
            <a:r>
              <a:rPr lang="en-US" dirty="0"/>
              <a:t>The generic interface is then implemented in a concrete class</a:t>
            </a:r>
          </a:p>
          <a:p>
            <a:pPr lvl="1"/>
            <a:r>
              <a:rPr lang="en-US" dirty="0"/>
              <a:t>This class handles the data source interactions, such as querying a database using an ORM (like Entity Framework)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Entity Framework Context</a:t>
            </a:r>
          </a:p>
          <a:p>
            <a:pPr lvl="1"/>
            <a:r>
              <a:rPr lang="en-US" dirty="0"/>
              <a:t>The implementation will often utilize an Entity Framework context to interact with the database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C46305-1301-4401-6F74-495FDCF90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</a:t>
            </a:r>
          </a:p>
        </p:txBody>
      </p:sp>
    </p:spTree>
    <p:extLst>
      <p:ext uri="{BB962C8B-B14F-4D97-AF65-F5344CB8AC3E}">
        <p14:creationId xmlns:p14="http://schemas.microsoft.com/office/powerpoint/2010/main" val="1557185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7D430B-B4E0-2C92-E185-376853C23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9CE4FD-826F-DB7D-0BB4-CEEE5C7A15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0999" y="1121143"/>
            <a:ext cx="10800001" cy="5546589"/>
          </a:xfrm>
        </p:spPr>
        <p:txBody>
          <a:bodyPr/>
          <a:lstStyle/>
          <a:p>
            <a:r>
              <a:rPr lang="en-US" dirty="0"/>
              <a:t>In a </a:t>
            </a:r>
            <a:r>
              <a:rPr lang="en-US" b="1" dirty="0">
                <a:solidFill>
                  <a:schemeClr val="bg1"/>
                </a:solidFill>
              </a:rPr>
              <a:t>Basic Repository </a:t>
            </a:r>
            <a:r>
              <a:rPr lang="en-US" dirty="0"/>
              <a:t>or </a:t>
            </a:r>
            <a:r>
              <a:rPr lang="en-US" b="1" dirty="0">
                <a:solidFill>
                  <a:schemeClr val="bg1"/>
                </a:solidFill>
              </a:rPr>
              <a:t>Non-Generic Repository</a:t>
            </a:r>
            <a:r>
              <a:rPr lang="en-US" dirty="0"/>
              <a:t>, we need to create </a:t>
            </a:r>
            <a:r>
              <a:rPr lang="en-US" b="1" dirty="0">
                <a:solidFill>
                  <a:schemeClr val="bg1"/>
                </a:solidFill>
              </a:rPr>
              <a:t>separate repositories for every entity </a:t>
            </a:r>
            <a:r>
              <a:rPr lang="en-US" dirty="0"/>
              <a:t>in our application</a:t>
            </a:r>
          </a:p>
          <a:p>
            <a:r>
              <a:rPr lang="en-US" dirty="0"/>
              <a:t>For example, </a:t>
            </a:r>
            <a:r>
              <a:rPr lang="en-US" b="1" dirty="0"/>
              <a:t>if we have three entities</a:t>
            </a:r>
            <a:r>
              <a:rPr lang="en-US" dirty="0"/>
              <a:t>:</a:t>
            </a:r>
          </a:p>
          <a:p>
            <a:pPr lvl="1"/>
            <a:r>
              <a:rPr lang="en-US" sz="3398" i="1" dirty="0"/>
              <a:t>Employee</a:t>
            </a:r>
            <a:r>
              <a:rPr lang="en-US" sz="3398" dirty="0"/>
              <a:t>, </a:t>
            </a:r>
            <a:r>
              <a:rPr lang="en-US" sz="3398" i="1" dirty="0"/>
              <a:t>Product</a:t>
            </a:r>
            <a:r>
              <a:rPr lang="en-US" sz="3398" dirty="0"/>
              <a:t>, and </a:t>
            </a:r>
            <a:r>
              <a:rPr lang="en-US" sz="3398" i="1" dirty="0"/>
              <a:t>Customer</a:t>
            </a:r>
          </a:p>
          <a:p>
            <a:pPr lvl="1"/>
            <a:r>
              <a:rPr lang="en-US" sz="3398" dirty="0"/>
              <a:t>We </a:t>
            </a:r>
            <a:r>
              <a:rPr lang="en-US" sz="3398" b="1" dirty="0"/>
              <a:t>need to create three repositories</a:t>
            </a:r>
            <a:r>
              <a:rPr lang="en-US" sz="3398" dirty="0"/>
              <a:t>: </a:t>
            </a:r>
            <a:r>
              <a:rPr lang="en-US" sz="3398" i="1" dirty="0"/>
              <a:t>EmployeeRepository</a:t>
            </a:r>
            <a:r>
              <a:rPr lang="en-US" sz="3398" dirty="0"/>
              <a:t>, </a:t>
            </a:r>
            <a:r>
              <a:rPr lang="en-US" sz="3398" i="1" dirty="0"/>
              <a:t>ProductRepository</a:t>
            </a:r>
            <a:r>
              <a:rPr lang="en-US" sz="3398" dirty="0"/>
              <a:t>, and </a:t>
            </a:r>
            <a:r>
              <a:rPr lang="en-US" sz="3398" i="1" dirty="0"/>
              <a:t>CustomerRepository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3FA95E-346D-BE06-4C51-376823962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Generic Repository DP</a:t>
            </a:r>
          </a:p>
        </p:txBody>
      </p:sp>
    </p:spTree>
    <p:extLst>
      <p:ext uri="{BB962C8B-B14F-4D97-AF65-F5344CB8AC3E}">
        <p14:creationId xmlns:p14="http://schemas.microsoft.com/office/powerpoint/2010/main" val="375739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AB6451-51DE-6E7A-8B78-69017E0B06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A1ABA8E-5697-C2CA-84B2-53B222FE3C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485598" cy="5528766"/>
          </a:xfrm>
        </p:spPr>
        <p:txBody>
          <a:bodyPr/>
          <a:lstStyle/>
          <a:p>
            <a:r>
              <a:rPr lang="en-US" dirty="0"/>
              <a:t>Creating separate repositories is boring and </a:t>
            </a:r>
            <a:r>
              <a:rPr lang="en-US" b="1" dirty="0">
                <a:solidFill>
                  <a:schemeClr val="bg1"/>
                </a:solidFill>
              </a:rPr>
              <a:t>repetitive work</a:t>
            </a:r>
          </a:p>
          <a:p>
            <a:pPr lvl="1"/>
            <a:r>
              <a:rPr lang="en-US" dirty="0"/>
              <a:t> Especially </a:t>
            </a:r>
            <a:r>
              <a:rPr lang="en-US" b="1" dirty="0"/>
              <a:t>if</a:t>
            </a:r>
            <a:r>
              <a:rPr lang="en-US" dirty="0"/>
              <a:t> all the repositories will </a:t>
            </a:r>
            <a:r>
              <a:rPr lang="en-US" b="1" dirty="0"/>
              <a:t>do</a:t>
            </a:r>
            <a:r>
              <a:rPr lang="en-US" dirty="0"/>
              <a:t> the </a:t>
            </a:r>
            <a:r>
              <a:rPr lang="en-US" b="1" dirty="0">
                <a:solidFill>
                  <a:schemeClr val="bg1"/>
                </a:solidFill>
              </a:rPr>
              <a:t>same kind of work</a:t>
            </a:r>
          </a:p>
          <a:p>
            <a:pPr lvl="1"/>
            <a:r>
              <a:rPr lang="en-US" dirty="0"/>
              <a:t>Typically database </a:t>
            </a:r>
            <a:r>
              <a:rPr lang="en-US" b="1" dirty="0">
                <a:solidFill>
                  <a:schemeClr val="bg1"/>
                </a:solidFill>
              </a:rPr>
              <a:t>CRUD</a:t>
            </a:r>
            <a:r>
              <a:rPr lang="en-US" dirty="0"/>
              <a:t> operations</a:t>
            </a:r>
          </a:p>
          <a:p>
            <a:r>
              <a:rPr lang="en-US" dirty="0"/>
              <a:t>This is against the </a:t>
            </a:r>
            <a:r>
              <a:rPr lang="en-US" b="1" dirty="0"/>
              <a:t>DRY</a:t>
            </a:r>
            <a:r>
              <a:rPr lang="en-US" dirty="0"/>
              <a:t> (</a:t>
            </a:r>
            <a:r>
              <a:rPr lang="en-US" b="1" dirty="0">
                <a:solidFill>
                  <a:schemeClr val="bg1"/>
                </a:solidFill>
              </a:rPr>
              <a:t>Don’t Repeat Yourself</a:t>
            </a:r>
            <a:r>
              <a:rPr lang="en-US" dirty="0"/>
              <a:t>) principle</a:t>
            </a:r>
          </a:p>
          <a:p>
            <a:r>
              <a:rPr lang="en-US" dirty="0"/>
              <a:t>To solve the above problem, the </a:t>
            </a:r>
            <a:r>
              <a:rPr lang="en-US" b="1" dirty="0">
                <a:solidFill>
                  <a:schemeClr val="bg1"/>
                </a:solidFill>
              </a:rPr>
              <a:t>Generic Repository Design Pattern</a:t>
            </a:r>
            <a:r>
              <a:rPr lang="en-US" dirty="0"/>
              <a:t> comes into the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5997BF-DAA4-EEBC-9D58-15A35C695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DRY Principle</a:t>
            </a:r>
          </a:p>
        </p:txBody>
      </p:sp>
    </p:spTree>
    <p:extLst>
      <p:ext uri="{BB962C8B-B14F-4D97-AF65-F5344CB8AC3E}">
        <p14:creationId xmlns:p14="http://schemas.microsoft.com/office/powerpoint/2010/main" val="160940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7CEBE1-4863-2B26-C360-001966C013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61AB6C-6726-3E48-B68D-9CA4A1746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6" name="Picture 5" descr="A diagram of a diagram&#10;&#10;Description automatically generated">
            <a:extLst>
              <a:ext uri="{FF2B5EF4-FFF2-40B4-BE49-F238E27FC236}">
                <a16:creationId xmlns:a16="http://schemas.microsoft.com/office/drawing/2014/main" id="{F6563DFB-12FD-71A2-1636-6EFFFCC99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31" y="1539000"/>
            <a:ext cx="11751538" cy="44204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700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A5E109-8DBF-299A-938A-193118DD5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D4B048-3949-4E72-CFAB-143E0E32C8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46000" y="1121143"/>
            <a:ext cx="9180000" cy="554658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chemeClr val="bg1"/>
                </a:solidFill>
              </a:rPr>
              <a:t>IoC Design Principle </a:t>
            </a:r>
            <a:r>
              <a:rPr lang="en-US" dirty="0"/>
              <a:t>suggests the inversion of various types of controls in </a:t>
            </a:r>
            <a:r>
              <a:rPr lang="en-US" b="1" dirty="0">
                <a:solidFill>
                  <a:schemeClr val="bg1"/>
                </a:solidFill>
              </a:rPr>
              <a:t>object-oriented design </a:t>
            </a:r>
            <a:r>
              <a:rPr lang="en-US" dirty="0"/>
              <a:t>to achieve </a:t>
            </a:r>
            <a:r>
              <a:rPr lang="en-US" b="1" dirty="0">
                <a:solidFill>
                  <a:schemeClr val="bg1"/>
                </a:solidFill>
              </a:rPr>
              <a:t>loose coupling </a:t>
            </a:r>
            <a:r>
              <a:rPr lang="en-US" dirty="0"/>
              <a:t>between the </a:t>
            </a:r>
            <a:br>
              <a:rPr lang="en-US" dirty="0"/>
            </a:br>
            <a:r>
              <a:rPr lang="en-US" dirty="0"/>
              <a:t>application classes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bg1"/>
                </a:solidFill>
              </a:rPr>
              <a:t>Main class </a:t>
            </a:r>
            <a:r>
              <a:rPr lang="en-US" dirty="0"/>
              <a:t>should </a:t>
            </a:r>
            <a:r>
              <a:rPr lang="en-US" b="1" dirty="0"/>
              <a:t>NOT</a:t>
            </a:r>
            <a:r>
              <a:rPr lang="en-US" dirty="0"/>
              <a:t> have a </a:t>
            </a:r>
            <a:r>
              <a:rPr lang="en-US" b="1" dirty="0">
                <a:solidFill>
                  <a:schemeClr val="bg1"/>
                </a:solidFill>
              </a:rPr>
              <a:t>concrete implementation</a:t>
            </a:r>
            <a:r>
              <a:rPr lang="en-US" dirty="0"/>
              <a:t> of an aggregated class</a:t>
            </a:r>
          </a:p>
          <a:p>
            <a:r>
              <a:rPr lang="en-US" dirty="0"/>
              <a:t>It should </a:t>
            </a:r>
            <a:r>
              <a:rPr lang="en-US" b="1" dirty="0">
                <a:solidFill>
                  <a:schemeClr val="bg1"/>
                </a:solidFill>
              </a:rPr>
              <a:t>depend on the abstraction </a:t>
            </a:r>
            <a:r>
              <a:rPr lang="en-US" dirty="0"/>
              <a:t>of that class</a:t>
            </a:r>
          </a:p>
          <a:p>
            <a:r>
              <a:rPr lang="en-US" dirty="0"/>
              <a:t>Here, control means any </a:t>
            </a:r>
            <a:r>
              <a:rPr lang="en-US" b="1" dirty="0">
                <a:solidFill>
                  <a:schemeClr val="bg1"/>
                </a:solidFill>
              </a:rPr>
              <a:t>extra responsibilities </a:t>
            </a:r>
            <a:r>
              <a:rPr lang="en-US" dirty="0"/>
              <a:t>a class has </a:t>
            </a:r>
            <a:r>
              <a:rPr lang="en-US" b="1" dirty="0">
                <a:solidFill>
                  <a:schemeClr val="bg1"/>
                </a:solidFill>
              </a:rPr>
              <a:t>other than its main </a:t>
            </a:r>
            <a:r>
              <a:rPr lang="en-US" dirty="0"/>
              <a:t>or fundamental responsibility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9A5FDAC-D76B-74AA-093E-5C0F9EE7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Inversion of Control Design Principle</a:t>
            </a:r>
          </a:p>
        </p:txBody>
      </p:sp>
    </p:spTree>
    <p:extLst>
      <p:ext uri="{BB962C8B-B14F-4D97-AF65-F5344CB8AC3E}">
        <p14:creationId xmlns:p14="http://schemas.microsoft.com/office/powerpoint/2010/main" val="3851827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3BD0FA-2CE2-7684-FC17-782225D84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59C251-65A4-C304-F2C6-764B80F911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IoC</a:t>
            </a:r>
            <a:r>
              <a:rPr lang="en-US" dirty="0"/>
              <a:t> can be done </a:t>
            </a:r>
            <a:r>
              <a:rPr lang="en-US" b="1" dirty="0">
                <a:solidFill>
                  <a:schemeClr val="bg1"/>
                </a:solidFill>
              </a:rPr>
              <a:t>using Dependency Injection </a:t>
            </a:r>
            <a:r>
              <a:rPr lang="en-US" dirty="0"/>
              <a:t>(DI)</a:t>
            </a:r>
          </a:p>
          <a:p>
            <a:r>
              <a:rPr lang="en-US" dirty="0"/>
              <a:t>How to </a:t>
            </a:r>
            <a:r>
              <a:rPr lang="en-US" b="1" dirty="0">
                <a:solidFill>
                  <a:schemeClr val="bg1"/>
                </a:solidFill>
              </a:rPr>
              <a:t>inject concrete implementation </a:t>
            </a:r>
            <a:r>
              <a:rPr lang="en-US" dirty="0"/>
              <a:t>into a class using abstraction (</a:t>
            </a:r>
            <a:r>
              <a:rPr lang="en-US" b="1" dirty="0">
                <a:solidFill>
                  <a:schemeClr val="bg1"/>
                </a:solidFill>
              </a:rPr>
              <a:t>an interface inside</a:t>
            </a:r>
            <a:r>
              <a:rPr lang="en-US" dirty="0"/>
              <a:t>)</a:t>
            </a:r>
          </a:p>
          <a:p>
            <a:r>
              <a:rPr lang="en-US" dirty="0"/>
              <a:t>The main idea of </a:t>
            </a:r>
            <a:r>
              <a:rPr lang="en-US" b="1" dirty="0"/>
              <a:t>dependency injection </a:t>
            </a:r>
            <a:r>
              <a:rPr lang="en-US" dirty="0"/>
              <a:t>is to </a:t>
            </a:r>
            <a:r>
              <a:rPr lang="en-US" b="1" dirty="0">
                <a:solidFill>
                  <a:schemeClr val="bg1"/>
                </a:solidFill>
              </a:rPr>
              <a:t>reduce the coupling between classes </a:t>
            </a:r>
            <a:r>
              <a:rPr lang="en-US" dirty="0"/>
              <a:t>and </a:t>
            </a:r>
            <a:r>
              <a:rPr lang="en-US" b="1" dirty="0">
                <a:solidFill>
                  <a:schemeClr val="bg1"/>
                </a:solidFill>
              </a:rPr>
              <a:t>move the binding of abstraction </a:t>
            </a:r>
            <a:r>
              <a:rPr lang="en-US" dirty="0"/>
              <a:t>and concrete implementation </a:t>
            </a:r>
            <a:r>
              <a:rPr lang="en-US" b="1" dirty="0">
                <a:solidFill>
                  <a:schemeClr val="bg1"/>
                </a:solidFill>
              </a:rPr>
              <a:t>out of the dependent class</a:t>
            </a:r>
          </a:p>
          <a:p>
            <a:r>
              <a:rPr lang="en-US" b="1" dirty="0"/>
              <a:t>DI</a:t>
            </a:r>
            <a:r>
              <a:rPr lang="en-US" dirty="0"/>
              <a:t> is </a:t>
            </a:r>
            <a:r>
              <a:rPr lang="en-US" b="1" dirty="0">
                <a:solidFill>
                  <a:schemeClr val="bg1"/>
                </a:solidFill>
              </a:rPr>
              <a:t>how one object knows </a:t>
            </a:r>
            <a:r>
              <a:rPr lang="en-US" b="1" dirty="0"/>
              <a:t>about another </a:t>
            </a:r>
            <a:r>
              <a:rPr lang="en-US" dirty="0"/>
              <a:t>abstracted dependent object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7CD782-9EEF-38C6-13D4-B7659B39B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Dependency Injection?</a:t>
            </a:r>
          </a:p>
        </p:txBody>
      </p:sp>
    </p:spTree>
    <p:extLst>
      <p:ext uri="{BB962C8B-B14F-4D97-AF65-F5344CB8AC3E}">
        <p14:creationId xmlns:p14="http://schemas.microsoft.com/office/powerpoint/2010/main" val="3626406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89B8B6-B67C-E3F5-0A07-EA70017F67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241D45-8ECD-AE5D-44BD-C8D36F1BB4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Injection via </a:t>
            </a:r>
            <a:r>
              <a:rPr lang="en-US" b="1" dirty="0">
                <a:solidFill>
                  <a:schemeClr val="bg1"/>
                </a:solidFill>
              </a:rPr>
              <a:t>Constructor</a:t>
            </a:r>
          </a:p>
          <a:p>
            <a:r>
              <a:rPr lang="en-US" dirty="0"/>
              <a:t>Injection via </a:t>
            </a:r>
            <a:r>
              <a:rPr lang="en-US" b="1" dirty="0">
                <a:solidFill>
                  <a:schemeClr val="bg1"/>
                </a:solidFill>
              </a:rPr>
              <a:t>Property</a:t>
            </a:r>
          </a:p>
          <a:p>
            <a:r>
              <a:rPr lang="en-US" dirty="0"/>
              <a:t>Injection via </a:t>
            </a:r>
            <a:r>
              <a:rPr lang="en-US" b="1" dirty="0">
                <a:solidFill>
                  <a:schemeClr val="bg1"/>
                </a:solidFill>
              </a:rPr>
              <a:t>Method</a:t>
            </a:r>
          </a:p>
          <a:p>
            <a:r>
              <a:rPr lang="en-US" dirty="0"/>
              <a:t>Injection via </a:t>
            </a:r>
            <a:r>
              <a:rPr lang="en-US" b="1" dirty="0">
                <a:solidFill>
                  <a:schemeClr val="bg1"/>
                </a:solidFill>
              </a:rPr>
              <a:t>Service Locator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5AB7989-EAF2-73EC-E7EB-7D172BEF6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Ways to Achieve DI</a:t>
            </a:r>
          </a:p>
        </p:txBody>
      </p:sp>
      <p:pic>
        <p:nvPicPr>
          <p:cNvPr id="8" name="Picture 7" descr="A diagram of a company&#10;&#10;Description automatically generated">
            <a:extLst>
              <a:ext uri="{FF2B5EF4-FFF2-40B4-BE49-F238E27FC236}">
                <a16:creationId xmlns:a16="http://schemas.microsoft.com/office/drawing/2014/main" id="{65137062-3ECC-218F-DABD-B671CE846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000" y="3938605"/>
            <a:ext cx="7110000" cy="25661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3188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">
            <a:extLst>
              <a:ext uri="{FF2B5EF4-FFF2-40B4-BE49-F238E27FC236}">
                <a16:creationId xmlns:a16="http://schemas.microsoft.com/office/drawing/2014/main" id="{D9EC40B8-E3A7-4120-B9DD-58F061A371D9}"/>
              </a:ext>
            </a:extLst>
          </p:cNvPr>
          <p:cNvGrpSpPr/>
          <p:nvPr/>
        </p:nvGrpSpPr>
        <p:grpSpPr>
          <a:xfrm>
            <a:off x="4267200" y="762682"/>
            <a:ext cx="3657601" cy="3657600"/>
            <a:chOff x="4265613" y="807603"/>
            <a:chExt cx="3657600" cy="3657600"/>
          </a:xfrm>
        </p:grpSpPr>
        <p:sp>
          <p:nvSpPr>
            <p:cNvPr id="14" name="Oval">
              <a:extLst>
                <a:ext uri="{FF2B5EF4-FFF2-40B4-BE49-F238E27FC236}">
                  <a16:creationId xmlns:a16="http://schemas.microsoft.com/office/drawing/2014/main" id="{78A7F4C0-13E0-42A7-A981-E741EE708D25}"/>
                </a:ext>
              </a:extLst>
            </p:cNvPr>
            <p:cNvSpPr/>
            <p:nvPr/>
          </p:nvSpPr>
          <p:spPr bwMode="auto">
            <a:xfrm>
              <a:off x="4265613" y="807603"/>
              <a:ext cx="3657600" cy="3657600"/>
            </a:xfrm>
            <a:prstGeom prst="ellipse">
              <a:avLst/>
            </a:prstGeom>
            <a:solidFill>
              <a:schemeClr val="bg2">
                <a:alpha val="50000"/>
              </a:schemeClr>
            </a:solidFill>
            <a:ln w="19050">
              <a:solidFill>
                <a:schemeClr val="bg2">
                  <a:alpha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001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799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15" name="Picture SoftUni Mascot" descr="SoftUni mascot">
              <a:extLst>
                <a:ext uri="{FF2B5EF4-FFF2-40B4-BE49-F238E27FC236}">
                  <a16:creationId xmlns:a16="http://schemas.microsoft.com/office/drawing/2014/main" id="{7F045F15-B9C6-4B3B-BC0A-88325BD1B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864230" y="818921"/>
              <a:ext cx="2465411" cy="3334334"/>
            </a:xfrm>
            <a:prstGeom prst="rect">
              <a:avLst/>
            </a:prstGeom>
          </p:spPr>
        </p:pic>
      </p:grpSp>
      <p:sp>
        <p:nvSpPr>
          <p:cNvPr id="10" name="Slide Subtitle">
            <a:extLst>
              <a:ext uri="{FF2B5EF4-FFF2-40B4-BE49-F238E27FC236}">
                <a16:creationId xmlns:a16="http://schemas.microsoft.com/office/drawing/2014/main" id="{6EA1CBAD-47E7-4FDB-BD03-3EEE91C31BE6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Cinema Web Application</a:t>
            </a:r>
            <a:endParaRPr lang="bg-BG" dirty="0"/>
          </a:p>
        </p:txBody>
      </p:sp>
      <p:sp>
        <p:nvSpPr>
          <p:cNvPr id="2" name="Slide Title">
            <a:extLst>
              <a:ext uri="{FF2B5EF4-FFF2-40B4-BE49-F238E27FC236}">
                <a16:creationId xmlns:a16="http://schemas.microsoft.com/office/drawing/2014/main" id="{EC48E06C-4121-464B-B17F-67B89F6D800B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153634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1942" y="1419750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445613" y="1606714"/>
            <a:ext cx="11815018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915" marR="0" lvl="0" indent="-456915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20888" y="1656226"/>
            <a:ext cx="7500112" cy="207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GB" sz="3400" b="1" dirty="0">
                <a:solidFill>
                  <a:schemeClr val="bg1"/>
                </a:solidFill>
              </a:rPr>
              <a:t>EF Core </a:t>
            </a:r>
            <a:r>
              <a:rPr lang="en-GB" sz="3400" b="1" dirty="0">
                <a:solidFill>
                  <a:schemeClr val="bg2"/>
                </a:solidFill>
              </a:rPr>
              <a:t>main features Overview</a:t>
            </a:r>
          </a:p>
          <a:p>
            <a:pPr marL="457200" indent="-457200">
              <a:lnSpc>
                <a:spcPct val="13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GB" sz="3400" b="1" dirty="0">
                <a:solidFill>
                  <a:schemeClr val="bg1"/>
                </a:solidFill>
              </a:rPr>
              <a:t>Generic Repository Design Pattern</a:t>
            </a:r>
          </a:p>
          <a:p>
            <a:pPr marL="457200" indent="-457200">
              <a:lnSpc>
                <a:spcPct val="13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GB" sz="3400" b="1" dirty="0">
                <a:solidFill>
                  <a:schemeClr val="bg1"/>
                </a:solidFill>
              </a:rPr>
              <a:t>IoC </a:t>
            </a:r>
            <a:r>
              <a:rPr lang="en-GB" sz="3400" b="1" dirty="0">
                <a:solidFill>
                  <a:schemeClr val="bg2"/>
                </a:solidFill>
              </a:rPr>
              <a:t>and</a:t>
            </a:r>
            <a:r>
              <a:rPr lang="en-GB" sz="3400" b="1" dirty="0">
                <a:solidFill>
                  <a:schemeClr val="bg1"/>
                </a:solidFill>
              </a:rPr>
              <a:t> DI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994C2151-7C2F-44BB-BBB2-DEECB36EC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692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2800" dirty="0">
                <a:hlinkClick r:id="rId4"/>
              </a:rPr>
              <a:t>about.softuni.bg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E1DE5788-B4EE-4D5A-8EB8-270043650096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0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7B72531-B07E-461F-BDA6-5388D06E3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1332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4789</TotalTime>
  <Words>1096</Words>
  <Application>Microsoft Office PowerPoint</Application>
  <PresentationFormat>Widescreen</PresentationFormat>
  <Paragraphs>147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Consolas</vt:lpstr>
      <vt:lpstr>Wingdings</vt:lpstr>
      <vt:lpstr>Wingdings 2</vt:lpstr>
      <vt:lpstr>SoftUni</vt:lpstr>
      <vt:lpstr>EF Core Essentials</vt:lpstr>
      <vt:lpstr>Have a Question?</vt:lpstr>
      <vt:lpstr>Table of Contents</vt:lpstr>
      <vt:lpstr>Features in EF Core</vt:lpstr>
      <vt:lpstr>Recap of EF Core Basics</vt:lpstr>
      <vt:lpstr>The Model</vt:lpstr>
      <vt:lpstr>Model Development Approaches</vt:lpstr>
      <vt:lpstr>Querying</vt:lpstr>
      <vt:lpstr>Querying</vt:lpstr>
      <vt:lpstr>Saving Data</vt:lpstr>
      <vt:lpstr>Saving Data Approaches</vt:lpstr>
      <vt:lpstr>Local Generic Repository</vt:lpstr>
      <vt:lpstr>Repository Pattern</vt:lpstr>
      <vt:lpstr>Generic Repository Pattern</vt:lpstr>
      <vt:lpstr>Key Concepts</vt:lpstr>
      <vt:lpstr>Why Do We Need Generic Repository DP</vt:lpstr>
      <vt:lpstr>DRY Principle</vt:lpstr>
      <vt:lpstr>Example</vt:lpstr>
      <vt:lpstr>Inversion of Control Design Principle</vt:lpstr>
      <vt:lpstr>What is Dependency Injection?</vt:lpstr>
      <vt:lpstr>Ways to Achieve DI</vt:lpstr>
      <vt:lpstr>Live Demo</vt:lpstr>
      <vt:lpstr>Summary</vt:lpstr>
      <vt:lpstr>Trainings @ Software University (SoftUni)</vt:lpstr>
      <vt:lpstr>License</vt:lpstr>
    </vt:vector>
  </TitlesOfParts>
  <Company>SoftUni – https://about.softuni.bg/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 Processing</dc:title>
  <dc:subject>Software Development Course</dc:subject>
  <dc:creator>Software University</dc:creator>
  <cp:keywords>Databases; SQL; programming; SoftUni; Software University; programming; software development; software engineering; course; database systems</cp:keywords>
  <dc:description>© SoftUni – https://about.softuni.bg/
© Software University – https://softuni.bg
Copyrighted document. Unauthorized copy, reproduction or use is not permitted.</dc:description>
  <cp:lastModifiedBy>Krasimir Tsanev</cp:lastModifiedBy>
  <cp:revision>102</cp:revision>
  <dcterms:created xsi:type="dcterms:W3CDTF">2018-05-23T13:08:44Z</dcterms:created>
  <dcterms:modified xsi:type="dcterms:W3CDTF">2025-10-13T06:05:47Z</dcterms:modified>
  <cp:category>db;databases;sql;programming;computer programming;software development</cp:category>
</cp:coreProperties>
</file>