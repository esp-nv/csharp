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30"/>
  </p:notesMasterIdLst>
  <p:handoutMasterIdLst>
    <p:handoutMasterId r:id="rId31"/>
  </p:handoutMasterIdLst>
  <p:sldIdLst>
    <p:sldId id="1493" r:id="rId2"/>
    <p:sldId id="1520" r:id="rId3"/>
    <p:sldId id="1494" r:id="rId4"/>
    <p:sldId id="1496" r:id="rId5"/>
    <p:sldId id="1497" r:id="rId6"/>
    <p:sldId id="1498" r:id="rId7"/>
    <p:sldId id="1499" r:id="rId8"/>
    <p:sldId id="1500" r:id="rId9"/>
    <p:sldId id="1501" r:id="rId10"/>
    <p:sldId id="1502" r:id="rId11"/>
    <p:sldId id="1503" r:id="rId12"/>
    <p:sldId id="1521" r:id="rId13"/>
    <p:sldId id="1504" r:id="rId14"/>
    <p:sldId id="1505" r:id="rId15"/>
    <p:sldId id="1506" r:id="rId16"/>
    <p:sldId id="1507" r:id="rId17"/>
    <p:sldId id="1508" r:id="rId18"/>
    <p:sldId id="1509" r:id="rId19"/>
    <p:sldId id="1510" r:id="rId20"/>
    <p:sldId id="1511" r:id="rId21"/>
    <p:sldId id="1512" r:id="rId22"/>
    <p:sldId id="1513" r:id="rId23"/>
    <p:sldId id="1514" r:id="rId24"/>
    <p:sldId id="1515" r:id="rId25"/>
    <p:sldId id="1516" r:id="rId26"/>
    <p:sldId id="1488" r:id="rId27"/>
    <p:sldId id="405" r:id="rId28"/>
    <p:sldId id="49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B69E679F-93B0-4AFC-9734-581B62C743A9}">
          <p14:sldIdLst>
            <p14:sldId id="1493"/>
            <p14:sldId id="1520"/>
            <p14:sldId id="1494"/>
          </p14:sldIdLst>
        </p14:section>
        <p14:section name="What is XML?" id="{20E593F7-3BF6-4395-BDC3-7E559D1B6379}">
          <p14:sldIdLst>
            <p14:sldId id="1496"/>
            <p14:sldId id="1497"/>
            <p14:sldId id="1498"/>
            <p14:sldId id="1499"/>
            <p14:sldId id="1500"/>
            <p14:sldId id="1501"/>
            <p14:sldId id="1502"/>
            <p14:sldId id="1503"/>
            <p14:sldId id="1521"/>
          </p14:sldIdLst>
        </p14:section>
        <p14:section name="Parsing XML" id="{E116AD70-0C2A-460B-9E17-B08E25E0B7D8}">
          <p14:sldIdLst>
            <p14:sldId id="1504"/>
            <p14:sldId id="1505"/>
            <p14:sldId id="1506"/>
            <p14:sldId id="1507"/>
            <p14:sldId id="1508"/>
            <p14:sldId id="1509"/>
            <p14:sldId id="1510"/>
            <p14:sldId id="1511"/>
            <p14:sldId id="1512"/>
            <p14:sldId id="1513"/>
          </p14:sldIdLst>
        </p14:section>
        <p14:section name="XML Attributes" id="{24859836-0FE9-4489-AFA2-D3741F4E7856}">
          <p14:sldIdLst>
            <p14:sldId id="1514"/>
            <p14:sldId id="1515"/>
            <p14:sldId id="1516"/>
          </p14:sldIdLst>
        </p14:section>
        <p14:section name="Conclusion" id="{5E27D746-0E75-49CC-8CD8-4EA339A177D4}">
          <p14:sldIdLst>
            <p14:sldId id="1488"/>
            <p14:sldId id="405"/>
            <p14:sldId id="4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646"/>
    <a:srgbClr val="F2A40D"/>
    <a:srgbClr val="DBB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C232DE-2511-49A3-B33B-FD78A94CD8E3}" v="22" dt="2019-12-04T16:40:36.347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5214" autoAdjust="0"/>
  </p:normalViewPr>
  <p:slideViewPr>
    <p:cSldViewPr showGuides="1">
      <p:cViewPr varScale="1">
        <p:scale>
          <a:sx n="111" d="100"/>
          <a:sy n="111" d="100"/>
        </p:scale>
        <p:origin x="100" y="76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2" d="100"/>
          <a:sy n="62" d="100"/>
        </p:scale>
        <p:origin x="3154" y="72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13.10.2025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47000"/>
            <a:ext cx="6443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/>
              <a:t>© SoftUni – </a:t>
            </a:r>
            <a:r>
              <a:rPr lang="en-US" sz="1100" u="sng" dirty="0">
                <a:hlinkClick r:id="rId2"/>
              </a:rPr>
              <a:t>https://softuni.org</a:t>
            </a:r>
            <a:r>
              <a:rPr lang="en-US" sz="1100" dirty="0"/>
              <a:t>. Copyrighted document. Unauthorized copy or reproduction is not permitted.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47000"/>
            <a:ext cx="412413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2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BA5BD7-F043-4D1B-AA17-CD412FC534D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E21622BF-E8FF-47C4-B6E1-99A3BBE1546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0059966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258D1DCC-B9D7-4FD7-921E-AD798CA48E8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050372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BA5BD7-F043-4D1B-AA17-CD412FC534D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A6ABE725-EA5B-4855-9A45-BA891E6AAF5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9787959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BA5BD7-F043-4D1B-AA17-CD412FC534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2EA0C841-2E7C-42ED-93F2-1090740266F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538426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1C0779-821B-433B-AB3A-0953EE966C7E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B7D62E9-17C1-4ED8-93B8-DC4AC686C25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7296457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0950DEA7-8109-4F04-90DE-E5823655D1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325391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s://softuni.org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hyperlink" Target="https://about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4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foundation/" TargetMode="External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hyperlink" Target="https://www.facebook.com/SoftwareUniversity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bg/" TargetMode="External"/><Relationship Id="rId5" Type="http://schemas.openxmlformats.org/officeDocument/2006/relationships/image" Target="../media/image17.png"/><Relationship Id="rId4" Type="http://schemas.openxmlformats.org/officeDocument/2006/relationships/hyperlink" Target="https://softuni.org/" TargetMode="External"/><Relationship Id="rId9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8505" y="6130863"/>
            <a:ext cx="2951518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8505" y="5756628"/>
            <a:ext cx="2951518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8924" y="2609644"/>
            <a:ext cx="2788893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3082" y="5344180"/>
            <a:ext cx="2980696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3082" y="4851838"/>
            <a:ext cx="2980696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3082" y="2740913"/>
            <a:ext cx="4642919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182" y="1258272"/>
            <a:ext cx="11083636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82" y="321502"/>
            <a:ext cx="11083636" cy="882654"/>
          </a:xfrm>
        </p:spPr>
        <p:txBody>
          <a:bodyPr/>
          <a:lstStyle>
            <a:lvl1pPr algn="ctr" latinLnBrk="0">
              <a:defRPr sz="4798"/>
            </a:lvl1pPr>
          </a:lstStyle>
          <a:p>
            <a:r>
              <a:rPr lang="en-US" noProof="0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97017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CDBCC2-1C96-44BC-B992-7B0C49C34904}"/>
              </a:ext>
            </a:extLst>
          </p:cNvPr>
          <p:cNvGrpSpPr/>
          <p:nvPr userDrawn="1"/>
        </p:nvGrpSpPr>
        <p:grpSpPr>
          <a:xfrm>
            <a:off x="185076" y="1868177"/>
            <a:ext cx="1937508" cy="3070349"/>
            <a:chOff x="3928039" y="1792355"/>
            <a:chExt cx="1830304" cy="29004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D71B3A8-4D39-42CF-9255-81EA3A622DD6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98059F9-1874-426D-8AF7-A12C21F37DD9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3A1E077-DBDF-48F0-A924-604984B940A2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798B1F51-1FA4-4199-81C7-62356C936CC9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40A224C8-1233-40F7-96AB-BFF79AF6CDCB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B57C7CCC-E218-4321-8C7B-3F0C5753C7A1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AF309CA-A56C-4ABC-B293-420F4EB1A9B4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7955808-2AC7-44EB-8B6D-82B974E53A3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6420D7-AEAB-45EF-8D46-11EB06E4A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C7FABC-6773-44F6-990B-3EB082BE9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AD48E1-DC45-4B3D-9CE5-613250708496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01FD1D1-046F-457B-AB63-2702CE3E90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95660C3-C72C-43EE-9C4A-170F85E5B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74EE503-8FC0-42A6-8860-CA4EE4227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189FDA-9FE8-490B-8A70-2E941811021F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DA3EFCD-0DF8-419D-8533-D781521E59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3CC6A5A-182E-4A09-9C04-EB191881D7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40C8953-0555-48CC-8255-78F17E053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B538CA-8CCB-43FB-B5E5-5FC04EBC1F54}"/>
              </a:ext>
            </a:extLst>
          </p:cNvPr>
          <p:cNvCxnSpPr>
            <a:cxnSpLocks/>
            <a:stCxn id="26" idx="2"/>
          </p:cNvCxnSpPr>
          <p:nvPr userDrawn="1"/>
        </p:nvCxnSpPr>
        <p:spPr>
          <a:xfrm flipH="1">
            <a:off x="673735" y="4203953"/>
            <a:ext cx="955204" cy="0"/>
          </a:xfrm>
          <a:prstGeom prst="line">
            <a:avLst/>
          </a:prstGeom>
          <a:solidFill>
            <a:srgbClr val="464646"/>
          </a:solidFill>
          <a:ln w="38100"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54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 userDrawn="1"/>
        </p:nvGrpSpPr>
        <p:grpSpPr>
          <a:xfrm>
            <a:off x="392806" y="3429000"/>
            <a:ext cx="1522048" cy="2411973"/>
            <a:chOff x="3928039" y="1792355"/>
            <a:chExt cx="1830304" cy="2900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9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8408B9-204E-42E3-9E79-33E047E869B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6" y="100750"/>
            <a:ext cx="11410061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4248838-4E67-439E-AE0A-0043D2CB04D6}"/>
              </a:ext>
            </a:extLst>
          </p:cNvPr>
          <p:cNvGrpSpPr/>
          <p:nvPr userDrawn="1"/>
        </p:nvGrpSpPr>
        <p:grpSpPr>
          <a:xfrm>
            <a:off x="108596" y="5591709"/>
            <a:ext cx="641749" cy="1016973"/>
            <a:chOff x="3928039" y="1792355"/>
            <a:chExt cx="1830304" cy="290046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0CFD6A-2427-49D5-846A-5F93601D4184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17B1AE5-5C36-4839-BA1F-B404EA44E701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3" name="Rectangle 5">
                <a:extLst>
                  <a:ext uri="{FF2B5EF4-FFF2-40B4-BE49-F238E27FC236}">
                    <a16:creationId xmlns:a16="http://schemas.microsoft.com/office/drawing/2014/main" id="{FB963D79-BB49-4A1D-BA66-EA0670C79BAE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4" name="Rectangle 5">
                <a:extLst>
                  <a:ext uri="{FF2B5EF4-FFF2-40B4-BE49-F238E27FC236}">
                    <a16:creationId xmlns:a16="http://schemas.microsoft.com/office/drawing/2014/main" id="{6D7746D8-B913-493B-AAE9-25BC6893D40E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29031C02-E965-417B-8799-96061B14F30D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26BFD8A6-BC99-4B16-BA10-08A9E5C681C0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310277F-A78E-4FB9-9EA9-88BE4F1D585B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92CF92B-C212-4542-83AE-A0058B5BB5EA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63B4374-5C0D-461F-B3BD-78D99614D3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BC6FDE7-AEA1-4230-8433-4C088A0FF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4D1021D-07C7-4331-8FF6-36980A30978B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3B7FE99-95CF-45D5-966B-87A979B934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1BBA69B-19FF-4ADB-A739-AD8136A5F0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FD1D86B-562B-40B2-8E46-34233EFEE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88C17BD-16A1-43C5-BFFA-2FF9174719E1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B3B910E-ACFC-4F28-8E28-F02E1588B8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57772B6-06C0-4F54-AA94-D3F92DA471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3370C1F-7876-4278-AB20-78F6CAA385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Code Box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lang="en-US" sz="2398" b="1" noProof="1" smtClean="0"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1" name="Slide Body Text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501" y="1196126"/>
            <a:ext cx="11811097" cy="5561124"/>
          </a:xfrm>
        </p:spPr>
        <p:txBody>
          <a:bodyPr/>
          <a:lstStyle>
            <a:lvl1pPr marL="0" indent="0" latinLnBrk="0">
              <a:buNone/>
              <a:defRPr>
                <a:solidFill>
                  <a:schemeClr val="tx1"/>
                </a:solidFill>
              </a:defRPr>
            </a:lvl1pPr>
            <a:lvl2pPr marL="609219" indent="0">
              <a:buNone/>
              <a:defRPr/>
            </a:lvl2pPr>
          </a:lstStyle>
          <a:p>
            <a:pPr lvl="0"/>
            <a:r>
              <a:rPr lang="en-US" noProof="0"/>
              <a:t>Sample source code:</a:t>
            </a:r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Picture SoftUni Mascot" descr="SoftUni mascot with laptop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6000" y="3408496"/>
            <a:ext cx="2251057" cy="3044431"/>
          </a:xfrm>
          <a:prstGeom prst="rect">
            <a:avLst/>
          </a:prstGeom>
        </p:spPr>
      </p:pic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9049234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14F779A7-4A91-448B-BEFA-956C70A1C2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51" y="5206773"/>
            <a:ext cx="95890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233CBB95-791E-4630-B3D9-FADFCE7BC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dirty="0">
                <a:hlinkClick r:id="rId2"/>
              </a:rPr>
              <a:t>https://about.softuni.bg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. 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6" y="2898830"/>
            <a:ext cx="2451608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8" y="703244"/>
            <a:ext cx="5916372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85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7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7" name="Picture Logo FB" descr="Facebook logo">
            <a:hlinkClick r:id="rId2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23832" y="4399785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4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1" y="1674000"/>
            <a:ext cx="119205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6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1957" y="2584289"/>
            <a:ext cx="2732955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8688590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 sz="2800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3000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6"/>
              </a:rPr>
              <a:t>softuni.bg</a:t>
            </a:r>
            <a:r>
              <a:rPr lang="en-US" noProof="1"/>
              <a:t> </a:t>
            </a:r>
          </a:p>
          <a:p>
            <a:r>
              <a:rPr lang="en-US" sz="3000" noProof="0" dirty="0"/>
              <a:t>Software University Foundation</a:t>
            </a:r>
          </a:p>
          <a:p>
            <a:pPr lvl="1"/>
            <a:r>
              <a:rPr lang="en-US" noProof="1">
                <a:hlinkClick r:id="rId8"/>
              </a:rPr>
              <a:t>softuni.foundation</a:t>
            </a:r>
            <a:endParaRPr lang="en-US" noProof="1"/>
          </a:p>
          <a:p>
            <a:r>
              <a:rPr lang="en-US" sz="3000" noProof="0" dirty="0"/>
              <a:t>Software University @ Facebook</a:t>
            </a:r>
          </a:p>
          <a:p>
            <a:pPr lvl="1"/>
            <a:r>
              <a:rPr lang="en-US" noProof="1">
                <a:hlinkClick r:id="rId2"/>
              </a:rPr>
              <a:t>facebook.com/SoftwareUniversity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742626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21964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9" r:id="rId2"/>
    <p:sldLayoutId id="2147483681" r:id="rId3"/>
    <p:sldLayoutId id="2147483691" r:id="rId4"/>
    <p:sldLayoutId id="2147483680" r:id="rId5"/>
    <p:sldLayoutId id="2147483688" r:id="rId6"/>
    <p:sldLayoutId id="2147483684" r:id="rId7"/>
    <p:sldLayoutId id="2147483677" r:id="rId8"/>
    <p:sldLayoutId id="2147483683" r:id="rId9"/>
    <p:sldLayoutId id="2147483685" r:id="rId10"/>
    <p:sldLayoutId id="2147483686" r:id="rId11"/>
    <p:sldLayoutId id="2147483687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softuni.b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facebook.com/SoftwareUniversity" TargetMode="External"/><Relationship Id="rId5" Type="http://schemas.openxmlformats.org/officeDocument/2006/relationships/hyperlink" Target="https://softuni.foundation/" TargetMode="External"/><Relationship Id="rId4" Type="http://schemas.openxmlformats.org/officeDocument/2006/relationships/hyperlink" Target="https://about.softuni.bg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softuni.bg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hyperlink" Target="https://softuni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Parsing XML</a:t>
            </a:r>
          </a:p>
          <a:p>
            <a:r>
              <a:rPr lang="en-US" noProof="1"/>
              <a:t>XDocument and LINQ-to-XML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 Processing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Software University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https://about.softuni.bg/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noProof="1"/>
              <a:t>SoftUni</a:t>
            </a:r>
            <a:r>
              <a:rPr lang="en-US" dirty="0"/>
              <a:t> Team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0"/>
          </p:nvPr>
        </p:nvSpPr>
        <p:spPr>
          <a:xfrm>
            <a:off x="582260" y="5331407"/>
            <a:ext cx="2951518" cy="444536"/>
          </a:xfrm>
        </p:spPr>
        <p:txBody>
          <a:bodyPr/>
          <a:lstStyle/>
          <a:p>
            <a:r>
              <a:rPr lang="en-US" dirty="0"/>
              <a:t>Technical Trainers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916" y="2754000"/>
            <a:ext cx="2558168" cy="234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11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bg-BG" sz="4000" b="1" dirty="0"/>
          </a:p>
          <a:p>
            <a:pPr marL="0" indent="0" algn="ctr">
              <a:buNone/>
            </a:pPr>
            <a:r>
              <a:rPr lang="en-US" sz="8800" b="1" u="sng" dirty="0">
                <a:solidFill>
                  <a:schemeClr val="bg1"/>
                </a:solidFill>
              </a:rPr>
              <a:t>sli.do</a:t>
            </a:r>
            <a:endParaRPr lang="bg-BG" sz="7200" b="1" u="sng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1500" b="1" dirty="0"/>
              <a:t>#csharp-</a:t>
            </a:r>
            <a:r>
              <a:rPr lang="en-US" sz="11500" b="1" dirty="0" err="1"/>
              <a:t>db</a:t>
            </a:r>
            <a:endParaRPr lang="en-US" sz="11500" dirty="0"/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Have a Question?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AB1D61FD-74ED-4507-8E55-2608B42C74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2267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9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1"/>
              <a:t>What is XML?</a:t>
            </a:r>
          </a:p>
          <a:p>
            <a:r>
              <a:rPr lang="en-US" noProof="1"/>
              <a:t>Parsing XML</a:t>
            </a:r>
          </a:p>
          <a:p>
            <a:r>
              <a:rPr lang="en-US" noProof="1"/>
              <a:t>XML Serialization</a:t>
            </a:r>
          </a:p>
          <a:p>
            <a:r>
              <a:rPr lang="en-US" noProof="1"/>
              <a:t>XML Deserialization</a:t>
            </a:r>
          </a:p>
          <a:p>
            <a:r>
              <a:rPr lang="en-US" noProof="1"/>
              <a:t>XML Attributes</a:t>
            </a:r>
          </a:p>
        </p:txBody>
      </p:sp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 of Contents</a:t>
            </a:r>
            <a:endParaRPr lang="bg-BG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63F87427-AC6B-4DD4-876F-8D88CA33AD7A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02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DE8F1-6325-4569-85C1-A4BDE97CEF01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What is XML?</a:t>
            </a:r>
          </a:p>
        </p:txBody>
      </p:sp>
      <p:pic>
        <p:nvPicPr>
          <p:cNvPr id="9" name="Picture 2" descr="Image result for xml">
            <a:extLst>
              <a:ext uri="{FF2B5EF4-FFF2-40B4-BE49-F238E27FC236}">
                <a16:creationId xmlns:a16="http://schemas.microsoft.com/office/drawing/2014/main" id="{A62FEC5A-7739-4E6C-907A-AFE57F65A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04639">
            <a:off x="5029201" y="1485985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48EFBE27-B8A0-4D7A-A625-B71AE23FEC11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/>
              <a:t>Format Description and Application</a:t>
            </a:r>
          </a:p>
        </p:txBody>
      </p:sp>
    </p:spTree>
    <p:extLst>
      <p:ext uri="{BB962C8B-B14F-4D97-AF65-F5344CB8AC3E}">
        <p14:creationId xmlns:p14="http://schemas.microsoft.com/office/powerpoint/2010/main" val="2100820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1996766" y="1167411"/>
            <a:ext cx="10129234" cy="5546589"/>
          </a:xfrm>
        </p:spPr>
        <p:txBody>
          <a:bodyPr/>
          <a:lstStyle/>
          <a:p>
            <a:r>
              <a:rPr lang="en-US" noProof="1"/>
              <a:t>E</a:t>
            </a:r>
            <a:r>
              <a:rPr lang="en-US" b="1" noProof="1">
                <a:solidFill>
                  <a:schemeClr val="bg1"/>
                </a:solidFill>
              </a:rPr>
              <a:t>X</a:t>
            </a:r>
            <a:r>
              <a:rPr lang="en-US" noProof="1"/>
              <a:t>tensible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M</a:t>
            </a:r>
            <a:r>
              <a:rPr lang="en-US" dirty="0"/>
              <a:t>arkup </a:t>
            </a:r>
            <a:r>
              <a:rPr lang="en-US" b="1" dirty="0">
                <a:solidFill>
                  <a:schemeClr val="bg1"/>
                </a:solidFill>
              </a:rPr>
              <a:t>L</a:t>
            </a:r>
            <a:r>
              <a:rPr lang="en-US" dirty="0"/>
              <a:t>anguage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Universal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notation</a:t>
            </a:r>
            <a:r>
              <a:rPr lang="en-US" dirty="0"/>
              <a:t> (data format / language) for </a:t>
            </a:r>
            <a:br>
              <a:rPr lang="en-US" dirty="0"/>
            </a:br>
            <a:r>
              <a:rPr lang="en-US" dirty="0"/>
              <a:t>describing structured data using text with tags</a:t>
            </a:r>
          </a:p>
          <a:p>
            <a:pPr lvl="1"/>
            <a:r>
              <a:rPr lang="en-US" dirty="0"/>
              <a:t>Designed to </a:t>
            </a:r>
            <a:r>
              <a:rPr lang="en-US" b="1" dirty="0">
                <a:solidFill>
                  <a:schemeClr val="bg1"/>
                </a:solidFill>
              </a:rPr>
              <a:t>store</a:t>
            </a:r>
            <a:r>
              <a:rPr lang="en-US" dirty="0"/>
              <a:t> and </a:t>
            </a:r>
            <a:r>
              <a:rPr lang="en-US" b="1" dirty="0">
                <a:solidFill>
                  <a:schemeClr val="bg1"/>
                </a:solidFill>
              </a:rPr>
              <a:t>transport</a:t>
            </a:r>
            <a:r>
              <a:rPr lang="en-US" dirty="0"/>
              <a:t> data</a:t>
            </a:r>
            <a:endParaRPr lang="ru-RU" dirty="0"/>
          </a:p>
          <a:p>
            <a:pPr lvl="1"/>
            <a:r>
              <a:rPr lang="en-US" dirty="0"/>
              <a:t>The data is stored together with the </a:t>
            </a:r>
            <a:r>
              <a:rPr lang="en-US" b="1" dirty="0">
                <a:solidFill>
                  <a:schemeClr val="bg1"/>
                </a:solidFill>
              </a:rPr>
              <a:t>meta-data</a:t>
            </a:r>
            <a:r>
              <a:rPr lang="en-US" dirty="0"/>
              <a:t> </a:t>
            </a:r>
            <a:br>
              <a:rPr lang="bg-BG" dirty="0"/>
            </a:br>
            <a:r>
              <a:rPr lang="en-US" dirty="0"/>
              <a:t>about it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XML?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6CF5CA8-474F-44FE-A231-640A346433F5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218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 - Example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2002971" y="1901376"/>
            <a:ext cx="8534400" cy="4269612"/>
            <a:chOff x="1828800" y="1219200"/>
            <a:chExt cx="8534400" cy="4269612"/>
          </a:xfrm>
        </p:grpSpPr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1828800" y="1219200"/>
              <a:ext cx="8534400" cy="4269612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15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2400" b="1" noProof="1">
                  <a:solidFill>
                    <a:schemeClr val="bg1"/>
                  </a:solidFill>
                  <a:latin typeface="Consolas" pitchFamily="49" charset="0"/>
                  <a:sym typeface="Wingdings" pitchFamily="2" charset="2"/>
                </a:rPr>
                <a:t>&lt;?xml version="1.0"?&gt;</a:t>
              </a:r>
            </a:p>
            <a:p>
              <a:pPr>
                <a:lnSpc>
                  <a:spcPct val="80000"/>
                </a:lnSpc>
              </a:pPr>
              <a:r>
                <a:rPr lang="en-US" sz="2400" b="1" noProof="1">
                  <a:solidFill>
                    <a:schemeClr val="bg1"/>
                  </a:solidFill>
                  <a:latin typeface="Consolas" pitchFamily="49" charset="0"/>
                  <a:sym typeface="Wingdings" pitchFamily="2" charset="2"/>
                </a:rPr>
                <a:t>&lt;library name="Developer's Library"&gt;</a:t>
              </a:r>
            </a:p>
            <a:p>
              <a:pPr>
                <a:lnSpc>
                  <a:spcPct val="80000"/>
                </a:lnSpc>
              </a:pPr>
              <a:r>
                <a:rPr lang="en-US" sz="2400" b="1" noProof="1">
                  <a:latin typeface="Consolas" pitchFamily="49" charset="0"/>
                  <a:sym typeface="Wingdings" pitchFamily="2" charset="2"/>
                </a:rPr>
                <a:t>  &lt;book&gt;</a:t>
              </a:r>
            </a:p>
            <a:p>
              <a:pPr>
                <a:lnSpc>
                  <a:spcPct val="80000"/>
                </a:lnSpc>
              </a:pPr>
              <a:r>
                <a:rPr lang="en-US" sz="2400" b="1" noProof="1">
                  <a:latin typeface="Consolas" pitchFamily="49" charset="0"/>
                  <a:sym typeface="Wingdings" pitchFamily="2" charset="2"/>
                </a:rPr>
                <a:t>    &lt;title&gt;Professional C# and .NET&lt;/title&gt;</a:t>
              </a:r>
            </a:p>
            <a:p>
              <a:pPr>
                <a:lnSpc>
                  <a:spcPct val="80000"/>
                </a:lnSpc>
              </a:pPr>
              <a:r>
                <a:rPr lang="en-US" sz="2400" b="1" noProof="1">
                  <a:latin typeface="Consolas" pitchFamily="49" charset="0"/>
                  <a:sym typeface="Wingdings" pitchFamily="2" charset="2"/>
                </a:rPr>
                <a:t>    &lt;author&gt;Christian Nagel&lt;/author&gt;</a:t>
              </a:r>
            </a:p>
            <a:p>
              <a:pPr>
                <a:lnSpc>
                  <a:spcPct val="80000"/>
                </a:lnSpc>
              </a:pPr>
              <a:r>
                <a:rPr lang="en-US" sz="2400" b="1" noProof="1">
                  <a:latin typeface="Consolas" pitchFamily="49" charset="0"/>
                  <a:sym typeface="Wingdings" pitchFamily="2" charset="2"/>
                </a:rPr>
                <a:t>    </a:t>
              </a:r>
              <a:r>
                <a:rPr lang="en-US" sz="2400" b="1" noProof="1">
                  <a:solidFill>
                    <a:schemeClr val="bg1"/>
                  </a:solidFill>
                  <a:latin typeface="Consolas" pitchFamily="49" charset="0"/>
                  <a:sym typeface="Wingdings" pitchFamily="2" charset="2"/>
                </a:rPr>
                <a:t>&lt;isbn&gt;978-0-470-50225-9&lt;/isbn&gt;</a:t>
              </a:r>
            </a:p>
            <a:p>
              <a:pPr>
                <a:lnSpc>
                  <a:spcPct val="80000"/>
                </a:lnSpc>
              </a:pPr>
              <a:r>
                <a:rPr lang="en-US" sz="2400" b="1" noProof="1">
                  <a:latin typeface="Consolas" pitchFamily="49" charset="0"/>
                  <a:sym typeface="Wingdings" pitchFamily="2" charset="2"/>
                </a:rPr>
                <a:t>  &lt;/book&gt;</a:t>
              </a:r>
            </a:p>
            <a:p>
              <a:pPr>
                <a:lnSpc>
                  <a:spcPct val="80000"/>
                </a:lnSpc>
              </a:pPr>
              <a:r>
                <a:rPr lang="en-US" sz="2400" b="1" noProof="1">
                  <a:latin typeface="Consolas" pitchFamily="49" charset="0"/>
                  <a:sym typeface="Wingdings" pitchFamily="2" charset="2"/>
                </a:rPr>
                <a:t>  </a:t>
              </a:r>
              <a:r>
                <a:rPr lang="en-US" sz="2400" b="1" noProof="1">
                  <a:solidFill>
                    <a:schemeClr val="bg1"/>
                  </a:solidFill>
                  <a:latin typeface="Consolas" pitchFamily="49" charset="0"/>
                  <a:sym typeface="Wingdings" pitchFamily="2" charset="2"/>
                </a:rPr>
                <a:t>&lt;book&gt;</a:t>
              </a:r>
            </a:p>
            <a:p>
              <a:pPr>
                <a:lnSpc>
                  <a:spcPct val="80000"/>
                </a:lnSpc>
              </a:pPr>
              <a:r>
                <a:rPr lang="en-US" sz="2400" b="1" noProof="1">
                  <a:latin typeface="Consolas" pitchFamily="49" charset="0"/>
                  <a:sym typeface="Wingdings" pitchFamily="2" charset="2"/>
                </a:rPr>
                <a:t>    &lt;title&gt;Teach Yourself XML in 10 Minutes&lt;/title&gt;</a:t>
              </a:r>
            </a:p>
            <a:p>
              <a:pPr>
                <a:lnSpc>
                  <a:spcPct val="80000"/>
                </a:lnSpc>
              </a:pPr>
              <a:r>
                <a:rPr lang="en-US" sz="2400" b="1" noProof="1">
                  <a:latin typeface="Consolas" pitchFamily="49" charset="0"/>
                  <a:sym typeface="Wingdings" pitchFamily="2" charset="2"/>
                </a:rPr>
                <a:t>    &lt;author&gt;Andrew H. Watt&lt;/author&gt;</a:t>
              </a:r>
            </a:p>
            <a:p>
              <a:pPr>
                <a:lnSpc>
                  <a:spcPct val="80000"/>
                </a:lnSpc>
              </a:pPr>
              <a:r>
                <a:rPr lang="en-US" sz="2400" b="1" noProof="1">
                  <a:latin typeface="Consolas" pitchFamily="49" charset="0"/>
                  <a:sym typeface="Wingdings" pitchFamily="2" charset="2"/>
                </a:rPr>
                <a:t>    &lt;isbn&gt;</a:t>
              </a:r>
              <a:r>
                <a:rPr lang="en-US" sz="2400" b="1" noProof="1">
                  <a:solidFill>
                    <a:schemeClr val="bg1"/>
                  </a:solidFill>
                  <a:latin typeface="Consolas" pitchFamily="49" charset="0"/>
                  <a:sym typeface="Wingdings" pitchFamily="2" charset="2"/>
                </a:rPr>
                <a:t>978-0-672-32471-0</a:t>
              </a:r>
              <a:r>
                <a:rPr lang="en-US" sz="2400" b="1" noProof="1">
                  <a:latin typeface="Consolas" pitchFamily="49" charset="0"/>
                  <a:sym typeface="Wingdings" pitchFamily="2" charset="2"/>
                </a:rPr>
                <a:t>&lt;/isbn&gt;</a:t>
              </a:r>
            </a:p>
            <a:p>
              <a:pPr>
                <a:lnSpc>
                  <a:spcPct val="80000"/>
                </a:lnSpc>
              </a:pPr>
              <a:r>
                <a:rPr lang="en-US" sz="2400" b="1" noProof="1">
                  <a:latin typeface="Consolas" pitchFamily="49" charset="0"/>
                  <a:sym typeface="Wingdings" pitchFamily="2" charset="2"/>
                </a:rPr>
                <a:t>  </a:t>
              </a:r>
              <a:r>
                <a:rPr lang="en-US" sz="2400" b="1" noProof="1">
                  <a:solidFill>
                    <a:schemeClr val="bg1"/>
                  </a:solidFill>
                  <a:latin typeface="Consolas" pitchFamily="49" charset="0"/>
                  <a:sym typeface="Wingdings" pitchFamily="2" charset="2"/>
                </a:rPr>
                <a:t>&lt;/book&gt;</a:t>
              </a:r>
            </a:p>
            <a:p>
              <a:pPr>
                <a:lnSpc>
                  <a:spcPct val="80000"/>
                </a:lnSpc>
              </a:pPr>
              <a:r>
                <a:rPr lang="en-US" sz="2400" b="1" noProof="1">
                  <a:latin typeface="Consolas" pitchFamily="49" charset="0"/>
                  <a:sym typeface="Wingdings" pitchFamily="2" charset="2"/>
                </a:rPr>
                <a:t>&lt;/library&gt;</a:t>
              </a:r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1863188" y="1228500"/>
              <a:ext cx="3566018" cy="306980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1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>
              <a:noAutofit/>
            </a:bodyPr>
            <a:lstStyle/>
            <a:p>
              <a: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endPara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endParaRPr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3391843" y="1532178"/>
              <a:ext cx="4638607" cy="30736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1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>
              <a:noAutofit/>
            </a:bodyPr>
            <a:lstStyle/>
            <a:p>
              <a: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endPara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endParaRP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1862325" y="1527438"/>
              <a:ext cx="1527362" cy="30229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1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>
              <a:noAutofit/>
            </a:bodyPr>
            <a:lstStyle/>
            <a:p>
              <a: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endPara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endParaRPr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2611258" y="2690580"/>
              <a:ext cx="5013516" cy="29728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1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>
              <a:noAutofit/>
            </a:bodyPr>
            <a:lstStyle/>
            <a:p>
              <a: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endPara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endParaRPr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2249935" y="3291190"/>
              <a:ext cx="1019189" cy="315376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1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>
              <a:noAutofit/>
            </a:bodyPr>
            <a:lstStyle/>
            <a:p>
              <a: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endPara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endParaRPr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2198010" y="4712518"/>
              <a:ext cx="1317458" cy="379228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1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>
              <a:noAutofit/>
            </a:bodyPr>
            <a:lstStyle/>
            <a:p>
              <a: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endPara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endParaRPr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3544964" y="4435197"/>
              <a:ext cx="2941483" cy="292069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1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>
              <a:noAutofit/>
            </a:bodyPr>
            <a:lstStyle/>
            <a:p>
              <a: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endPara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endParaRPr>
            </a:p>
          </p:txBody>
        </p:sp>
      </p:grpSp>
      <p:sp>
        <p:nvSpPr>
          <p:cNvPr id="6" name="AutoShape 4"/>
          <p:cNvSpPr>
            <a:spLocks noChangeArrowheads="1"/>
          </p:cNvSpPr>
          <p:nvPr/>
        </p:nvSpPr>
        <p:spPr bwMode="auto">
          <a:xfrm rot="10800000" flipV="1">
            <a:off x="8904711" y="1599081"/>
            <a:ext cx="2661701" cy="851297"/>
          </a:xfrm>
          <a:prstGeom prst="wedgeRoundRectCallout">
            <a:avLst>
              <a:gd name="adj1" fmla="val 69066"/>
              <a:gd name="adj2" fmla="val 34569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Attribute</a:t>
            </a:r>
            <a:b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(key / value pair)</a:t>
            </a:r>
            <a:endParaRPr lang="bg-BG" sz="24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 rot="10800000" flipV="1">
            <a:off x="6270171" y="1161569"/>
            <a:ext cx="2026738" cy="919401"/>
          </a:xfrm>
          <a:prstGeom prst="wedgeRoundRectCallout">
            <a:avLst>
              <a:gd name="adj1" fmla="val 70114"/>
              <a:gd name="adj2" fmla="val 4412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XML header tag </a:t>
            </a:r>
            <a:r>
              <a:rPr lang="bg-BG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prolog</a:t>
            </a:r>
            <a:r>
              <a:rPr lang="bg-BG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 rot="10800000" flipV="1">
            <a:off x="4130560" y="5666131"/>
            <a:ext cx="1752601" cy="510778"/>
          </a:xfrm>
          <a:prstGeom prst="wedgeRoundRectCallout">
            <a:avLst>
              <a:gd name="adj1" fmla="val 70262"/>
              <a:gd name="adj2" fmla="val -4051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Closing tag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auto">
          <a:xfrm rot="10800000" flipV="1">
            <a:off x="6309333" y="5523159"/>
            <a:ext cx="2362201" cy="510778"/>
          </a:xfrm>
          <a:prstGeom prst="wedgeRoundRectCallout">
            <a:avLst>
              <a:gd name="adj1" fmla="val 64818"/>
              <a:gd name="adj2" fmla="val -6331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Element value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AutoShape 4"/>
          <p:cNvSpPr>
            <a:spLocks noChangeArrowheads="1"/>
          </p:cNvSpPr>
          <p:nvPr/>
        </p:nvSpPr>
        <p:spPr bwMode="auto">
          <a:xfrm rot="10800000" flipV="1">
            <a:off x="95194" y="3105689"/>
            <a:ext cx="1828802" cy="1328023"/>
          </a:xfrm>
          <a:prstGeom prst="wedgeRoundRectCallout">
            <a:avLst>
              <a:gd name="adj1" fmla="val -46606"/>
              <a:gd name="adj2" fmla="val -7078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Root (document) element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 rot="10800000" flipV="1">
            <a:off x="8296908" y="3196481"/>
            <a:ext cx="1476375" cy="510778"/>
          </a:xfrm>
          <a:prstGeom prst="wedgeRoundRectCallout">
            <a:avLst>
              <a:gd name="adj1" fmla="val 79341"/>
              <a:gd name="adj2" fmla="val 1644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Element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Slide Number">
            <a:extLst>
              <a:ext uri="{FF2B5EF4-FFF2-40B4-BE49-F238E27FC236}">
                <a16:creationId xmlns:a16="http://schemas.microsoft.com/office/drawing/2014/main" id="{2363F153-D523-4660-8A71-4EBEEFCAB4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24" name="AutoShape 5">
            <a:extLst>
              <a:ext uri="{FF2B5EF4-FFF2-40B4-BE49-F238E27FC236}">
                <a16:creationId xmlns:a16="http://schemas.microsoft.com/office/drawing/2014/main" id="{0E068C1C-4BFD-4411-B55F-36D78E23A89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012315" y="3742318"/>
            <a:ext cx="2297017" cy="510778"/>
          </a:xfrm>
          <a:prstGeom prst="wedgeRoundRectCallout">
            <a:avLst>
              <a:gd name="adj1" fmla="val 70114"/>
              <a:gd name="adj2" fmla="val 4412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Opening tag</a:t>
            </a:r>
          </a:p>
        </p:txBody>
      </p:sp>
    </p:spTree>
    <p:extLst>
      <p:ext uri="{BB962C8B-B14F-4D97-AF65-F5344CB8AC3E}">
        <p14:creationId xmlns:p14="http://schemas.microsoft.com/office/powerpoint/2010/main" val="61180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3" grpId="0" animBg="1"/>
      <p:bldP spid="8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Header</a:t>
            </a:r>
            <a:r>
              <a:rPr lang="en-US" dirty="0"/>
              <a:t> – defines a </a:t>
            </a:r>
            <a:r>
              <a:rPr lang="en-US" b="1" dirty="0">
                <a:solidFill>
                  <a:schemeClr val="bg1"/>
                </a:solidFill>
              </a:rPr>
              <a:t>version</a:t>
            </a:r>
            <a:r>
              <a:rPr lang="en-US" dirty="0"/>
              <a:t> and character </a:t>
            </a:r>
            <a:r>
              <a:rPr lang="en-US" b="1" dirty="0">
                <a:solidFill>
                  <a:schemeClr val="bg1"/>
                </a:solidFill>
              </a:rPr>
              <a:t>encoding</a:t>
            </a:r>
          </a:p>
          <a:p>
            <a:pPr>
              <a:spcAft>
                <a:spcPts val="0"/>
              </a:spcAft>
              <a:buClr>
                <a:schemeClr val="tx1"/>
              </a:buClr>
            </a:pPr>
            <a:endParaRPr lang="en-US" dirty="0"/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Elements</a:t>
            </a:r>
            <a:r>
              <a:rPr lang="en-US" dirty="0"/>
              <a:t> – define the structure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Attributes</a:t>
            </a:r>
            <a:r>
              <a:rPr lang="en-US" dirty="0"/>
              <a:t> – element metadata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Values</a:t>
            </a:r>
            <a:r>
              <a:rPr lang="en-US" dirty="0"/>
              <a:t> – actual data, that can also be nested elements</a:t>
            </a:r>
          </a:p>
          <a:p>
            <a:pPr>
              <a:buClr>
                <a:schemeClr val="tx1"/>
              </a:buClr>
            </a:pPr>
            <a:endParaRPr lang="en-US" dirty="0"/>
          </a:p>
          <a:p>
            <a:pPr>
              <a:buClr>
                <a:schemeClr val="tx1"/>
              </a:buClr>
            </a:pPr>
            <a:endParaRPr lang="en-US" dirty="0"/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Root element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– required to </a:t>
            </a:r>
            <a:r>
              <a:rPr lang="en-US" b="1" dirty="0">
                <a:solidFill>
                  <a:schemeClr val="bg1"/>
                </a:solidFill>
              </a:rPr>
              <a:t>only</a:t>
            </a:r>
            <a:r>
              <a:rPr lang="en-US" dirty="0"/>
              <a:t> have </a:t>
            </a:r>
            <a:r>
              <a:rPr lang="en-US" b="1" dirty="0">
                <a:solidFill>
                  <a:schemeClr val="bg1"/>
                </a:solidFill>
              </a:rPr>
              <a:t>one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 Syntax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62000" y="1870895"/>
            <a:ext cx="9069000" cy="39312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&lt;?xml version="1.0" encoding="UTF-8"?&gt;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090314" y="5310580"/>
            <a:ext cx="8740686" cy="39312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&lt;title lang="en"&gt;Professional C# and .NET&lt;/title&gt;</a:t>
            </a: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174208" y="4727956"/>
            <a:ext cx="2180069" cy="510778"/>
          </a:xfrm>
          <a:prstGeom prst="wedgeRoundRectCallout">
            <a:avLst>
              <a:gd name="adj1" fmla="val 56883"/>
              <a:gd name="adj2" fmla="val 4285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Element name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3260999" y="4727956"/>
            <a:ext cx="1905878" cy="510778"/>
          </a:xfrm>
          <a:prstGeom prst="wedgeRoundRectCallout">
            <a:avLst>
              <a:gd name="adj1" fmla="val -56977"/>
              <a:gd name="adj2" fmla="val 4106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Attribute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5725199" y="4727956"/>
            <a:ext cx="1371600" cy="510778"/>
          </a:xfrm>
          <a:prstGeom prst="wedgeRoundRectCallout">
            <a:avLst>
              <a:gd name="adj1" fmla="val -61146"/>
              <a:gd name="adj2" fmla="val 4271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Value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15758609-2D85-4C79-8564-A011C83379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2935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/>
          <p:cNvSpPr/>
          <p:nvPr/>
        </p:nvSpPr>
        <p:spPr>
          <a:xfrm>
            <a:off x="6139077" y="5562600"/>
            <a:ext cx="1828799" cy="762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978-1-119-79720-3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95593" y="5562600"/>
            <a:ext cx="1828799" cy="4599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Christian Nagel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 – Structure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252108" y="5562600"/>
            <a:ext cx="1828799" cy="762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Professional C# and .NET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5148480" y="2288734"/>
            <a:ext cx="4724400" cy="533400"/>
            <a:chOff x="5180012" y="1676400"/>
            <a:chExt cx="4724400" cy="533400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6" name="Rectangle 5"/>
            <p:cNvSpPr/>
            <p:nvPr/>
          </p:nvSpPr>
          <p:spPr>
            <a:xfrm>
              <a:off x="6899492" y="1676400"/>
              <a:ext cx="3004920" cy="533400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2000" b="1" dirty="0">
                  <a:solidFill>
                    <a:schemeClr val="tx1"/>
                  </a:solidFill>
                </a:rPr>
                <a:t>name: Developer's Library</a:t>
              </a:r>
            </a:p>
          </p:txBody>
        </p:sp>
        <p:sp>
          <p:nvSpPr>
            <p:cNvPr id="5" name="Rectangle: Rounded Corners 4"/>
            <p:cNvSpPr/>
            <p:nvPr/>
          </p:nvSpPr>
          <p:spPr>
            <a:xfrm>
              <a:off x="5180012" y="1676400"/>
              <a:ext cx="1828800" cy="533400"/>
            </a:xfrm>
            <a:prstGeom prst="round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Library</a:t>
              </a:r>
            </a:p>
          </p:txBody>
        </p:sp>
      </p:grpSp>
      <p:sp>
        <p:nvSpPr>
          <p:cNvPr id="7" name="Rectangle: Rounded Corners 6"/>
          <p:cNvSpPr/>
          <p:nvPr/>
        </p:nvSpPr>
        <p:spPr>
          <a:xfrm>
            <a:off x="2710080" y="3810002"/>
            <a:ext cx="1828800" cy="533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Book</a:t>
            </a:r>
          </a:p>
        </p:txBody>
      </p:sp>
      <p:sp>
        <p:nvSpPr>
          <p:cNvPr id="8" name="Rectangle: Rounded Corners 7"/>
          <p:cNvSpPr/>
          <p:nvPr/>
        </p:nvSpPr>
        <p:spPr>
          <a:xfrm>
            <a:off x="1252107" y="5111841"/>
            <a:ext cx="1828800" cy="5334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tx1"/>
                </a:solidFill>
              </a:rPr>
              <a:t>Title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3695593" y="5111841"/>
            <a:ext cx="1828800" cy="5334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Author</a:t>
            </a:r>
          </a:p>
        </p:txBody>
      </p:sp>
      <p:sp>
        <p:nvSpPr>
          <p:cNvPr id="10" name="Rectangle: Rounded Corners 9"/>
          <p:cNvSpPr/>
          <p:nvPr/>
        </p:nvSpPr>
        <p:spPr>
          <a:xfrm>
            <a:off x="6139080" y="5111841"/>
            <a:ext cx="1828800" cy="5334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ISBN</a:t>
            </a:r>
          </a:p>
        </p:txBody>
      </p:sp>
      <p:cxnSp>
        <p:nvCxnSpPr>
          <p:cNvPr id="13" name="Connector: Elbow 12"/>
          <p:cNvCxnSpPr>
            <a:stCxn id="5" idx="2"/>
            <a:endCxn id="7" idx="0"/>
          </p:cNvCxnSpPr>
          <p:nvPr/>
        </p:nvCxnSpPr>
        <p:spPr>
          <a:xfrm rot="5400000">
            <a:off x="4349746" y="2096868"/>
            <a:ext cx="987868" cy="2438400"/>
          </a:xfrm>
          <a:prstGeom prst="bentConnector3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/>
          <p:cNvCxnSpPr>
            <a:stCxn id="7" idx="2"/>
            <a:endCxn id="8" idx="0"/>
          </p:cNvCxnSpPr>
          <p:nvPr/>
        </p:nvCxnSpPr>
        <p:spPr>
          <a:xfrm rot="5400000">
            <a:off x="2511276" y="3998636"/>
            <a:ext cx="768439" cy="1457973"/>
          </a:xfrm>
          <a:prstGeom prst="bentConnector3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/>
          <p:cNvCxnSpPr>
            <a:stCxn id="7" idx="2"/>
            <a:endCxn id="9" idx="0"/>
          </p:cNvCxnSpPr>
          <p:nvPr/>
        </p:nvCxnSpPr>
        <p:spPr>
          <a:xfrm rot="16200000" flipH="1">
            <a:off x="3733018" y="4234865"/>
            <a:ext cx="768439" cy="985513"/>
          </a:xfrm>
          <a:prstGeom prst="bentConnector3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/>
          <p:cNvCxnSpPr>
            <a:stCxn id="7" idx="2"/>
            <a:endCxn id="10" idx="0"/>
          </p:cNvCxnSpPr>
          <p:nvPr/>
        </p:nvCxnSpPr>
        <p:spPr>
          <a:xfrm rot="16200000" flipH="1">
            <a:off x="4954762" y="3013121"/>
            <a:ext cx="768439" cy="3429000"/>
          </a:xfrm>
          <a:prstGeom prst="bentConnector3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1088340" y="2288734"/>
            <a:ext cx="3255060" cy="533400"/>
            <a:chOff x="205472" y="1676400"/>
            <a:chExt cx="3255060" cy="533400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1" name="Rectangle 20"/>
            <p:cNvSpPr/>
            <p:nvPr/>
          </p:nvSpPr>
          <p:spPr>
            <a:xfrm>
              <a:off x="1955042" y="1676400"/>
              <a:ext cx="1505490" cy="533400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2000" b="1" dirty="0">
                  <a:solidFill>
                    <a:schemeClr val="tx1"/>
                  </a:solidFill>
                </a:rPr>
                <a:t>version: 1.0</a:t>
              </a:r>
            </a:p>
          </p:txBody>
        </p:sp>
        <p:sp>
          <p:nvSpPr>
            <p:cNvPr id="22" name="Rectangle: Rounded Corners 21"/>
            <p:cNvSpPr/>
            <p:nvPr/>
          </p:nvSpPr>
          <p:spPr>
            <a:xfrm>
              <a:off x="205472" y="1676400"/>
              <a:ext cx="1828800" cy="533400"/>
            </a:xfrm>
            <a:prstGeom prst="round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Xml</a:t>
              </a:r>
            </a:p>
          </p:txBody>
        </p:sp>
      </p:grpSp>
      <p:sp>
        <p:nvSpPr>
          <p:cNvPr id="45" name="Rectangle: Rounded Corners 44"/>
          <p:cNvSpPr/>
          <p:nvPr/>
        </p:nvSpPr>
        <p:spPr>
          <a:xfrm>
            <a:off x="9296400" y="3810002"/>
            <a:ext cx="1828800" cy="533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Book</a:t>
            </a:r>
          </a:p>
        </p:txBody>
      </p:sp>
      <p:cxnSp>
        <p:nvCxnSpPr>
          <p:cNvPr id="47" name="Connector: Elbow 46"/>
          <p:cNvCxnSpPr>
            <a:stCxn id="5" idx="2"/>
            <a:endCxn id="45" idx="0"/>
          </p:cNvCxnSpPr>
          <p:nvPr/>
        </p:nvCxnSpPr>
        <p:spPr>
          <a:xfrm rot="16200000" flipH="1">
            <a:off x="7642906" y="1242108"/>
            <a:ext cx="987868" cy="4147920"/>
          </a:xfrm>
          <a:prstGeom prst="bentConnector3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/>
          <p:cNvSpPr/>
          <p:nvPr/>
        </p:nvSpPr>
        <p:spPr>
          <a:xfrm>
            <a:off x="7100960" y="3810002"/>
            <a:ext cx="1828800" cy="533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Book</a:t>
            </a:r>
          </a:p>
        </p:txBody>
      </p:sp>
      <p:cxnSp>
        <p:nvCxnSpPr>
          <p:cNvPr id="51" name="Connector: Elbow 50"/>
          <p:cNvCxnSpPr>
            <a:stCxn id="5" idx="2"/>
            <a:endCxn id="49" idx="0"/>
          </p:cNvCxnSpPr>
          <p:nvPr/>
        </p:nvCxnSpPr>
        <p:spPr>
          <a:xfrm rot="16200000" flipH="1">
            <a:off x="6545186" y="2339828"/>
            <a:ext cx="987868" cy="1952480"/>
          </a:xfrm>
          <a:prstGeom prst="bentConnector3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6"/>
          <p:cNvSpPr/>
          <p:nvPr/>
        </p:nvSpPr>
        <p:spPr>
          <a:xfrm>
            <a:off x="4118950" y="1066800"/>
            <a:ext cx="1828800" cy="5334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Document</a:t>
            </a:r>
          </a:p>
        </p:txBody>
      </p:sp>
      <p:cxnSp>
        <p:nvCxnSpPr>
          <p:cNvPr id="59" name="Connector: Elbow 58"/>
          <p:cNvCxnSpPr>
            <a:stCxn id="57" idx="2"/>
            <a:endCxn id="22" idx="0"/>
          </p:cNvCxnSpPr>
          <p:nvPr/>
        </p:nvCxnSpPr>
        <p:spPr>
          <a:xfrm rot="5400000">
            <a:off x="3173778" y="429162"/>
            <a:ext cx="688534" cy="3030610"/>
          </a:xfrm>
          <a:prstGeom prst="bentConnector3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/>
          <p:cNvCxnSpPr>
            <a:stCxn id="57" idx="2"/>
            <a:endCxn id="5" idx="0"/>
          </p:cNvCxnSpPr>
          <p:nvPr/>
        </p:nvCxnSpPr>
        <p:spPr>
          <a:xfrm rot="16200000" flipH="1">
            <a:off x="5203848" y="1429702"/>
            <a:ext cx="688534" cy="1029530"/>
          </a:xfrm>
          <a:prstGeom prst="bentConnector3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AutoShape 5"/>
          <p:cNvSpPr>
            <a:spLocks noChangeArrowheads="1"/>
          </p:cNvSpPr>
          <p:nvPr/>
        </p:nvSpPr>
        <p:spPr bwMode="auto">
          <a:xfrm>
            <a:off x="609600" y="1328300"/>
            <a:ext cx="1676400" cy="446874"/>
          </a:xfrm>
          <a:prstGeom prst="wedgeRoundRectCallout">
            <a:avLst>
              <a:gd name="adj1" fmla="val -19594"/>
              <a:gd name="adj2" fmla="val 10030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Header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3" name="AutoShape 5"/>
          <p:cNvSpPr>
            <a:spLocks noChangeArrowheads="1"/>
          </p:cNvSpPr>
          <p:nvPr/>
        </p:nvSpPr>
        <p:spPr bwMode="auto">
          <a:xfrm>
            <a:off x="6218890" y="1225064"/>
            <a:ext cx="2696510" cy="510778"/>
          </a:xfrm>
          <a:prstGeom prst="wedgeRoundRectCallout">
            <a:avLst>
              <a:gd name="adj1" fmla="val -37513"/>
              <a:gd name="adj2" fmla="val 11752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Document root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4" name="AutoShape 5"/>
          <p:cNvSpPr>
            <a:spLocks noChangeArrowheads="1"/>
          </p:cNvSpPr>
          <p:nvPr/>
        </p:nvSpPr>
        <p:spPr bwMode="auto">
          <a:xfrm>
            <a:off x="9186540" y="1338262"/>
            <a:ext cx="1786260" cy="510778"/>
          </a:xfrm>
          <a:prstGeom prst="wedgeRoundRectCallout">
            <a:avLst>
              <a:gd name="adj1" fmla="val -56785"/>
              <a:gd name="adj2" fmla="val 9358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Attribute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5" name="AutoShape 5"/>
          <p:cNvSpPr>
            <a:spLocks noChangeArrowheads="1"/>
          </p:cNvSpPr>
          <p:nvPr/>
        </p:nvSpPr>
        <p:spPr bwMode="auto">
          <a:xfrm>
            <a:off x="8524625" y="4833711"/>
            <a:ext cx="2696510" cy="510778"/>
          </a:xfrm>
          <a:prstGeom prst="wedgeRoundRectCallout">
            <a:avLst>
              <a:gd name="adj1" fmla="val -48303"/>
              <a:gd name="adj2" fmla="val -10745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Child elements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3" name="AutoShape 5"/>
          <p:cNvSpPr>
            <a:spLocks noChangeArrowheads="1"/>
          </p:cNvSpPr>
          <p:nvPr/>
        </p:nvSpPr>
        <p:spPr bwMode="auto">
          <a:xfrm>
            <a:off x="8397524" y="5672366"/>
            <a:ext cx="1956880" cy="510778"/>
          </a:xfrm>
          <a:prstGeom prst="wedgeRoundRectCallout">
            <a:avLst>
              <a:gd name="adj1" fmla="val -67419"/>
              <a:gd name="adj2" fmla="val 264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Value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Rectangle: Rounded Corners 32"/>
          <p:cNvSpPr/>
          <p:nvPr/>
        </p:nvSpPr>
        <p:spPr>
          <a:xfrm>
            <a:off x="4905520" y="3810002"/>
            <a:ext cx="1828800" cy="533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Book</a:t>
            </a:r>
          </a:p>
        </p:txBody>
      </p:sp>
      <p:cxnSp>
        <p:nvCxnSpPr>
          <p:cNvPr id="34" name="Connector: Elbow 33"/>
          <p:cNvCxnSpPr>
            <a:cxnSpLocks/>
            <a:stCxn id="5" idx="2"/>
            <a:endCxn id="33" idx="0"/>
          </p:cNvCxnSpPr>
          <p:nvPr/>
        </p:nvCxnSpPr>
        <p:spPr>
          <a:xfrm rot="5400000">
            <a:off x="5447466" y="3194588"/>
            <a:ext cx="987868" cy="242960"/>
          </a:xfrm>
          <a:prstGeom prst="bentConnector3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lide Number">
            <a:extLst>
              <a:ext uri="{FF2B5EF4-FFF2-40B4-BE49-F238E27FC236}">
                <a16:creationId xmlns:a16="http://schemas.microsoft.com/office/drawing/2014/main" id="{1AD6FFFA-53D8-4EDB-B327-6621B32BA2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03558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0" grpId="0" animBg="1"/>
      <p:bldP spid="69" grpId="0" animBg="1"/>
      <p:bldP spid="7" grpId="0" animBg="1"/>
      <p:bldP spid="8" grpId="0" animBg="1"/>
      <p:bldP spid="9" grpId="0" animBg="1"/>
      <p:bldP spid="10" grpId="0" animBg="1"/>
      <p:bldP spid="45" grpId="0" animBg="1"/>
      <p:bldP spid="49" grpId="0" animBg="1"/>
      <p:bldP spid="62" grpId="0" animBg="1"/>
      <p:bldP spid="63" grpId="0" animBg="1"/>
      <p:bldP spid="64" grpId="0" animBg="1"/>
      <p:bldP spid="65" grpId="0" animBg="1"/>
      <p:bldP spid="73" grpId="0" animBg="1"/>
      <p:bldP spid="3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Similarities</a:t>
            </a:r>
            <a:endParaRPr lang="bg-BG" b="1" dirty="0"/>
          </a:p>
          <a:p>
            <a:pPr lvl="1"/>
            <a:r>
              <a:rPr lang="en-US" dirty="0"/>
              <a:t>Both are </a:t>
            </a:r>
            <a:r>
              <a:rPr lang="en-US" b="1" dirty="0">
                <a:solidFill>
                  <a:schemeClr val="bg1"/>
                </a:solidFill>
              </a:rPr>
              <a:t>text based</a:t>
            </a:r>
            <a:r>
              <a:rPr lang="en-US" dirty="0"/>
              <a:t> notations</a:t>
            </a:r>
            <a:endParaRPr lang="bg-BG" dirty="0"/>
          </a:p>
          <a:p>
            <a:pPr lvl="1"/>
            <a:r>
              <a:rPr lang="en-US" dirty="0"/>
              <a:t>Both use </a:t>
            </a:r>
            <a:r>
              <a:rPr lang="en-US" b="1" dirty="0">
                <a:solidFill>
                  <a:schemeClr val="bg1"/>
                </a:solidFill>
              </a:rPr>
              <a:t>tags</a:t>
            </a:r>
            <a:r>
              <a:rPr lang="en-US" dirty="0"/>
              <a:t> and </a:t>
            </a:r>
            <a:r>
              <a:rPr lang="en-US" b="1" dirty="0">
                <a:solidFill>
                  <a:schemeClr val="bg1"/>
                </a:solidFill>
              </a:rPr>
              <a:t>attributes</a:t>
            </a:r>
            <a:endParaRPr lang="bg-BG" b="1" dirty="0">
              <a:solidFill>
                <a:schemeClr val="bg1"/>
              </a:solidFill>
            </a:endParaRPr>
          </a:p>
          <a:p>
            <a:r>
              <a:rPr lang="en-US" b="1" dirty="0"/>
              <a:t>Differences</a:t>
            </a:r>
          </a:p>
          <a:p>
            <a:pPr lvl="1"/>
            <a:r>
              <a:rPr lang="en-US" dirty="0"/>
              <a:t>HTML describes documents, XML is a syntax for describing other languages (</a:t>
            </a:r>
            <a:r>
              <a:rPr lang="en-US" b="1" dirty="0">
                <a:solidFill>
                  <a:schemeClr val="bg1"/>
                </a:solidFill>
              </a:rPr>
              <a:t>meta-language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HTML describes the </a:t>
            </a:r>
            <a:r>
              <a:rPr lang="en-US" b="1" dirty="0">
                <a:solidFill>
                  <a:schemeClr val="bg1"/>
                </a:solidFill>
              </a:rPr>
              <a:t>layout</a:t>
            </a:r>
            <a:r>
              <a:rPr lang="en-US" dirty="0"/>
              <a:t> and the structure of information</a:t>
            </a:r>
          </a:p>
          <a:p>
            <a:pPr lvl="1"/>
            <a:r>
              <a:rPr lang="en-US" dirty="0"/>
              <a:t>XML requires the documents to be </a:t>
            </a:r>
            <a:r>
              <a:rPr lang="en-US" b="1" dirty="0">
                <a:solidFill>
                  <a:schemeClr val="bg1"/>
                </a:solidFill>
              </a:rPr>
              <a:t>well-formatted</a:t>
            </a:r>
            <a:endParaRPr lang="bg-BG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</a:t>
            </a:r>
            <a:r>
              <a:rPr lang="bg-BG" dirty="0"/>
              <a:t> </a:t>
            </a:r>
            <a:r>
              <a:rPr lang="en-US" dirty="0"/>
              <a:t>and HTML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55116">
            <a:off x="9284009" y="1559446"/>
            <a:ext cx="1393626" cy="1727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02077457-8AB4-4DC6-AD65-C3F1DD0F3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48749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360363" lvl="1"/>
            <a:r>
              <a:rPr lang="en-US" dirty="0"/>
              <a:t>XML is </a:t>
            </a:r>
            <a:r>
              <a:rPr lang="en-US" b="1" dirty="0">
                <a:solidFill>
                  <a:schemeClr val="bg1"/>
                </a:solidFill>
              </a:rPr>
              <a:t>human-readable</a:t>
            </a:r>
            <a:r>
              <a:rPr lang="en-US" dirty="0"/>
              <a:t> (unlike binary formats)</a:t>
            </a:r>
          </a:p>
          <a:p>
            <a:pPr marL="360363" lvl="1"/>
            <a:r>
              <a:rPr lang="en-US" dirty="0"/>
              <a:t>Stores any kind of </a:t>
            </a:r>
            <a:r>
              <a:rPr lang="en-US" b="1" dirty="0">
                <a:solidFill>
                  <a:schemeClr val="bg1"/>
                </a:solidFill>
              </a:rPr>
              <a:t>structured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data</a:t>
            </a:r>
          </a:p>
          <a:p>
            <a:pPr marL="360363" lvl="1"/>
            <a:r>
              <a:rPr lang="en-US" dirty="0"/>
              <a:t>Data comes with self-describing </a:t>
            </a:r>
            <a:r>
              <a:rPr lang="en-US" b="1" dirty="0">
                <a:solidFill>
                  <a:schemeClr val="bg1"/>
                </a:solidFill>
              </a:rPr>
              <a:t>meta-data</a:t>
            </a:r>
            <a:endParaRPr lang="bg-BG" b="1" dirty="0">
              <a:solidFill>
                <a:schemeClr val="bg1"/>
              </a:solidFill>
            </a:endParaRPr>
          </a:p>
          <a:p>
            <a:pPr marL="360363" lvl="1"/>
            <a:r>
              <a:rPr lang="en-US" dirty="0"/>
              <a:t>Full Unicode support</a:t>
            </a:r>
          </a:p>
          <a:p>
            <a:pPr marL="360363" lvl="1"/>
            <a:r>
              <a:rPr lang="en-US" dirty="0"/>
              <a:t>Custom XML-based languages can be designed for certain apps</a:t>
            </a:r>
          </a:p>
          <a:p>
            <a:pPr marL="360363"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Parsers</a:t>
            </a:r>
            <a:r>
              <a:rPr lang="en-US" dirty="0"/>
              <a:t> available for virtually all languages and platforms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XML: Advantages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21299997">
            <a:off x="9599673" y="1372514"/>
            <a:ext cx="1606884" cy="19902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scene3d>
            <a:camera prst="orthographicFront"/>
            <a:lightRig rig="twoPt" dir="t"/>
          </a:scene3d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7E3EE9F6-CE4D-4CDB-A9D1-5AA6E0DA74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90770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360363" lvl="1">
              <a:buClr>
                <a:schemeClr val="tx1"/>
              </a:buClr>
            </a:pPr>
            <a:r>
              <a:rPr lang="en-US" sz="3400" dirty="0"/>
              <a:t>XML data is </a:t>
            </a:r>
            <a:r>
              <a:rPr lang="en-US" sz="3400" b="1" dirty="0">
                <a:solidFill>
                  <a:schemeClr val="bg1"/>
                </a:solidFill>
              </a:rPr>
              <a:t>bigger</a:t>
            </a:r>
            <a:r>
              <a:rPr lang="en-US" sz="3400" dirty="0"/>
              <a:t> (takes more space) than binary or JSON</a:t>
            </a:r>
          </a:p>
          <a:p>
            <a:pPr marL="804863" lvl="3">
              <a:buClr>
                <a:schemeClr val="tx1"/>
              </a:buClr>
            </a:pPr>
            <a:r>
              <a:rPr lang="en-US" sz="3200" dirty="0"/>
              <a:t>More memory consumption, more network traffic, more </a:t>
            </a:r>
            <a:br>
              <a:rPr lang="en-US" sz="3200" dirty="0"/>
            </a:br>
            <a:r>
              <a:rPr lang="en-US" sz="3200" dirty="0"/>
              <a:t>hard-disk space, more resources, etc.</a:t>
            </a:r>
          </a:p>
          <a:p>
            <a:pPr marL="360363" lvl="1">
              <a:buClr>
                <a:schemeClr val="tx1"/>
              </a:buClr>
            </a:pPr>
            <a:r>
              <a:rPr lang="en-US" sz="3400" b="1" dirty="0">
                <a:solidFill>
                  <a:schemeClr val="bg1"/>
                </a:solidFill>
              </a:rPr>
              <a:t>Decreased</a:t>
            </a:r>
            <a:r>
              <a:rPr lang="en-US" sz="3400" dirty="0"/>
              <a:t> </a:t>
            </a:r>
            <a:r>
              <a:rPr lang="en-US" sz="3400" b="1" dirty="0">
                <a:solidFill>
                  <a:schemeClr val="bg1"/>
                </a:solidFill>
              </a:rPr>
              <a:t>performance</a:t>
            </a:r>
          </a:p>
          <a:p>
            <a:pPr marL="800100" lvl="2">
              <a:buClr>
                <a:schemeClr val="tx1"/>
              </a:buClr>
            </a:pPr>
            <a:r>
              <a:rPr lang="en-US" sz="3200" dirty="0"/>
              <a:t>CPU consumption: need of parsing / constructing the XML tags</a:t>
            </a:r>
          </a:p>
          <a:p>
            <a:pPr>
              <a:buClr>
                <a:schemeClr val="tx1"/>
              </a:buClr>
            </a:pPr>
            <a:r>
              <a:rPr lang="en-US" sz="3400" dirty="0"/>
              <a:t>XML is </a:t>
            </a:r>
            <a:r>
              <a:rPr lang="en-US" sz="3400" b="1" dirty="0">
                <a:solidFill>
                  <a:schemeClr val="bg1"/>
                </a:solidFill>
              </a:rPr>
              <a:t>not</a:t>
            </a:r>
            <a:r>
              <a:rPr lang="en-US" sz="3400" dirty="0"/>
              <a:t> suitable for </a:t>
            </a:r>
            <a:r>
              <a:rPr lang="en-US" sz="3400" b="1" dirty="0">
                <a:solidFill>
                  <a:schemeClr val="bg1"/>
                </a:solidFill>
              </a:rPr>
              <a:t>all</a:t>
            </a:r>
            <a:r>
              <a:rPr lang="en-US" sz="3400" dirty="0"/>
              <a:t> kinds of </a:t>
            </a:r>
            <a:r>
              <a:rPr lang="en-US" sz="3400" b="1" dirty="0">
                <a:solidFill>
                  <a:schemeClr val="bg1"/>
                </a:solidFill>
              </a:rPr>
              <a:t>data</a:t>
            </a:r>
          </a:p>
          <a:p>
            <a:pPr lvl="1"/>
            <a:r>
              <a:rPr lang="en-US" sz="3200" dirty="0"/>
              <a:t>E.g., binary data: graphics, images, videos, etc.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XML: Disadvantages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CF77C22-50CB-4526-9609-D4831C4092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80398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02077457-8AB4-4DC6-AD65-C3F1DD0F3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E704B9-5936-4006-87D6-B7C0EB1944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500" b="1" dirty="0"/>
              <a:t>JSON</a:t>
            </a:r>
          </a:p>
          <a:p>
            <a:pPr lvl="1"/>
            <a:r>
              <a:rPr lang="en-US" dirty="0"/>
              <a:t>JSON object has a type</a:t>
            </a:r>
          </a:p>
          <a:p>
            <a:pPr lvl="1"/>
            <a:r>
              <a:rPr lang="en-US" dirty="0"/>
              <a:t>JSON types: string, number, array, Boolean</a:t>
            </a:r>
          </a:p>
          <a:p>
            <a:pPr lvl="1"/>
            <a:r>
              <a:rPr lang="en-US" dirty="0"/>
              <a:t>Data is accessible as JSON objects</a:t>
            </a:r>
          </a:p>
          <a:p>
            <a:pPr lvl="1"/>
            <a:r>
              <a:rPr lang="en-US" dirty="0"/>
              <a:t>Doesn't support comments</a:t>
            </a:r>
          </a:p>
          <a:p>
            <a:pPr lvl="1"/>
            <a:r>
              <a:rPr lang="en-US" dirty="0"/>
              <a:t>Supports only UTF-8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XML</a:t>
            </a:r>
          </a:p>
          <a:p>
            <a:pPr lvl="1"/>
            <a:r>
              <a:rPr lang="en-US" sz="3000" dirty="0"/>
              <a:t>XML data is </a:t>
            </a:r>
            <a:r>
              <a:rPr lang="en-US" sz="3000" dirty="0" err="1"/>
              <a:t>typeless</a:t>
            </a:r>
            <a:endParaRPr lang="en-US" sz="3000" dirty="0"/>
          </a:p>
          <a:p>
            <a:pPr lvl="1"/>
            <a:r>
              <a:rPr lang="en-US" sz="3000" dirty="0"/>
              <a:t>All XML data should be string</a:t>
            </a:r>
          </a:p>
          <a:p>
            <a:pPr lvl="1"/>
            <a:r>
              <a:rPr lang="en-US" sz="3000" dirty="0"/>
              <a:t>Data needs to be parsed</a:t>
            </a:r>
          </a:p>
          <a:p>
            <a:pPr lvl="1"/>
            <a:r>
              <a:rPr lang="en-US" sz="3000" dirty="0"/>
              <a:t>Supports comments </a:t>
            </a:r>
          </a:p>
          <a:p>
            <a:pPr lvl="1"/>
            <a:r>
              <a:rPr lang="en-US" sz="3000" dirty="0"/>
              <a:t>Supports various encoding</a:t>
            </a:r>
          </a:p>
          <a:p>
            <a:pPr lvl="1"/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</a:t>
            </a:r>
            <a:r>
              <a:rPr lang="bg-BG" dirty="0"/>
              <a:t> </a:t>
            </a:r>
            <a:r>
              <a:rPr lang="en-US" dirty="0"/>
              <a:t>vs JSON</a:t>
            </a:r>
          </a:p>
        </p:txBody>
      </p:sp>
    </p:spTree>
    <p:extLst>
      <p:ext uri="{BB962C8B-B14F-4D97-AF65-F5344CB8AC3E}">
        <p14:creationId xmlns:p14="http://schemas.microsoft.com/office/powerpoint/2010/main" val="2120954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C7F0B-22E4-443D-9C4F-1F2763CE37D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Parsing XML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249" y="1918865"/>
            <a:ext cx="2549501" cy="12665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563" y="2813355"/>
            <a:ext cx="1038645" cy="953251"/>
          </a:xfrm>
          <a:prstGeom prst="rect">
            <a:avLst/>
          </a:prstGeom>
        </p:spPr>
      </p:pic>
      <p:sp>
        <p:nvSpPr>
          <p:cNvPr id="8" name="Subtitle 7">
            <a:extLst>
              <a:ext uri="{FF2B5EF4-FFF2-40B4-BE49-F238E27FC236}">
                <a16:creationId xmlns:a16="http://schemas.microsoft.com/office/drawing/2014/main" id="{03805BBA-1D79-44BB-BE84-F0F1CDBBB3F6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/>
              <a:t>Using XDocument and LINQ</a:t>
            </a:r>
          </a:p>
        </p:txBody>
      </p:sp>
    </p:spTree>
    <p:extLst>
      <p:ext uri="{BB962C8B-B14F-4D97-AF65-F5344CB8AC3E}">
        <p14:creationId xmlns:p14="http://schemas.microsoft.com/office/powerpoint/2010/main" val="3592023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xfrm>
            <a:off x="2074420" y="1000781"/>
            <a:ext cx="10129234" cy="5546589"/>
          </a:xfrm>
        </p:spPr>
        <p:txBody>
          <a:bodyPr/>
          <a:lstStyle/>
          <a:p>
            <a:r>
              <a:rPr lang="en-US" dirty="0"/>
              <a:t>LINQ-to-XML</a:t>
            </a:r>
          </a:p>
          <a:p>
            <a:pPr lvl="1"/>
            <a:r>
              <a:rPr lang="en-US" dirty="0"/>
              <a:t>Use the power of </a:t>
            </a:r>
            <a:r>
              <a:rPr lang="en-US" b="1" dirty="0">
                <a:solidFill>
                  <a:schemeClr val="bg1"/>
                </a:solidFill>
              </a:rPr>
              <a:t>LINQ</a:t>
            </a:r>
            <a:r>
              <a:rPr lang="en-US" dirty="0"/>
              <a:t> to process XML data</a:t>
            </a:r>
          </a:p>
          <a:p>
            <a:pPr lvl="1"/>
            <a:r>
              <a:rPr lang="en-US" dirty="0"/>
              <a:t>Easily read, search, write, modify XML documents</a:t>
            </a:r>
          </a:p>
          <a:p>
            <a:r>
              <a:rPr lang="en-US" dirty="0"/>
              <a:t>LINQ-to-XML classes</a:t>
            </a:r>
          </a:p>
          <a:p>
            <a:pPr lvl="1">
              <a:buClr>
                <a:schemeClr val="tx1"/>
              </a:buClr>
            </a:pP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XDocument</a:t>
            </a:r>
            <a:r>
              <a:rPr lang="en-US" dirty="0"/>
              <a:t> – represents a LINQ-enabled XML </a:t>
            </a:r>
            <a:br>
              <a:rPr lang="en-US" dirty="0"/>
            </a:br>
            <a:r>
              <a:rPr lang="en-US" dirty="0"/>
              <a:t>document (containing prolog, root element, …)</a:t>
            </a:r>
          </a:p>
          <a:p>
            <a:pPr lvl="1">
              <a:buClr>
                <a:schemeClr val="tx1"/>
              </a:buClr>
            </a:pP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XElement</a:t>
            </a:r>
            <a:r>
              <a:rPr lang="en-US" dirty="0"/>
              <a:t> – main component holding information</a:t>
            </a:r>
          </a:p>
          <a:p>
            <a:pPr lvl="1">
              <a:buClr>
                <a:schemeClr val="tx1"/>
              </a:buClr>
            </a:pP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XAttribute</a:t>
            </a:r>
            <a:r>
              <a:rPr lang="en-US" dirty="0"/>
              <a:t> – XML attributes information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LINQ-to-XML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DD13592-2981-4138-BFEE-4076B86AB31F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681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To process an XML string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Loading XML directly from file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XML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83434" y="1989000"/>
            <a:ext cx="7740000" cy="216674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800" b="1" noProof="1">
                <a:latin typeface="Consolas" pitchFamily="49" charset="0"/>
                <a:sym typeface="Wingdings" pitchFamily="2" charset="2"/>
              </a:rPr>
              <a:t>string str = @"&lt;?xml version=""1.0""?&gt;</a:t>
            </a:r>
          </a:p>
          <a:p>
            <a:pPr>
              <a:lnSpc>
                <a:spcPct val="80000"/>
              </a:lnSpc>
            </a:pPr>
            <a:r>
              <a:rPr lang="en-US" sz="2800" b="1" noProof="1">
                <a:latin typeface="Consolas" pitchFamily="49" charset="0"/>
                <a:sym typeface="Wingdings" pitchFamily="2" charset="2"/>
              </a:rPr>
              <a:t>&lt;!-- comment at the root level --&gt;</a:t>
            </a:r>
          </a:p>
          <a:p>
            <a:pPr>
              <a:lnSpc>
                <a:spcPct val="80000"/>
              </a:lnSpc>
            </a:pPr>
            <a:r>
              <a:rPr lang="en-US" sz="2800" b="1" noProof="1">
                <a:latin typeface="Consolas" pitchFamily="49" charset="0"/>
                <a:sym typeface="Wingdings" pitchFamily="2" charset="2"/>
              </a:rPr>
              <a:t>&lt;Root&gt;</a:t>
            </a:r>
          </a:p>
          <a:p>
            <a:pPr>
              <a:lnSpc>
                <a:spcPct val="80000"/>
              </a:lnSpc>
            </a:pPr>
            <a:r>
              <a:rPr lang="en-US" sz="2800" b="1" noProof="1">
                <a:latin typeface="Consolas" pitchFamily="49" charset="0"/>
                <a:sym typeface="Wingdings" pitchFamily="2" charset="2"/>
              </a:rPr>
              <a:t>    &lt;Child&gt;Content&lt;/Child&gt;</a:t>
            </a:r>
          </a:p>
          <a:p>
            <a:pPr>
              <a:lnSpc>
                <a:spcPct val="80000"/>
              </a:lnSpc>
            </a:pPr>
            <a:r>
              <a:rPr lang="en-US" sz="2800" b="1" noProof="1">
                <a:latin typeface="Consolas" pitchFamily="49" charset="0"/>
                <a:sym typeface="Wingdings" pitchFamily="2" charset="2"/>
              </a:rPr>
              <a:t>&lt;/Root&gt;";</a:t>
            </a:r>
          </a:p>
          <a:p>
            <a:pPr>
              <a:lnSpc>
                <a:spcPct val="80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XDocument</a:t>
            </a:r>
            <a:r>
              <a:rPr lang="en-US" sz="2800" b="1" noProof="1">
                <a:latin typeface="Consolas" pitchFamily="49" charset="0"/>
                <a:sym typeface="Wingdings" pitchFamily="2" charset="2"/>
              </a:rPr>
              <a:t> doc =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XDocument</a:t>
            </a:r>
            <a:r>
              <a:rPr lang="en-US" sz="2800" b="1" noProof="1">
                <a:latin typeface="Consolas" pitchFamily="49" charset="0"/>
                <a:sym typeface="Wingdings" pitchFamily="2" charset="2"/>
              </a:rPr>
              <a:t>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Parse</a:t>
            </a:r>
            <a:r>
              <a:rPr lang="en-US" sz="2800" b="1" noProof="1">
                <a:latin typeface="Consolas" pitchFamily="49" charset="0"/>
                <a:sym typeface="Wingdings" pitchFamily="2" charset="2"/>
              </a:rPr>
              <a:t>(str);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83166" y="5440276"/>
            <a:ext cx="10597200" cy="44319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XDocument</a:t>
            </a:r>
            <a:r>
              <a:rPr lang="en-US" sz="2800" b="1" noProof="1">
                <a:latin typeface="Consolas" pitchFamily="49" charset="0"/>
                <a:sym typeface="Wingdings" pitchFamily="2" charset="2"/>
              </a:rPr>
              <a:t> xmlDoc =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XDocument</a:t>
            </a:r>
            <a:r>
              <a:rPr lang="en-US" sz="2800" b="1" noProof="1">
                <a:latin typeface="Consolas" pitchFamily="49" charset="0"/>
                <a:sym typeface="Wingdings" pitchFamily="2" charset="2"/>
              </a:rPr>
              <a:t>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Load</a:t>
            </a:r>
            <a:r>
              <a:rPr lang="en-US" sz="2800" b="1" noProof="1">
                <a:latin typeface="Consolas" pitchFamily="49" charset="0"/>
                <a:sym typeface="Wingdings" pitchFamily="2" charset="2"/>
              </a:rPr>
              <a:t>("../../books.xml");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FD3E390-987B-4384-9998-F102EFED92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29196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</a:t>
            </a:r>
            <a:r>
              <a:rPr lang="en-US" noProof="1"/>
              <a:t>XDocument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143000" y="2743763"/>
            <a:ext cx="9906000" cy="223828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var cars = xmlDoc.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Root</a:t>
            </a:r>
            <a:r>
              <a:rPr lang="en-US" sz="2400" b="1" noProof="1">
                <a:latin typeface="Consolas" pitchFamily="49" charset="0"/>
                <a:sym typeface="Wingdings" pitchFamily="2" charset="2"/>
              </a:rPr>
              <a:t>.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Elements</a:t>
            </a:r>
            <a:r>
              <a:rPr lang="en-US" sz="2400" b="1" noProof="1">
                <a:latin typeface="Consolas" pitchFamily="49" charset="0"/>
                <a:sym typeface="Wingdings" pitchFamily="2" charset="2"/>
              </a:rPr>
              <a:t>();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foreach (var car in cars)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  string make = car.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Element</a:t>
            </a:r>
            <a:r>
              <a:rPr lang="en-US" sz="2400" b="1" noProof="1">
                <a:latin typeface="Consolas" pitchFamily="49" charset="0"/>
                <a:sym typeface="Wingdings" pitchFamily="2" charset="2"/>
              </a:rPr>
              <a:t>("make").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Value</a:t>
            </a:r>
            <a:r>
              <a:rPr lang="en-US" sz="2400" b="1" noProof="1">
                <a:latin typeface="Consolas" pitchFamily="49" charset="0"/>
                <a:sym typeface="Wingdings" pitchFamily="2" charset="2"/>
              </a:rPr>
              <a:t>;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  string model = car.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Element</a:t>
            </a:r>
            <a:r>
              <a:rPr lang="en-US" sz="2400" b="1" noProof="1">
                <a:latin typeface="Consolas" pitchFamily="49" charset="0"/>
                <a:sym typeface="Wingdings" pitchFamily="2" charset="2"/>
              </a:rPr>
              <a:t>("model").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Value</a:t>
            </a:r>
            <a:r>
              <a:rPr lang="en-US" sz="2400" b="1" noProof="1">
                <a:latin typeface="Consolas" pitchFamily="49" charset="0"/>
                <a:sym typeface="Wingdings" pitchFamily="2" charset="2"/>
              </a:rPr>
              <a:t>;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  Console.WriteLine($"{make} {model}");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}</a:t>
            </a: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316000" y="1693082"/>
            <a:ext cx="2072148" cy="919401"/>
          </a:xfrm>
          <a:prstGeom prst="wedgeRoundRectCallout">
            <a:avLst>
              <a:gd name="adj1" fmla="val 56168"/>
              <a:gd name="adj2" fmla="val 4980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 root element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5780610" y="1693082"/>
            <a:ext cx="2443024" cy="919401"/>
          </a:xfrm>
          <a:prstGeom prst="wedgeRoundRectCallout">
            <a:avLst>
              <a:gd name="adj1" fmla="val -59361"/>
              <a:gd name="adj2" fmla="val 4050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 collection of children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7002122" y="2709213"/>
            <a:ext cx="2667000" cy="919401"/>
          </a:xfrm>
          <a:prstGeom prst="wedgeRoundRectCallout">
            <a:avLst>
              <a:gd name="adj1" fmla="val -94045"/>
              <a:gd name="adj2" fmla="val 4410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 element by name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AutoShape 5"/>
          <p:cNvSpPr>
            <a:spLocks noChangeArrowheads="1"/>
          </p:cNvSpPr>
          <p:nvPr/>
        </p:nvSpPr>
        <p:spPr bwMode="auto">
          <a:xfrm>
            <a:off x="9036000" y="3862906"/>
            <a:ext cx="1740000" cy="510778"/>
          </a:xfrm>
          <a:prstGeom prst="wedgeRoundRectCallout">
            <a:avLst>
              <a:gd name="adj1" fmla="val -66477"/>
              <a:gd name="adj2" fmla="val 950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 value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AF2315AB-97A7-40C9-970F-5FF5AB3A1F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2865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sz="3600" dirty="0"/>
              <a:t>Set an element value by name</a:t>
            </a:r>
          </a:p>
          <a:p>
            <a:pPr lvl="1"/>
            <a:r>
              <a:rPr lang="en-US" sz="3400" dirty="0"/>
              <a:t>If it doesn't exist, it will be </a:t>
            </a:r>
            <a:r>
              <a:rPr lang="en-US" sz="3400" b="1" dirty="0">
                <a:solidFill>
                  <a:schemeClr val="bg1"/>
                </a:solidFill>
              </a:rPr>
              <a:t>added</a:t>
            </a:r>
          </a:p>
          <a:p>
            <a:pPr lvl="1"/>
            <a:r>
              <a:rPr lang="en-US" sz="3400" dirty="0"/>
              <a:t>If it is set to </a:t>
            </a:r>
            <a:r>
              <a:rPr lang="en-US" sz="3400" b="1" dirty="0">
                <a:solidFill>
                  <a:schemeClr val="bg1"/>
                </a:solidFill>
                <a:latin typeface="Consolas" panose="020B0609020204030204" pitchFamily="49" charset="0"/>
              </a:rPr>
              <a:t>null</a:t>
            </a:r>
            <a:r>
              <a:rPr lang="en-US" sz="3400" dirty="0"/>
              <a:t>, it will be </a:t>
            </a:r>
            <a:r>
              <a:rPr lang="en-US" sz="3400" b="1" dirty="0">
                <a:solidFill>
                  <a:schemeClr val="bg1"/>
                </a:solidFill>
              </a:rPr>
              <a:t>removed</a:t>
            </a:r>
          </a:p>
          <a:p>
            <a:pPr lvl="1"/>
            <a:endParaRPr lang="en-US" dirty="0"/>
          </a:p>
          <a:p>
            <a:r>
              <a:rPr lang="en-US" sz="3600" dirty="0"/>
              <a:t>Remove an element from its parent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</a:t>
            </a:r>
            <a:r>
              <a:rPr lang="en-US" noProof="1"/>
              <a:t>XDocument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794654" y="3429000"/>
            <a:ext cx="10701346" cy="39312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customer.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SetElementValue</a:t>
            </a:r>
            <a:r>
              <a:rPr lang="en-US" sz="2400" b="1" noProof="1">
                <a:latin typeface="Consolas" pitchFamily="49" charset="0"/>
                <a:sym typeface="Wingdings" pitchFamily="2" charset="2"/>
              </a:rPr>
              <a:t>("birth-date", "1990-10-04T00:00:00");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94654" y="4824000"/>
            <a:ext cx="10701346" cy="68858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var youngDriver = customer.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Element</a:t>
            </a:r>
            <a:r>
              <a:rPr lang="en-US" sz="2400" b="1" noProof="1">
                <a:latin typeface="Consolas" pitchFamily="49" charset="0"/>
                <a:sym typeface="Wingdings" pitchFamily="2" charset="2"/>
              </a:rPr>
              <a:t>("is-young-driver</a:t>
            </a:r>
            <a:r>
              <a:rPr lang="bg-BG" sz="2400" b="1" noProof="1">
                <a:latin typeface="Consolas" pitchFamily="49" charset="0"/>
                <a:sym typeface="Wingdings" pitchFamily="2" charset="2"/>
              </a:rPr>
              <a:t>"</a:t>
            </a:r>
            <a:r>
              <a:rPr lang="en-US" sz="2400" b="1" noProof="1">
                <a:latin typeface="Consolas" pitchFamily="49" charset="0"/>
                <a:sym typeface="Wingdings" pitchFamily="2" charset="2"/>
              </a:rPr>
              <a:t>);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youngDriver.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Remove</a:t>
            </a:r>
            <a:r>
              <a:rPr lang="en-US" sz="2400" b="1" noProof="1">
                <a:latin typeface="Consolas" pitchFamily="49" charset="0"/>
                <a:sym typeface="Wingdings" pitchFamily="2" charset="2"/>
              </a:rPr>
              <a:t>();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4B0A4EA9-28F9-4545-9AC8-4077F9BB7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2589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sz="3600" dirty="0"/>
              <a:t>Get or set an element attribute by name</a:t>
            </a:r>
          </a:p>
          <a:p>
            <a:endParaRPr lang="en-US" dirty="0"/>
          </a:p>
          <a:p>
            <a:r>
              <a:rPr lang="en-US" sz="3600" dirty="0"/>
              <a:t>Get a list of all attributes for an element</a:t>
            </a:r>
          </a:p>
          <a:p>
            <a:endParaRPr lang="en-US" dirty="0"/>
          </a:p>
          <a:p>
            <a:r>
              <a:rPr lang="en-US" sz="3600" dirty="0"/>
              <a:t>Set an attribute value by name</a:t>
            </a:r>
          </a:p>
          <a:p>
            <a:pPr lvl="1"/>
            <a:r>
              <a:rPr lang="en-US" sz="3400" dirty="0"/>
              <a:t>If it doesn't exist, it will be </a:t>
            </a:r>
            <a:r>
              <a:rPr lang="en-US" sz="3400" b="1" dirty="0">
                <a:solidFill>
                  <a:schemeClr val="bg1"/>
                </a:solidFill>
              </a:rPr>
              <a:t>added</a:t>
            </a:r>
          </a:p>
          <a:p>
            <a:pPr lvl="1"/>
            <a:r>
              <a:rPr lang="en-US" sz="3400" dirty="0"/>
              <a:t>If it is set to </a:t>
            </a:r>
            <a:r>
              <a:rPr lang="en-US" sz="3400" b="1" dirty="0">
                <a:solidFill>
                  <a:schemeClr val="bg1"/>
                </a:solidFill>
                <a:latin typeface="Consolas" panose="020B0609020204030204" pitchFamily="49" charset="0"/>
              </a:rPr>
              <a:t>null</a:t>
            </a:r>
            <a:r>
              <a:rPr lang="en-US" sz="3400" dirty="0"/>
              <a:t>, it will be </a:t>
            </a:r>
            <a:r>
              <a:rPr lang="en-US" sz="3400" b="1" dirty="0">
                <a:solidFill>
                  <a:schemeClr val="bg1"/>
                </a:solidFill>
              </a:rPr>
              <a:t>removed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</a:t>
            </a:r>
            <a:r>
              <a:rPr lang="en-US" noProof="1"/>
              <a:t>XDocument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99208" y="1987785"/>
            <a:ext cx="7101347" cy="44319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800" b="1" noProof="1">
                <a:latin typeface="Consolas" pitchFamily="49" charset="0"/>
                <a:sym typeface="Wingdings" pitchFamily="2" charset="2"/>
              </a:rPr>
              <a:t>customer.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Attribute</a:t>
            </a:r>
            <a:r>
              <a:rPr lang="en-US" sz="2800" b="1" noProof="1">
                <a:latin typeface="Consolas" pitchFamily="49" charset="0"/>
                <a:sym typeface="Wingdings" pitchFamily="2" charset="2"/>
              </a:rPr>
              <a:t>("name").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Value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696000" y="3386535"/>
            <a:ext cx="7057102" cy="44319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800" b="1" noProof="1">
                <a:latin typeface="Consolas" pitchFamily="49" charset="0"/>
                <a:sym typeface="Wingdings" pitchFamily="2" charset="2"/>
              </a:rPr>
              <a:t>var attrs = customer.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Attributes</a:t>
            </a:r>
            <a:r>
              <a:rPr lang="bg-BG" sz="28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()</a:t>
            </a:r>
            <a:r>
              <a:rPr lang="en-US" sz="2800" b="1" noProof="1">
                <a:latin typeface="Consolas" pitchFamily="49" charset="0"/>
                <a:sym typeface="Wingdings" pitchFamily="2" charset="2"/>
              </a:rPr>
              <a:t>;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706071" y="6099649"/>
            <a:ext cx="8024728" cy="44319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800" b="1" noProof="1">
                <a:latin typeface="Consolas" pitchFamily="49" charset="0"/>
                <a:sym typeface="Wingdings" pitchFamily="2" charset="2"/>
              </a:rPr>
              <a:t>customer.SetAttributeValue("age", "21");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4BCA1A4E-E913-4F2F-9AD4-24DDF7A875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2163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Searching in XML with LINQ is like searching with LINQ in array</a:t>
            </a:r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LINQ-to-XML - Searching with LINQ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07538" y="2079000"/>
            <a:ext cx="11176923" cy="364324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XDocument xmlDoc = XDocument.Load("cars.xml");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var cars = xmlDoc.Root.Elements()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  .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Where</a:t>
            </a:r>
            <a:r>
              <a:rPr lang="en-US" sz="2400" b="1" noProof="1">
                <a:latin typeface="Consolas" pitchFamily="49" charset="0"/>
                <a:sym typeface="Wingdings" pitchFamily="2" charset="2"/>
              </a:rPr>
              <a:t>(e =&gt; e.Element("make").Value == "Opel" &amp;&amp;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      long.Parse(e.Element("travelled-distance").Value) &gt;= 30000)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  .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Select</a:t>
            </a:r>
            <a:r>
              <a:rPr lang="en-US" sz="2400" b="1" noProof="1">
                <a:latin typeface="Consolas" pitchFamily="49" charset="0"/>
                <a:sym typeface="Wingdings" pitchFamily="2" charset="2"/>
              </a:rPr>
              <a:t>(c =&gt; new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    {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      Model = c.Element("model").Value,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      Traveled = c.Element("travelled-distance").Value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    })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  .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ToList</a:t>
            </a:r>
            <a:r>
              <a:rPr lang="en-US" sz="2400" b="1" noProof="1">
                <a:latin typeface="Consolas" pitchFamily="49" charset="0"/>
                <a:sym typeface="Wingdings" pitchFamily="2" charset="2"/>
              </a:rPr>
              <a:t>();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foreach (var car in cars)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  Console.WriteLine(car.Model + " " + car.Traveled);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F5D24202-812B-4C98-97B2-1DF5BC9EA3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67843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b="1" noProof="1">
                <a:latin typeface="+mj-lt"/>
              </a:rPr>
              <a:t>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XDocuments</a:t>
            </a:r>
            <a:r>
              <a:rPr lang="en-US" dirty="0">
                <a:latin typeface="+mj-lt"/>
              </a:rPr>
              <a:t> can be composed from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XElements</a:t>
            </a:r>
            <a:r>
              <a:rPr lang="en-US" noProof="1">
                <a:latin typeface="+mj-lt"/>
              </a:rPr>
              <a:t> and</a:t>
            </a:r>
            <a:br>
              <a:rPr lang="en-US" noProof="1">
                <a:latin typeface="+mj-lt"/>
              </a:rPr>
            </a:br>
            <a:r>
              <a:rPr lang="en-US" noProof="1">
                <a:latin typeface="+mj-lt"/>
              </a:rPr>
              <a:t>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XAttributes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XML with </a:t>
            </a:r>
            <a:r>
              <a:rPr lang="en-US" noProof="1"/>
              <a:t>XElement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426000" y="4341086"/>
            <a:ext cx="11340000" cy="216591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XDocument xmlDoc = new XDocument();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xmlDoc.Add(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  new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XElement</a:t>
            </a:r>
            <a:r>
              <a:rPr lang="en-US" sz="2400" b="1" noProof="1">
                <a:latin typeface="Consolas" pitchFamily="49" charset="0"/>
                <a:sym typeface="Wingdings" pitchFamily="2" charset="2"/>
              </a:rPr>
              <a:t>("books",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    new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XElement</a:t>
            </a:r>
            <a:r>
              <a:rPr lang="en-US" sz="2400" b="1" noProof="1">
                <a:latin typeface="Consolas" pitchFamily="49" charset="0"/>
                <a:sym typeface="Wingdings" pitchFamily="2" charset="2"/>
              </a:rPr>
              <a:t>("book",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      new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XElement</a:t>
            </a:r>
            <a:r>
              <a:rPr lang="en-US" sz="2400" b="1" noProof="1">
                <a:latin typeface="Consolas" pitchFamily="49" charset="0"/>
                <a:sym typeface="Wingdings" pitchFamily="2" charset="2"/>
              </a:rPr>
              <a:t>("author", "Don Box"),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      new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XElement</a:t>
            </a:r>
            <a:r>
              <a:rPr lang="en-US" sz="2400" b="1" noProof="1">
                <a:latin typeface="Consolas" pitchFamily="49" charset="0"/>
                <a:sym typeface="Wingdings" pitchFamily="2" charset="2"/>
              </a:rPr>
              <a:t>("title","ASP.NET",new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XAttribute</a:t>
            </a:r>
            <a:r>
              <a:rPr lang="en-US" sz="2400" b="1" noProof="1">
                <a:latin typeface="Consolas" pitchFamily="49" charset="0"/>
                <a:sym typeface="Wingdings" pitchFamily="2" charset="2"/>
              </a:rPr>
              <a:t>("lang", "en"))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)));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26000" y="2360439"/>
            <a:ext cx="10784502" cy="186512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&lt;books&gt;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  &lt;book&gt;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    &lt;author&gt;Don Box&lt;/author&gt;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    &lt;title lang="en"&gt;ASP.NET&lt;/title&gt;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  &lt;/book&gt;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&lt;/book&gt;</a:t>
            </a: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4716974" y="4734000"/>
            <a:ext cx="1898107" cy="510778"/>
          </a:xfrm>
          <a:prstGeom prst="wedgeRoundRectCallout">
            <a:avLst>
              <a:gd name="adj1" fmla="val -135801"/>
              <a:gd name="adj2" fmla="val -2985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as root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8959221" y="6208943"/>
            <a:ext cx="2552383" cy="510778"/>
          </a:xfrm>
          <a:prstGeom prst="wedgeRoundRectCallout">
            <a:avLst>
              <a:gd name="adj1" fmla="val -61675"/>
              <a:gd name="adj2" fmla="val -3612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Optional attribute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7127569" y="4945395"/>
            <a:ext cx="3173120" cy="510778"/>
          </a:xfrm>
          <a:prstGeom prst="wedgeRoundRectCallout">
            <a:avLst>
              <a:gd name="adj1" fmla="val -57277"/>
              <a:gd name="adj2" fmla="val 3393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Added with value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C7166F6A-FB61-4FFA-978C-8433FE8C9A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74089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To flush an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XDocument</a:t>
            </a:r>
            <a:r>
              <a:rPr lang="en-US" dirty="0"/>
              <a:t> to file with default settings</a:t>
            </a:r>
          </a:p>
          <a:p>
            <a:endParaRPr lang="en-US" dirty="0"/>
          </a:p>
          <a:p>
            <a:r>
              <a:rPr lang="en-US" dirty="0"/>
              <a:t>To disable automatic indentation</a:t>
            </a:r>
          </a:p>
          <a:p>
            <a:endParaRPr lang="en-US" dirty="0"/>
          </a:p>
          <a:p>
            <a:r>
              <a:rPr lang="en-US" dirty="0"/>
              <a:t>To serialize </a:t>
            </a:r>
            <a:r>
              <a:rPr lang="en-US" b="1" dirty="0">
                <a:solidFill>
                  <a:schemeClr val="bg1"/>
                </a:solidFill>
              </a:rPr>
              <a:t>any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object</a:t>
            </a:r>
            <a:r>
              <a:rPr lang="en-US" dirty="0"/>
              <a:t> to file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Serializing XML to File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25028" y="2000303"/>
            <a:ext cx="5736418" cy="38779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xmlDoc.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Save</a:t>
            </a:r>
            <a:r>
              <a:rPr lang="en-US" sz="2400" b="1" noProof="1">
                <a:latin typeface="Consolas" pitchFamily="49" charset="0"/>
                <a:sym typeface="Wingdings" pitchFamily="2" charset="2"/>
              </a:rPr>
              <a:t>("myBooks.xml");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25028" y="3429000"/>
            <a:ext cx="10086959" cy="38779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xmlDoc.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Save</a:t>
            </a:r>
            <a:r>
              <a:rPr lang="en-US" sz="2400" b="1" noProof="1">
                <a:latin typeface="Consolas" pitchFamily="49" charset="0"/>
                <a:sym typeface="Wingdings" pitchFamily="2" charset="2"/>
              </a:rPr>
              <a:t>("myBooks.xml", SaveOptions.DisableFormatting);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696000" y="4833697"/>
            <a:ext cx="10115987" cy="156966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var serializer = new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XmlSerializer</a:t>
            </a:r>
            <a:r>
              <a:rPr lang="en-US" sz="2400" b="1" noProof="1">
                <a:latin typeface="Consolas" pitchFamily="49" charset="0"/>
                <a:sym typeface="Wingdings" pitchFamily="2" charset="2"/>
              </a:rPr>
              <a:t>(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typeof</a:t>
            </a:r>
            <a:r>
              <a:rPr lang="en-US" sz="2400" b="1" noProof="1">
                <a:latin typeface="Consolas" pitchFamily="49" charset="0"/>
                <a:sym typeface="Wingdings" pitchFamily="2" charset="2"/>
              </a:rPr>
              <a:t>(ProductDTO));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using (var writer = new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StreamWriter</a:t>
            </a:r>
            <a:r>
              <a:rPr lang="en-US" sz="2400" b="1" noProof="1">
                <a:latin typeface="Consolas" pitchFamily="49" charset="0"/>
                <a:sym typeface="Wingdings" pitchFamily="2" charset="2"/>
              </a:rPr>
              <a:t>("myProduct.xml");)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  serializer.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Serialize</a:t>
            </a:r>
            <a:r>
              <a:rPr lang="en-US" sz="2400" b="1" noProof="1">
                <a:latin typeface="Consolas" pitchFamily="49" charset="0"/>
                <a:sym typeface="Wingdings" pitchFamily="2" charset="2"/>
              </a:rPr>
              <a:t>(writer, product);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}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BCE34E7-2ADE-4FED-B0A9-1E57AD250D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0451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To </a:t>
            </a:r>
            <a:r>
              <a:rPr lang="en-US" b="1" dirty="0">
                <a:solidFill>
                  <a:schemeClr val="bg1"/>
                </a:solidFill>
              </a:rPr>
              <a:t>deserialize</a:t>
            </a:r>
            <a:r>
              <a:rPr lang="en-US" dirty="0"/>
              <a:t> an object from an XML string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Specifying </a:t>
            </a:r>
            <a:r>
              <a:rPr lang="en-US" b="1" dirty="0">
                <a:solidFill>
                  <a:schemeClr val="bg1"/>
                </a:solidFill>
              </a:rPr>
              <a:t>root attribute </a:t>
            </a:r>
            <a:r>
              <a:rPr lang="en-US" dirty="0"/>
              <a:t>name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Deserialize XML from String XML</a:t>
            </a:r>
            <a:endParaRPr lang="bg-BG" dirty="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51000" y="1859984"/>
            <a:ext cx="10800000" cy="145135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200" b="1" noProof="1">
                <a:latin typeface="Consolas" pitchFamily="49" charset="0"/>
                <a:sym typeface="Wingdings" pitchFamily="2" charset="2"/>
              </a:rPr>
              <a:t>var </a:t>
            </a: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serializer</a:t>
            </a:r>
            <a:r>
              <a:rPr lang="en-US" sz="2200" b="1" noProof="1">
                <a:latin typeface="Consolas" pitchFamily="49" charset="0"/>
                <a:sym typeface="Wingdings" pitchFamily="2" charset="2"/>
              </a:rPr>
              <a:t> = new </a:t>
            </a: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XmlSerializer</a:t>
            </a:r>
            <a:r>
              <a:rPr lang="en-US" sz="2200" b="1" noProof="1">
                <a:latin typeface="Consolas" pitchFamily="49" charset="0"/>
                <a:sym typeface="Wingdings" pitchFamily="2" charset="2"/>
              </a:rPr>
              <a:t>(typeof(OrderDto[]), 			new XmlRootAttribute("Orders"));</a:t>
            </a:r>
          </a:p>
          <a:p>
            <a:pPr>
              <a:lnSpc>
                <a:spcPct val="80000"/>
              </a:lnSpc>
            </a:pPr>
            <a:endParaRPr lang="en-US" sz="2200" b="1" noProof="1">
              <a:latin typeface="Consolas" pitchFamily="49" charset="0"/>
              <a:sym typeface="Wingdings" pitchFamily="2" charset="2"/>
            </a:endParaRPr>
          </a:p>
          <a:p>
            <a:pPr>
              <a:lnSpc>
                <a:spcPct val="80000"/>
              </a:lnSpc>
            </a:pPr>
            <a:r>
              <a:rPr lang="en-US" sz="2200" b="1" noProof="1">
                <a:latin typeface="Consolas" pitchFamily="49" charset="0"/>
                <a:sym typeface="Wingdings" pitchFamily="2" charset="2"/>
              </a:rPr>
              <a:t>var deserializedOrders = </a:t>
            </a:r>
          </a:p>
          <a:p>
            <a:pPr>
              <a:lnSpc>
                <a:spcPct val="80000"/>
              </a:lnSpc>
            </a:pPr>
            <a:r>
              <a:rPr lang="en-US" sz="2200" b="1" noProof="1">
                <a:latin typeface="Consolas" pitchFamily="49" charset="0"/>
                <a:sym typeface="Wingdings" pitchFamily="2" charset="2"/>
              </a:rPr>
              <a:t>  (OrderDto[])serializer.Deserialize(new StringReader(xmlString));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C6DCEC-2B94-47E0-A210-3D25F7117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000" y="3960508"/>
            <a:ext cx="10800000" cy="145135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200" b="1" noProof="1">
                <a:latin typeface="Consolas" pitchFamily="49" charset="0"/>
                <a:sym typeface="Wingdings" pitchFamily="2" charset="2"/>
              </a:rPr>
              <a:t>var attr = new XmlRootAttribute("Orders");</a:t>
            </a:r>
          </a:p>
          <a:p>
            <a:pPr>
              <a:lnSpc>
                <a:spcPct val="80000"/>
              </a:lnSpc>
            </a:pPr>
            <a:r>
              <a:rPr lang="en-US" sz="2200" b="1" noProof="1">
                <a:latin typeface="Consolas" pitchFamily="49" charset="0"/>
                <a:sym typeface="Wingdings" pitchFamily="2" charset="2"/>
              </a:rPr>
              <a:t>var </a:t>
            </a: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serializer</a:t>
            </a:r>
            <a:r>
              <a:rPr lang="en-US" sz="2200" b="1" noProof="1">
                <a:latin typeface="Consolas" pitchFamily="49" charset="0"/>
                <a:sym typeface="Wingdings" pitchFamily="2" charset="2"/>
              </a:rPr>
              <a:t> = new </a:t>
            </a: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XmlSerializer</a:t>
            </a:r>
            <a:r>
              <a:rPr lang="en-US" sz="2200" b="1" noProof="1">
                <a:latin typeface="Consolas" pitchFamily="49" charset="0"/>
                <a:sym typeface="Wingdings" pitchFamily="2" charset="2"/>
              </a:rPr>
              <a:t>(typeof(OrderDto[]), </a:t>
            </a: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attr</a:t>
            </a:r>
            <a:r>
              <a:rPr lang="en-US" sz="2200" b="1" noProof="1">
                <a:latin typeface="Consolas" pitchFamily="49" charset="0"/>
                <a:sym typeface="Wingdings" pitchFamily="2" charset="2"/>
              </a:rPr>
              <a:t>);</a:t>
            </a:r>
          </a:p>
          <a:p>
            <a:pPr>
              <a:lnSpc>
                <a:spcPct val="80000"/>
              </a:lnSpc>
            </a:pPr>
            <a:endParaRPr lang="en-US" sz="2200" b="1" noProof="1">
              <a:latin typeface="Consolas" pitchFamily="49" charset="0"/>
              <a:sym typeface="Wingdings" pitchFamily="2" charset="2"/>
            </a:endParaRPr>
          </a:p>
          <a:p>
            <a:pPr>
              <a:lnSpc>
                <a:spcPct val="80000"/>
              </a:lnSpc>
            </a:pPr>
            <a:r>
              <a:rPr lang="en-US" sz="2200" b="1" noProof="1">
                <a:latin typeface="Consolas" pitchFamily="49" charset="0"/>
                <a:sym typeface="Wingdings" pitchFamily="2" charset="2"/>
              </a:rPr>
              <a:t>var deserializedOrders = </a:t>
            </a:r>
          </a:p>
          <a:p>
            <a:pPr>
              <a:lnSpc>
                <a:spcPct val="80000"/>
              </a:lnSpc>
            </a:pPr>
            <a:r>
              <a:rPr lang="en-US" sz="2200" b="1" noProof="1">
                <a:latin typeface="Consolas" pitchFamily="49" charset="0"/>
                <a:sym typeface="Wingdings" pitchFamily="2" charset="2"/>
              </a:rPr>
              <a:t>  (OrderDto[])serializer.Deserialize(new StringReader(xmlString));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583C865-64F2-4B88-B43B-82E89D2769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81327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11EDB-8AC7-42A2-B098-B2EC63ABEF72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XML Attributes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1392382"/>
            <a:ext cx="2438400" cy="2438400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A04F8395-2D31-47E3-93CC-149879922ED5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/>
              <a:t>Using Xml Attributes</a:t>
            </a:r>
          </a:p>
        </p:txBody>
      </p:sp>
    </p:spTree>
    <p:extLst>
      <p:ext uri="{BB962C8B-B14F-4D97-AF65-F5344CB8AC3E}">
        <p14:creationId xmlns:p14="http://schemas.microsoft.com/office/powerpoint/2010/main" val="71073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dirty="0"/>
              <a:t>We can use several attributes to control serialization to XML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[XmlType("Name")]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/>
              <a:t>– Specifies the type's </a:t>
            </a:r>
            <a:r>
              <a:rPr lang="en-US" b="1" dirty="0">
                <a:solidFill>
                  <a:schemeClr val="bg1"/>
                </a:solidFill>
              </a:rPr>
              <a:t>name</a:t>
            </a:r>
            <a:r>
              <a:rPr lang="en-US" dirty="0"/>
              <a:t> in XML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[XmlAttribute("name")]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/>
              <a:t>– Serializes as </a:t>
            </a:r>
            <a:r>
              <a:rPr lang="en-US" b="1" dirty="0">
                <a:solidFill>
                  <a:schemeClr val="bg1"/>
                </a:solidFill>
              </a:rPr>
              <a:t>XML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Attribute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[XmlElement]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dirty="0"/>
              <a:t>– Serialize as </a:t>
            </a:r>
            <a:r>
              <a:rPr lang="en-US" b="1" dirty="0">
                <a:solidFill>
                  <a:schemeClr val="bg1"/>
                </a:solidFill>
              </a:rPr>
              <a:t>XML Element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[XmlIgnore]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/>
              <a:t>– </a:t>
            </a:r>
            <a:r>
              <a:rPr lang="en-US" b="1" dirty="0">
                <a:solidFill>
                  <a:schemeClr val="bg1"/>
                </a:solidFill>
              </a:rPr>
              <a:t>Do not </a:t>
            </a:r>
            <a:r>
              <a:rPr lang="en-US" dirty="0"/>
              <a:t>serialize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[XmlArray]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/>
              <a:t>– Serialize as an </a:t>
            </a:r>
            <a:r>
              <a:rPr lang="en-US" b="1" dirty="0">
                <a:solidFill>
                  <a:schemeClr val="bg1"/>
                </a:solidFill>
              </a:rPr>
              <a:t>array</a:t>
            </a:r>
            <a:r>
              <a:rPr lang="en-US" dirty="0"/>
              <a:t> of XML elements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[XmlRoot]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/>
              <a:t>– Specifies the </a:t>
            </a:r>
            <a:r>
              <a:rPr lang="en-US" b="1" dirty="0">
                <a:solidFill>
                  <a:schemeClr val="bg1"/>
                </a:solidFill>
              </a:rPr>
              <a:t>root</a:t>
            </a:r>
            <a:r>
              <a:rPr lang="en-US" dirty="0"/>
              <a:t> element name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[XmlText]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/>
              <a:t>– Serialize </a:t>
            </a:r>
            <a:r>
              <a:rPr lang="en-US" b="1" dirty="0">
                <a:solidFill>
                  <a:schemeClr val="bg1"/>
                </a:solidFill>
              </a:rPr>
              <a:t>multiple xml elements </a:t>
            </a:r>
            <a:r>
              <a:rPr lang="en-US" dirty="0"/>
              <a:t>on </a:t>
            </a:r>
            <a:r>
              <a:rPr lang="en-US" b="1" dirty="0">
                <a:solidFill>
                  <a:schemeClr val="bg1"/>
                </a:solidFill>
              </a:rPr>
              <a:t>one line</a:t>
            </a:r>
            <a:endParaRPr lang="bg-BG" b="1" dirty="0">
              <a:solidFill>
                <a:schemeClr val="bg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 Attributes</a:t>
            </a:r>
            <a:endParaRPr lang="bg-BG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C385A4F-23C2-4B92-B7C9-42956F60AD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1502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We can use several XML attributes to control serialization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 Attributes: Example</a:t>
            </a:r>
            <a:endParaRPr lang="bg-B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2B6004-A94F-434E-90FD-88B5379C9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930" y="2000686"/>
            <a:ext cx="5258559" cy="364324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[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XmlType</a:t>
            </a:r>
            <a:r>
              <a:rPr lang="en-US" sz="2400" b="1" noProof="1">
                <a:latin typeface="Consolas" pitchFamily="49" charset="0"/>
                <a:sym typeface="Wingdings" pitchFamily="2" charset="2"/>
              </a:rPr>
              <a:t>("Book")]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public class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BookDto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 [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XmlAttribute</a:t>
            </a:r>
            <a:r>
              <a:rPr lang="en-US" sz="2400" b="1" noProof="1">
                <a:latin typeface="Consolas" pitchFamily="49" charset="0"/>
                <a:sym typeface="Wingdings" pitchFamily="2" charset="2"/>
              </a:rPr>
              <a:t>("name")]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 public string Name { get; }</a:t>
            </a:r>
          </a:p>
          <a:p>
            <a:pPr>
              <a:lnSpc>
                <a:spcPct val="80000"/>
              </a:lnSpc>
            </a:pPr>
            <a:endParaRPr lang="en-US" sz="2400" b="1" noProof="1">
              <a:latin typeface="Consolas" pitchFamily="49" charset="0"/>
              <a:sym typeface="Wingdings" pitchFamily="2" charset="2"/>
            </a:endParaRP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 [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XmlElement</a:t>
            </a:r>
            <a:r>
              <a:rPr lang="en-US" sz="2400" b="1" noProof="1">
                <a:latin typeface="Consolas" pitchFamily="49" charset="0"/>
                <a:sym typeface="Wingdings" pitchFamily="2" charset="2"/>
              </a:rPr>
              <a:t>("Author")]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 public string Author { get; }</a:t>
            </a:r>
          </a:p>
          <a:p>
            <a:pPr>
              <a:lnSpc>
                <a:spcPct val="80000"/>
              </a:lnSpc>
            </a:pPr>
            <a:endParaRPr lang="en-US" sz="2400" b="1" noProof="1">
              <a:latin typeface="Consolas" pitchFamily="49" charset="0"/>
              <a:sym typeface="Wingdings" pitchFamily="2" charset="2"/>
            </a:endParaRP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 [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XmlIgnore</a:t>
            </a:r>
            <a:r>
              <a:rPr lang="en-US" sz="2400" b="1" noProof="1">
                <a:latin typeface="Consolas" pitchFamily="49" charset="0"/>
                <a:sym typeface="Wingdings" pitchFamily="2" charset="2"/>
              </a:rPr>
              <a:t>]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 public decimal Price { get; }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}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F02E870B-7945-4A4A-BA6E-6A52B073A884}"/>
              </a:ext>
            </a:extLst>
          </p:cNvPr>
          <p:cNvSpPr/>
          <p:nvPr/>
        </p:nvSpPr>
        <p:spPr>
          <a:xfrm>
            <a:off x="5804360" y="3508598"/>
            <a:ext cx="484473" cy="4572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0E7DFF-BDAC-4C65-8455-C25D2D450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7400" y="2000687"/>
            <a:ext cx="5407783" cy="364324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&lt;Book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name</a:t>
            </a:r>
            <a:r>
              <a:rPr lang="en-US" sz="2400" b="1" noProof="1">
                <a:latin typeface="Consolas" pitchFamily="49" charset="0"/>
                <a:sym typeface="Wingdings" pitchFamily="2" charset="2"/>
              </a:rPr>
              <a:t>="It"&gt;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  &lt;Author&gt;Stephen King&lt;/Author&gt;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&lt;/Book&gt;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&lt;Book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name</a:t>
            </a:r>
            <a:r>
              <a:rPr lang="en-US" sz="2400" b="1" noProof="1">
                <a:latin typeface="Consolas" pitchFamily="49" charset="0"/>
                <a:sym typeface="Wingdings" pitchFamily="2" charset="2"/>
              </a:rPr>
              <a:t>="Frankenstein"&gt;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  &lt;Author&gt;Mary Shelley&lt;/Author&gt;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&lt;/Book&gt;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&lt;Book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name</a:t>
            </a:r>
            <a:r>
              <a:rPr lang="en-US" sz="2400" b="1" noProof="1">
                <a:latin typeface="Consolas" pitchFamily="49" charset="0"/>
                <a:sym typeface="Wingdings" pitchFamily="2" charset="2"/>
              </a:rPr>
              <a:t>="Queen Lucia"&gt;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  &lt;Author&gt;E.F. Benson&lt;/Author&gt;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&lt;/Book&gt;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&lt;Book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name</a:t>
            </a:r>
            <a:r>
              <a:rPr lang="en-US" sz="2400" b="1" noProof="1">
                <a:latin typeface="Consolas" pitchFamily="49" charset="0"/>
                <a:sym typeface="Wingdings" pitchFamily="2" charset="2"/>
              </a:rPr>
              <a:t>="Paper Towns"&gt;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  &lt;Author&gt;John Green&lt;/Author&gt;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  <a:sym typeface="Wingdings" pitchFamily="2" charset="2"/>
              </a:rPr>
              <a:t>&lt;/Book&gt;</a:t>
            </a:r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CFA820A3-3030-45E0-BD61-194F9973D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917" y="1852172"/>
            <a:ext cx="2551199" cy="510778"/>
          </a:xfrm>
          <a:prstGeom prst="wedgeRoundRectCallout">
            <a:avLst>
              <a:gd name="adj1" fmla="val -60361"/>
              <a:gd name="adj2" fmla="val 3622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XML Type name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AutoShape 5">
            <a:extLst>
              <a:ext uri="{FF2B5EF4-FFF2-40B4-BE49-F238E27FC236}">
                <a16:creationId xmlns:a16="http://schemas.microsoft.com/office/drawing/2014/main" id="{9E9D1127-E651-47DF-AB9C-15520D26F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1000" y="4432442"/>
            <a:ext cx="2247987" cy="510778"/>
          </a:xfrm>
          <a:prstGeom prst="wedgeRoundRectCallout">
            <a:avLst>
              <a:gd name="adj1" fmla="val -66376"/>
              <a:gd name="adj2" fmla="val 4488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serialized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C9C8A79D-D926-4508-B8E6-DB0DECAD73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82288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65622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1942" y="1419750"/>
            <a:ext cx="8632995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CC3A316-993C-4741-8826-E104F27650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24937" y="3276641"/>
            <a:ext cx="2882677" cy="3119781"/>
          </a:xfrm>
          <a:prstGeom prst="rect">
            <a:avLst/>
          </a:prstGeom>
        </p:spPr>
      </p:pic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445613" y="1606714"/>
            <a:ext cx="11815018" cy="520106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6915" marR="0" lvl="0" indent="-456915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20888" y="1656226"/>
            <a:ext cx="8078886" cy="38817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30000"/>
              </a:lnSpc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GB" sz="3200" b="1" noProof="1">
                <a:solidFill>
                  <a:schemeClr val="bg1"/>
                </a:solidFill>
                <a:latin typeface="+mj-lt"/>
              </a:rPr>
              <a:t>XDocument</a:t>
            </a:r>
            <a:r>
              <a:rPr lang="en-GB" sz="3200" b="1" dirty="0">
                <a:solidFill>
                  <a:schemeClr val="bg2"/>
                </a:solidFill>
              </a:rPr>
              <a:t> is a system object for working with XML in .NET, which supports LINQ</a:t>
            </a:r>
          </a:p>
          <a:p>
            <a:pPr marL="457200" indent="-457200">
              <a:lnSpc>
                <a:spcPct val="130000"/>
              </a:lnSpc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GB" sz="3200" b="1" dirty="0">
                <a:solidFill>
                  <a:schemeClr val="bg2"/>
                </a:solidFill>
              </a:rPr>
              <a:t>XML can be read and saved </a:t>
            </a:r>
            <a:r>
              <a:rPr lang="en-GB" sz="3200" b="1" dirty="0">
                <a:solidFill>
                  <a:schemeClr val="bg1"/>
                </a:solidFill>
              </a:rPr>
              <a:t>directly to file</a:t>
            </a:r>
          </a:p>
          <a:p>
            <a:pPr marL="457200" indent="-457200">
              <a:lnSpc>
                <a:spcPct val="130000"/>
              </a:lnSpc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GB" sz="3200" b="1" dirty="0">
                <a:solidFill>
                  <a:schemeClr val="bg1"/>
                </a:solidFill>
              </a:rPr>
              <a:t>XML </a:t>
            </a:r>
            <a:r>
              <a:rPr lang="en-GB" sz="3200" b="1" dirty="0">
                <a:solidFill>
                  <a:schemeClr val="bg2"/>
                </a:solidFill>
              </a:rPr>
              <a:t>can be serialized to and from </a:t>
            </a:r>
            <a:r>
              <a:rPr lang="en-GB" sz="3200" b="1" dirty="0">
                <a:solidFill>
                  <a:schemeClr val="bg1"/>
                </a:solidFill>
              </a:rPr>
              <a:t>class</a:t>
            </a:r>
          </a:p>
          <a:p>
            <a:pPr marL="457200" indent="-457200">
              <a:lnSpc>
                <a:spcPct val="130000"/>
              </a:lnSpc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GB" sz="3200" b="1" dirty="0">
                <a:solidFill>
                  <a:schemeClr val="bg1"/>
                </a:solidFill>
              </a:rPr>
              <a:t>XML</a:t>
            </a:r>
            <a:r>
              <a:rPr lang="en-GB" sz="3200" b="1" dirty="0">
                <a:solidFill>
                  <a:schemeClr val="bg2"/>
                </a:solidFill>
              </a:rPr>
              <a:t> </a:t>
            </a:r>
            <a:r>
              <a:rPr lang="en-GB" sz="3200" b="1" dirty="0">
                <a:solidFill>
                  <a:schemeClr val="bg1"/>
                </a:solidFill>
              </a:rPr>
              <a:t>Attributes</a:t>
            </a:r>
            <a:r>
              <a:rPr lang="en-GB" sz="3200" b="1" dirty="0">
                <a:solidFill>
                  <a:schemeClr val="bg2"/>
                </a:solidFill>
              </a:rPr>
              <a:t>  are easy way to describe the </a:t>
            </a:r>
            <a:r>
              <a:rPr lang="en-GB" sz="3200" b="1" dirty="0">
                <a:solidFill>
                  <a:schemeClr val="bg1"/>
                </a:solidFill>
              </a:rPr>
              <a:t>XML</a:t>
            </a:r>
            <a:r>
              <a:rPr lang="en-GB" sz="3200" b="1" dirty="0">
                <a:solidFill>
                  <a:schemeClr val="bg2"/>
                </a:solidFill>
              </a:rPr>
              <a:t> </a:t>
            </a:r>
            <a:r>
              <a:rPr lang="en-GB" sz="3200" b="1" dirty="0">
                <a:solidFill>
                  <a:schemeClr val="bg1"/>
                </a:solidFill>
              </a:rPr>
              <a:t>file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994C2151-7C2F-44BB-BBB2-DEECB36EC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36928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Body"/>
          <p:cNvSpPr>
            <a:spLocks noGrp="1"/>
          </p:cNvSpPr>
          <p:nvPr>
            <p:ph idx="4294967295"/>
          </p:nvPr>
        </p:nvSpPr>
        <p:spPr>
          <a:xfrm>
            <a:off x="190404" y="1179000"/>
            <a:ext cx="8695596" cy="549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Software University – High-Quality Education, Profession and Job for Software Developers</a:t>
            </a:r>
          </a:p>
          <a:p>
            <a:pPr lvl="1"/>
            <a:r>
              <a:rPr lang="en-US" sz="3000" noProof="1">
                <a:hlinkClick r:id="rId3"/>
              </a:rPr>
              <a:t>softuni.bg</a:t>
            </a:r>
            <a:r>
              <a:rPr lang="en-US" sz="3000" noProof="1"/>
              <a:t>, </a:t>
            </a:r>
            <a:r>
              <a:rPr lang="en-US" sz="2800" dirty="0">
                <a:hlinkClick r:id="rId4"/>
              </a:rPr>
              <a:t>about.softuni.bg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Foundation</a:t>
            </a:r>
            <a:endParaRPr lang="bg-BG" sz="3200" dirty="0"/>
          </a:p>
          <a:p>
            <a:pPr lvl="1"/>
            <a:r>
              <a:rPr lang="en-US" sz="3000" noProof="1">
                <a:hlinkClick r:id="rId5"/>
              </a:rPr>
              <a:t>softuni.foundation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@ Facebook</a:t>
            </a:r>
          </a:p>
          <a:p>
            <a:pPr lvl="1"/>
            <a:r>
              <a:rPr lang="en-US" sz="3000" noProof="1">
                <a:hlinkClick r:id="rId6"/>
              </a:rPr>
              <a:t>facebook.com/SoftwareUniversity</a:t>
            </a:r>
            <a:endParaRPr lang="en-US" sz="3000" noProof="1"/>
          </a:p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1DE5788-B4EE-4D5A-8EB8-270043650096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0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11818096" cy="54558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This course (slides, examples, demos, exercises, homework, documents, videos and other assets) is </a:t>
            </a:r>
            <a:r>
              <a:rPr lang="en-US" b="1" dirty="0"/>
              <a:t>copyrighted content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Unauthorized copy, reproduction or use is illegal</a:t>
            </a:r>
          </a:p>
          <a:p>
            <a:pPr>
              <a:lnSpc>
                <a:spcPct val="120000"/>
              </a:lnSpc>
            </a:pPr>
            <a:r>
              <a:rPr lang="en-US" dirty="0"/>
              <a:t>© SoftUni – </a:t>
            </a:r>
            <a:r>
              <a:rPr lang="en-US" dirty="0">
                <a:hlinkClick r:id="rId3"/>
              </a:rPr>
              <a:t>https://about.softuni.bg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© Software University – </a:t>
            </a:r>
            <a:r>
              <a:rPr lang="en-US" dirty="0">
                <a:hlinkClick r:id="rId4"/>
              </a:rPr>
              <a:t>https://softuni.bg</a:t>
            </a:r>
            <a:endParaRPr lang="bg-BG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A10A2585-858C-4B1E-8846-27CF1C15729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5023" y="4445455"/>
            <a:ext cx="1930977" cy="2043545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</a:t>
            </a:r>
            <a:endParaRPr lang="bg-BG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E7B72531-B07E-461F-BDA6-5388D06E3F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13326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SoftUni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4213</TotalTime>
  <Words>1770</Words>
  <Application>Microsoft Office PowerPoint</Application>
  <PresentationFormat>Widescreen</PresentationFormat>
  <Paragraphs>325</Paragraphs>
  <Slides>28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Consolas</vt:lpstr>
      <vt:lpstr>Wingdings</vt:lpstr>
      <vt:lpstr>Wingdings 2</vt:lpstr>
      <vt:lpstr>SoftUni</vt:lpstr>
      <vt:lpstr>XML Processing</vt:lpstr>
      <vt:lpstr>Have a Question?</vt:lpstr>
      <vt:lpstr>Table of Contents</vt:lpstr>
      <vt:lpstr>What is XML?</vt:lpstr>
      <vt:lpstr>What is XML?</vt:lpstr>
      <vt:lpstr>XML - Example</vt:lpstr>
      <vt:lpstr>XML Syntax</vt:lpstr>
      <vt:lpstr>XML – Structure</vt:lpstr>
      <vt:lpstr>XML and HTML</vt:lpstr>
      <vt:lpstr>XML: Advantages</vt:lpstr>
      <vt:lpstr>XML: Disadvantages</vt:lpstr>
      <vt:lpstr>XML vs JSON</vt:lpstr>
      <vt:lpstr>Parsing XML</vt:lpstr>
      <vt:lpstr>LINQ-to-XML</vt:lpstr>
      <vt:lpstr>Reading XML</vt:lpstr>
      <vt:lpstr>Working with XDocument</vt:lpstr>
      <vt:lpstr>Working with XDocument</vt:lpstr>
      <vt:lpstr>Working with XDocument</vt:lpstr>
      <vt:lpstr>LINQ-to-XML - Searching with LINQ</vt:lpstr>
      <vt:lpstr>Creating XML with XElement</vt:lpstr>
      <vt:lpstr>Serializing XML to File</vt:lpstr>
      <vt:lpstr>Deserialize XML from String XML</vt:lpstr>
      <vt:lpstr>XML Attributes</vt:lpstr>
      <vt:lpstr>XML Attributes</vt:lpstr>
      <vt:lpstr>XML Attributes: Example</vt:lpstr>
      <vt:lpstr>Summary</vt:lpstr>
      <vt:lpstr>Trainings @ Software University (SoftUni)</vt:lpstr>
      <vt:lpstr>License</vt:lpstr>
    </vt:vector>
  </TitlesOfParts>
  <Company>SoftUni – https://about.softuni.bg/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XML Processing</dc:title>
  <dc:subject>Software Development Course</dc:subject>
  <dc:creator>Software University</dc:creator>
  <cp:keywords>Databases; SQL; programming; SoftUni; Software University; programming; software development; software engineering; course; database systems</cp:keywords>
  <dc:description>© SoftUni – https://about.softuni.bg/
© Software University – https://softuni.bg
Copyrighted document. Unauthorized copy, reproduction or use is not permitted.</dc:description>
  <cp:lastModifiedBy>Krasimir Tsanev</cp:lastModifiedBy>
  <cp:revision>88</cp:revision>
  <dcterms:created xsi:type="dcterms:W3CDTF">2018-05-23T13:08:44Z</dcterms:created>
  <dcterms:modified xsi:type="dcterms:W3CDTF">2025-10-13T06:04:33Z</dcterms:modified>
  <cp:category>db;databases;sql;programming;computer programming;software development</cp:category>
</cp:coreProperties>
</file>