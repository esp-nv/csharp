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4"/>
  </p:notesMasterIdLst>
  <p:handoutMasterIdLst>
    <p:handoutMasterId r:id="rId55"/>
  </p:handoutMasterIdLst>
  <p:sldIdLst>
    <p:sldId id="1486" r:id="rId2"/>
    <p:sldId id="1512" r:id="rId3"/>
    <p:sldId id="1487" r:id="rId4"/>
    <p:sldId id="1513" r:id="rId5"/>
    <p:sldId id="1514" r:id="rId6"/>
    <p:sldId id="1515" r:id="rId7"/>
    <p:sldId id="1516" r:id="rId8"/>
    <p:sldId id="1517" r:id="rId9"/>
    <p:sldId id="1518" r:id="rId10"/>
    <p:sldId id="1519" r:id="rId11"/>
    <p:sldId id="1520" r:id="rId12"/>
    <p:sldId id="1522" r:id="rId13"/>
    <p:sldId id="1521" r:id="rId14"/>
    <p:sldId id="1523" r:id="rId15"/>
    <p:sldId id="1524" r:id="rId16"/>
    <p:sldId id="1525" r:id="rId17"/>
    <p:sldId id="1526" r:id="rId18"/>
    <p:sldId id="1527" r:id="rId19"/>
    <p:sldId id="1529" r:id="rId20"/>
    <p:sldId id="1528" r:id="rId21"/>
    <p:sldId id="1530" r:id="rId22"/>
    <p:sldId id="1531" r:id="rId23"/>
    <p:sldId id="1533" r:id="rId24"/>
    <p:sldId id="1534" r:id="rId25"/>
    <p:sldId id="1535" r:id="rId26"/>
    <p:sldId id="1532" r:id="rId27"/>
    <p:sldId id="1554" r:id="rId28"/>
    <p:sldId id="1556" r:id="rId29"/>
    <p:sldId id="1540" r:id="rId30"/>
    <p:sldId id="1541" r:id="rId31"/>
    <p:sldId id="1542" r:id="rId32"/>
    <p:sldId id="1543" r:id="rId33"/>
    <p:sldId id="1544" r:id="rId34"/>
    <p:sldId id="1545" r:id="rId35"/>
    <p:sldId id="1549" r:id="rId36"/>
    <p:sldId id="1557" r:id="rId37"/>
    <p:sldId id="1558" r:id="rId38"/>
    <p:sldId id="1559" r:id="rId39"/>
    <p:sldId id="1562" r:id="rId40"/>
    <p:sldId id="1560" r:id="rId41"/>
    <p:sldId id="1561" r:id="rId42"/>
    <p:sldId id="1563" r:id="rId43"/>
    <p:sldId id="1564" r:id="rId44"/>
    <p:sldId id="1550" r:id="rId45"/>
    <p:sldId id="1565" r:id="rId46"/>
    <p:sldId id="1566" r:id="rId47"/>
    <p:sldId id="1567" r:id="rId48"/>
    <p:sldId id="1568" r:id="rId49"/>
    <p:sldId id="1569" r:id="rId50"/>
    <p:sldId id="1481" r:id="rId51"/>
    <p:sldId id="405" r:id="rId52"/>
    <p:sldId id="493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A0B75AE-A0EC-461D-A940-11E20058EE24}">
          <p14:sldIdLst>
            <p14:sldId id="1486"/>
            <p14:sldId id="1512"/>
            <p14:sldId id="1487"/>
          </p14:sldIdLst>
        </p14:section>
        <p14:section name="Migrations Overview" id="{AE2A77DC-EC6A-4F2D-96D6-905433AAE269}">
          <p14:sldIdLst>
            <p14:sldId id="1513"/>
            <p14:sldId id="1514"/>
            <p14:sldId id="1515"/>
            <p14:sldId id="1516"/>
            <p14:sldId id="1517"/>
            <p14:sldId id="1518"/>
            <p14:sldId id="1519"/>
            <p14:sldId id="1520"/>
          </p14:sldIdLst>
        </p14:section>
        <p14:section name="Applying Migrations" id="{85509E15-430C-41BC-9867-FB401F10AC27}">
          <p14:sldIdLst>
            <p14:sldId id="1522"/>
            <p14:sldId id="1521"/>
            <p14:sldId id="1523"/>
            <p14:sldId id="1524"/>
            <p14:sldId id="1525"/>
            <p14:sldId id="1526"/>
            <p14:sldId id="1527"/>
          </p14:sldIdLst>
        </p14:section>
        <p14:section name="Managing Migrations" id="{B8658653-54A3-4B83-AF60-7882D61D4518}">
          <p14:sldIdLst>
            <p14:sldId id="1529"/>
            <p14:sldId id="1528"/>
            <p14:sldId id="1530"/>
            <p14:sldId id="1531"/>
            <p14:sldId id="1533"/>
            <p14:sldId id="1534"/>
            <p14:sldId id="1535"/>
            <p14:sldId id="1532"/>
            <p14:sldId id="1554"/>
            <p14:sldId id="1556"/>
          </p14:sldIdLst>
        </p14:section>
        <p14:section name="Customize Migration Code" id="{0C16D86D-BF17-48E6-B8BE-39C955AAF591}">
          <p14:sldIdLst>
            <p14:sldId id="1540"/>
            <p14:sldId id="1541"/>
            <p14:sldId id="1542"/>
            <p14:sldId id="1543"/>
            <p14:sldId id="1544"/>
            <p14:sldId id="1545"/>
          </p14:sldIdLst>
        </p14:section>
        <p14:section name="Multiple Providers" id="{51EA14F4-1FE4-4519-9C62-580573A8FE93}">
          <p14:sldIdLst>
            <p14:sldId id="1549"/>
            <p14:sldId id="1557"/>
            <p14:sldId id="1558"/>
            <p14:sldId id="1559"/>
            <p14:sldId id="1562"/>
            <p14:sldId id="1560"/>
            <p14:sldId id="1561"/>
            <p14:sldId id="1563"/>
            <p14:sldId id="1564"/>
          </p14:sldIdLst>
        </p14:section>
        <p14:section name="Error Handling" id="{2A9498B4-E45A-4F67-B7E7-A0F12894E1A4}">
          <p14:sldIdLst>
            <p14:sldId id="1550"/>
            <p14:sldId id="1565"/>
            <p14:sldId id="1566"/>
            <p14:sldId id="1567"/>
            <p14:sldId id="1568"/>
            <p14:sldId id="1569"/>
          </p14:sldIdLst>
        </p14:section>
        <p14:section name="Conclusion" id="{78E038D3-80E0-42E8-8D02-5381240E63CC}">
          <p14:sldIdLst>
            <p14:sldId id="1481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100" y="7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B928F6B9-C413-4B06-9D86-E28D707DB0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53210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2E42D86-2804-4122-B967-32CC11BC1B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690145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D9B543A-0CC8-4AF1-A0A8-7ACC496A0E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45888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541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F651A10-01B3-456A-BFC7-1D5504E1C7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965408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8CAE642-487C-493F-BEB4-5179D17260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518764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B6ABFBC-FDD1-43E1-9692-DBAB91BB57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037500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s://softuni.org/" TargetMode="External"/><Relationship Id="rId9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23832" y="4399785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www.connectionstrings.com/microsoft-data-sqlclient/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nectionstrings.com/microsoft-data-sqlclient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5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Sync Db Schemas and Applications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Core Migrations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Software University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https://about.softuni.bg/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1"/>
              <a:t>SoftUni</a:t>
            </a:r>
            <a:r>
              <a:rPr lang="en-US"/>
              <a:t> Team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Technical Trainers</a:t>
            </a:r>
            <a:endParaRPr lang="en-US" dirty="0"/>
          </a:p>
        </p:txBody>
      </p:sp>
      <p:pic>
        <p:nvPicPr>
          <p:cNvPr id="3" name="Picture 2" descr="A close-up of several cylinders&#10;&#10;Description automatically generated">
            <a:extLst>
              <a:ext uri="{FF2B5EF4-FFF2-40B4-BE49-F238E27FC236}">
                <a16:creationId xmlns:a16="http://schemas.microsoft.com/office/drawing/2014/main" id="{48C57FF1-3547-9257-7A4C-303237EC82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125" y="1963695"/>
            <a:ext cx="5493750" cy="288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5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#csharp-</a:t>
            </a:r>
            <a:r>
              <a:rPr lang="en-US" sz="11500" b="1" dirty="0" err="1"/>
              <a:t>db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E26ABA7-0BA0-496A-AE70-CABDCBEA2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3044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ts val="4000"/>
              </a:lnSpc>
            </a:pPr>
            <a:r>
              <a:rPr lang="en-US" sz="3200" dirty="0"/>
              <a:t>Migrations Overview</a:t>
            </a:r>
          </a:p>
          <a:p>
            <a:pPr>
              <a:lnSpc>
                <a:spcPts val="4000"/>
              </a:lnSpc>
            </a:pPr>
            <a:r>
              <a:rPr lang="en-US" sz="3200" dirty="0"/>
              <a:t>Applying Migrations</a:t>
            </a:r>
          </a:p>
          <a:p>
            <a:pPr>
              <a:lnSpc>
                <a:spcPts val="4000"/>
              </a:lnSpc>
            </a:pPr>
            <a:r>
              <a:rPr lang="en-US" sz="3200" dirty="0"/>
              <a:t>Understanding the </a:t>
            </a:r>
            <a:r>
              <a:rPr lang="en-US" sz="3200" b="1" dirty="0">
                <a:solidFill>
                  <a:schemeClr val="bg1"/>
                </a:solidFill>
              </a:rPr>
              <a:t>Connection String</a:t>
            </a:r>
          </a:p>
          <a:p>
            <a:pPr>
              <a:lnSpc>
                <a:spcPts val="4000"/>
              </a:lnSpc>
            </a:pPr>
            <a:r>
              <a:rPr lang="en-US" sz="3200" dirty="0"/>
              <a:t>Managing Migrations</a:t>
            </a:r>
            <a:endParaRPr lang="bg-BG" sz="3200" dirty="0"/>
          </a:p>
          <a:p>
            <a:pPr>
              <a:lnSpc>
                <a:spcPts val="4000"/>
              </a:lnSpc>
            </a:pPr>
            <a:r>
              <a:rPr lang="en-US" sz="3200" dirty="0"/>
              <a:t>Customize </a:t>
            </a:r>
            <a:r>
              <a:rPr lang="en-US" sz="3200" b="1" dirty="0">
                <a:solidFill>
                  <a:schemeClr val="bg1"/>
                </a:solidFill>
              </a:rPr>
              <a:t>Migration Code</a:t>
            </a:r>
          </a:p>
          <a:p>
            <a:pPr>
              <a:lnSpc>
                <a:spcPts val="4000"/>
              </a:lnSpc>
            </a:pPr>
            <a:r>
              <a:rPr lang="en-US" sz="3200" dirty="0"/>
              <a:t>EF Core </a:t>
            </a:r>
            <a:r>
              <a:rPr lang="en-US" sz="3200" b="1" dirty="0">
                <a:solidFill>
                  <a:schemeClr val="bg1"/>
                </a:solidFill>
              </a:rPr>
              <a:t>Migration Commands</a:t>
            </a:r>
            <a:endParaRPr lang="en-US" sz="3200" b="1" noProof="1">
              <a:solidFill>
                <a:schemeClr val="bg1"/>
              </a:solidFill>
            </a:endParaRPr>
          </a:p>
          <a:p>
            <a:pPr>
              <a:lnSpc>
                <a:spcPts val="4000"/>
              </a:lnSpc>
            </a:pPr>
            <a:r>
              <a:rPr lang="en-US" sz="3200" noProof="1"/>
              <a:t>Multiple </a:t>
            </a:r>
            <a:r>
              <a:rPr lang="en-US" sz="3200" b="1" noProof="1">
                <a:solidFill>
                  <a:schemeClr val="bg1"/>
                </a:solidFill>
              </a:rPr>
              <a:t>Providers</a:t>
            </a:r>
          </a:p>
          <a:p>
            <a:pPr>
              <a:lnSpc>
                <a:spcPts val="4000"/>
              </a:lnSpc>
            </a:pPr>
            <a:r>
              <a:rPr lang="en-US" sz="3200" noProof="1"/>
              <a:t>Error Handling</a:t>
            </a:r>
            <a:endParaRPr lang="en-US" sz="2800" dirty="0"/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63AD597-1F15-43CC-8501-D1772848EA29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91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053C75-5071-473F-9C68-BEC7F1E07F7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Migrations Overview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C142070-9EC6-41A9-A571-AC9EB026FDF4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First Steps with Migrations</a:t>
            </a:r>
          </a:p>
        </p:txBody>
      </p:sp>
      <p:pic>
        <p:nvPicPr>
          <p:cNvPr id="14" name="Picture 13" descr="A circular sign with a couple of blue circles and arrows&#10;&#10;Description automatically generated">
            <a:extLst>
              <a:ext uri="{FF2B5EF4-FFF2-40B4-BE49-F238E27FC236}">
                <a16:creationId xmlns:a16="http://schemas.microsoft.com/office/drawing/2014/main" id="{BC8BD188-F2B6-9979-E5F0-6848B5C54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652" y="1179000"/>
            <a:ext cx="2980696" cy="298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2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72228-A3F2-625D-9D3D-5360AF313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1000" y="1121143"/>
            <a:ext cx="9724234" cy="5546589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Data models change </a:t>
            </a:r>
            <a:r>
              <a:rPr lang="en-US" dirty="0"/>
              <a:t>as features get implemented</a:t>
            </a:r>
          </a:p>
          <a:p>
            <a:pPr lvl="1"/>
            <a:r>
              <a:rPr lang="en-US" b="1" dirty="0"/>
              <a:t>Add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new entities </a:t>
            </a:r>
            <a:r>
              <a:rPr lang="en-US" dirty="0"/>
              <a:t>or </a:t>
            </a:r>
            <a:r>
              <a:rPr lang="en-US" b="1" dirty="0">
                <a:solidFill>
                  <a:schemeClr val="bg1"/>
                </a:solidFill>
              </a:rPr>
              <a:t>properties</a:t>
            </a:r>
          </a:p>
          <a:p>
            <a:pPr lvl="1"/>
            <a:r>
              <a:rPr lang="en-US" b="1" dirty="0"/>
              <a:t>Remove</a:t>
            </a:r>
            <a:r>
              <a:rPr lang="en-US" dirty="0"/>
              <a:t> entities, properties</a:t>
            </a:r>
          </a:p>
          <a:p>
            <a:r>
              <a:rPr lang="en-US" dirty="0"/>
              <a:t>Migrations feature in EF Core:</a:t>
            </a:r>
          </a:p>
          <a:p>
            <a:pPr lvl="1"/>
            <a:r>
              <a:rPr lang="en-US" dirty="0"/>
              <a:t>Allows to </a:t>
            </a:r>
            <a:r>
              <a:rPr lang="en-US" b="1" dirty="0">
                <a:solidFill>
                  <a:schemeClr val="bg1"/>
                </a:solidFill>
              </a:rPr>
              <a:t>update</a:t>
            </a:r>
            <a:r>
              <a:rPr lang="en-US" dirty="0"/>
              <a:t> the </a:t>
            </a:r>
            <a:r>
              <a:rPr lang="en-US" b="1" dirty="0">
                <a:solidFill>
                  <a:schemeClr val="bg1"/>
                </a:solidFill>
              </a:rPr>
              <a:t>db schema</a:t>
            </a:r>
          </a:p>
          <a:p>
            <a:pPr lvl="1"/>
            <a:r>
              <a:rPr lang="en-US" dirty="0"/>
              <a:t>Keeps the db schema in </a:t>
            </a:r>
            <a:r>
              <a:rPr lang="en-US" b="1" dirty="0">
                <a:solidFill>
                  <a:schemeClr val="bg1"/>
                </a:solidFill>
              </a:rPr>
              <a:t>sync with the data model</a:t>
            </a:r>
          </a:p>
          <a:p>
            <a:pPr lvl="1"/>
            <a:r>
              <a:rPr lang="en-US" b="1" dirty="0"/>
              <a:t>Protects</a:t>
            </a:r>
            <a:r>
              <a:rPr lang="en-US" dirty="0"/>
              <a:t> the </a:t>
            </a:r>
            <a:r>
              <a:rPr lang="en-US" b="1" dirty="0"/>
              <a:t>existing data </a:t>
            </a:r>
            <a:r>
              <a:rPr lang="en-US" dirty="0"/>
              <a:t>in the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E29DE1-F3C0-53A9-B46C-55C36EC9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Migrations in EF Core</a:t>
            </a:r>
          </a:p>
        </p:txBody>
      </p:sp>
    </p:spTree>
    <p:extLst>
      <p:ext uri="{BB962C8B-B14F-4D97-AF65-F5344CB8AC3E}">
        <p14:creationId xmlns:p14="http://schemas.microsoft.com/office/powerpoint/2010/main" val="187975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926BD3-54D4-5BB3-9BE4-E3F583407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1308E2-F193-AB28-D5E1-C3C01C52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Migrations Function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BF9F6B-7A4F-B64E-C78F-6715FD36FD6A}"/>
              </a:ext>
            </a:extLst>
          </p:cNvPr>
          <p:cNvSpPr/>
          <p:nvPr/>
        </p:nvSpPr>
        <p:spPr bwMode="auto">
          <a:xfrm>
            <a:off x="696000" y="3111431"/>
            <a:ext cx="3283375" cy="990000"/>
          </a:xfrm>
          <a:prstGeom prst="roundRect">
            <a:avLst/>
          </a:prstGeom>
          <a:solidFill>
            <a:srgbClr val="00B0F0">
              <a:alpha val="80000"/>
            </a:srgb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C762F0-83E9-C15B-E6EE-C853F41D83AB}"/>
              </a:ext>
            </a:extLst>
          </p:cNvPr>
          <p:cNvSpPr/>
          <p:nvPr/>
        </p:nvSpPr>
        <p:spPr bwMode="auto">
          <a:xfrm>
            <a:off x="696000" y="1519952"/>
            <a:ext cx="3285000" cy="495000"/>
          </a:xfrm>
          <a:prstGeom prst="roundRect">
            <a:avLst/>
          </a:prstGeom>
          <a:solidFill>
            <a:srgbClr val="FFFF00">
              <a:alpha val="80000"/>
            </a:srgb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 Introduced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D53017-243C-E801-68B7-DA7356D079D5}"/>
              </a:ext>
            </a:extLst>
          </p:cNvPr>
          <p:cNvSpPr/>
          <p:nvPr/>
        </p:nvSpPr>
        <p:spPr bwMode="auto">
          <a:xfrm>
            <a:off x="4701000" y="2706431"/>
            <a:ext cx="2002500" cy="1800000"/>
          </a:xfrm>
          <a:prstGeom prst="round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 Core Tools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E602F2-EE79-6118-ABE4-4F812AA96161}"/>
              </a:ext>
            </a:extLst>
          </p:cNvPr>
          <p:cNvSpPr/>
          <p:nvPr/>
        </p:nvSpPr>
        <p:spPr bwMode="auto">
          <a:xfrm>
            <a:off x="696000" y="5274000"/>
            <a:ext cx="3283375" cy="990000"/>
          </a:xfrm>
          <a:prstGeom prst="round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Snapshot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DE97BB-19E2-E06A-E095-CA7D2FB7FC80}"/>
              </a:ext>
            </a:extLst>
          </p:cNvPr>
          <p:cNvGrpSpPr/>
          <p:nvPr/>
        </p:nvGrpSpPr>
        <p:grpSpPr>
          <a:xfrm>
            <a:off x="8263499" y="1959174"/>
            <a:ext cx="3285001" cy="1237500"/>
            <a:chOff x="7310999" y="1519952"/>
            <a:chExt cx="3285001" cy="12375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DF3D915-B394-B6F3-84DE-B4985232076C}"/>
                </a:ext>
              </a:extLst>
            </p:cNvPr>
            <p:cNvSpPr/>
            <p:nvPr/>
          </p:nvSpPr>
          <p:spPr bwMode="auto">
            <a:xfrm>
              <a:off x="7311000" y="1519952"/>
              <a:ext cx="3285000" cy="495000"/>
            </a:xfrm>
            <a:prstGeom prst="roundRect">
              <a:avLst/>
            </a:prstGeom>
            <a:solidFill>
              <a:srgbClr val="00B050">
                <a:alpha val="80000"/>
              </a:srgb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00B24E7-4235-7F71-D4B6-8681FEECD131}"/>
                </a:ext>
              </a:extLst>
            </p:cNvPr>
            <p:cNvSpPr/>
            <p:nvPr/>
          </p:nvSpPr>
          <p:spPr bwMode="auto">
            <a:xfrm>
              <a:off x="7310999" y="1767452"/>
              <a:ext cx="3283375" cy="990000"/>
            </a:xfrm>
            <a:prstGeom prst="roundRect">
              <a:avLst/>
            </a:prstGeom>
            <a:solidFill>
              <a:srgbClr val="00B050">
                <a:alpha val="80000"/>
              </a:srgb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Edited Model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A60BCD2-5950-8D24-6D39-C9045743A00A}"/>
              </a:ext>
            </a:extLst>
          </p:cNvPr>
          <p:cNvSpPr/>
          <p:nvPr/>
        </p:nvSpPr>
        <p:spPr bwMode="auto">
          <a:xfrm>
            <a:off x="8263500" y="4284000"/>
            <a:ext cx="3283375" cy="990000"/>
          </a:xfrm>
          <a:prstGeom prst="round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Snapshot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2A17A3D-704A-DE86-28D9-212F17C00DED}"/>
              </a:ext>
            </a:extLst>
          </p:cNvPr>
          <p:cNvSpPr/>
          <p:nvPr/>
        </p:nvSpPr>
        <p:spPr bwMode="auto">
          <a:xfrm>
            <a:off x="4204976" y="3459578"/>
            <a:ext cx="340208" cy="293706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244CA53-0E85-50BC-7E83-6EFA720A5286}"/>
              </a:ext>
            </a:extLst>
          </p:cNvPr>
          <p:cNvSpPr/>
          <p:nvPr/>
        </p:nvSpPr>
        <p:spPr bwMode="auto">
          <a:xfrm>
            <a:off x="6919367" y="2701674"/>
            <a:ext cx="1215000" cy="27366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2F37414-E901-AF7F-8B5F-EB6BB58C0E6B}"/>
              </a:ext>
            </a:extLst>
          </p:cNvPr>
          <p:cNvSpPr/>
          <p:nvPr/>
        </p:nvSpPr>
        <p:spPr bwMode="auto">
          <a:xfrm>
            <a:off x="6919367" y="3310178"/>
            <a:ext cx="5075199" cy="64294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Compares Edited Model &amp; Snapshot</a:t>
            </a:r>
          </a:p>
        </p:txBody>
      </p:sp>
      <p:sp>
        <p:nvSpPr>
          <p:cNvPr id="25" name="Arrow: Bent 24">
            <a:extLst>
              <a:ext uri="{FF2B5EF4-FFF2-40B4-BE49-F238E27FC236}">
                <a16:creationId xmlns:a16="http://schemas.microsoft.com/office/drawing/2014/main" id="{C21290D7-E3A9-81FE-B48C-0BB965A27216}"/>
              </a:ext>
            </a:extLst>
          </p:cNvPr>
          <p:cNvSpPr/>
          <p:nvPr/>
        </p:nvSpPr>
        <p:spPr bwMode="auto">
          <a:xfrm rot="5400000" flipH="1">
            <a:off x="4193748" y="4776826"/>
            <a:ext cx="990000" cy="994348"/>
          </a:xfrm>
          <a:prstGeom prst="bentArrow">
            <a:avLst>
              <a:gd name="adj1" fmla="val 14134"/>
              <a:gd name="adj2" fmla="val 18514"/>
              <a:gd name="adj3" fmla="val 25000"/>
              <a:gd name="adj4" fmla="val 60874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Arrow: Bent 26">
            <a:extLst>
              <a:ext uri="{FF2B5EF4-FFF2-40B4-BE49-F238E27FC236}">
                <a16:creationId xmlns:a16="http://schemas.microsoft.com/office/drawing/2014/main" id="{EB06C756-C8A0-2966-932B-D0882585CB70}"/>
              </a:ext>
            </a:extLst>
          </p:cNvPr>
          <p:cNvSpPr/>
          <p:nvPr/>
        </p:nvSpPr>
        <p:spPr bwMode="auto">
          <a:xfrm rot="16200000" flipH="1" flipV="1">
            <a:off x="4312949" y="1556944"/>
            <a:ext cx="765000" cy="980946"/>
          </a:xfrm>
          <a:prstGeom prst="bentArrow">
            <a:avLst>
              <a:gd name="adj1" fmla="val 18285"/>
              <a:gd name="adj2" fmla="val 22146"/>
              <a:gd name="adj3" fmla="val 25000"/>
              <a:gd name="adj4" fmla="val 60874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DDF997C2-8C0A-C50A-6DFB-662AC47A3733}"/>
              </a:ext>
            </a:extLst>
          </p:cNvPr>
          <p:cNvSpPr/>
          <p:nvPr/>
        </p:nvSpPr>
        <p:spPr bwMode="auto">
          <a:xfrm>
            <a:off x="6919367" y="4232768"/>
            <a:ext cx="1215000" cy="27366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9230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6" grpId="0" animBg="1"/>
      <p:bldP spid="17" grpId="0" animBg="1"/>
      <p:bldP spid="18" grpId="0" animBg="1"/>
      <p:bldP spid="19" grpId="0" animBg="1"/>
      <p:bldP spid="25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926BD3-54D4-5BB3-9BE4-E3F583407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1308E2-F193-AB28-D5E1-C3C01C52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Migrations Function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6639F9-9031-304B-E4A8-B9D0D94C8E8E}"/>
              </a:ext>
            </a:extLst>
          </p:cNvPr>
          <p:cNvSpPr/>
          <p:nvPr/>
        </p:nvSpPr>
        <p:spPr bwMode="auto">
          <a:xfrm>
            <a:off x="471000" y="1344539"/>
            <a:ext cx="3915000" cy="1800000"/>
          </a:xfrm>
          <a:prstGeom prst="round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Differences Determined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D0FA1A3-80C7-6917-AAF1-6BBC6BFBA0BB}"/>
              </a:ext>
            </a:extLst>
          </p:cNvPr>
          <p:cNvSpPr/>
          <p:nvPr/>
        </p:nvSpPr>
        <p:spPr bwMode="auto">
          <a:xfrm>
            <a:off x="2091000" y="3280227"/>
            <a:ext cx="675000" cy="1043038"/>
          </a:xfrm>
          <a:prstGeom prst="down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Flowchart: Multidocument 5">
            <a:extLst>
              <a:ext uri="{FF2B5EF4-FFF2-40B4-BE49-F238E27FC236}">
                <a16:creationId xmlns:a16="http://schemas.microsoft.com/office/drawing/2014/main" id="{D94162AF-15A0-A732-68E8-24F47CCD08B1}"/>
              </a:ext>
            </a:extLst>
          </p:cNvPr>
          <p:cNvSpPr/>
          <p:nvPr/>
        </p:nvSpPr>
        <p:spPr bwMode="auto">
          <a:xfrm>
            <a:off x="471000" y="4461220"/>
            <a:ext cx="3915000" cy="2045780"/>
          </a:xfrm>
          <a:prstGeom prst="flowChartMultidocumen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Migration Source Files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C051493-8F34-65A5-9E5D-AAE2A69A28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1000" y="1199609"/>
            <a:ext cx="7127498" cy="5455891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Migrations Source Files</a:t>
            </a:r>
          </a:p>
          <a:p>
            <a:pPr lvl="1"/>
            <a:r>
              <a:rPr lang="en-US" dirty="0"/>
              <a:t>Can be tracked in the project</a:t>
            </a:r>
            <a:r>
              <a:rPr lang="bg-BG" dirty="0"/>
              <a:t>'</a:t>
            </a:r>
            <a:r>
              <a:rPr lang="en-US" dirty="0"/>
              <a:t>s </a:t>
            </a:r>
            <a:r>
              <a:rPr lang="en-US" b="1" dirty="0">
                <a:solidFill>
                  <a:schemeClr val="bg1"/>
                </a:solidFill>
              </a:rPr>
              <a:t>source control </a:t>
            </a:r>
            <a:r>
              <a:rPr lang="en-US" dirty="0"/>
              <a:t>like any other </a:t>
            </a:r>
            <a:br>
              <a:rPr lang="en-US" dirty="0"/>
            </a:br>
            <a:r>
              <a:rPr lang="en-US" dirty="0"/>
              <a:t>source file</a:t>
            </a:r>
          </a:p>
          <a:p>
            <a:r>
              <a:rPr lang="en-US" dirty="0"/>
              <a:t>Once a </a:t>
            </a:r>
            <a:r>
              <a:rPr lang="en-US" b="1" dirty="0">
                <a:solidFill>
                  <a:schemeClr val="bg1"/>
                </a:solidFill>
              </a:rPr>
              <a:t>Migration</a:t>
            </a:r>
            <a:r>
              <a:rPr lang="en-US" dirty="0"/>
              <a:t> has been </a:t>
            </a:r>
            <a:r>
              <a:rPr lang="en-US" b="1" dirty="0"/>
              <a:t>generated</a:t>
            </a:r>
            <a:r>
              <a:rPr lang="en-US" dirty="0"/>
              <a:t>, it can be </a:t>
            </a:r>
            <a:r>
              <a:rPr lang="en-US" b="1" dirty="0"/>
              <a:t>applied</a:t>
            </a:r>
            <a:r>
              <a:rPr lang="en-US" dirty="0"/>
              <a:t> to a database in various ways</a:t>
            </a:r>
          </a:p>
          <a:p>
            <a:r>
              <a:rPr lang="en-US" dirty="0"/>
              <a:t>EF Core </a:t>
            </a:r>
            <a:r>
              <a:rPr lang="en-US" b="1" dirty="0">
                <a:solidFill>
                  <a:schemeClr val="bg1"/>
                </a:solidFill>
              </a:rPr>
              <a:t>records all applied migrations </a:t>
            </a:r>
            <a:r>
              <a:rPr lang="en-US" dirty="0"/>
              <a:t>in  a </a:t>
            </a:r>
            <a:r>
              <a:rPr lang="en-US" b="1" dirty="0"/>
              <a:t>history table</a:t>
            </a:r>
          </a:p>
        </p:txBody>
      </p:sp>
    </p:spTree>
    <p:extLst>
      <p:ext uri="{BB962C8B-B14F-4D97-AF65-F5344CB8AC3E}">
        <p14:creationId xmlns:p14="http://schemas.microsoft.com/office/powerpoint/2010/main" val="87036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EB5525-A7EB-A3C7-4767-9DEB5E972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972C0-9ACC-54BE-2AAC-3B952E9C3F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Manage </a:t>
            </a:r>
            <a:r>
              <a:rPr lang="en-US" b="1" dirty="0"/>
              <a:t>NuGet Packages</a:t>
            </a:r>
            <a:r>
              <a:rPr lang="en-US" dirty="0"/>
              <a:t>		EntityFrameworkCore.Tools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a conceptual </a:t>
            </a:r>
            <a:r>
              <a:rPr lang="en-US" b="1" dirty="0">
                <a:solidFill>
                  <a:schemeClr val="bg1"/>
                </a:solidFill>
              </a:rPr>
              <a:t>model from an existing database</a:t>
            </a:r>
          </a:p>
          <a:p>
            <a:pPr lvl="1"/>
            <a:r>
              <a:rPr lang="en-US" dirty="0"/>
              <a:t>Then graphically visualize and edit your conceptual model</a:t>
            </a:r>
          </a:p>
          <a:p>
            <a:r>
              <a:rPr lang="en-US" dirty="0"/>
              <a:t>Graphically create a conceptual </a:t>
            </a:r>
            <a:r>
              <a:rPr lang="en-US" b="1" dirty="0">
                <a:solidFill>
                  <a:schemeClr val="bg1"/>
                </a:solidFill>
              </a:rPr>
              <a:t>model first</a:t>
            </a:r>
          </a:p>
          <a:p>
            <a:pPr lvl="1"/>
            <a:r>
              <a:rPr lang="en-US" dirty="0"/>
              <a:t>Then generate a database that supports your model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3117F3-E84E-C21C-D184-A625E93C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EntityFrameworkCore.Tools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26B87E-3590-B205-7378-179F54C35203}"/>
              </a:ext>
            </a:extLst>
          </p:cNvPr>
          <p:cNvCxnSpPr/>
          <p:nvPr/>
        </p:nvCxnSpPr>
        <p:spPr>
          <a:xfrm>
            <a:off x="5421000" y="1539000"/>
            <a:ext cx="675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8AAEB6C-8F71-2DD2-B4C8-AEC1C58F2B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75"/>
          <a:stretch/>
        </p:blipFill>
        <p:spPr>
          <a:xfrm>
            <a:off x="741000" y="2069766"/>
            <a:ext cx="8907118" cy="9952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82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79A4A1-F2FD-6320-D829-C236D4490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A91C6-DE73-C545-1129-975643D8C2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Start the </a:t>
            </a:r>
            <a:r>
              <a:rPr lang="en-US" b="1" dirty="0">
                <a:solidFill>
                  <a:schemeClr val="bg1"/>
                </a:solidFill>
              </a:rPr>
              <a:t>MigrationsDemo</a:t>
            </a:r>
            <a:r>
              <a:rPr lang="en-US" b="1" dirty="0"/>
              <a:t> </a:t>
            </a:r>
            <a:r>
              <a:rPr lang="en-US" dirty="0"/>
              <a:t>project in Visual Studio</a:t>
            </a:r>
          </a:p>
          <a:p>
            <a:r>
              <a:rPr lang="en-US" b="1" dirty="0"/>
              <a:t>EFCore.Tools is added </a:t>
            </a:r>
            <a:r>
              <a:rPr lang="en-US" dirty="0"/>
              <a:t>to your </a:t>
            </a:r>
            <a:r>
              <a:rPr lang="en-US" b="1" dirty="0">
                <a:solidFill>
                  <a:schemeClr val="bg1"/>
                </a:solidFill>
              </a:rPr>
              <a:t>MigrationsDemo</a:t>
            </a:r>
            <a:r>
              <a:rPr lang="en-US" dirty="0"/>
              <a:t> project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58FE03-BC49-3F43-ADE5-8649A36E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Migration – NuGet Packages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20A0C6-C3BD-683B-443C-8921C4E97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00" y="2571220"/>
            <a:ext cx="7455000" cy="39357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212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6FA2DD-6155-9130-6AD8-C7DE529CF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99AFD-7DB9-8C43-1B11-34B26AE522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Add a migration </a:t>
            </a:r>
            <a:r>
              <a:rPr lang="en-US" dirty="0"/>
              <a:t>to the project</a:t>
            </a:r>
          </a:p>
          <a:p>
            <a:r>
              <a:rPr lang="en-US" dirty="0"/>
              <a:t>Run the command shown</a:t>
            </a:r>
          </a:p>
          <a:p>
            <a:pPr lvl="1"/>
            <a:r>
              <a:rPr lang="en-US" dirty="0"/>
              <a:t>A migration will be </a:t>
            </a:r>
            <a:r>
              <a:rPr lang="en-US" b="1" dirty="0">
                <a:solidFill>
                  <a:schemeClr val="bg1"/>
                </a:solidFill>
              </a:rPr>
              <a:t>created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applied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E12333-194D-742B-13F7-073E09F3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 Migration – Package Manager Console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AB358C-B517-8806-E33D-4BCD2C5BB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006" y="1314000"/>
            <a:ext cx="5294377" cy="31432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5706EF-289B-1259-1BF2-5F0DD65D9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41" y="4026098"/>
            <a:ext cx="5734850" cy="2629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474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591AE6-0744-23B2-A9EE-BFD422EA5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1F163-9864-378B-3F15-4A5DB70B71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Each Migration typically </a:t>
            </a:r>
            <a:r>
              <a:rPr lang="en-US" b="1" dirty="0"/>
              <a:t>generates two main files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Migration Class File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Model Snapshot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B75C81-DFFF-6B70-B3E3-E298B315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Migration – Migration Source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A886FC-6B31-A93F-D985-27B6EE99BD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951"/>
          <a:stretch/>
        </p:blipFill>
        <p:spPr>
          <a:xfrm>
            <a:off x="4598030" y="1989000"/>
            <a:ext cx="7155000" cy="166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720F80-B20B-3DBF-BBA2-38FFFB216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030" y="3819048"/>
            <a:ext cx="7156321" cy="25902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805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AD54FD48-6AC6-E81D-B10B-01BA0945EB1D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Database Update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9FD8D9-CFC9-48B3-3A82-ED4A686CD25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Applying Migrations</a:t>
            </a:r>
          </a:p>
        </p:txBody>
      </p:sp>
      <p:pic>
        <p:nvPicPr>
          <p:cNvPr id="7" name="Picture 6" descr="A blue symbol of a stack of blue cylinders&#10;&#10;Description automatically generated with medium confidence">
            <a:extLst>
              <a:ext uri="{FF2B5EF4-FFF2-40B4-BE49-F238E27FC236}">
                <a16:creationId xmlns:a16="http://schemas.microsoft.com/office/drawing/2014/main" id="{091A2792-CCE9-D49C-4138-512483394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892" y="1539000"/>
            <a:ext cx="2280216" cy="228021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5949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935692-A8DE-BC42-790D-4FE603841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27B7F-9F1B-2F9A-9C7C-85CD5C5335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'</a:t>
            </a:r>
            <a:r>
              <a:rPr lang="en-US" b="1" dirty="0">
                <a:solidFill>
                  <a:schemeClr val="bg1"/>
                </a:solidFill>
              </a:rPr>
              <a:t>update-database</a:t>
            </a:r>
            <a:r>
              <a:rPr lang="en-US" dirty="0"/>
              <a:t>' ?</a:t>
            </a:r>
          </a:p>
          <a:p>
            <a:pPr lvl="1"/>
            <a:r>
              <a:rPr lang="en-US" dirty="0"/>
              <a:t>The '</a:t>
            </a:r>
            <a:r>
              <a:rPr lang="en-US" b="1" dirty="0">
                <a:solidFill>
                  <a:schemeClr val="bg1"/>
                </a:solidFill>
              </a:rPr>
              <a:t>update-database</a:t>
            </a:r>
            <a:r>
              <a:rPr lang="en-US" dirty="0"/>
              <a:t>' command in Entity Framework Core </a:t>
            </a:r>
            <a:r>
              <a:rPr lang="en-US" b="1" dirty="0"/>
              <a:t>applies any pending migrations </a:t>
            </a:r>
            <a:r>
              <a:rPr lang="en-US" dirty="0"/>
              <a:t>to the database</a:t>
            </a:r>
          </a:p>
          <a:p>
            <a:pPr lvl="1"/>
            <a:r>
              <a:rPr lang="en-US" dirty="0"/>
              <a:t>It ensures that the </a:t>
            </a:r>
            <a:r>
              <a:rPr lang="en-US" b="1" dirty="0">
                <a:solidFill>
                  <a:schemeClr val="bg1"/>
                </a:solidFill>
              </a:rPr>
              <a:t>database schema </a:t>
            </a:r>
            <a:r>
              <a:rPr lang="en-US" b="1" dirty="0"/>
              <a:t>matches the current state </a:t>
            </a:r>
            <a:r>
              <a:rPr lang="en-US" dirty="0"/>
              <a:t>of the </a:t>
            </a:r>
            <a:r>
              <a:rPr lang="en-US" b="1" dirty="0">
                <a:solidFill>
                  <a:schemeClr val="bg1"/>
                </a:solidFill>
              </a:rPr>
              <a:t>EF Core model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86EE22-E053-8781-7E4C-A71EBDBA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Update</a:t>
            </a:r>
          </a:p>
        </p:txBody>
      </p:sp>
      <p:pic>
        <p:nvPicPr>
          <p:cNvPr id="6" name="Picture 5" descr="A diagram of a database migration&#10;&#10;Description automatically generated">
            <a:extLst>
              <a:ext uri="{FF2B5EF4-FFF2-40B4-BE49-F238E27FC236}">
                <a16:creationId xmlns:a16="http://schemas.microsoft.com/office/drawing/2014/main" id="{9F4F3052-D14B-3F04-EE52-7B82624638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36" b="4971"/>
          <a:stretch/>
        </p:blipFill>
        <p:spPr>
          <a:xfrm>
            <a:off x="2395500" y="4294348"/>
            <a:ext cx="7401000" cy="2212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962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64FFC0-A708-2848-E22E-141AC950A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E8EC3E-1692-3A72-B544-B6348D8E9C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dirty="0"/>
              <a:t>Checks Migration History</a:t>
            </a:r>
          </a:p>
          <a:p>
            <a:pPr lvl="1"/>
            <a:r>
              <a:rPr lang="en-US" sz="3000" dirty="0"/>
              <a:t>Compares the </a:t>
            </a:r>
            <a:r>
              <a:rPr lang="en-US" sz="3000" b="1" dirty="0"/>
              <a:t>applied migrations </a:t>
            </a:r>
            <a:r>
              <a:rPr lang="en-US" sz="3000" dirty="0"/>
              <a:t>(recorded in '</a:t>
            </a:r>
            <a:r>
              <a:rPr lang="en-US" sz="3000" b="1" dirty="0">
                <a:solidFill>
                  <a:schemeClr val="bg1"/>
                </a:solidFill>
              </a:rPr>
              <a:t>__EFMigrationsHistory</a:t>
            </a:r>
            <a:r>
              <a:rPr lang="en-US" sz="3000" dirty="0"/>
              <a:t>' table) with </a:t>
            </a:r>
            <a:r>
              <a:rPr lang="en-US" sz="3000" b="1" dirty="0"/>
              <a:t>available migrations</a:t>
            </a:r>
          </a:p>
          <a:p>
            <a:r>
              <a:rPr lang="en-US" sz="3200" b="1" dirty="0"/>
              <a:t>Generates SQL</a:t>
            </a:r>
          </a:p>
          <a:p>
            <a:pPr lvl="1">
              <a:buClr>
                <a:schemeClr val="tx1"/>
              </a:buClr>
            </a:pPr>
            <a:r>
              <a:rPr lang="en-US" sz="3000" b="1" dirty="0">
                <a:solidFill>
                  <a:schemeClr val="bg1"/>
                </a:solidFill>
              </a:rPr>
              <a:t>Creates SQL scripts </a:t>
            </a:r>
            <a:r>
              <a:rPr lang="en-US" sz="3000" dirty="0"/>
              <a:t>based on the '</a:t>
            </a:r>
            <a:r>
              <a:rPr lang="en-US" sz="3000" b="1" dirty="0">
                <a:solidFill>
                  <a:schemeClr val="bg1"/>
                </a:solidFill>
              </a:rPr>
              <a:t>Up</a:t>
            </a:r>
            <a:r>
              <a:rPr lang="en-US" sz="3000" dirty="0"/>
              <a:t>' </a:t>
            </a:r>
            <a:r>
              <a:rPr lang="en-US" sz="3000" b="1" dirty="0"/>
              <a:t>methods</a:t>
            </a:r>
            <a:r>
              <a:rPr lang="en-US" sz="3000" dirty="0"/>
              <a:t> in </a:t>
            </a:r>
            <a:br>
              <a:rPr lang="en-US" sz="3000" dirty="0"/>
            </a:br>
            <a:r>
              <a:rPr lang="en-US" sz="3000" b="1" dirty="0"/>
              <a:t>pending migrations</a:t>
            </a:r>
          </a:p>
          <a:p>
            <a:r>
              <a:rPr lang="en-US" sz="3200" b="1" dirty="0"/>
              <a:t>Executes SQL</a:t>
            </a:r>
          </a:p>
          <a:p>
            <a:pPr lvl="1">
              <a:buClr>
                <a:schemeClr val="tx1"/>
              </a:buClr>
            </a:pPr>
            <a:r>
              <a:rPr lang="en-US" sz="3000" b="1" dirty="0">
                <a:solidFill>
                  <a:schemeClr val="bg1"/>
                </a:solidFill>
              </a:rPr>
              <a:t>Runs the SQL scripts </a:t>
            </a:r>
            <a:r>
              <a:rPr lang="en-US" sz="3000" dirty="0"/>
              <a:t>to </a:t>
            </a:r>
            <a:r>
              <a:rPr lang="en-US" sz="3000" b="1" dirty="0"/>
              <a:t>update the database </a:t>
            </a:r>
            <a:r>
              <a:rPr lang="en-US" sz="3000" dirty="0"/>
              <a:t>schema</a:t>
            </a:r>
          </a:p>
          <a:p>
            <a:r>
              <a:rPr lang="en-US" sz="3200" b="1" dirty="0"/>
              <a:t>Updates History</a:t>
            </a:r>
          </a:p>
          <a:p>
            <a:pPr lvl="1"/>
            <a:r>
              <a:rPr lang="en-US" sz="3000" b="1" dirty="0"/>
              <a:t>Records the applied migrations </a:t>
            </a:r>
            <a:r>
              <a:rPr lang="en-US" sz="3000" dirty="0"/>
              <a:t>in the '</a:t>
            </a:r>
            <a:r>
              <a:rPr lang="en-US" sz="3000" b="1" dirty="0">
                <a:solidFill>
                  <a:schemeClr val="bg1"/>
                </a:solidFill>
              </a:rPr>
              <a:t>__EFMigrationsHistory</a:t>
            </a:r>
            <a:r>
              <a:rPr lang="en-US" sz="3000" dirty="0"/>
              <a:t>' table to </a:t>
            </a:r>
            <a:r>
              <a:rPr lang="en-US" sz="3000" b="1" dirty="0"/>
              <a:t>avoid reapplying </a:t>
            </a:r>
            <a:r>
              <a:rPr lang="en-US" sz="3000" dirty="0"/>
              <a:t>them</a:t>
            </a:r>
            <a:endParaRPr lang="en-US" sz="30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BD1DB2-077B-BE85-9753-A7041C38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Works?</a:t>
            </a:r>
          </a:p>
        </p:txBody>
      </p:sp>
    </p:spTree>
    <p:extLst>
      <p:ext uri="{BB962C8B-B14F-4D97-AF65-F5344CB8AC3E}">
        <p14:creationId xmlns:p14="http://schemas.microsoft.com/office/powerpoint/2010/main" val="278003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22CA16-44DB-7BFC-58D4-5DF153DAD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E60DC-9161-D77C-9B45-CEEC5F4BEC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bg1"/>
                </a:solidFill>
              </a:rPr>
              <a:t>Connection String </a:t>
            </a:r>
            <a:r>
              <a:rPr lang="en-US" dirty="0"/>
              <a:t>is a string that specifies information about a data source and the means of connecting to it</a:t>
            </a:r>
          </a:p>
          <a:p>
            <a:r>
              <a:rPr lang="en-US" dirty="0"/>
              <a:t>It includes details such as the </a:t>
            </a:r>
            <a:r>
              <a:rPr lang="en-US" b="1" dirty="0">
                <a:solidFill>
                  <a:schemeClr val="bg1"/>
                </a:solidFill>
              </a:rPr>
              <a:t>database server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database name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authentication credentials</a:t>
            </a:r>
            <a:r>
              <a:rPr lang="en-US" dirty="0"/>
              <a:t>, and other configuration settings…</a:t>
            </a:r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DD22BB-E24A-F8BA-E8D2-BC9D0F2A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Connection String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E3785F95-2629-B2BA-33FD-A64AFF7392AF}"/>
              </a:ext>
            </a:extLst>
          </p:cNvPr>
          <p:cNvSpPr/>
          <p:nvPr/>
        </p:nvSpPr>
        <p:spPr bwMode="auto">
          <a:xfrm>
            <a:off x="876000" y="5713393"/>
            <a:ext cx="1845000" cy="675000"/>
          </a:xfrm>
          <a:prstGeom prst="wedgeRoundRectCallout">
            <a:avLst>
              <a:gd name="adj1" fmla="val 59356"/>
              <a:gd name="adj2" fmla="val -5622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 Server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CFA2A064-4599-90D2-B790-60BF2BDEC7F9}"/>
              </a:ext>
            </a:extLst>
          </p:cNvPr>
          <p:cNvSpPr/>
          <p:nvPr/>
        </p:nvSpPr>
        <p:spPr bwMode="auto">
          <a:xfrm>
            <a:off x="5519749" y="5713393"/>
            <a:ext cx="1845000" cy="675000"/>
          </a:xfrm>
          <a:prstGeom prst="wedgeRoundRectCallout">
            <a:avLst>
              <a:gd name="adj1" fmla="val -62040"/>
              <a:gd name="adj2" fmla="val -5622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 Name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1D7442E-7C6B-9176-87AF-95AF9BEACDBE}"/>
              </a:ext>
            </a:extLst>
          </p:cNvPr>
          <p:cNvSpPr/>
          <p:nvPr/>
        </p:nvSpPr>
        <p:spPr bwMode="auto">
          <a:xfrm>
            <a:off x="8903221" y="5713393"/>
            <a:ext cx="2107500" cy="675000"/>
          </a:xfrm>
          <a:prstGeom prst="wedgeRoundRectCallout">
            <a:avLst>
              <a:gd name="adj1" fmla="val -58086"/>
              <a:gd name="adj2" fmla="val -5470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Credentials</a:t>
            </a:r>
          </a:p>
        </p:txBody>
      </p:sp>
      <p:pic>
        <p:nvPicPr>
          <p:cNvPr id="12" name="Picture 11">
            <a:hlinkClick r:id="rId2"/>
            <a:extLst>
              <a:ext uri="{FF2B5EF4-FFF2-40B4-BE49-F238E27FC236}">
                <a16:creationId xmlns:a16="http://schemas.microsoft.com/office/drawing/2014/main" id="{8949D754-D016-1BD0-BD19-EB0E5A0E9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20" y="4329000"/>
            <a:ext cx="10640910" cy="1047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821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526FF5-DDFF-A4B7-DC36-DD0ABEBE7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AAB017-17B6-5DD0-E53A-E52EA2FAD6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1000" y="1121143"/>
            <a:ext cx="10174236" cy="554658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</a:rPr>
              <a:t>Server</a:t>
            </a:r>
          </a:p>
          <a:p>
            <a:pPr lvl="1">
              <a:buClr>
                <a:schemeClr val="tx1"/>
              </a:buClr>
            </a:pPr>
            <a:r>
              <a:rPr lang="en-US" sz="3000" dirty="0"/>
              <a:t>The </a:t>
            </a:r>
            <a:r>
              <a:rPr lang="en-US" sz="3000" b="1" dirty="0"/>
              <a:t>name or network address </a:t>
            </a:r>
            <a:r>
              <a:rPr lang="en-US" sz="3000" dirty="0"/>
              <a:t>of the </a:t>
            </a:r>
            <a:r>
              <a:rPr lang="en-US" sz="3000" b="1" dirty="0"/>
              <a:t>SQL Server </a:t>
            </a:r>
            <a:r>
              <a:rPr lang="en-US" sz="3000" dirty="0"/>
              <a:t>instance (e.g., (localhost)\\mssqllocaldb)</a:t>
            </a:r>
          </a:p>
          <a:p>
            <a:pPr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</a:rPr>
              <a:t>Database</a:t>
            </a:r>
          </a:p>
          <a:p>
            <a:pPr lvl="1">
              <a:buClr>
                <a:schemeClr val="tx1"/>
              </a:buClr>
            </a:pPr>
            <a:r>
              <a:rPr lang="en-US" sz="3000" dirty="0"/>
              <a:t>The </a:t>
            </a:r>
            <a:r>
              <a:rPr lang="en-US" sz="3000" b="1" dirty="0"/>
              <a:t>name of the database</a:t>
            </a:r>
            <a:r>
              <a:rPr lang="en-US" sz="3000" dirty="0"/>
              <a:t> to connect to (e.g., School)</a:t>
            </a:r>
          </a:p>
          <a:p>
            <a:pPr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</a:rPr>
              <a:t>Authentication Details</a:t>
            </a:r>
          </a:p>
          <a:p>
            <a:pPr lvl="1">
              <a:lnSpc>
                <a:spcPct val="115000"/>
              </a:lnSpc>
              <a:buClr>
                <a:schemeClr val="tx1"/>
              </a:buClr>
            </a:pPr>
            <a:r>
              <a:rPr lang="en-US" sz="3000" dirty="0"/>
              <a:t>Specify the </a:t>
            </a:r>
            <a:r>
              <a:rPr lang="en-US" sz="3000" b="1" dirty="0"/>
              <a:t>use of Authentication</a:t>
            </a:r>
            <a:endParaRPr lang="en-US" sz="3000" dirty="0"/>
          </a:p>
          <a:p>
            <a:pPr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</a:rPr>
              <a:t>Other settings </a:t>
            </a:r>
            <a:r>
              <a:rPr lang="en-US" sz="3000" dirty="0"/>
              <a:t>to </a:t>
            </a:r>
            <a:r>
              <a:rPr lang="en-US" sz="3000" b="1" dirty="0"/>
              <a:t>communicate</a:t>
            </a:r>
            <a:r>
              <a:rPr lang="en-US" sz="3000" dirty="0"/>
              <a:t> with the db server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402C53-2F92-2A78-E559-4EA08FFC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String Components</a:t>
            </a:r>
          </a:p>
        </p:txBody>
      </p:sp>
    </p:spTree>
    <p:extLst>
      <p:ext uri="{BB962C8B-B14F-4D97-AF65-F5344CB8AC3E}">
        <p14:creationId xmlns:p14="http://schemas.microsoft.com/office/powerpoint/2010/main" val="23121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9AA74B-093B-A2AF-6849-993F859F3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96EF92-C175-93C0-661E-C74C5830DB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Connection String </a:t>
            </a:r>
            <a:r>
              <a:rPr lang="en-US" dirty="0"/>
              <a:t>could be defined in the </a:t>
            </a:r>
            <a:br>
              <a:rPr lang="en-US" dirty="0"/>
            </a:br>
            <a:r>
              <a:rPr lang="en-US" dirty="0"/>
              <a:t>'</a:t>
            </a:r>
            <a:r>
              <a:rPr lang="en-US" b="1" dirty="0"/>
              <a:t>OnConfiguring' method</a:t>
            </a:r>
            <a:r>
              <a:rPr lang="en-US" dirty="0"/>
              <a:t> of the </a:t>
            </a:r>
            <a:r>
              <a:rPr lang="en-US" b="1" dirty="0">
                <a:solidFill>
                  <a:schemeClr val="bg1"/>
                </a:solidFill>
              </a:rPr>
              <a:t>DbContext </a:t>
            </a:r>
            <a:r>
              <a:rPr lang="en-US" dirty="0"/>
              <a:t>class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42CC7D-7BE7-2EF8-5538-8F0A2CF1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Connection String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913184-FF33-04A5-9963-61241A198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05" y="3094212"/>
            <a:ext cx="8840434" cy="2210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hlinkClick r:id="rId3"/>
            <a:extLst>
              <a:ext uri="{FF2B5EF4-FFF2-40B4-BE49-F238E27FC236}">
                <a16:creationId xmlns:a16="http://schemas.microsoft.com/office/drawing/2014/main" id="{6CC49989-B781-62F2-63CF-BCFBF8A951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22"/>
          <a:stretch/>
        </p:blipFill>
        <p:spPr>
          <a:xfrm>
            <a:off x="723150" y="5441389"/>
            <a:ext cx="9602850" cy="10535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944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89A81C-A51F-2AD3-20F3-072D80B04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E02FE-B373-7060-E69F-9D47C91E53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Type the  '</a:t>
            </a:r>
            <a:r>
              <a:rPr lang="en-US" b="1" dirty="0">
                <a:solidFill>
                  <a:schemeClr val="bg1"/>
                </a:solidFill>
              </a:rPr>
              <a:t>update-database</a:t>
            </a:r>
            <a:r>
              <a:rPr lang="en-US" dirty="0"/>
              <a:t>' command (case insensitive)</a:t>
            </a:r>
          </a:p>
          <a:p>
            <a:r>
              <a:rPr lang="en-US" dirty="0"/>
              <a:t>Press '</a:t>
            </a:r>
            <a:r>
              <a:rPr lang="en-US" b="1" dirty="0">
                <a:solidFill>
                  <a:schemeClr val="bg1"/>
                </a:solidFill>
              </a:rPr>
              <a:t>Enter</a:t>
            </a:r>
            <a:r>
              <a:rPr lang="en-US" dirty="0"/>
              <a:t>'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will </a:t>
            </a:r>
            <a:r>
              <a:rPr lang="en-US" b="1" dirty="0"/>
              <a:t>apply any </a:t>
            </a:r>
            <a:r>
              <a:rPr lang="en-US" b="1" dirty="0">
                <a:solidFill>
                  <a:schemeClr val="bg1"/>
                </a:solidFill>
              </a:rPr>
              <a:t>pending</a:t>
            </a:r>
            <a:r>
              <a:rPr lang="en-US" b="1" dirty="0"/>
              <a:t> migrations </a:t>
            </a:r>
            <a:br>
              <a:rPr lang="en-US" dirty="0"/>
            </a:br>
            <a:r>
              <a:rPr lang="en-US" dirty="0"/>
              <a:t>to the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8E401D-4A90-AFEF-315B-FA977C5D8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'Update-Database' Command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3A9F35-5210-18D0-9250-EBDD4A4C3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00" y="2703964"/>
            <a:ext cx="4058216" cy="1667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76FE3A-D0E2-0857-9B75-C6FDB4608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844" y="1884700"/>
            <a:ext cx="4420217" cy="24863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673778-54E6-A78F-D010-C270CA04F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682" y="3833920"/>
            <a:ext cx="3180758" cy="2673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033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BA977697-D52A-CD04-C85B-3888AEF557D9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Evolving the Models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97B4C4-F0AD-2612-773D-6C0A8404228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Managing Migrations</a:t>
            </a:r>
          </a:p>
        </p:txBody>
      </p:sp>
      <p:pic>
        <p:nvPicPr>
          <p:cNvPr id="8" name="Picture 7" descr="A group of origami birds&#10;&#10;Description automatically generated">
            <a:extLst>
              <a:ext uri="{FF2B5EF4-FFF2-40B4-BE49-F238E27FC236}">
                <a16:creationId xmlns:a16="http://schemas.microsoft.com/office/drawing/2014/main" id="{2A9C73F7-67C8-EDC7-5221-83EFE5CCC4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0" b="10780"/>
          <a:stretch/>
        </p:blipFill>
        <p:spPr>
          <a:xfrm>
            <a:off x="4306705" y="864000"/>
            <a:ext cx="3578589" cy="3555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2111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9C87ED-ACA2-839B-7700-0B3656674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26556-E11E-9CFC-AF5C-88242AF325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Evolve the </a:t>
            </a:r>
            <a:r>
              <a:rPr lang="en-US" b="1" dirty="0">
                <a:solidFill>
                  <a:schemeClr val="bg1"/>
                </a:solidFill>
              </a:rPr>
              <a:t>Student </a:t>
            </a:r>
            <a:r>
              <a:rPr lang="en-US" dirty="0"/>
              <a:t>model </a:t>
            </a:r>
            <a:r>
              <a:rPr lang="en-US" b="1" dirty="0"/>
              <a:t>by adding a new property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Open the Student class file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Add a </a:t>
            </a:r>
            <a:r>
              <a:rPr lang="en-US" b="1" dirty="0">
                <a:solidFill>
                  <a:schemeClr val="bg1"/>
                </a:solidFill>
              </a:rPr>
              <a:t>new property </a:t>
            </a:r>
            <a:r>
              <a:rPr lang="en-US" b="1" dirty="0"/>
              <a:t>Email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990FDA-EF36-49DB-B48A-B4DE08AE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Evolving the Model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F79684-9283-D90E-EF24-507C07C79BA8}"/>
              </a:ext>
            </a:extLst>
          </p:cNvPr>
          <p:cNvGrpSpPr/>
          <p:nvPr/>
        </p:nvGrpSpPr>
        <p:grpSpPr>
          <a:xfrm>
            <a:off x="5781000" y="2056712"/>
            <a:ext cx="6089852" cy="2744575"/>
            <a:chOff x="4388941" y="2469637"/>
            <a:chExt cx="7097116" cy="298174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C48DA7-14F8-F3B8-5A3F-62860CD9B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88941" y="2469637"/>
              <a:ext cx="4182059" cy="215295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D8F3E31-9BC0-C3AC-FA04-F74C73661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1000" y="2469637"/>
              <a:ext cx="2915057" cy="298174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8675FDC-D285-7BF0-4BFF-98A08CA72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000" y="4041917"/>
            <a:ext cx="4074649" cy="26135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610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B9B9DC-B744-0C3F-F5E9-AAFD044B2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E8392-E5AA-8896-0C7B-AF3C819FA9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Open the Package Manager Console in Visual Studio</a:t>
            </a:r>
          </a:p>
          <a:p>
            <a:r>
              <a:rPr lang="en-US" dirty="0"/>
              <a:t>Run the command to create a new migration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692135-26A5-57FB-7747-7C219D8AD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New Migration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936D3E-B562-E3A7-1CE9-052D77CA2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942" y="2799000"/>
            <a:ext cx="4001058" cy="1038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619F9A-DDF7-1A69-654E-ACEF49B69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497" y="4206626"/>
            <a:ext cx="3953427" cy="1705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43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88F6F-5AE0-F7BB-B35E-2CFD085D4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FDFEE-473B-54F1-DF70-3CED145470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EF Core </a:t>
            </a:r>
            <a:r>
              <a:rPr lang="en-US" dirty="0"/>
              <a:t>generates a </a:t>
            </a:r>
            <a:r>
              <a:rPr lang="en-US" b="1" dirty="0"/>
              <a:t>new migration file </a:t>
            </a:r>
            <a:br>
              <a:rPr lang="en-US" b="1" dirty="0"/>
            </a:br>
            <a:r>
              <a:rPr lang="en-US" dirty="0"/>
              <a:t>in the '</a:t>
            </a:r>
            <a:r>
              <a:rPr lang="en-US" b="1" dirty="0">
                <a:solidFill>
                  <a:schemeClr val="bg1"/>
                </a:solidFill>
              </a:rPr>
              <a:t>Migrations</a:t>
            </a:r>
            <a:r>
              <a:rPr lang="en-US" dirty="0"/>
              <a:t>' folder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Up Method</a:t>
            </a:r>
          </a:p>
          <a:p>
            <a:pPr lvl="1">
              <a:buClr>
                <a:schemeClr val="tx1"/>
              </a:buClr>
            </a:pPr>
            <a:r>
              <a:rPr lang="en-US" b="1" dirty="0"/>
              <a:t>Adds the Email </a:t>
            </a:r>
            <a:r>
              <a:rPr lang="en-US" dirty="0"/>
              <a:t>column </a:t>
            </a:r>
            <a:br>
              <a:rPr lang="en-US" dirty="0"/>
            </a:br>
            <a:r>
              <a:rPr lang="en-US" dirty="0"/>
              <a:t>to the 'Students' table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Down Method</a:t>
            </a:r>
          </a:p>
          <a:p>
            <a:pPr lvl="1">
              <a:buClr>
                <a:schemeClr val="tx1"/>
              </a:buClr>
            </a:pPr>
            <a:r>
              <a:rPr lang="en-US" b="1" dirty="0"/>
              <a:t>Removes the Email </a:t>
            </a:r>
            <a:r>
              <a:rPr lang="en-US" dirty="0"/>
              <a:t>column</a:t>
            </a:r>
            <a:br>
              <a:rPr lang="en-US" dirty="0"/>
            </a:br>
            <a:r>
              <a:rPr lang="en-US" dirty="0"/>
              <a:t> if the migration is </a:t>
            </a:r>
            <a:r>
              <a:rPr lang="en-US" b="1" dirty="0"/>
              <a:t>rolled back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675FA3-5610-E1CE-2ACB-6C4B2CE4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9DF904-02E6-1256-474F-60D37246D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152" y="1854000"/>
            <a:ext cx="4001058" cy="1238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4B2E41-5E99-094F-9B91-D2AB98D5D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829" y="3393096"/>
            <a:ext cx="4442030" cy="32624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829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BCDB11-F75D-A3F7-51D6-BDF8AA763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93539-46C0-8824-0A7A-0CFA18A61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6" cy="5546589"/>
          </a:xfrm>
        </p:spPr>
        <p:txBody>
          <a:bodyPr/>
          <a:lstStyle/>
          <a:p>
            <a:r>
              <a:rPr lang="en-US" dirty="0"/>
              <a:t>How to </a:t>
            </a:r>
            <a:r>
              <a:rPr lang="en-US" b="1" dirty="0">
                <a:solidFill>
                  <a:schemeClr val="bg1"/>
                </a:solidFill>
              </a:rPr>
              <a:t>remove a migration before applying it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to the database</a:t>
            </a:r>
          </a:p>
          <a:p>
            <a:pPr lvl="1"/>
            <a:r>
              <a:rPr lang="en-US" dirty="0"/>
              <a:t>Open the </a:t>
            </a:r>
            <a:r>
              <a:rPr lang="en-US" b="1" dirty="0"/>
              <a:t>Package Manager Console</a:t>
            </a:r>
          </a:p>
          <a:p>
            <a:pPr lvl="1"/>
            <a:r>
              <a:rPr lang="en-US" b="1" dirty="0"/>
              <a:t>Run</a:t>
            </a:r>
            <a:r>
              <a:rPr lang="en-US" dirty="0"/>
              <a:t> the '</a:t>
            </a:r>
            <a:r>
              <a:rPr lang="en-US" b="1" dirty="0">
                <a:solidFill>
                  <a:schemeClr val="bg1"/>
                </a:solidFill>
              </a:rPr>
              <a:t>remove-migration</a:t>
            </a:r>
            <a:r>
              <a:rPr lang="en-US" dirty="0"/>
              <a:t>' </a:t>
            </a:r>
            <a:r>
              <a:rPr lang="en-US" b="1" dirty="0"/>
              <a:t>command</a:t>
            </a:r>
          </a:p>
          <a:p>
            <a:r>
              <a:rPr lang="en-US" dirty="0"/>
              <a:t>Why Remove a Migration?</a:t>
            </a:r>
          </a:p>
          <a:p>
            <a:pPr lvl="1"/>
            <a:r>
              <a:rPr lang="en-US" dirty="0"/>
              <a:t>Realized </a:t>
            </a:r>
            <a:r>
              <a:rPr lang="en-US" b="1" dirty="0"/>
              <a:t>there's an error in the migration</a:t>
            </a:r>
          </a:p>
          <a:p>
            <a:pPr lvl="1"/>
            <a:r>
              <a:rPr lang="en-US" dirty="0"/>
              <a:t>Need to </a:t>
            </a:r>
            <a:r>
              <a:rPr lang="en-US" b="1" dirty="0"/>
              <a:t>make additional changes </a:t>
            </a:r>
            <a:r>
              <a:rPr lang="en-US" dirty="0"/>
              <a:t>to the model</a:t>
            </a:r>
          </a:p>
          <a:p>
            <a:pPr lvl="1"/>
            <a:r>
              <a:rPr lang="en-US" dirty="0"/>
              <a:t>Created a migration </a:t>
            </a:r>
            <a:r>
              <a:rPr lang="en-US" b="1" dirty="0"/>
              <a:t>accidentally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F2DCAA-301A-E57E-05F9-639002CB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a Migration Before Applying It</a:t>
            </a:r>
          </a:p>
        </p:txBody>
      </p:sp>
    </p:spTree>
    <p:extLst>
      <p:ext uri="{BB962C8B-B14F-4D97-AF65-F5344CB8AC3E}">
        <p14:creationId xmlns:p14="http://schemas.microsoft.com/office/powerpoint/2010/main" val="210759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2EB8A5-BC3B-E485-1FF6-C0AF607D1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513798-9B13-6715-4863-6AE2A0E6C3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command </a:t>
            </a:r>
            <a:r>
              <a:rPr lang="en-US" b="1" dirty="0">
                <a:solidFill>
                  <a:schemeClr val="bg1"/>
                </a:solidFill>
              </a:rPr>
              <a:t>removes the last migration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/>
              <a:t>that </a:t>
            </a:r>
            <a:r>
              <a:rPr lang="en-US" b="1" dirty="0"/>
              <a:t>has not been applied </a:t>
            </a:r>
            <a:r>
              <a:rPr lang="en-US" dirty="0"/>
              <a:t>to the database</a:t>
            </a:r>
          </a:p>
          <a:p>
            <a:r>
              <a:rPr lang="en-US" dirty="0"/>
              <a:t>It </a:t>
            </a:r>
            <a:r>
              <a:rPr lang="en-US" b="1" dirty="0">
                <a:solidFill>
                  <a:schemeClr val="bg1"/>
                </a:solidFill>
              </a:rPr>
              <a:t>deletes the migration file </a:t>
            </a:r>
            <a:r>
              <a:rPr lang="en-US" dirty="0"/>
              <a:t>from the '</a:t>
            </a:r>
            <a:r>
              <a:rPr lang="en-US" b="1" dirty="0">
                <a:solidFill>
                  <a:schemeClr val="bg1"/>
                </a:solidFill>
              </a:rPr>
              <a:t>Migrations</a:t>
            </a:r>
            <a:r>
              <a:rPr lang="en-US" dirty="0"/>
              <a:t>' folder</a:t>
            </a:r>
          </a:p>
          <a:p>
            <a:r>
              <a:rPr lang="en-US" b="1" dirty="0"/>
              <a:t>No Database Changes</a:t>
            </a:r>
          </a:p>
          <a:p>
            <a:pPr lvl="1"/>
            <a:r>
              <a:rPr lang="en-US" dirty="0"/>
              <a:t>Since the </a:t>
            </a:r>
            <a:r>
              <a:rPr lang="en-US" b="1" dirty="0">
                <a:solidFill>
                  <a:schemeClr val="bg1"/>
                </a:solidFill>
              </a:rPr>
              <a:t>migration has not been applied yet</a:t>
            </a:r>
            <a:r>
              <a:rPr lang="en-US" dirty="0"/>
              <a:t>, there are</a:t>
            </a:r>
            <a:br>
              <a:rPr lang="en-US" dirty="0"/>
            </a:br>
            <a:r>
              <a:rPr lang="en-US" b="1" dirty="0"/>
              <a:t>no changes made </a:t>
            </a:r>
            <a:r>
              <a:rPr lang="en-US" dirty="0"/>
              <a:t>to the database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B13981-20B8-D341-A0DF-CDDE169A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Remove-Migration</a:t>
            </a:r>
          </a:p>
        </p:txBody>
      </p:sp>
      <p:pic>
        <p:nvPicPr>
          <p:cNvPr id="8" name="Picture 7" descr="A white arrows pointing to a cylinder&#10;&#10;Description automatically generated with medium confidence">
            <a:extLst>
              <a:ext uri="{FF2B5EF4-FFF2-40B4-BE49-F238E27FC236}">
                <a16:creationId xmlns:a16="http://schemas.microsoft.com/office/drawing/2014/main" id="{0121B12E-3F33-7B05-06A1-266D873F4B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45" b="8872"/>
          <a:stretch/>
        </p:blipFill>
        <p:spPr>
          <a:xfrm>
            <a:off x="1146000" y="5014261"/>
            <a:ext cx="6285000" cy="1693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CB3299-0FB7-6EDA-403C-1BF2A1783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00" y="5219783"/>
            <a:ext cx="5534484" cy="1282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357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89DDB6-6214-7CEA-07C6-1C1B6DC6E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902D9-EF5E-D6AD-9123-7F5960C40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After creating the '</a:t>
            </a:r>
            <a:r>
              <a:rPr lang="en-US" b="1" dirty="0">
                <a:solidFill>
                  <a:schemeClr val="bg1"/>
                </a:solidFill>
              </a:rPr>
              <a:t>AddStudentEmail</a:t>
            </a:r>
            <a:r>
              <a:rPr lang="en-US" dirty="0"/>
              <a:t>' migration, you realize you </a:t>
            </a:r>
            <a:r>
              <a:rPr lang="en-US" b="1" dirty="0"/>
              <a:t>forgot to set </a:t>
            </a:r>
            <a:r>
              <a:rPr lang="en-US" dirty="0"/>
              <a:t>the '</a:t>
            </a:r>
            <a:r>
              <a:rPr lang="en-US" b="1" dirty="0">
                <a:solidFill>
                  <a:schemeClr val="bg1"/>
                </a:solidFill>
              </a:rPr>
              <a:t>Email</a:t>
            </a:r>
            <a:r>
              <a:rPr lang="en-US" dirty="0"/>
              <a:t>' property </a:t>
            </a:r>
            <a:r>
              <a:rPr lang="en-US" b="1" dirty="0"/>
              <a:t>as required</a:t>
            </a:r>
          </a:p>
          <a:p>
            <a:r>
              <a:rPr lang="en-US" b="1" dirty="0"/>
              <a:t>Instead of applying the migration</a:t>
            </a:r>
            <a:r>
              <a:rPr lang="en-US" dirty="0"/>
              <a:t>, you </a:t>
            </a:r>
            <a:r>
              <a:rPr lang="en-US" b="1" dirty="0"/>
              <a:t>remove it</a:t>
            </a:r>
            <a:r>
              <a:rPr lang="en-US" dirty="0"/>
              <a:t>, update the model, and </a:t>
            </a:r>
            <a:r>
              <a:rPr lang="en-US" b="1" dirty="0"/>
              <a:t>create a new migration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87F93C-7AB8-F886-DC22-B2498A01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52025D-B1A8-5BC7-D9DB-E0DD6B01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00" y="3654000"/>
            <a:ext cx="4122030" cy="2853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66BE2CE-BF06-B673-314B-DDED34A65325}"/>
              </a:ext>
            </a:extLst>
          </p:cNvPr>
          <p:cNvSpPr/>
          <p:nvPr/>
        </p:nvSpPr>
        <p:spPr bwMode="auto">
          <a:xfrm>
            <a:off x="5569515" y="4869471"/>
            <a:ext cx="450000" cy="36000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9D498F-2421-627C-2CA0-EEFFF0D11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00" y="3591943"/>
            <a:ext cx="4401164" cy="29150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244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D3BE92-4221-0911-6741-788CA3CDC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0CE7C-EA2C-2AC5-5F25-C53C018960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Updating </a:t>
            </a:r>
            <a:r>
              <a:rPr lang="en-US" dirty="0"/>
              <a:t>the database</a:t>
            </a:r>
          </a:p>
          <a:p>
            <a:pPr lvl="1"/>
            <a:r>
              <a:rPr lang="en-US" dirty="0"/>
              <a:t>Run the '</a:t>
            </a:r>
            <a:r>
              <a:rPr lang="en-US" b="1" dirty="0">
                <a:solidFill>
                  <a:schemeClr val="bg1"/>
                </a:solidFill>
              </a:rPr>
              <a:t>update-database</a:t>
            </a:r>
            <a:r>
              <a:rPr lang="en-US" dirty="0"/>
              <a:t>' command</a:t>
            </a:r>
          </a:p>
          <a:p>
            <a:r>
              <a:rPr lang="en-US" b="1" dirty="0"/>
              <a:t>Verifying</a:t>
            </a:r>
            <a:r>
              <a:rPr lang="en-US" dirty="0"/>
              <a:t> the changes</a:t>
            </a:r>
          </a:p>
          <a:p>
            <a:pPr lvl="1"/>
            <a:r>
              <a:rPr lang="en-US" dirty="0"/>
              <a:t>Using </a:t>
            </a:r>
            <a:r>
              <a:rPr lang="en-US" b="1" dirty="0">
                <a:solidFill>
                  <a:schemeClr val="bg1"/>
                </a:solidFill>
              </a:rPr>
              <a:t>SQL Server Management Studio </a:t>
            </a:r>
            <a:r>
              <a:rPr lang="en-US" dirty="0"/>
              <a:t>(SSMS)</a:t>
            </a:r>
          </a:p>
          <a:p>
            <a:pPr lvl="2"/>
            <a:r>
              <a:rPr lang="en-US" dirty="0"/>
              <a:t>Open SSMS and </a:t>
            </a:r>
            <a:r>
              <a:rPr lang="en-US" b="1" dirty="0"/>
              <a:t>connect to the SQL Server instance</a:t>
            </a:r>
          </a:p>
          <a:p>
            <a:pPr lvl="2"/>
            <a:r>
              <a:rPr lang="en-US" dirty="0"/>
              <a:t>Navigate to the '</a:t>
            </a:r>
            <a:r>
              <a:rPr lang="en-US" b="1" dirty="0">
                <a:solidFill>
                  <a:schemeClr val="bg1"/>
                </a:solidFill>
              </a:rPr>
              <a:t>School</a:t>
            </a:r>
            <a:r>
              <a:rPr lang="en-US" dirty="0"/>
              <a:t>' database and </a:t>
            </a:r>
            <a:r>
              <a:rPr lang="en-US" b="1" dirty="0"/>
              <a:t>refresh the tables</a:t>
            </a:r>
          </a:p>
          <a:p>
            <a:pPr lvl="2"/>
            <a:r>
              <a:rPr lang="en-US" dirty="0"/>
              <a:t>Verify that the '</a:t>
            </a:r>
            <a:r>
              <a:rPr lang="en-US" b="1" dirty="0">
                <a:solidFill>
                  <a:schemeClr val="bg1"/>
                </a:solidFill>
              </a:rPr>
              <a:t>Students</a:t>
            </a:r>
            <a:r>
              <a:rPr lang="en-US" dirty="0"/>
              <a:t>' table now </a:t>
            </a:r>
            <a:r>
              <a:rPr lang="en-US" b="1" dirty="0"/>
              <a:t>includes the updated '</a:t>
            </a:r>
            <a:r>
              <a:rPr lang="en-US" b="1" dirty="0">
                <a:solidFill>
                  <a:schemeClr val="bg1"/>
                </a:solidFill>
              </a:rPr>
              <a:t>Email</a:t>
            </a:r>
            <a:r>
              <a:rPr lang="en-US" b="1" dirty="0"/>
              <a:t>' column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7644E6-8F1C-CBD0-97C4-46226B81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the Migration</a:t>
            </a:r>
          </a:p>
        </p:txBody>
      </p:sp>
    </p:spTree>
    <p:extLst>
      <p:ext uri="{BB962C8B-B14F-4D97-AF65-F5344CB8AC3E}">
        <p14:creationId xmlns:p14="http://schemas.microsoft.com/office/powerpoint/2010/main" val="191235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2F11C7-50A0-B169-7061-B3A4B84B5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3336-814E-90FA-72F4-F91774954D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All existing Migrations could be listed by </a:t>
            </a:r>
            <a:br>
              <a:rPr lang="en-US" dirty="0"/>
            </a:br>
            <a:r>
              <a:rPr lang="en-US" dirty="0"/>
              <a:t>executing '</a:t>
            </a:r>
            <a:r>
              <a:rPr lang="en-US" b="1" dirty="0">
                <a:solidFill>
                  <a:schemeClr val="bg1"/>
                </a:solidFill>
              </a:rPr>
              <a:t>Get-Migration</a:t>
            </a:r>
            <a:r>
              <a:rPr lang="en-US" dirty="0"/>
              <a:t>' command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92900E-5DB0-B8EB-FB50-4E42351C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Listing All Migrations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8EE2D6-4FA5-B9A4-BDEA-01ED79F31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58" y="2795951"/>
            <a:ext cx="11296072" cy="292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272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2F11C7-50A0-B169-7061-B3A4B84B5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3336-814E-90FA-72F4-F91774954D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930598" cy="5528766"/>
          </a:xfrm>
        </p:spPr>
        <p:txBody>
          <a:bodyPr/>
          <a:lstStyle/>
          <a:p>
            <a:r>
              <a:rPr lang="en-US" dirty="0"/>
              <a:t>In some </a:t>
            </a:r>
            <a:r>
              <a:rPr lang="en-US" b="1" dirty="0">
                <a:solidFill>
                  <a:schemeClr val="bg1"/>
                </a:solidFill>
              </a:rPr>
              <a:t>extreme cases</a:t>
            </a:r>
            <a:r>
              <a:rPr lang="en-US" dirty="0"/>
              <a:t>, it may be necessary to </a:t>
            </a:r>
            <a:r>
              <a:rPr lang="en-US" b="1" dirty="0">
                <a:solidFill>
                  <a:schemeClr val="bg1"/>
                </a:solidFill>
              </a:rPr>
              <a:t>remove all migrations </a:t>
            </a:r>
            <a:r>
              <a:rPr lang="en-US" dirty="0"/>
              <a:t>and start over</a:t>
            </a:r>
          </a:p>
          <a:p>
            <a:r>
              <a:rPr lang="en-US" dirty="0"/>
              <a:t>This can be easily done by </a:t>
            </a:r>
            <a:r>
              <a:rPr lang="en-US" b="1" dirty="0"/>
              <a:t>deleting </a:t>
            </a:r>
            <a:r>
              <a:rPr lang="en-US" dirty="0"/>
              <a:t>your '</a:t>
            </a:r>
            <a:r>
              <a:rPr lang="en-US" b="1" dirty="0">
                <a:solidFill>
                  <a:schemeClr val="bg1"/>
                </a:solidFill>
              </a:rPr>
              <a:t>Migrations</a:t>
            </a:r>
            <a:r>
              <a:rPr lang="en-US" dirty="0"/>
              <a:t>' folder and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dropping your database</a:t>
            </a:r>
          </a:p>
          <a:p>
            <a:r>
              <a:rPr lang="en-US" dirty="0"/>
              <a:t>At that point you </a:t>
            </a:r>
            <a:r>
              <a:rPr lang="en-US" b="1" dirty="0">
                <a:solidFill>
                  <a:schemeClr val="bg1"/>
                </a:solidFill>
              </a:rPr>
              <a:t>can create a new initial migration</a:t>
            </a:r>
            <a:r>
              <a:rPr lang="en-US" dirty="0"/>
              <a:t>, which will contain your entire current schema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92900E-5DB0-B8EB-FB50-4E42351C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Resetting All Migrations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51FC40-664E-3492-EB26-AEAB54B5C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568" y="1196125"/>
            <a:ext cx="3497030" cy="2833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768670-EBC5-AC31-39D2-424A26D4F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568" y="4242302"/>
            <a:ext cx="2430736" cy="2293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101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72D9D80-68B2-EDAF-9410-FFEB0C39AB9C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Review Migration Files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DA3A11-6816-3FB0-20E4-AEEBE8490503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Customize Migration Code</a:t>
            </a:r>
          </a:p>
        </p:txBody>
      </p:sp>
      <p:pic>
        <p:nvPicPr>
          <p:cNvPr id="8" name="Picture 7" descr="A blue logo with a pen in the middle&#10;&#10;Description automatically generated">
            <a:extLst>
              <a:ext uri="{FF2B5EF4-FFF2-40B4-BE49-F238E27FC236}">
                <a16:creationId xmlns:a16="http://schemas.microsoft.com/office/drawing/2014/main" id="{93EE4833-7360-4BCC-DB14-33DA5906583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000" y="693546"/>
            <a:ext cx="3915000" cy="3849384"/>
          </a:xfrm>
          <a:prstGeom prst="rect">
            <a:avLst/>
          </a:prstGeom>
        </p:spPr>
      </p:pic>
      <p:sp>
        <p:nvSpPr>
          <p:cNvPr id="10" name="Double Brace 9">
            <a:extLst>
              <a:ext uri="{FF2B5EF4-FFF2-40B4-BE49-F238E27FC236}">
                <a16:creationId xmlns:a16="http://schemas.microsoft.com/office/drawing/2014/main" id="{F0A953A2-08FF-9ECC-29BF-606979DB0790}"/>
              </a:ext>
            </a:extLst>
          </p:cNvPr>
          <p:cNvSpPr/>
          <p:nvPr/>
        </p:nvSpPr>
        <p:spPr>
          <a:xfrm>
            <a:off x="3598500" y="3564000"/>
            <a:ext cx="675000" cy="855000"/>
          </a:xfrm>
          <a:prstGeom prst="bracePair">
            <a:avLst>
              <a:gd name="adj" fmla="val 1442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0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33B16-195A-53E6-EC65-494684ED85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36000" y="1121143"/>
            <a:ext cx="9859234" cy="5546589"/>
          </a:xfrm>
        </p:spPr>
        <p:txBody>
          <a:bodyPr/>
          <a:lstStyle/>
          <a:p>
            <a:r>
              <a:rPr lang="en-US" b="1" dirty="0"/>
              <a:t>Real-World Requirements</a:t>
            </a:r>
          </a:p>
          <a:p>
            <a:pPr lvl="1"/>
            <a:r>
              <a:rPr lang="en-US" dirty="0"/>
              <a:t>Default migration code may </a:t>
            </a:r>
            <a:r>
              <a:rPr lang="en-US" b="1" dirty="0">
                <a:solidFill>
                  <a:schemeClr val="bg1"/>
                </a:solidFill>
              </a:rPr>
              <a:t>not always meet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specific</a:t>
            </a:r>
            <a:r>
              <a:rPr lang="en-US" dirty="0"/>
              <a:t> business or technical </a:t>
            </a:r>
            <a:r>
              <a:rPr lang="en-US" b="1" dirty="0">
                <a:solidFill>
                  <a:schemeClr val="bg1"/>
                </a:solidFill>
              </a:rPr>
              <a:t>requirements</a:t>
            </a:r>
          </a:p>
          <a:p>
            <a:pPr lvl="1"/>
            <a:r>
              <a:rPr lang="en-US" dirty="0"/>
              <a:t>Customizing migrations allows for </a:t>
            </a:r>
            <a:r>
              <a:rPr lang="en-US" b="1" dirty="0">
                <a:solidFill>
                  <a:schemeClr val="bg1"/>
                </a:solidFill>
              </a:rPr>
              <a:t>more precise control </a:t>
            </a:r>
            <a:r>
              <a:rPr lang="en-US" dirty="0"/>
              <a:t>over the database schema changes</a:t>
            </a:r>
          </a:p>
          <a:p>
            <a:r>
              <a:rPr lang="en-US" b="1" dirty="0"/>
              <a:t>Complex Operations</a:t>
            </a:r>
          </a:p>
          <a:p>
            <a:pPr lvl="1"/>
            <a:r>
              <a:rPr lang="en-US" dirty="0"/>
              <a:t>Perform </a:t>
            </a:r>
            <a:r>
              <a:rPr lang="en-US" b="1" dirty="0">
                <a:solidFill>
                  <a:schemeClr val="bg1"/>
                </a:solidFill>
              </a:rPr>
              <a:t>complex data transformations </a:t>
            </a:r>
            <a:r>
              <a:rPr lang="en-US" dirty="0"/>
              <a:t>or ensure data integrity during schema changes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D5813F-FEB6-F537-CC00-0615D3CC3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Customize Migrations</a:t>
            </a:r>
          </a:p>
        </p:txBody>
      </p:sp>
    </p:spTree>
    <p:extLst>
      <p:ext uri="{BB962C8B-B14F-4D97-AF65-F5344CB8AC3E}">
        <p14:creationId xmlns:p14="http://schemas.microsoft.com/office/powerpoint/2010/main" val="257298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3E9D9F-EC46-7360-78D0-8563167D7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DD912F-6EC5-5113-7D8C-990D1DDFCF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030598" cy="5528766"/>
          </a:xfrm>
        </p:spPr>
        <p:txBody>
          <a:bodyPr/>
          <a:lstStyle/>
          <a:p>
            <a:r>
              <a:rPr lang="en-US" b="1" dirty="0"/>
              <a:t>After creating a migration</a:t>
            </a:r>
            <a:r>
              <a:rPr lang="en-US" dirty="0"/>
              <a:t>, EF Core generates code in the </a:t>
            </a:r>
            <a:r>
              <a:rPr lang="en-US" b="1" dirty="0">
                <a:solidFill>
                  <a:schemeClr val="bg1"/>
                </a:solidFill>
              </a:rPr>
              <a:t>Up</a:t>
            </a:r>
            <a:r>
              <a:rPr lang="en-US" dirty="0"/>
              <a:t> and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Down</a:t>
            </a:r>
            <a:r>
              <a:rPr lang="en-US" dirty="0"/>
              <a:t> </a:t>
            </a:r>
            <a:r>
              <a:rPr lang="en-US" b="1" dirty="0"/>
              <a:t>methods</a:t>
            </a:r>
          </a:p>
          <a:p>
            <a:r>
              <a:rPr lang="en-US" dirty="0"/>
              <a:t>You can </a:t>
            </a:r>
            <a:r>
              <a:rPr lang="en-US" b="1" dirty="0">
                <a:solidFill>
                  <a:schemeClr val="bg1"/>
                </a:solidFill>
              </a:rPr>
              <a:t>modify this code</a:t>
            </a:r>
            <a:r>
              <a:rPr lang="en-US" dirty="0"/>
              <a:t> to suit your </a:t>
            </a:r>
            <a:r>
              <a:rPr lang="en-US" b="1" dirty="0"/>
              <a:t>specific needs</a:t>
            </a:r>
          </a:p>
          <a:p>
            <a:r>
              <a:rPr lang="en-US" dirty="0"/>
              <a:t>One </a:t>
            </a:r>
            <a:r>
              <a:rPr lang="en-US" b="1" dirty="0"/>
              <a:t>example where customizing migrations is required </a:t>
            </a:r>
            <a:r>
              <a:rPr lang="en-US" dirty="0"/>
              <a:t>is when </a:t>
            </a:r>
            <a:r>
              <a:rPr lang="en-US" b="1" dirty="0">
                <a:solidFill>
                  <a:schemeClr val="bg1"/>
                </a:solidFill>
              </a:rPr>
              <a:t>renaming a property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119B13-FBBE-2985-0BB9-DCDC114E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Customize Migrations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EBEB7E-5E4D-19D5-AC4E-D6162455F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288" y="2295707"/>
            <a:ext cx="4336646" cy="33296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995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D90891-1ABC-D64C-CCE8-7313704BA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68007-3491-549B-154E-72E1CC5183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752800" cy="552876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EF Core </a:t>
            </a:r>
            <a:r>
              <a:rPr lang="en-US" dirty="0"/>
              <a:t>is </a:t>
            </a:r>
            <a:r>
              <a:rPr lang="en-US" b="1" dirty="0">
                <a:solidFill>
                  <a:schemeClr val="bg1"/>
                </a:solidFill>
              </a:rPr>
              <a:t>unable to know when the intention is to drop a column and create a new one</a:t>
            </a:r>
            <a:r>
              <a:rPr lang="en-US" dirty="0"/>
              <a:t>, and when a column should be renamed</a:t>
            </a:r>
          </a:p>
          <a:p>
            <a:r>
              <a:rPr lang="en-US" dirty="0"/>
              <a:t>If the above migration is applied as-is, all your student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names will be lost</a:t>
            </a:r>
            <a:endParaRPr lang="en-US" dirty="0"/>
          </a:p>
          <a:p>
            <a:r>
              <a:rPr lang="en-US" dirty="0"/>
              <a:t>To rename a column, </a:t>
            </a:r>
            <a:r>
              <a:rPr lang="en-US" b="1" dirty="0">
                <a:solidFill>
                  <a:schemeClr val="bg1"/>
                </a:solidFill>
              </a:rPr>
              <a:t>replace the above generated migration</a:t>
            </a:r>
            <a:r>
              <a:rPr lang="en-US" dirty="0"/>
              <a:t> with the following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83B1B2-4876-1657-6FC8-B1D20334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Custom Migration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4F558-A59F-55C8-9D57-B2D3E9A04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59" y="1305508"/>
            <a:ext cx="4675971" cy="265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B7FB62-7072-CCB3-1AB5-118E487DD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059" y="5139000"/>
            <a:ext cx="4210884" cy="12529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455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3962EA-CFF3-563D-48E4-FC0D8FBFA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B21889-6394-4363-28AA-2764E39122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migration scaffolding process warns</a:t>
            </a:r>
            <a:r>
              <a:rPr lang="en-US" dirty="0"/>
              <a:t> when an operation might result in </a:t>
            </a:r>
            <a:r>
              <a:rPr lang="en-US" b="1" dirty="0">
                <a:solidFill>
                  <a:schemeClr val="bg1"/>
                </a:solidFill>
              </a:rPr>
              <a:t>data loss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/>
              <a:t>(like dropping a column)</a:t>
            </a:r>
          </a:p>
          <a:p>
            <a:r>
              <a:rPr lang="en-US" dirty="0"/>
              <a:t>If you see that warning, be especially sure to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review the migrations</a:t>
            </a:r>
            <a:r>
              <a:rPr lang="en-US" dirty="0"/>
              <a:t> code for accuracy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9EE32D-8D6A-8DB1-1E30-583D22725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</a:t>
            </a:r>
          </a:p>
        </p:txBody>
      </p:sp>
    </p:spTree>
    <p:extLst>
      <p:ext uri="{BB962C8B-B14F-4D97-AF65-F5344CB8AC3E}">
        <p14:creationId xmlns:p14="http://schemas.microsoft.com/office/powerpoint/2010/main" val="229945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E425A3-3F02-2193-3346-38FF2CDA1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5704C9-D572-22D4-7BE3-8B96BB3C01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6000" y="1121143"/>
            <a:ext cx="9949236" cy="5546589"/>
          </a:xfrm>
        </p:spPr>
        <p:txBody>
          <a:bodyPr/>
          <a:lstStyle/>
          <a:p>
            <a:r>
              <a:rPr lang="en-US" dirty="0"/>
              <a:t>Adding / Altering Indexes</a:t>
            </a:r>
          </a:p>
          <a:p>
            <a:r>
              <a:rPr lang="en-US" dirty="0"/>
              <a:t>Custom SQL commands</a:t>
            </a:r>
          </a:p>
          <a:p>
            <a:r>
              <a:rPr lang="en-US" dirty="0"/>
              <a:t>Adding / Altering Constraints</a:t>
            </a:r>
          </a:p>
          <a:p>
            <a:pPr lvl="1"/>
            <a:r>
              <a:rPr lang="en-US" dirty="0"/>
              <a:t>Adding a Unique Constraint</a:t>
            </a:r>
          </a:p>
          <a:p>
            <a:pPr lvl="1"/>
            <a:r>
              <a:rPr lang="en-US" dirty="0"/>
              <a:t>Adding a Foreign Key Constraint</a:t>
            </a:r>
          </a:p>
          <a:p>
            <a:r>
              <a:rPr lang="en-US" dirty="0"/>
              <a:t>Data Seeding</a:t>
            </a:r>
          </a:p>
          <a:p>
            <a:r>
              <a:rPr lang="en-US" dirty="0"/>
              <a:t>Advanced Column Types and Computed Columns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8ADAEF-72C1-8002-4B53-0385994F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Could Be Customized?</a:t>
            </a:r>
          </a:p>
        </p:txBody>
      </p:sp>
    </p:spTree>
    <p:extLst>
      <p:ext uri="{BB962C8B-B14F-4D97-AF65-F5344CB8AC3E}">
        <p14:creationId xmlns:p14="http://schemas.microsoft.com/office/powerpoint/2010/main" val="271167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0F261E1C-375C-6561-F5D8-2D2DE571D25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Does Db Matter?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57405B-4105-DCD7-CC33-3064F297A08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Multiple Providers</a:t>
            </a:r>
          </a:p>
        </p:txBody>
      </p:sp>
      <p:pic>
        <p:nvPicPr>
          <p:cNvPr id="10" name="Picture 9" descr="A logo of a company&#10;&#10;Description automatically generated">
            <a:extLst>
              <a:ext uri="{FF2B5EF4-FFF2-40B4-BE49-F238E27FC236}">
                <a16:creationId xmlns:a16="http://schemas.microsoft.com/office/drawing/2014/main" id="{9DF226BF-6892-856D-62CA-9AD96E1AD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1629000"/>
            <a:ext cx="2143125" cy="214312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9177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F5B7E8-DF55-E272-E6FD-17A123D59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6000" y="1121143"/>
            <a:ext cx="9949234" cy="554658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EF Core Tools </a:t>
            </a:r>
            <a:r>
              <a:rPr lang="en-US" dirty="0"/>
              <a:t>only scaffold migrations </a:t>
            </a:r>
            <a:br>
              <a:rPr lang="en-US" dirty="0"/>
            </a:br>
            <a:r>
              <a:rPr lang="en-US" dirty="0"/>
              <a:t>for the </a:t>
            </a:r>
            <a:r>
              <a:rPr lang="en-US" b="1" dirty="0"/>
              <a:t>active provider</a:t>
            </a:r>
          </a:p>
          <a:p>
            <a:r>
              <a:rPr lang="en-US" dirty="0"/>
              <a:t>It is possible to maintain </a:t>
            </a:r>
            <a:r>
              <a:rPr lang="en-US" b="1" dirty="0">
                <a:solidFill>
                  <a:schemeClr val="bg1"/>
                </a:solidFill>
              </a:rPr>
              <a:t>multiple sets of migrations</a:t>
            </a:r>
          </a:p>
          <a:p>
            <a:pPr lvl="1"/>
            <a:r>
              <a:rPr lang="en-US" sz="3200" dirty="0"/>
              <a:t>One for each provider</a:t>
            </a:r>
          </a:p>
          <a:p>
            <a:pPr lvl="1"/>
            <a:r>
              <a:rPr lang="en-US" sz="3200" dirty="0"/>
              <a:t>Adding a </a:t>
            </a:r>
            <a:r>
              <a:rPr lang="en-US" sz="3200" b="1" dirty="0">
                <a:solidFill>
                  <a:schemeClr val="bg1"/>
                </a:solidFill>
              </a:rPr>
              <a:t>migration to each</a:t>
            </a:r>
            <a:r>
              <a:rPr lang="en-US" sz="3200" dirty="0"/>
              <a:t>, for </a:t>
            </a:r>
            <a:r>
              <a:rPr lang="en-US" sz="3200" b="1" dirty="0">
                <a:solidFill>
                  <a:schemeClr val="bg1"/>
                </a:solidFill>
              </a:rPr>
              <a:t>every model change</a:t>
            </a:r>
          </a:p>
          <a:p>
            <a:pPr>
              <a:buClr>
                <a:schemeClr val="tx1"/>
              </a:buClr>
            </a:pPr>
            <a:r>
              <a:rPr lang="en-US" dirty="0"/>
              <a:t>Using </a:t>
            </a:r>
            <a:r>
              <a:rPr lang="en-US" b="1" dirty="0">
                <a:solidFill>
                  <a:schemeClr val="bg1"/>
                </a:solidFill>
              </a:rPr>
              <a:t>multiple context </a:t>
            </a:r>
            <a:r>
              <a:rPr lang="en-US" dirty="0"/>
              <a:t>types</a:t>
            </a:r>
          </a:p>
          <a:p>
            <a:pPr>
              <a:buClr>
                <a:schemeClr val="tx1"/>
              </a:buClr>
            </a:pPr>
            <a:r>
              <a:rPr lang="en-US" dirty="0"/>
              <a:t>Using </a:t>
            </a:r>
            <a:r>
              <a:rPr lang="en-US" b="1" dirty="0">
                <a:solidFill>
                  <a:schemeClr val="bg1"/>
                </a:solidFill>
              </a:rPr>
              <a:t>one context </a:t>
            </a:r>
            <a:r>
              <a:rPr lang="en-US" dirty="0"/>
              <a:t>type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72DC6E-627B-A4F8-3729-0034C86C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Db Providers</a:t>
            </a:r>
          </a:p>
        </p:txBody>
      </p:sp>
    </p:spTree>
    <p:extLst>
      <p:ext uri="{BB962C8B-B14F-4D97-AF65-F5344CB8AC3E}">
        <p14:creationId xmlns:p14="http://schemas.microsoft.com/office/powerpoint/2010/main" val="6264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519486-FFC4-3F69-9BB6-FE011A729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C674BF-803C-A877-1E56-72E3CADEC2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Maybe you are </a:t>
            </a:r>
            <a:r>
              <a:rPr lang="en-US" b="1" dirty="0"/>
              <a:t>building an application </a:t>
            </a:r>
            <a:r>
              <a:rPr lang="en-US" dirty="0"/>
              <a:t>distributed as a </a:t>
            </a:r>
            <a:r>
              <a:rPr lang="en-US" b="1" dirty="0">
                <a:solidFill>
                  <a:schemeClr val="bg1"/>
                </a:solidFill>
              </a:rPr>
              <a:t>Software-as-a-Service</a:t>
            </a:r>
            <a:r>
              <a:rPr lang="en-US" dirty="0"/>
              <a:t> (</a:t>
            </a:r>
            <a:r>
              <a:rPr lang="en-US" b="1" dirty="0"/>
              <a:t>SaaS</a:t>
            </a:r>
            <a:r>
              <a:rPr lang="en-US" dirty="0"/>
              <a:t>) product</a:t>
            </a:r>
          </a:p>
          <a:p>
            <a:pPr lvl="1"/>
            <a:r>
              <a:rPr lang="en-US" dirty="0"/>
              <a:t>And a standalone </a:t>
            </a:r>
            <a:r>
              <a:rPr lang="en-US" b="1" dirty="0"/>
              <a:t>product your customers </a:t>
            </a:r>
            <a:r>
              <a:rPr lang="en-US" dirty="0"/>
              <a:t>can install in their data center</a:t>
            </a:r>
          </a:p>
          <a:p>
            <a:r>
              <a:rPr lang="en-US" b="1" dirty="0"/>
              <a:t>SaaS</a:t>
            </a:r>
            <a:r>
              <a:rPr lang="en-US" dirty="0"/>
              <a:t> may use </a:t>
            </a:r>
            <a:r>
              <a:rPr lang="en-US" b="1" dirty="0">
                <a:solidFill>
                  <a:schemeClr val="bg1"/>
                </a:solidFill>
              </a:rPr>
              <a:t>PostgreSQL</a:t>
            </a:r>
          </a:p>
          <a:p>
            <a:r>
              <a:rPr lang="en-US" dirty="0"/>
              <a:t>Customers may have standardized on </a:t>
            </a:r>
            <a:r>
              <a:rPr lang="en-US" b="1" dirty="0">
                <a:solidFill>
                  <a:schemeClr val="bg1"/>
                </a:solidFill>
              </a:rPr>
              <a:t>Microsoft SQL Server</a:t>
            </a:r>
          </a:p>
          <a:p>
            <a:r>
              <a:rPr lang="en-US" dirty="0"/>
              <a:t>Some customers prefer to use </a:t>
            </a:r>
            <a:r>
              <a:rPr lang="en-US" b="1" dirty="0"/>
              <a:t>Windows Server </a:t>
            </a: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SQL Server </a:t>
            </a:r>
            <a:r>
              <a:rPr lang="en-US" dirty="0"/>
              <a:t>database and others prefer to use </a:t>
            </a:r>
            <a:r>
              <a:rPr lang="en-US" b="1" dirty="0"/>
              <a:t>Linux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MySQL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67D7E6-B5D9-5F29-3792-7E6F070CC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 to Work With Multiple Providers</a:t>
            </a:r>
          </a:p>
        </p:txBody>
      </p:sp>
    </p:spTree>
    <p:extLst>
      <p:ext uri="{BB962C8B-B14F-4D97-AF65-F5344CB8AC3E}">
        <p14:creationId xmlns:p14="http://schemas.microsoft.com/office/powerpoint/2010/main" val="214882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8563E-BB1B-6033-E10D-21C7463AC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1B497-C4D3-5642-52A2-487C91A48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Add the </a:t>
            </a:r>
            <a:r>
              <a:rPr lang="en-US" b="1" dirty="0">
                <a:solidFill>
                  <a:schemeClr val="bg1"/>
                </a:solidFill>
              </a:rPr>
              <a:t>PotgreSQL provider </a:t>
            </a:r>
            <a:r>
              <a:rPr lang="en-US" dirty="0"/>
              <a:t>to your project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Updating</a:t>
            </a:r>
            <a:r>
              <a:rPr lang="en-US" dirty="0"/>
              <a:t> the </a:t>
            </a:r>
            <a:r>
              <a:rPr lang="en-US" b="1" dirty="0">
                <a:solidFill>
                  <a:schemeClr val="bg1"/>
                </a:solidFill>
              </a:rPr>
              <a:t>DbContext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FD0D95-405D-5FA8-7DD1-EB89C9E4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PostgreSQL in EF Core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D31B57-9846-33DF-4203-34A603CD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55" y="1907943"/>
            <a:ext cx="8482292" cy="121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68F5C8-7666-5E8B-BF56-114B69F89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55" y="3906875"/>
            <a:ext cx="8784895" cy="2480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964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50F572-6451-E6B6-5431-5CBEFB866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5334-084A-9996-8BF8-B96F6C748A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Create subfolders</a:t>
            </a:r>
          </a:p>
          <a:p>
            <a:pPr lvl="1"/>
            <a:r>
              <a:rPr lang="en-US" dirty="0"/>
              <a:t>In your project, create a '</a:t>
            </a:r>
            <a:r>
              <a:rPr lang="en-US" b="1" dirty="0">
                <a:solidFill>
                  <a:schemeClr val="bg1"/>
                </a:solidFill>
              </a:rPr>
              <a:t>Migrations</a:t>
            </a:r>
            <a:r>
              <a:rPr lang="en-US" dirty="0"/>
              <a:t>' folder if it doesn’t </a:t>
            </a:r>
            <a:br>
              <a:rPr lang="en-US" dirty="0"/>
            </a:br>
            <a:r>
              <a:rPr lang="en-US" dirty="0"/>
              <a:t>already exist</a:t>
            </a:r>
          </a:p>
          <a:p>
            <a:pPr lvl="1"/>
            <a:r>
              <a:rPr lang="en-US" dirty="0"/>
              <a:t>Within the '</a:t>
            </a:r>
            <a:r>
              <a:rPr lang="en-US" b="1" dirty="0">
                <a:solidFill>
                  <a:schemeClr val="bg1"/>
                </a:solidFill>
              </a:rPr>
              <a:t>Migrations</a:t>
            </a:r>
            <a:r>
              <a:rPr lang="en-US" dirty="0"/>
              <a:t>' folder, create subfolders </a:t>
            </a:r>
            <a:br>
              <a:rPr lang="en-US" dirty="0"/>
            </a:br>
            <a:r>
              <a:rPr lang="en-US" dirty="0"/>
              <a:t>for each provider, for example:</a:t>
            </a:r>
          </a:p>
          <a:p>
            <a:pPr lvl="2"/>
            <a:r>
              <a:rPr lang="en-US" dirty="0"/>
              <a:t>'</a:t>
            </a:r>
            <a:r>
              <a:rPr lang="en-US" b="1" dirty="0" err="1">
                <a:solidFill>
                  <a:schemeClr val="bg1"/>
                </a:solidFill>
              </a:rPr>
              <a:t>SqlServerMigrations</a:t>
            </a:r>
            <a:r>
              <a:rPr lang="en-US" dirty="0"/>
              <a:t>'</a:t>
            </a:r>
          </a:p>
          <a:p>
            <a:pPr lvl="2"/>
            <a:r>
              <a:rPr lang="en-US" dirty="0"/>
              <a:t>'</a:t>
            </a:r>
            <a:r>
              <a:rPr lang="en-US" b="1" dirty="0" err="1">
                <a:solidFill>
                  <a:schemeClr val="bg1"/>
                </a:solidFill>
              </a:rPr>
              <a:t>PostgreSqlMigrations</a:t>
            </a:r>
            <a:r>
              <a:rPr lang="en-US" dirty="0"/>
              <a:t>'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BCA2C7-67A7-5387-7CDA-EBD17515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Migrations</a:t>
            </a:r>
          </a:p>
        </p:txBody>
      </p:sp>
    </p:spTree>
    <p:extLst>
      <p:ext uri="{BB962C8B-B14F-4D97-AF65-F5344CB8AC3E}">
        <p14:creationId xmlns:p14="http://schemas.microsoft.com/office/powerpoint/2010/main" val="371416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168D13-D7E4-BD83-106D-33EC0FB22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3A70C-8563-679A-48BF-2282ACE729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Environment variables </a:t>
            </a:r>
            <a:r>
              <a:rPr lang="en-US" dirty="0"/>
              <a:t>store configuration settings </a:t>
            </a:r>
            <a:br>
              <a:rPr lang="en-US" dirty="0"/>
            </a:br>
            <a:r>
              <a:rPr lang="en-US" dirty="0"/>
              <a:t>outside the codebase</a:t>
            </a:r>
          </a:p>
          <a:p>
            <a:pPr>
              <a:buClr>
                <a:schemeClr val="tx1"/>
              </a:buClr>
            </a:pPr>
            <a:r>
              <a:rPr lang="en-US" dirty="0"/>
              <a:t>Setting Environment Variables: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For </a:t>
            </a:r>
            <a:r>
              <a:rPr lang="en-US" b="1" dirty="0">
                <a:solidFill>
                  <a:schemeClr val="bg1"/>
                </a:solidFill>
              </a:rPr>
              <a:t>SQL Server</a:t>
            </a:r>
            <a:r>
              <a:rPr lang="en-US" dirty="0"/>
              <a:t> 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latin typeface="Consolas" panose="020B0609020204030204" pitchFamily="49" charset="0"/>
              </a:rPr>
              <a:t>$env:PROVIDER="SqlServer"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For </a:t>
            </a:r>
            <a:r>
              <a:rPr lang="en-US" b="1" dirty="0">
                <a:solidFill>
                  <a:schemeClr val="bg1"/>
                </a:solidFill>
              </a:rPr>
              <a:t>PostgreSQL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latin typeface="Consolas" panose="020B0609020204030204" pitchFamily="49" charset="0"/>
              </a:rPr>
              <a:t>$env:PROVIDER="PostgreSQL"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8A5DA7-FD00-87CB-42F4-0E68329B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Environment Variables</a:t>
            </a:r>
          </a:p>
        </p:txBody>
      </p:sp>
    </p:spTree>
    <p:extLst>
      <p:ext uri="{BB962C8B-B14F-4D97-AF65-F5344CB8AC3E}">
        <p14:creationId xmlns:p14="http://schemas.microsoft.com/office/powerpoint/2010/main" val="129459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49D540-B99D-9077-86FD-7F08E1485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F6B0C-580E-A262-44FE-D2253BD455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Environment Variable</a:t>
            </a:r>
            <a:r>
              <a:rPr lang="en-US" dirty="0"/>
              <a:t> can be easily checked through the </a:t>
            </a:r>
            <a:r>
              <a:rPr lang="en-US" b="1" dirty="0">
                <a:solidFill>
                  <a:schemeClr val="bg1"/>
                </a:solidFill>
              </a:rPr>
              <a:t>Package Manager Console</a:t>
            </a:r>
            <a:r>
              <a:rPr lang="en-US" dirty="0"/>
              <a:t>: </a:t>
            </a:r>
          </a:p>
          <a:p>
            <a:pPr lvl="1">
              <a:buClr>
                <a:schemeClr val="tx1"/>
              </a:buClr>
            </a:pPr>
            <a:r>
              <a:rPr lang="en-US" dirty="0">
                <a:latin typeface="Consolas" panose="020B0609020204030204" pitchFamily="49" charset="0"/>
              </a:rPr>
              <a:t>echo $env:PROVIDER</a:t>
            </a:r>
          </a:p>
          <a:p>
            <a:pPr lvl="1"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The Environment Variable value can be </a:t>
            </a:r>
            <a:r>
              <a:rPr lang="en-US" b="1" dirty="0">
                <a:solidFill>
                  <a:schemeClr val="bg1"/>
                </a:solidFill>
              </a:rPr>
              <a:t>switched </a:t>
            </a:r>
            <a:r>
              <a:rPr lang="en-US" dirty="0"/>
              <a:t>through the PM Console: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FF1E1F-15C0-7442-5788-5F21A854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Environment 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4CB44A-09C7-89C7-1F24-C7108E08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000" y="2079000"/>
            <a:ext cx="3668888" cy="117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6B8506-CEF6-A3E9-8075-2014347E9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000" y="4461065"/>
            <a:ext cx="3668888" cy="2124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125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8691D0-4D1E-24AE-5610-079C9A9AB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296A9-EA42-FE1A-C061-B53EC61E20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Set the </a:t>
            </a:r>
            <a:r>
              <a:rPr lang="en-US" b="1" dirty="0">
                <a:solidFill>
                  <a:schemeClr val="bg1"/>
                </a:solidFill>
              </a:rPr>
              <a:t>correct Environment Variable value</a:t>
            </a:r>
          </a:p>
          <a:p>
            <a:pPr lvl="1"/>
            <a:r>
              <a:rPr lang="en-US" sz="3200" b="1" dirty="0">
                <a:latin typeface="Consolas" panose="020B0609020204030204" pitchFamily="49" charset="0"/>
              </a:rPr>
              <a:t>$env:PROVIDER="PostgreSQL"</a:t>
            </a:r>
          </a:p>
          <a:p>
            <a:r>
              <a:rPr lang="en-US" dirty="0"/>
              <a:t>Create the migration and specify the output directory:</a:t>
            </a:r>
          </a:p>
          <a:p>
            <a:pPr lvl="1"/>
            <a:r>
              <a:rPr lang="fr-FR" sz="3200" b="1" dirty="0">
                <a:latin typeface="Consolas" panose="020B0609020204030204" pitchFamily="49" charset="0"/>
              </a:rPr>
              <a:t>add-migration InitialCreate -o Migrations/PostgreSqlMigrations</a:t>
            </a:r>
            <a:endParaRPr lang="en-US" sz="3200" b="1" dirty="0">
              <a:latin typeface="Consolas" panose="020B06090202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404D8F-42A8-F480-13F5-0E0A3F07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Migration for PostgreSQL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ADD900-4B83-9ECD-BDE6-1B8DDA547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0" y="4782190"/>
            <a:ext cx="7683500" cy="8796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759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F763FD-B5D7-5EED-A7BC-2F945B284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269F3-572E-E08F-5E01-1C994440D3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672604" cy="5528766"/>
          </a:xfrm>
        </p:spPr>
        <p:txBody>
          <a:bodyPr/>
          <a:lstStyle/>
          <a:p>
            <a:r>
              <a:rPr lang="en-US" dirty="0"/>
              <a:t>The migration files are located in the specified subfolder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917529-A92C-33C4-6B07-02F896DA8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PostgreSQL Migration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F598F-8944-D335-544F-8EE4160715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24" r="23678"/>
          <a:stretch/>
        </p:blipFill>
        <p:spPr>
          <a:xfrm>
            <a:off x="6660557" y="1611508"/>
            <a:ext cx="5073731" cy="469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C5EE39-26DA-FB92-9DB4-474183A0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858" y="3069000"/>
            <a:ext cx="4591691" cy="2353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102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5F19418-07DA-DDB4-B93D-B1C162B325EF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Common Errors and Good Practices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F711D7-9759-2DE6-3D60-347C3F7998AA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pic>
        <p:nvPicPr>
          <p:cNvPr id="17" name="Picture 16" descr="A yellow triangle with a exclamation mark&#10;&#10;Description automatically generated">
            <a:extLst>
              <a:ext uri="{FF2B5EF4-FFF2-40B4-BE49-F238E27FC236}">
                <a16:creationId xmlns:a16="http://schemas.microsoft.com/office/drawing/2014/main" id="{65AB078B-23BD-1353-8460-2DFE2C921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864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1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33B1B-DB6C-C35E-54E2-D2A67C01D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Occurs when the </a:t>
            </a:r>
            <a:r>
              <a:rPr lang="en-US" b="1" dirty="0">
                <a:solidFill>
                  <a:schemeClr val="bg1"/>
                </a:solidFill>
              </a:rPr>
              <a:t>model and the database are out of sync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System.InvalidOperationException: The model backing the 'DbContext' context has changed since the database was created.</a:t>
            </a:r>
          </a:p>
          <a:p>
            <a:r>
              <a:rPr lang="en-US" dirty="0"/>
              <a:t>Ensure all migrations are applied </a:t>
            </a:r>
            <a:br>
              <a:rPr lang="en-US" dirty="0"/>
            </a:br>
            <a:r>
              <a:rPr lang="en-US" dirty="0"/>
              <a:t>using '</a:t>
            </a:r>
            <a:r>
              <a:rPr lang="en-US" b="1" dirty="0">
                <a:solidFill>
                  <a:schemeClr val="bg1"/>
                </a:solidFill>
              </a:rPr>
              <a:t>Update-Database</a:t>
            </a:r>
            <a:r>
              <a:rPr lang="en-US" dirty="0"/>
              <a:t>'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B05895-333D-8343-FB9C-694AD2ED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and Database Schema Mismatch</a:t>
            </a:r>
          </a:p>
        </p:txBody>
      </p:sp>
      <p:pic>
        <p:nvPicPr>
          <p:cNvPr id="7" name="Picture 6" descr="A blue circular object with arrows around it&#10;&#10;Description automatically generated">
            <a:extLst>
              <a:ext uri="{FF2B5EF4-FFF2-40B4-BE49-F238E27FC236}">
                <a16:creationId xmlns:a16="http://schemas.microsoft.com/office/drawing/2014/main" id="{A0FF1E3B-995F-AE39-EADC-B5E469CC7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000" y="3519000"/>
            <a:ext cx="3025250" cy="265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7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893DF-4780-E1E8-4C58-96B6FCB31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98D7A-99B3-98A0-C6C1-302E5625A5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Conflicts between migrations </a:t>
            </a:r>
            <a:r>
              <a:rPr lang="en-US" b="1" dirty="0">
                <a:solidFill>
                  <a:schemeClr val="bg1"/>
                </a:solidFill>
              </a:rPr>
              <a:t>created by different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team members</a:t>
            </a:r>
          </a:p>
          <a:p>
            <a:r>
              <a:rPr lang="en-US" dirty="0"/>
              <a:t>Migration </a:t>
            </a:r>
            <a:r>
              <a:rPr lang="en-US" b="1" dirty="0">
                <a:solidFill>
                  <a:schemeClr val="bg1"/>
                </a:solidFill>
              </a:rPr>
              <a:t>conflicts can also happen locally </a:t>
            </a:r>
            <a:endParaRPr lang="en-US" dirty="0"/>
          </a:p>
          <a:p>
            <a:pPr lvl="1"/>
            <a:r>
              <a:rPr lang="en-US" dirty="0"/>
              <a:t>This can occur if you make </a:t>
            </a:r>
            <a:r>
              <a:rPr lang="en-US" b="1" dirty="0">
                <a:solidFill>
                  <a:schemeClr val="bg1"/>
                </a:solidFill>
              </a:rPr>
              <a:t>multiple changes </a:t>
            </a:r>
            <a:r>
              <a:rPr lang="en-US" dirty="0"/>
              <a:t>to your model and generate </a:t>
            </a:r>
            <a:r>
              <a:rPr lang="en-US" b="1" dirty="0">
                <a:solidFill>
                  <a:schemeClr val="bg1"/>
                </a:solidFill>
              </a:rPr>
              <a:t>migrations without applying them in sequence</a:t>
            </a:r>
          </a:p>
          <a:p>
            <a:pPr lvl="1"/>
            <a:r>
              <a:rPr lang="en-US" sz="3398" b="1" dirty="0">
                <a:latin typeface="Consolas" panose="020B0609020204030204" pitchFamily="49" charset="0"/>
              </a:rPr>
              <a:t>System.Data.SqlClient.SqlException: There is already an object named '</a:t>
            </a:r>
            <a:r>
              <a:rPr lang="en-US" sz="3398" b="1" dirty="0" err="1">
                <a:latin typeface="Consolas" panose="020B0609020204030204" pitchFamily="49" charset="0"/>
              </a:rPr>
              <a:t>TableName</a:t>
            </a:r>
            <a:r>
              <a:rPr lang="en-US" sz="3398" b="1" dirty="0">
                <a:latin typeface="Consolas" panose="020B0609020204030204" pitchFamily="49" charset="0"/>
              </a:rPr>
              <a:t>' in the database.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AB72AA-89A7-5A01-34B8-41CFAB8B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Conflicts</a:t>
            </a:r>
          </a:p>
        </p:txBody>
      </p:sp>
    </p:spTree>
    <p:extLst>
      <p:ext uri="{BB962C8B-B14F-4D97-AF65-F5344CB8AC3E}">
        <p14:creationId xmlns:p14="http://schemas.microsoft.com/office/powerpoint/2010/main" val="181051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EDFC91-0F16-2245-16CC-B65742DCE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8437A-DA79-15E3-13D2-22A1329AD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Solutions: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Apply migrations in sequence</a:t>
            </a:r>
            <a:r>
              <a:rPr lang="en-US" dirty="0"/>
              <a:t> to keep the local database schema in sync with the model</a:t>
            </a:r>
          </a:p>
          <a:p>
            <a:pPr lvl="1"/>
            <a:r>
              <a:rPr lang="en-US" dirty="0"/>
              <a:t>Communicate and </a:t>
            </a:r>
            <a:r>
              <a:rPr lang="en-US" b="1" dirty="0">
                <a:solidFill>
                  <a:schemeClr val="bg1"/>
                </a:solidFill>
              </a:rPr>
              <a:t>coordinate migration creation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/>
              <a:t>within the team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Merge conflicting migrations manually </a:t>
            </a:r>
            <a:r>
              <a:rPr lang="en-US" dirty="0"/>
              <a:t>if necessary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D0BD47-1219-7F47-0C2B-FCB9DEA2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Conflicts</a:t>
            </a:r>
          </a:p>
        </p:txBody>
      </p:sp>
    </p:spTree>
    <p:extLst>
      <p:ext uri="{BB962C8B-B14F-4D97-AF65-F5344CB8AC3E}">
        <p14:creationId xmlns:p14="http://schemas.microsoft.com/office/powerpoint/2010/main" val="46619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845900-FF4F-6FF2-E89E-5007E9639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B4676-B35C-D826-65C6-48260BBEB8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Errors in the SQL commands </a:t>
            </a:r>
            <a:r>
              <a:rPr lang="en-US" dirty="0"/>
              <a:t>generated by EF Core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latin typeface="Consolas" panose="020B0609020204030204" pitchFamily="49" charset="0"/>
              </a:rPr>
              <a:t>System.Data.SqlClient.SqlException: Incorrect syntax near 'keyword’.</a:t>
            </a:r>
          </a:p>
          <a:p>
            <a:pPr>
              <a:buClr>
                <a:schemeClr val="tx1"/>
              </a:buClr>
            </a:pPr>
            <a:r>
              <a:rPr lang="en-US" dirty="0"/>
              <a:t>Solution: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Review and </a:t>
            </a:r>
            <a:r>
              <a:rPr lang="en-US" b="1" dirty="0">
                <a:solidFill>
                  <a:schemeClr val="bg1"/>
                </a:solidFill>
              </a:rPr>
              <a:t>customize the migration code to correct SQL syntax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Use 'migrationBuilder.Sql' to execute raw SQL if needed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0D5682-C385-AFBC-6802-E9D42F26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Syntax Errors</a:t>
            </a:r>
          </a:p>
        </p:txBody>
      </p:sp>
    </p:spTree>
    <p:extLst>
      <p:ext uri="{BB962C8B-B14F-4D97-AF65-F5344CB8AC3E}">
        <p14:creationId xmlns:p14="http://schemas.microsoft.com/office/powerpoint/2010/main" val="101312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9F1239-E4F5-9833-7F14-8040DF797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F41B5-393F-D39E-B10B-113BE51B5C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Risk of </a:t>
            </a:r>
            <a:r>
              <a:rPr lang="en-US" b="1" dirty="0">
                <a:solidFill>
                  <a:schemeClr val="bg1"/>
                </a:solidFill>
              </a:rPr>
              <a:t>data loss when dropping or renaming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/>
              <a:t>columns incorrectly</a:t>
            </a:r>
          </a:p>
          <a:p>
            <a:r>
              <a:rPr lang="en-US" dirty="0"/>
              <a:t>No specific error, but </a:t>
            </a:r>
            <a:r>
              <a:rPr lang="en-US" b="1" dirty="0">
                <a:solidFill>
                  <a:schemeClr val="bg1"/>
                </a:solidFill>
              </a:rPr>
              <a:t>data may be lost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Use '</a:t>
            </a:r>
            <a:r>
              <a:rPr lang="en-US" b="1" dirty="0" err="1">
                <a:solidFill>
                  <a:schemeClr val="bg1"/>
                </a:solidFill>
              </a:rPr>
              <a:t>RenameColumn</a:t>
            </a:r>
            <a:r>
              <a:rPr lang="en-US" dirty="0"/>
              <a:t>' instead of dropping and adding columns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Backup data </a:t>
            </a:r>
            <a:r>
              <a:rPr lang="en-US" dirty="0"/>
              <a:t>before applying risky migrations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143097-32E6-8E3D-6627-2A41D582D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Loss Issues</a:t>
            </a:r>
          </a:p>
        </p:txBody>
      </p:sp>
    </p:spTree>
    <p:extLst>
      <p:ext uri="{BB962C8B-B14F-4D97-AF65-F5344CB8AC3E}">
        <p14:creationId xmlns:p14="http://schemas.microsoft.com/office/powerpoint/2010/main" val="30578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445613" y="1606714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3074" y="1716562"/>
            <a:ext cx="8156700" cy="4162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4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000" b="1" dirty="0">
                <a:solidFill>
                  <a:schemeClr val="bg2"/>
                </a:solidFill>
              </a:rPr>
              <a:t>Purpose and benefits of </a:t>
            </a:r>
            <a:r>
              <a:rPr lang="en-GB" sz="3000" b="1" dirty="0">
                <a:solidFill>
                  <a:schemeClr val="bg1"/>
                </a:solidFill>
              </a:rPr>
              <a:t>migrations in EF Core</a:t>
            </a:r>
          </a:p>
          <a:p>
            <a:pPr marL="457200" indent="-457200">
              <a:lnSpc>
                <a:spcPts val="4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000" b="1" dirty="0">
                <a:solidFill>
                  <a:schemeClr val="bg2"/>
                </a:solidFill>
              </a:rPr>
              <a:t>Essential </a:t>
            </a:r>
            <a:r>
              <a:rPr lang="en-GB" sz="3000" b="1" dirty="0">
                <a:solidFill>
                  <a:schemeClr val="bg1"/>
                </a:solidFill>
              </a:rPr>
              <a:t>commands</a:t>
            </a:r>
          </a:p>
          <a:p>
            <a:pPr marL="457200" indent="-457200">
              <a:lnSpc>
                <a:spcPts val="4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000" b="1" dirty="0">
                <a:solidFill>
                  <a:schemeClr val="bg2"/>
                </a:solidFill>
              </a:rPr>
              <a:t>Creating and applying migrations</a:t>
            </a:r>
          </a:p>
          <a:p>
            <a:pPr marL="457200" indent="-457200">
              <a:lnSpc>
                <a:spcPts val="4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000" b="1" dirty="0">
                <a:solidFill>
                  <a:schemeClr val="bg2"/>
                </a:solidFill>
              </a:rPr>
              <a:t>Customizing </a:t>
            </a:r>
            <a:r>
              <a:rPr lang="en-GB" sz="3000" b="1" dirty="0">
                <a:solidFill>
                  <a:schemeClr val="bg1"/>
                </a:solidFill>
              </a:rPr>
              <a:t>migration code</a:t>
            </a:r>
          </a:p>
          <a:p>
            <a:pPr marL="457200" indent="-457200">
              <a:lnSpc>
                <a:spcPts val="4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000" b="1" dirty="0">
                <a:solidFill>
                  <a:schemeClr val="bg2"/>
                </a:solidFill>
              </a:rPr>
              <a:t>Configuring and managing </a:t>
            </a:r>
            <a:r>
              <a:rPr lang="en-GB" sz="3000" b="1" dirty="0">
                <a:solidFill>
                  <a:schemeClr val="bg1"/>
                </a:solidFill>
              </a:rPr>
              <a:t>connection strings</a:t>
            </a:r>
          </a:p>
          <a:p>
            <a:pPr marL="457200" indent="-457200">
              <a:lnSpc>
                <a:spcPts val="4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000" b="1" dirty="0">
                <a:solidFill>
                  <a:schemeClr val="bg2"/>
                </a:solidFill>
              </a:rPr>
              <a:t>Organizing migrations and applying </a:t>
            </a:r>
            <a:br>
              <a:rPr lang="en-GB" sz="3000" b="1" dirty="0">
                <a:solidFill>
                  <a:schemeClr val="bg2"/>
                </a:solidFill>
              </a:rPr>
            </a:br>
            <a:r>
              <a:rPr lang="en-GB" sz="3000" b="1" dirty="0">
                <a:solidFill>
                  <a:schemeClr val="bg2"/>
                </a:solidFill>
              </a:rPr>
              <a:t>them in </a:t>
            </a:r>
            <a:r>
              <a:rPr lang="en-GB" sz="3000" b="1" dirty="0">
                <a:solidFill>
                  <a:schemeClr val="bg1"/>
                </a:solidFill>
              </a:rPr>
              <a:t>sequence</a:t>
            </a:r>
          </a:p>
          <a:p>
            <a:pPr marL="457200" indent="-457200">
              <a:lnSpc>
                <a:spcPts val="4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000" b="1" dirty="0">
                <a:solidFill>
                  <a:schemeClr val="bg2"/>
                </a:solidFill>
              </a:rPr>
              <a:t>Error Handling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623EBE3B-7413-4331-9507-5A08AA2ED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4009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about.softuni.bg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AE997FD-E274-429E-B3B4-ABB92184760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319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9B354B3-8082-4EF8-AEB2-9DC8B40AB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307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16642</TotalTime>
  <Words>1952</Words>
  <Application>Microsoft Office PowerPoint</Application>
  <PresentationFormat>Widescreen</PresentationFormat>
  <Paragraphs>330</Paragraphs>
  <Slides>52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Consolas</vt:lpstr>
      <vt:lpstr>Wingdings</vt:lpstr>
      <vt:lpstr>Wingdings 2</vt:lpstr>
      <vt:lpstr>SoftUni</vt:lpstr>
      <vt:lpstr>EF Core Migrations</vt:lpstr>
      <vt:lpstr>Have a Question?</vt:lpstr>
      <vt:lpstr>Table of Contents</vt:lpstr>
      <vt:lpstr>Migrations Overview</vt:lpstr>
      <vt:lpstr>Migrations in EF Core</vt:lpstr>
      <vt:lpstr>How do Migrations Function</vt:lpstr>
      <vt:lpstr>How do Migrations Function</vt:lpstr>
      <vt:lpstr>EntityFrameworkCore.Tools</vt:lpstr>
      <vt:lpstr>Create Migration – NuGet Packages</vt:lpstr>
      <vt:lpstr>Create Migration – Package Manager Console</vt:lpstr>
      <vt:lpstr>Create Migration – Migration Source Files</vt:lpstr>
      <vt:lpstr>Applying Migrations</vt:lpstr>
      <vt:lpstr>Database Update</vt:lpstr>
      <vt:lpstr>How It Works?</vt:lpstr>
      <vt:lpstr>Understanding the Connection String</vt:lpstr>
      <vt:lpstr>Connection String Components</vt:lpstr>
      <vt:lpstr>Configuring the Connection String</vt:lpstr>
      <vt:lpstr>Running the 'Update-Database' Command</vt:lpstr>
      <vt:lpstr>Managing Migrations</vt:lpstr>
      <vt:lpstr>Evolving the Model</vt:lpstr>
      <vt:lpstr>Creating a New Migration</vt:lpstr>
      <vt:lpstr>Migration File</vt:lpstr>
      <vt:lpstr>Remove a Migration Before Applying It</vt:lpstr>
      <vt:lpstr>Remove-Migration</vt:lpstr>
      <vt:lpstr>Practical Example</vt:lpstr>
      <vt:lpstr>Applying the Migration</vt:lpstr>
      <vt:lpstr>Listing All Migrations</vt:lpstr>
      <vt:lpstr>Resetting All Migrations</vt:lpstr>
      <vt:lpstr>Customize Migration Code</vt:lpstr>
      <vt:lpstr>Why Customize Migrations</vt:lpstr>
      <vt:lpstr>How to Customize Migrations</vt:lpstr>
      <vt:lpstr>Create Custom Migration</vt:lpstr>
      <vt:lpstr>Tip</vt:lpstr>
      <vt:lpstr>What Else Could Be Customized?</vt:lpstr>
      <vt:lpstr>Multiple Providers</vt:lpstr>
      <vt:lpstr>Multiple Db Providers</vt:lpstr>
      <vt:lpstr>Reasons to Work With Multiple Providers</vt:lpstr>
      <vt:lpstr>PostgreSQL in EF Core</vt:lpstr>
      <vt:lpstr>Creating Migrations</vt:lpstr>
      <vt:lpstr>Setting Up Environment Variables</vt:lpstr>
      <vt:lpstr>Setting Up Environment Variables</vt:lpstr>
      <vt:lpstr>Creating a Migration for PostgreSQL</vt:lpstr>
      <vt:lpstr>PostgreSQL Migration File</vt:lpstr>
      <vt:lpstr>Error Handling</vt:lpstr>
      <vt:lpstr>Model and Database Schema Mismatch</vt:lpstr>
      <vt:lpstr>Migration Conflicts</vt:lpstr>
      <vt:lpstr>Migration Conflicts</vt:lpstr>
      <vt:lpstr>SQL Syntax Errors</vt:lpstr>
      <vt:lpstr>Data Loss Issues</vt:lpstr>
      <vt:lpstr>Summary</vt:lpstr>
      <vt:lpstr>Trainings @ Software University (SoftUni)</vt:lpstr>
      <vt:lpstr>License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Auto Mapping Objects</dc:title>
  <dc:subject>Software Development Course</dc:subject>
  <dc:creator>Software University</dc:creator>
  <cp:keywords>Databases; SQL; programming; SoftUni; Software University; programming; software development; software engineering; course; database systems</cp:keywords>
  <dc:description>© SoftUni – https://about.softuni.bg/
© Software University – https://softuni.bg
Copyrighted document. Unauthorized copy, reproduction or use is not permitted.</dc:description>
  <cp:lastModifiedBy>Krasimir Tsanev</cp:lastModifiedBy>
  <cp:revision>98</cp:revision>
  <dcterms:created xsi:type="dcterms:W3CDTF">2018-05-23T13:08:44Z</dcterms:created>
  <dcterms:modified xsi:type="dcterms:W3CDTF">2025-10-13T06:00:52Z</dcterms:modified>
  <cp:category>db;databases;sql;programming;computer programming;software development</cp:category>
</cp:coreProperties>
</file>