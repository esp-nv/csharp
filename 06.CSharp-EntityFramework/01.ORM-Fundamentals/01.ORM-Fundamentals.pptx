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2"/>
  </p:notesMasterIdLst>
  <p:handoutMasterIdLst>
    <p:handoutMasterId r:id="rId43"/>
  </p:handoutMasterIdLst>
  <p:sldIdLst>
    <p:sldId id="1304" r:id="rId2"/>
    <p:sldId id="1306" r:id="rId3"/>
    <p:sldId id="1305" r:id="rId4"/>
    <p:sldId id="473" r:id="rId5"/>
    <p:sldId id="550" r:id="rId6"/>
    <p:sldId id="551" r:id="rId7"/>
    <p:sldId id="552" r:id="rId8"/>
    <p:sldId id="580" r:id="rId9"/>
    <p:sldId id="553" r:id="rId10"/>
    <p:sldId id="554" r:id="rId11"/>
    <p:sldId id="555" r:id="rId12"/>
    <p:sldId id="556" r:id="rId13"/>
    <p:sldId id="1307" r:id="rId14"/>
    <p:sldId id="1308" r:id="rId15"/>
    <p:sldId id="1309" r:id="rId16"/>
    <p:sldId id="1266" r:id="rId17"/>
    <p:sldId id="1334" r:id="rId18"/>
    <p:sldId id="1310" r:id="rId19"/>
    <p:sldId id="1311" r:id="rId20"/>
    <p:sldId id="1312" r:id="rId21"/>
    <p:sldId id="1313" r:id="rId22"/>
    <p:sldId id="1314" r:id="rId23"/>
    <p:sldId id="1315" r:id="rId24"/>
    <p:sldId id="1316" r:id="rId25"/>
    <p:sldId id="1317" r:id="rId26"/>
    <p:sldId id="1318" r:id="rId27"/>
    <p:sldId id="1319" r:id="rId28"/>
    <p:sldId id="1325" r:id="rId29"/>
    <p:sldId id="1326" r:id="rId30"/>
    <p:sldId id="1327" r:id="rId31"/>
    <p:sldId id="1328" r:id="rId32"/>
    <p:sldId id="1320" r:id="rId33"/>
    <p:sldId id="1321" r:id="rId34"/>
    <p:sldId id="1329" r:id="rId35"/>
    <p:sldId id="1330" r:id="rId36"/>
    <p:sldId id="1331" r:id="rId37"/>
    <p:sldId id="1332" r:id="rId38"/>
    <p:sldId id="1333" r:id="rId39"/>
    <p:sldId id="405" r:id="rId40"/>
    <p:sldId id="49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96C676B-9A98-44CC-870E-C612917B22EC}">
          <p14:sldIdLst>
            <p14:sldId id="1304"/>
            <p14:sldId id="1306"/>
            <p14:sldId id="1305"/>
          </p14:sldIdLst>
        </p14:section>
        <p14:section name="ADO.NET" id="{9A07B4E4-4350-4410-8005-27DCEB251173}">
          <p14:sldIdLst>
            <p14:sldId id="473"/>
            <p14:sldId id="550"/>
            <p14:sldId id="551"/>
            <p14:sldId id="552"/>
            <p14:sldId id="580"/>
            <p14:sldId id="553"/>
            <p14:sldId id="554"/>
            <p14:sldId id="555"/>
            <p14:sldId id="556"/>
          </p14:sldIdLst>
        </p14:section>
        <p14:section name="Introduction to ORM" id="{160D947D-82E4-4CCF-B6C9-4AC94E860389}">
          <p14:sldIdLst>
            <p14:sldId id="1307"/>
            <p14:sldId id="1308"/>
            <p14:sldId id="1309"/>
            <p14:sldId id="1266"/>
            <p14:sldId id="1334"/>
            <p14:sldId id="1310"/>
          </p14:sldIdLst>
        </p14:section>
        <p14:section name="Entity Classes" id="{C6E3DF66-3E89-4F89-B6FB-F8A7FC85FD67}">
          <p14:sldIdLst>
            <p14:sldId id="1311"/>
            <p14:sldId id="1312"/>
            <p14:sldId id="1313"/>
            <p14:sldId id="1314"/>
          </p14:sldIdLst>
        </p14:section>
        <p14:section name="DBSet&lt;T&gt;" id="{C492C77A-8A78-46E2-988A-74BF2069354E}">
          <p14:sldIdLst>
            <p14:sldId id="1315"/>
            <p14:sldId id="1316"/>
            <p14:sldId id="1317"/>
          </p14:sldIdLst>
        </p14:section>
        <p14:section name="DBContext" id="{EFF87CB2-1643-4858-AB8F-931514AA709F}">
          <p14:sldIdLst>
            <p14:sldId id="1318"/>
            <p14:sldId id="1319"/>
          </p14:sldIdLst>
        </p14:section>
        <p14:section name="Reading Data" id="{F7E9D1C0-E98D-46B7-A118-6285CDB05925}">
          <p14:sldIdLst>
            <p14:sldId id="1325"/>
            <p14:sldId id="1326"/>
            <p14:sldId id="1327"/>
            <p14:sldId id="1328"/>
          </p14:sldIdLst>
        </p14:section>
        <p14:section name="ChangeTracker&lt;T&gt;" id="{6DE9C7AA-7775-4307-8DDD-FBF180A1DC7E}">
          <p14:sldIdLst>
            <p14:sldId id="1320"/>
            <p14:sldId id="1321"/>
          </p14:sldIdLst>
        </p14:section>
        <p14:section name="CRUD Operations" id="{07C5DD5A-ADE9-4824-BA26-B473E187505A}">
          <p14:sldIdLst>
            <p14:sldId id="1329"/>
            <p14:sldId id="1330"/>
            <p14:sldId id="1331"/>
            <p14:sldId id="1332"/>
          </p14:sldIdLst>
        </p14:section>
        <p14:section name="Conclusion" id="{EEF783E4-896D-4A40-8151-751DD59FA1E4}">
          <p14:sldIdLst>
            <p14:sldId id="1333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itsa Nenova" initials="RN" lastIdx="1" clrIdx="0">
    <p:extLst>
      <p:ext uri="{19B8F6BF-5375-455C-9EA6-DF929625EA0E}">
        <p15:presenceInfo xmlns:p15="http://schemas.microsoft.com/office/powerpoint/2012/main" userId="Rositsa Ne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40D"/>
    <a:srgbClr val="464646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5214" autoAdjust="0"/>
  </p:normalViewPr>
  <p:slideViewPr>
    <p:cSldViewPr showGuides="1">
      <p:cViewPr varScale="1">
        <p:scale>
          <a:sx n="110" d="100"/>
          <a:sy n="110" d="100"/>
        </p:scale>
        <p:origin x="76" y="9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DF5D7EEB-AE58-485E-B1B1-F941A0C70F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22692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DCE5897-7973-480C-BAB0-77AAF1FC55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155872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CBEC87A-2057-4E8F-B09F-247005666D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021561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710B338-2596-4EF8-BB75-3B2520A6FA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58876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02DC07B-7D12-4FF9-BFA7-47EAAA9796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88168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ABFFBB2-2683-4EAD-BFE9-3E39C26E6A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4534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2C8AECB-597F-4B78-8D32-2FBBE989A5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938246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77EECB2-82E3-47F5-99E8-C27B938D21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3249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08BEAA3-BA1B-46BF-8018-65D535A292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898153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DF5DA9C-1047-460F-B6FD-8A407C0E32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790837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584235-0FD7-49E1-B9F7-211DA6AB72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5012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604249B-1C2E-49C2-8FA3-95245C68F7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7564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2B0B870D-6EA3-4776-A1B9-7FE3AA7EE7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968627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33F69B4-A920-43C9-9E64-1AB8141FC8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79991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0813F72-BF7C-4970-8B58-1015D3D949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62325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7398A057-2F24-4A0A-9DC3-7A98730585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94964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399785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/SqlClie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ADO.NET and ORM Frameworks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ORM Fundamentals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1"/>
              <a:t>SoftUni</a:t>
            </a:r>
            <a:r>
              <a:rPr lang="en-US" dirty="0"/>
              <a:t> Team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000" y="2989472"/>
            <a:ext cx="3008564" cy="2282236"/>
          </a:xfrm>
          <a:prstGeom prst="rect">
            <a:avLst/>
          </a:prstGeom>
        </p:spPr>
      </p:pic>
      <p:pic>
        <p:nvPicPr>
          <p:cNvPr id="2" name="Picture 4" descr="Image result for ado png">
            <a:extLst>
              <a:ext uri="{FF2B5EF4-FFF2-40B4-BE49-F238E27FC236}">
                <a16:creationId xmlns:a16="http://schemas.microsoft.com/office/drawing/2014/main" id="{5CB8B4FB-C501-35A8-25DD-F59C79395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00" y="3177997"/>
            <a:ext cx="4067250" cy="95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54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3675" y="1281813"/>
            <a:ext cx="11804650" cy="53736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bg-BG" b="1" dirty="0"/>
          </a:p>
          <a:p>
            <a:pPr marL="0" indent="0" algn="ctr">
              <a:buNone/>
            </a:pPr>
            <a:r>
              <a:rPr lang="en-US" sz="7200" b="1" u="sng" dirty="0">
                <a:solidFill>
                  <a:schemeClr val="bg1"/>
                </a:solidFill>
              </a:rPr>
              <a:t>sli.do</a:t>
            </a:r>
            <a:br>
              <a:rPr lang="en-US" sz="6000" b="1" dirty="0"/>
            </a:br>
            <a:r>
              <a:rPr lang="en-US" sz="11500" b="1" noProof="1"/>
              <a:t>#</a:t>
            </a:r>
            <a:r>
              <a:rPr lang="en-US" sz="11500" b="1" dirty="0"/>
              <a:t>csharp-</a:t>
            </a:r>
            <a:r>
              <a:rPr lang="en-US" sz="11500" b="1" dirty="0" err="1"/>
              <a:t>db</a:t>
            </a:r>
            <a:endParaRPr lang="en-US" sz="11500" dirty="0"/>
          </a:p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822B85-1051-4105-933C-036C66AE1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00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500" dirty="0"/>
              <a:t>Traditional Data Access</a:t>
            </a:r>
            <a:endParaRPr lang="en-US" sz="3500" b="1" dirty="0"/>
          </a:p>
          <a:p>
            <a:r>
              <a:rPr lang="en-US" sz="3500" dirty="0"/>
              <a:t>ORM Technologies</a:t>
            </a:r>
          </a:p>
          <a:p>
            <a:pPr marL="860733" lvl="1" indent="-571500"/>
            <a:r>
              <a:rPr lang="en-US" sz="3200" dirty="0"/>
              <a:t>Basic Concepts</a:t>
            </a:r>
          </a:p>
          <a:p>
            <a:pPr marL="860733" lvl="1" indent="-571500"/>
            <a:r>
              <a:rPr lang="en-US" sz="3200" dirty="0"/>
              <a:t>Advantages and Disadvantages</a:t>
            </a:r>
          </a:p>
          <a:p>
            <a:r>
              <a:rPr lang="en-US" sz="3500" dirty="0"/>
              <a:t>ORM Features</a:t>
            </a:r>
          </a:p>
          <a:p>
            <a:pPr lvl="1"/>
            <a:r>
              <a:rPr lang="en-US" sz="3200" dirty="0"/>
              <a:t>Retrieving Entities from Database</a:t>
            </a:r>
          </a:p>
          <a:p>
            <a:pPr lvl="1"/>
            <a:r>
              <a:rPr lang="en-US" sz="3200" dirty="0"/>
              <a:t>Mapping Navigation Properties</a:t>
            </a:r>
          </a:p>
          <a:p>
            <a:pPr lvl="1"/>
            <a:r>
              <a:rPr lang="en-US" sz="3200" dirty="0"/>
              <a:t>Change Tracking</a:t>
            </a:r>
          </a:p>
          <a:p>
            <a:pPr lvl="1"/>
            <a:r>
              <a:rPr lang="en-US" sz="3200" dirty="0"/>
              <a:t>Generating SQL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EE39E9D-66A9-41C4-B9FB-FD0B9611B1C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02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619D-3D3C-4366-BA89-86CFBAF210D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ADO.NET</a:t>
            </a:r>
          </a:p>
        </p:txBody>
      </p:sp>
      <p:pic>
        <p:nvPicPr>
          <p:cNvPr id="2050" name="Picture 2" descr="Image result for ado.net architecture 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769" y="838200"/>
            <a:ext cx="365046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18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ADO.NET </a:t>
            </a:r>
            <a:r>
              <a:rPr lang="en-US" dirty="0"/>
              <a:t>is a standard </a:t>
            </a:r>
            <a:r>
              <a:rPr lang="en-US" b="1" dirty="0">
                <a:solidFill>
                  <a:schemeClr val="bg1"/>
                </a:solidFill>
              </a:rPr>
              <a:t>.NET class library </a:t>
            </a:r>
            <a:r>
              <a:rPr lang="en-US" dirty="0"/>
              <a:t>for accessing </a:t>
            </a:r>
            <a:br>
              <a:rPr lang="en-US" dirty="0"/>
            </a:br>
            <a:r>
              <a:rPr lang="en-US" dirty="0"/>
              <a:t>databases, processing data and XML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NuGet package for SQL Server: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Microsoft.Data.SqlClient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>
              <a:buClr>
                <a:schemeClr val="tx1"/>
              </a:buClr>
            </a:pP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https://github.com/dotnet/SqlClient</a:t>
            </a: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Supports connected, disconnected and ORM data </a:t>
            </a:r>
            <a:br>
              <a:rPr lang="bg-BG" dirty="0"/>
            </a:br>
            <a:r>
              <a:rPr lang="en-US" dirty="0"/>
              <a:t>access models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Excellent integration with </a:t>
            </a:r>
            <a:r>
              <a:rPr lang="en-US" b="1" dirty="0">
                <a:solidFill>
                  <a:schemeClr val="bg1"/>
                </a:solidFill>
              </a:rPr>
              <a:t>LINQ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Allows executing SQL in </a:t>
            </a:r>
            <a:r>
              <a:rPr lang="en-US" b="1" dirty="0">
                <a:solidFill>
                  <a:schemeClr val="bg1"/>
                </a:solidFill>
              </a:rPr>
              <a:t>RDBMS</a:t>
            </a:r>
            <a:r>
              <a:rPr lang="en-US" dirty="0"/>
              <a:t> systems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Allows accessing data in the </a:t>
            </a:r>
            <a:r>
              <a:rPr lang="en-US" b="1" dirty="0">
                <a:solidFill>
                  <a:schemeClr val="bg1"/>
                </a:solidFill>
              </a:rPr>
              <a:t>ORM</a:t>
            </a:r>
            <a:r>
              <a:rPr lang="en-US" dirty="0"/>
              <a:t> approach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ADO.NET?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04AFF9A-521D-4B10-8593-2BDA26E28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835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bg-BG" dirty="0"/>
              <a:t>Data </a:t>
            </a:r>
            <a:r>
              <a:rPr lang="en-US" dirty="0"/>
              <a:t>Providers are collections of classes that provide access to various databases</a:t>
            </a:r>
            <a:endParaRPr lang="bg-BG" dirty="0"/>
          </a:p>
          <a:p>
            <a:pPr lvl="1"/>
            <a:r>
              <a:rPr lang="en-US" dirty="0"/>
              <a:t>For different </a:t>
            </a:r>
            <a:r>
              <a:rPr lang="bg-BG" dirty="0"/>
              <a:t>RDBMS </a:t>
            </a:r>
            <a:r>
              <a:rPr lang="en-US" dirty="0"/>
              <a:t>systems different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Data Provider</a:t>
            </a:r>
            <a:r>
              <a:rPr lang="en-US" b="1" dirty="0">
                <a:solidFill>
                  <a:schemeClr val="bg1"/>
                </a:solidFill>
              </a:rPr>
              <a:t>s </a:t>
            </a:r>
            <a:br>
              <a:rPr lang="bg-BG" b="1" dirty="0">
                <a:solidFill>
                  <a:schemeClr val="bg1"/>
                </a:solidFill>
              </a:rPr>
            </a:br>
            <a:r>
              <a:rPr lang="en-US" dirty="0"/>
              <a:t>are available</a:t>
            </a:r>
            <a:endParaRPr lang="bg-BG" dirty="0"/>
          </a:p>
          <a:p>
            <a:pPr>
              <a:buClr>
                <a:schemeClr val="tx1"/>
              </a:buClr>
            </a:pPr>
            <a:r>
              <a:rPr lang="en-US" dirty="0"/>
              <a:t>Several</a:t>
            </a:r>
            <a:r>
              <a:rPr lang="bg-BG" dirty="0"/>
              <a:t> </a:t>
            </a:r>
            <a:r>
              <a:rPr lang="en-US" dirty="0"/>
              <a:t>common objects are defined</a:t>
            </a:r>
            <a:endParaRPr lang="bg-BG" dirty="0"/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Connection</a:t>
            </a:r>
            <a:r>
              <a:rPr lang="bg-BG" dirty="0"/>
              <a:t> – </a:t>
            </a:r>
            <a:r>
              <a:rPr lang="en-US" dirty="0"/>
              <a:t>to connect to the database</a:t>
            </a:r>
            <a:endParaRPr lang="bg-BG" dirty="0"/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Command</a:t>
            </a:r>
            <a:r>
              <a:rPr lang="bg-BG" dirty="0"/>
              <a:t> – </a:t>
            </a:r>
            <a:r>
              <a:rPr lang="en-US" dirty="0"/>
              <a:t>to run an</a:t>
            </a:r>
            <a:r>
              <a:rPr lang="bg-BG" dirty="0"/>
              <a:t> SQL</a:t>
            </a:r>
            <a:r>
              <a:rPr lang="en-US" dirty="0"/>
              <a:t> command</a:t>
            </a:r>
            <a:endParaRPr lang="bg-BG" dirty="0"/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DataReader</a:t>
            </a:r>
            <a:r>
              <a:rPr lang="bg-BG" dirty="0"/>
              <a:t> – </a:t>
            </a:r>
            <a:r>
              <a:rPr lang="en-US" dirty="0"/>
              <a:t>to retrieve data</a:t>
            </a:r>
            <a:endParaRPr lang="bg-BG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Providers in ADO.NET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925A07A-4854-4C6E-A25E-758740B7C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6185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chemeClr val="tx1"/>
              </a:buClr>
            </a:pPr>
            <a:r>
              <a:rPr lang="en-US" sz="3500" dirty="0"/>
              <a:t>Several standard </a:t>
            </a:r>
            <a:r>
              <a:rPr lang="bg-BG" sz="3500" dirty="0"/>
              <a:t>ADO.NET </a:t>
            </a:r>
            <a:r>
              <a:rPr lang="en-US" sz="3500" dirty="0"/>
              <a:t>Data Providers come as part of </a:t>
            </a:r>
            <a:br>
              <a:rPr lang="bg-BG" sz="3500" dirty="0"/>
            </a:br>
            <a:r>
              <a:rPr lang="en-US" sz="3500" dirty="0"/>
              <a:t>.NET Framework</a:t>
            </a:r>
            <a:endParaRPr lang="bg-BG" sz="3500" dirty="0"/>
          </a:p>
          <a:p>
            <a:pPr lvl="1">
              <a:buClr>
                <a:schemeClr val="tx1"/>
              </a:buClr>
            </a:pPr>
            <a:r>
              <a:rPr lang="bg-BG" b="1" noProof="1">
                <a:solidFill>
                  <a:schemeClr val="bg1"/>
                </a:solidFill>
              </a:rPr>
              <a:t>SqlClient</a:t>
            </a:r>
            <a:r>
              <a:rPr lang="bg-BG" dirty="0"/>
              <a:t> –</a:t>
            </a:r>
            <a:r>
              <a:rPr lang="en-US" dirty="0"/>
              <a:t> accessing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SQL Server</a:t>
            </a:r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OleDB</a:t>
            </a:r>
            <a:r>
              <a:rPr lang="bg-BG" dirty="0"/>
              <a:t> – </a:t>
            </a:r>
            <a:r>
              <a:rPr lang="en-US" dirty="0"/>
              <a:t>accessing standard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OLE DB </a:t>
            </a:r>
            <a:r>
              <a:rPr lang="en-US" dirty="0"/>
              <a:t>data sources</a:t>
            </a:r>
            <a:endParaRPr lang="bg-BG" dirty="0"/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Odbc</a:t>
            </a:r>
            <a:r>
              <a:rPr lang="bg-BG" dirty="0"/>
              <a:t> – </a:t>
            </a:r>
            <a:r>
              <a:rPr lang="en-US" dirty="0"/>
              <a:t>accessing standard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ODBC</a:t>
            </a:r>
            <a:r>
              <a:rPr lang="en-US" dirty="0"/>
              <a:t> data sources</a:t>
            </a:r>
            <a:endParaRPr lang="bg-BG" dirty="0"/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Oracle</a:t>
            </a:r>
            <a:r>
              <a:rPr lang="bg-BG" dirty="0"/>
              <a:t> – </a:t>
            </a:r>
            <a:r>
              <a:rPr lang="en-US" dirty="0"/>
              <a:t>accessing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Oracle</a:t>
            </a:r>
            <a:r>
              <a:rPr lang="en-US" dirty="0"/>
              <a:t> databases</a:t>
            </a:r>
            <a:endParaRPr lang="bg-BG" dirty="0"/>
          </a:p>
          <a:p>
            <a:pPr>
              <a:buClr>
                <a:schemeClr val="tx1"/>
              </a:buClr>
            </a:pPr>
            <a:r>
              <a:rPr lang="en-US" sz="3500" dirty="0"/>
              <a:t>Third party </a:t>
            </a:r>
            <a:r>
              <a:rPr lang="bg-BG" sz="3500" dirty="0"/>
              <a:t>Data Provider</a:t>
            </a:r>
            <a:r>
              <a:rPr lang="en-US" sz="3500" dirty="0"/>
              <a:t>s are available for</a:t>
            </a:r>
            <a:r>
              <a:rPr lang="bg-BG" sz="3500" dirty="0"/>
              <a:t>:</a:t>
            </a:r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MySQL</a:t>
            </a:r>
            <a:r>
              <a:rPr lang="en-US" dirty="0"/>
              <a:t>, </a:t>
            </a:r>
            <a:r>
              <a:rPr lang="bg-BG" b="1" dirty="0">
                <a:solidFill>
                  <a:schemeClr val="bg1"/>
                </a:solidFill>
              </a:rPr>
              <a:t>PostgreSQL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Interbase</a:t>
            </a:r>
            <a:r>
              <a:rPr lang="bg-BG" dirty="0"/>
              <a:t>, </a:t>
            </a:r>
            <a:r>
              <a:rPr lang="en-US" b="1" dirty="0">
                <a:solidFill>
                  <a:schemeClr val="bg1"/>
                </a:solidFill>
              </a:rPr>
              <a:t>DB2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SQLite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Other RDBMS systems and data sources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SQL Azure, Salesforce CRM, Amazon </a:t>
            </a:r>
            <a:r>
              <a:rPr lang="en-US" dirty="0" err="1"/>
              <a:t>SimpleDB</a:t>
            </a:r>
            <a:r>
              <a:rPr lang="en-US" dirty="0"/>
              <a:t>, …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Providers in</a:t>
            </a:r>
            <a:r>
              <a:rPr lang="bg-BG" dirty="0"/>
              <a:t> </a:t>
            </a:r>
            <a:r>
              <a:rPr lang="en-US" dirty="0"/>
              <a:t>ADO.NET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0D579D2-815D-4F89-9096-B4C01A8EA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22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8D96F7-AEC2-47E7-A66C-0FB4BF2F5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BB8C4E-4774-4C3D-A29C-75C21C63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.NET, EF, ADO.NET and Data Providers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3913A-A961-4C91-9541-FF3BB30E0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500" y="1288114"/>
            <a:ext cx="8505000" cy="534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4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Retrieving data in connected model</a:t>
            </a:r>
            <a:endParaRPr lang="bg-BG" dirty="0"/>
          </a:p>
          <a:p>
            <a:pPr lvl="1"/>
            <a:r>
              <a:rPr lang="en-US" dirty="0"/>
              <a:t>Open a connection</a:t>
            </a:r>
            <a:r>
              <a:rPr lang="bg-BG" dirty="0"/>
              <a:t> (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SqlConnection</a:t>
            </a:r>
            <a:r>
              <a:rPr lang="bg-BG" dirty="0"/>
              <a:t>)</a:t>
            </a:r>
          </a:p>
          <a:p>
            <a:pPr lvl="1"/>
            <a:r>
              <a:rPr lang="en-US" dirty="0"/>
              <a:t>Execute command (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SqlCommand</a:t>
            </a:r>
            <a:r>
              <a:rPr lang="bg-BG" dirty="0"/>
              <a:t>)</a:t>
            </a:r>
          </a:p>
          <a:p>
            <a:pPr lvl="1"/>
            <a:r>
              <a:rPr lang="en-US" dirty="0"/>
              <a:t>Process the result set of the query by</a:t>
            </a:r>
            <a:br>
              <a:rPr lang="en-US" dirty="0"/>
            </a:br>
            <a:r>
              <a:rPr lang="en-US" dirty="0"/>
              <a:t>using a reader</a:t>
            </a:r>
            <a:r>
              <a:rPr lang="bg-BG" dirty="0"/>
              <a:t> (</a:t>
            </a: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  <a:t>SqlDataReader</a:t>
            </a:r>
            <a:r>
              <a:rPr lang="bg-BG" dirty="0"/>
              <a:t>)</a:t>
            </a:r>
          </a:p>
          <a:p>
            <a:pPr lvl="1"/>
            <a:r>
              <a:rPr lang="en-US" dirty="0"/>
              <a:t>Close the reader</a:t>
            </a:r>
            <a:endParaRPr lang="bg-BG" dirty="0"/>
          </a:p>
          <a:p>
            <a:pPr lvl="1"/>
            <a:r>
              <a:rPr lang="en-US" dirty="0"/>
              <a:t>Close the connection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SqlClient and </a:t>
            </a:r>
            <a:r>
              <a:rPr lang="bg-BG"/>
              <a:t>ADO.NET</a:t>
            </a:r>
            <a:r>
              <a:rPr lang="en-US"/>
              <a:t> Connected Model</a:t>
            </a:r>
            <a:endParaRPr lang="en-US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9448800" y="3777624"/>
            <a:ext cx="2362200" cy="503237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  <a:alpha val="25000"/>
            </a:schemeClr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bg-BG" sz="2000" b="1" dirty="0">
                <a:latin typeface="Consolas" pitchFamily="49" charset="0"/>
                <a:cs typeface="Consolas" pitchFamily="49" charset="0"/>
              </a:rPr>
              <a:t>SqlConnection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9753600" y="2699709"/>
            <a:ext cx="2057400" cy="503238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  <a:alpha val="25000"/>
            </a:schemeClr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bg-BG" sz="2000" b="1" dirty="0">
                <a:latin typeface="Consolas" pitchFamily="49" charset="0"/>
                <a:cs typeface="Consolas" pitchFamily="49" charset="0"/>
              </a:rPr>
              <a:t>SqlCommand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9448800" y="1643065"/>
            <a:ext cx="2362200" cy="503237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  <a:alpha val="25000"/>
            </a:schemeClr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bg-BG" sz="2000" b="1" dirty="0">
                <a:latin typeface="Consolas" pitchFamily="49" charset="0"/>
                <a:cs typeface="Consolas" pitchFamily="49" charset="0"/>
              </a:rPr>
              <a:t>SqlDataReader</a:t>
            </a:r>
          </a:p>
        </p:txBody>
      </p:sp>
      <p:pic>
        <p:nvPicPr>
          <p:cNvPr id="12" name="Picture 2" descr="http://dryicons.com/images/icon_sets/aesthetica/png/128x128/databas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0" y="4800600"/>
            <a:ext cx="1676400" cy="1295400"/>
          </a:xfrm>
          <a:prstGeom prst="rect">
            <a:avLst/>
          </a:prstGeom>
          <a:noFill/>
        </p:spPr>
      </p:pic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0124592" y="6204668"/>
            <a:ext cx="1077987" cy="3416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b="1" dirty="0"/>
              <a:t>Database</a:t>
            </a:r>
            <a:endParaRPr lang="bg-BG" b="1" dirty="0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7631112" y="2264734"/>
            <a:ext cx="1970088" cy="411162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  <a:alpha val="25000"/>
            </a:schemeClr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noProof="1">
                <a:latin typeface="Consolas" pitchFamily="49" charset="0"/>
                <a:cs typeface="Consolas" pitchFamily="49" charset="0"/>
              </a:rPr>
              <a:t>SqlParameter</a:t>
            </a: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7620000" y="3225172"/>
            <a:ext cx="1970088" cy="411162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  <a:alpha val="25000"/>
            </a:schemeClr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noProof="1">
                <a:latin typeface="Consolas" pitchFamily="49" charset="0"/>
                <a:cs typeface="Consolas" pitchFamily="49" charset="0"/>
              </a:rPr>
              <a:t>SqlParameter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7467600" y="2743200"/>
            <a:ext cx="1970088" cy="411162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  <a:alpha val="25000"/>
            </a:schemeClr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noProof="1">
                <a:latin typeface="Consolas" pitchFamily="49" charset="0"/>
                <a:cs typeface="Consolas" pitchFamily="49" charset="0"/>
              </a:rPr>
              <a:t>SqlParameter</a:t>
            </a:r>
          </a:p>
        </p:txBody>
      </p:sp>
      <p:sp>
        <p:nvSpPr>
          <p:cNvPr id="5" name="Right Arrow 4"/>
          <p:cNvSpPr/>
          <p:nvPr/>
        </p:nvSpPr>
        <p:spPr bwMode="auto">
          <a:xfrm flipV="1">
            <a:off x="9415877" y="2944946"/>
            <a:ext cx="366754" cy="129197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ight Arrow 19"/>
          <p:cNvSpPr/>
          <p:nvPr/>
        </p:nvSpPr>
        <p:spPr bwMode="auto">
          <a:xfrm rot="19297049">
            <a:off x="9514701" y="3204819"/>
            <a:ext cx="391922" cy="118741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2841011">
            <a:off x="9504409" y="2645745"/>
            <a:ext cx="364677" cy="127608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ight Arrow 21"/>
          <p:cNvSpPr/>
          <p:nvPr/>
        </p:nvSpPr>
        <p:spPr bwMode="auto">
          <a:xfrm rot="5400000" flipV="1">
            <a:off x="10447563" y="2429329"/>
            <a:ext cx="364677" cy="14673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ight Arrow 22"/>
          <p:cNvSpPr/>
          <p:nvPr/>
        </p:nvSpPr>
        <p:spPr bwMode="auto">
          <a:xfrm rot="16200000" flipV="1">
            <a:off x="10441553" y="2329616"/>
            <a:ext cx="364677" cy="14673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ight Arrow 23"/>
          <p:cNvSpPr/>
          <p:nvPr/>
        </p:nvSpPr>
        <p:spPr bwMode="auto">
          <a:xfrm rot="5400000" flipV="1">
            <a:off x="10441552" y="4555085"/>
            <a:ext cx="364677" cy="14673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ight Arrow 24"/>
          <p:cNvSpPr/>
          <p:nvPr/>
        </p:nvSpPr>
        <p:spPr bwMode="auto">
          <a:xfrm rot="5400000" flipV="1">
            <a:off x="10447563" y="3499854"/>
            <a:ext cx="364677" cy="14673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ight Arrow 25"/>
          <p:cNvSpPr/>
          <p:nvPr/>
        </p:nvSpPr>
        <p:spPr bwMode="auto">
          <a:xfrm rot="16200000" flipV="1">
            <a:off x="10437303" y="3410186"/>
            <a:ext cx="364677" cy="14673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ight Arrow 26"/>
          <p:cNvSpPr/>
          <p:nvPr/>
        </p:nvSpPr>
        <p:spPr bwMode="auto">
          <a:xfrm rot="16200000" flipV="1">
            <a:off x="10447564" y="4436227"/>
            <a:ext cx="364677" cy="14673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Slide Number">
            <a:extLst>
              <a:ext uri="{FF2B5EF4-FFF2-40B4-BE49-F238E27FC236}">
                <a16:creationId xmlns:a16="http://schemas.microsoft.com/office/drawing/2014/main" id="{39654AA1-8BCB-4A4F-96E9-8C77D2BC4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7172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4" grpId="0" animBg="1"/>
      <p:bldP spid="15" grpId="0" animBg="1"/>
      <p:bldP spid="16" grpId="0" animBg="1"/>
      <p:bldP spid="5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ORM data access model </a:t>
            </a:r>
            <a:r>
              <a:rPr lang="en-US" dirty="0"/>
              <a:t>(Entity Framework Core)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Maps </a:t>
            </a:r>
            <a:r>
              <a:rPr lang="en-US" b="1" dirty="0">
                <a:solidFill>
                  <a:schemeClr val="bg1"/>
                </a:solidFill>
              </a:rPr>
              <a:t>database tables </a:t>
            </a:r>
            <a:r>
              <a:rPr lang="en-US" dirty="0"/>
              <a:t>to </a:t>
            </a:r>
            <a:r>
              <a:rPr lang="en-US" b="1" dirty="0">
                <a:solidFill>
                  <a:schemeClr val="bg1"/>
                </a:solidFill>
              </a:rPr>
              <a:t>classes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objects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Objects can be </a:t>
            </a:r>
            <a:r>
              <a:rPr lang="en-US" b="1" dirty="0">
                <a:solidFill>
                  <a:schemeClr val="bg1"/>
                </a:solidFill>
              </a:rPr>
              <a:t>automatically persisted </a:t>
            </a:r>
            <a:r>
              <a:rPr lang="en-US" dirty="0"/>
              <a:t>in the database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Can operate in both connected and disconnected modes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ORM (Object-Relational Mapping)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DDE833-3B63-4CF7-95EB-521A32118FAD}"/>
              </a:ext>
            </a:extLst>
          </p:cNvPr>
          <p:cNvGrpSpPr/>
          <p:nvPr/>
        </p:nvGrpSpPr>
        <p:grpSpPr>
          <a:xfrm>
            <a:off x="6810828" y="3765481"/>
            <a:ext cx="4942202" cy="2899675"/>
            <a:chOff x="3354507" y="4185837"/>
            <a:chExt cx="6487105" cy="3361812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6574052" y="4185837"/>
              <a:ext cx="2351086" cy="12954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 lIns="36000" rIns="36000">
              <a:noAutofit/>
              <a:scene3d>
                <a:camera prst="orthographicFront"/>
                <a:lightRig rig="threePt" dir="t"/>
              </a:scene3d>
              <a:sp3d extrusionH="57150">
                <a:bevelT h="25400" prst="softRound"/>
              </a:sp3d>
            </a:bodyPr>
            <a:lstStyle/>
            <a:p>
              <a:pPr algn="ctr" eaLnBrk="0" hangingPunct="0">
                <a:lnSpc>
                  <a:spcPct val="95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  <a:cs typeface="Consolas" pitchFamily="49" charset="0"/>
                </a:rPr>
                <a:t>ORM</a:t>
              </a:r>
            </a:p>
            <a:p>
              <a:pPr algn="ctr" eaLnBrk="0" hangingPunct="0">
                <a:lnSpc>
                  <a:spcPct val="95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  <a:cs typeface="Consolas" pitchFamily="49" charset="0"/>
                </a:rPr>
                <a:t>Framework</a:t>
              </a:r>
            </a:p>
          </p:txBody>
        </p:sp>
        <p:sp>
          <p:nvSpPr>
            <p:cNvPr id="6" name="Rounded Rectangle 5"/>
            <p:cNvSpPr>
              <a:spLocks noChangeArrowheads="1"/>
            </p:cNvSpPr>
            <p:nvPr/>
          </p:nvSpPr>
          <p:spPr bwMode="auto">
            <a:xfrm>
              <a:off x="3354507" y="4185837"/>
              <a:ext cx="2158999" cy="1287462"/>
            </a:xfrm>
            <a:prstGeom prst="roundRect">
              <a:avLst>
                <a:gd name="adj" fmla="val 3857"/>
              </a:avLst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  <a:effectLst/>
          </p:spPr>
          <p:txBody>
            <a:bodyPr wrap="square">
              <a:noAutofit/>
              <a:scene3d>
                <a:camera prst="orthographicFront"/>
                <a:lightRig rig="threePt" dir="t"/>
              </a:scene3d>
              <a:sp3d extrusionH="57150">
                <a:bevelT h="25400" prst="softRound"/>
              </a:sp3d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  <a:cs typeface="Consolas" pitchFamily="49" charset="0"/>
                </a:rPr>
                <a:t>OO</a:t>
              </a:r>
            </a:p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  <a:cs typeface="Consolas" pitchFamily="49" charset="0"/>
                </a:rPr>
                <a:t>Programming</a:t>
              </a:r>
            </a:p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latin typeface="Consolas" pitchFamily="49" charset="0"/>
                  <a:cs typeface="Consolas" pitchFamily="49" charset="0"/>
                </a:rPr>
                <a:t>Language</a:t>
              </a:r>
            </a:p>
          </p:txBody>
        </p:sp>
        <p:pic>
          <p:nvPicPr>
            <p:cNvPr id="15" name="Picture 2" descr="http://dryicons.com/images/icon_sets/aesthetica/png/128x128/databas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1397" y="6252249"/>
              <a:ext cx="1676401" cy="1295400"/>
            </a:xfrm>
            <a:prstGeom prst="rect">
              <a:avLst/>
            </a:prstGeom>
            <a:noFill/>
          </p:spPr>
        </p:pic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8763625" y="6128468"/>
              <a:ext cx="1077987" cy="3416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 extrusionH="57150">
                <a:bevelT h="25400" prst="softRound"/>
              </a:sp3d>
            </a:bodyPr>
            <a:lstStyle/>
            <a:p>
              <a:pPr algn="ctr" eaLnBrk="1" hangingPunct="1">
                <a:lnSpc>
                  <a:spcPct val="90000"/>
                </a:lnSpc>
              </a:pPr>
              <a:r>
                <a:rPr lang="en-US" b="1" dirty="0"/>
                <a:t>Database</a:t>
              </a:r>
              <a:endParaRPr lang="bg-BG" b="1" dirty="0"/>
            </a:p>
          </p:txBody>
        </p:sp>
      </p:grpSp>
      <p:sp>
        <p:nvSpPr>
          <p:cNvPr id="17" name="Slide Number">
            <a:extLst>
              <a:ext uri="{FF2B5EF4-FFF2-40B4-BE49-F238E27FC236}">
                <a16:creationId xmlns:a16="http://schemas.microsoft.com/office/drawing/2014/main" id="{EA2C68BB-269D-4FEA-B772-36B8A13D8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161869-C37F-43FB-802C-EF1938A91867}"/>
              </a:ext>
            </a:extLst>
          </p:cNvPr>
          <p:cNvGrpSpPr/>
          <p:nvPr/>
        </p:nvGrpSpPr>
        <p:grpSpPr>
          <a:xfrm>
            <a:off x="723066" y="4574891"/>
            <a:ext cx="1721168" cy="1330372"/>
            <a:chOff x="2811176" y="3543293"/>
            <a:chExt cx="3349407" cy="259112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3F36CD8-69A2-4E72-8D2D-2BB2CEDFC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11176" y="3543293"/>
              <a:ext cx="2420391" cy="2591124"/>
            </a:xfrm>
            <a:prstGeom prst="rect">
              <a:avLst/>
            </a:prstGeom>
          </p:spPr>
        </p:pic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200D28F6-6916-4D1D-945F-77E532D00902}"/>
                </a:ext>
              </a:extLst>
            </p:cNvPr>
            <p:cNvSpPr/>
            <p:nvPr/>
          </p:nvSpPr>
          <p:spPr>
            <a:xfrm>
              <a:off x="5564723" y="4555452"/>
              <a:ext cx="595860" cy="56680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7E94F21-800A-7081-9661-9A0E5819E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6480" y="4074528"/>
            <a:ext cx="3778263" cy="2157983"/>
          </a:xfrm>
          <a:prstGeom prst="rect">
            <a:avLst/>
          </a:prstGeom>
        </p:spPr>
      </p:pic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65FBA824-EAFC-0A4E-E59F-10DE3D8E651D}"/>
              </a:ext>
            </a:extLst>
          </p:cNvPr>
          <p:cNvSpPr/>
          <p:nvPr/>
        </p:nvSpPr>
        <p:spPr bwMode="auto">
          <a:xfrm>
            <a:off x="8579064" y="4230734"/>
            <a:ext cx="540000" cy="179971"/>
          </a:xfrm>
          <a:prstGeom prst="left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555731D9-900B-E245-A1C8-1582CC427DB9}"/>
              </a:ext>
            </a:extLst>
          </p:cNvPr>
          <p:cNvSpPr/>
          <p:nvPr/>
        </p:nvSpPr>
        <p:spPr bwMode="auto">
          <a:xfrm rot="5400000">
            <a:off x="9889227" y="5150092"/>
            <a:ext cx="540000" cy="179971"/>
          </a:xfrm>
          <a:prstGeom prst="left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100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ORM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benefits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Less code</a:t>
            </a:r>
          </a:p>
          <a:p>
            <a:pPr lvl="1">
              <a:buClr>
                <a:schemeClr val="tx1"/>
              </a:buClr>
            </a:pPr>
            <a:r>
              <a:rPr lang="da-DK" dirty="0"/>
              <a:t>Use objects with </a:t>
            </a:r>
            <a:r>
              <a:rPr lang="da-DK" b="1" dirty="0">
                <a:solidFill>
                  <a:schemeClr val="bg1"/>
                </a:solidFill>
              </a:rPr>
              <a:t>associations</a:t>
            </a:r>
            <a:r>
              <a:rPr lang="da-DK" dirty="0"/>
              <a:t> instead of tables and SQL</a:t>
            </a:r>
          </a:p>
          <a:p>
            <a:pPr lvl="1">
              <a:buClr>
                <a:schemeClr val="tx1"/>
              </a:buClr>
            </a:pPr>
            <a:r>
              <a:rPr lang="da-DK" dirty="0"/>
              <a:t>Integrated object query mechanism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ORM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drawbacks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/>
              <a:t>Less flexibility</a:t>
            </a:r>
          </a:p>
          <a:p>
            <a:pPr lvl="2"/>
            <a:r>
              <a:rPr lang="en-US" dirty="0"/>
              <a:t>SQL is automatically generated</a:t>
            </a:r>
          </a:p>
          <a:p>
            <a:pPr lvl="1"/>
            <a:r>
              <a:rPr lang="en-US" dirty="0"/>
              <a:t>Performance issues (sometimes)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ORM – Benefits and Problems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F99226-D64B-4691-986A-060187009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Entity Framework Core </a:t>
            </a:r>
            <a:r>
              <a:rPr lang="en-US" dirty="0"/>
              <a:t>is a generic </a:t>
            </a:r>
            <a:r>
              <a:rPr lang="en-US" b="1" dirty="0">
                <a:solidFill>
                  <a:schemeClr val="bg1"/>
                </a:solidFill>
              </a:rPr>
              <a:t>ORM</a:t>
            </a:r>
            <a:r>
              <a:rPr lang="en-US" dirty="0"/>
              <a:t> framework</a:t>
            </a:r>
          </a:p>
          <a:p>
            <a:pPr lvl="2">
              <a:buClr>
                <a:schemeClr val="tx1"/>
              </a:buClr>
            </a:pPr>
            <a:r>
              <a:rPr lang="en-US" sz="3200" dirty="0"/>
              <a:t>Create entity data model mapping the database</a:t>
            </a:r>
          </a:p>
          <a:p>
            <a:pPr lvl="2">
              <a:buClr>
                <a:schemeClr val="tx1"/>
              </a:buClr>
            </a:pPr>
            <a:r>
              <a:rPr lang="en-US" sz="3200" dirty="0"/>
              <a:t>Open an object context</a:t>
            </a:r>
            <a:endParaRPr lang="bg-BG" sz="3200" dirty="0"/>
          </a:p>
          <a:p>
            <a:pPr lvl="2">
              <a:buClr>
                <a:schemeClr val="tx1"/>
              </a:buClr>
            </a:pPr>
            <a:r>
              <a:rPr lang="en-US" sz="3200" dirty="0"/>
              <a:t>Retrieve data with LINQ / modify the tables in the </a:t>
            </a:r>
            <a:br>
              <a:rPr lang="bg-BG" sz="3200" dirty="0"/>
            </a:br>
            <a:r>
              <a:rPr lang="en-US" sz="3200" dirty="0"/>
              <a:t>object context</a:t>
            </a:r>
          </a:p>
          <a:p>
            <a:pPr lvl="2">
              <a:buClr>
                <a:schemeClr val="tx1"/>
              </a:buClr>
            </a:pPr>
            <a:r>
              <a:rPr lang="en-US" sz="3200" dirty="0"/>
              <a:t>Persist the object context changes into the DB</a:t>
            </a:r>
            <a:endParaRPr lang="bg-BG" sz="3200" dirty="0"/>
          </a:p>
          <a:p>
            <a:pPr lvl="2">
              <a:buClr>
                <a:schemeClr val="tx1"/>
              </a:buClr>
            </a:pPr>
            <a:r>
              <a:rPr lang="en-US" sz="3200" dirty="0"/>
              <a:t>Connection is automatically managed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ADO.NET: Entity Framework Core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7A6A4B3-CD4B-4515-B146-08B001299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036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10E6-3490-4093-A463-EEB8F04263F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Introduction to ORM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769109"/>
            <a:ext cx="6705598" cy="3702628"/>
          </a:xfrm>
          <a:prstGeom prst="roundRect">
            <a:avLst>
              <a:gd name="adj" fmla="val 10811"/>
            </a:avLst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6494906D-DAC4-4689-A5D6-51EA0A1CF522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Object-Relational Mapping</a:t>
            </a:r>
          </a:p>
        </p:txBody>
      </p:sp>
    </p:spTree>
    <p:extLst>
      <p:ext uri="{BB962C8B-B14F-4D97-AF65-F5344CB8AC3E}">
        <p14:creationId xmlns:p14="http://schemas.microsoft.com/office/powerpoint/2010/main" val="254859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2041766" y="1212411"/>
            <a:ext cx="10129234" cy="554658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Object-Relational Mapping </a:t>
            </a:r>
            <a:r>
              <a:rPr lang="en-US" dirty="0"/>
              <a:t>(ORM) allows </a:t>
            </a:r>
            <a:br>
              <a:rPr lang="en-US" dirty="0"/>
            </a:br>
            <a:r>
              <a:rPr lang="en-US" dirty="0"/>
              <a:t>manipulating databases </a:t>
            </a:r>
            <a:r>
              <a:rPr lang="en-US" b="1" dirty="0">
                <a:solidFill>
                  <a:schemeClr val="bg1"/>
                </a:solidFill>
              </a:rPr>
              <a:t>using common classes </a:t>
            </a:r>
            <a:br>
              <a:rPr lang="bg-BG" b="1" dirty="0">
                <a:solidFill>
                  <a:schemeClr val="bg1"/>
                </a:solidFill>
              </a:rPr>
            </a:br>
            <a:r>
              <a:rPr lang="en-US" dirty="0"/>
              <a:t>and</a:t>
            </a:r>
            <a:r>
              <a:rPr lang="en-US" b="1" dirty="0">
                <a:solidFill>
                  <a:schemeClr val="bg1"/>
                </a:solidFill>
              </a:rPr>
              <a:t> objects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Database Tables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C#/Java/etc. classes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ORM?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D9456A-AAEA-4CFD-A4F3-BD682D0EA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401000" y="3834000"/>
            <a:ext cx="4074708" cy="2586464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CDD821-449B-4EFD-BF45-5A442F93B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755" y="3829340"/>
            <a:ext cx="2420391" cy="259112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85BFB93-E3A2-4A7E-8CCE-369EC23FEDD4}"/>
              </a:ext>
            </a:extLst>
          </p:cNvPr>
          <p:cNvSpPr/>
          <p:nvPr/>
        </p:nvSpPr>
        <p:spPr>
          <a:xfrm>
            <a:off x="6121643" y="4841499"/>
            <a:ext cx="595859" cy="5668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2580FDC-E29C-4E71-AF4C-5D4A09FF2EF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2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04732-9763-494E-B412-88A863C9157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ORM frameworks </a:t>
            </a:r>
            <a:r>
              <a:rPr lang="en-US" dirty="0"/>
              <a:t>typically </a:t>
            </a:r>
            <a:r>
              <a:rPr lang="en-US" b="1" dirty="0">
                <a:solidFill>
                  <a:schemeClr val="bg1"/>
                </a:solidFill>
              </a:rPr>
              <a:t>provide</a:t>
            </a:r>
            <a:r>
              <a:rPr lang="en-US" dirty="0"/>
              <a:t> the following functionality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Automatically generate SQL </a:t>
            </a:r>
            <a:r>
              <a:rPr lang="en-US" dirty="0"/>
              <a:t>to perform data operations</a:t>
            </a:r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Create object model from database schema </a:t>
            </a:r>
            <a:r>
              <a:rPr lang="en-US" dirty="0"/>
              <a:t>(DB First model)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Create database schema from object model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dirty="0"/>
              <a:t>(</a:t>
            </a:r>
            <a:r>
              <a:rPr lang="en-US" dirty="0"/>
              <a:t>Code First model)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Query data by object-oriented API </a:t>
            </a:r>
            <a:r>
              <a:rPr lang="en-US" dirty="0"/>
              <a:t>(e.g., LINQ queries)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C90218-6CEC-4DC6-9F54-4C18F53F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ORM Frameworks: Features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9964865-E965-443F-8463-D8D318E2144F}"/>
              </a:ext>
            </a:extLst>
          </p:cNvPr>
          <p:cNvSpPr/>
          <p:nvPr/>
        </p:nvSpPr>
        <p:spPr>
          <a:xfrm>
            <a:off x="5846582" y="3145597"/>
            <a:ext cx="595859" cy="5668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5" name="TextBox 4"/>
          <p:cNvSpPr txBox="1"/>
          <p:nvPr/>
        </p:nvSpPr>
        <p:spPr>
          <a:xfrm>
            <a:off x="606000" y="2664000"/>
            <a:ext cx="4962042" cy="172480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/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database.Employees.Add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(new Employee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FirstName = 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George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LastName = 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Peterson</a:t>
            </a:r>
            <a:r>
              <a:rPr lang="bg-BG" b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IsEmployed = true    });</a:t>
            </a:r>
            <a:endParaRPr lang="bg-BG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20982" y="2740239"/>
            <a:ext cx="4962042" cy="157232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INSERT INTO Employees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(FirstName, LastName, IsEmployed)</a:t>
            </a:r>
          </a:p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VALUES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George 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Peterson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1)</a:t>
            </a:r>
            <a:endParaRPr lang="bg-BG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EBDD8C86-1753-4BC5-8D09-E70E1FC7B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0501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48667-56EE-45C2-BE62-F8164DE5B83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Database First model </a:t>
            </a:r>
            <a:r>
              <a:rPr lang="en-US" dirty="0"/>
              <a:t>-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models the entity classes after </a:t>
            </a:r>
            <a:br>
              <a:rPr lang="bg-BG" dirty="0"/>
            </a:br>
            <a:r>
              <a:rPr lang="en-US" dirty="0"/>
              <a:t>the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383147-6342-4630-9C10-06F61F79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First Model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9B7A457-4650-455A-BC28-638AABD92396}"/>
              </a:ext>
            </a:extLst>
          </p:cNvPr>
          <p:cNvSpPr/>
          <p:nvPr/>
        </p:nvSpPr>
        <p:spPr>
          <a:xfrm>
            <a:off x="6322675" y="4036605"/>
            <a:ext cx="813907" cy="6190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8483B-4047-4A32-8169-92A18C46E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41000" y="2766791"/>
            <a:ext cx="5106113" cy="31532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070704-862A-431C-AC38-00A83460F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8015" y="3348219"/>
            <a:ext cx="3282343" cy="1990356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189E6C41-384B-405C-A330-DBD935C28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7114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48667-56EE-45C2-BE62-F8164DE5B83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Code-first model </a:t>
            </a:r>
            <a:r>
              <a:rPr lang="en-US" dirty="0"/>
              <a:t>-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begins with classes that describe the model and then the ORM generates a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383147-6342-4630-9C10-06F61F79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Code-First Model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9B7A457-4650-455A-BC28-638AABD92396}"/>
              </a:ext>
            </a:extLst>
          </p:cNvPr>
          <p:cNvSpPr/>
          <p:nvPr/>
        </p:nvSpPr>
        <p:spPr>
          <a:xfrm>
            <a:off x="5060319" y="4062541"/>
            <a:ext cx="813907" cy="61904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070704-862A-431C-AC38-00A83460F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9753" y="3438758"/>
            <a:ext cx="3078274" cy="1866612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189E6C41-384B-405C-A330-DBD935C28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BFAD24-E944-44D8-84D1-AFF78B497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366910" y="2709000"/>
            <a:ext cx="5386120" cy="332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Advantages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Developer productivity – </a:t>
            </a:r>
            <a:r>
              <a:rPr lang="en-US" b="1" dirty="0">
                <a:solidFill>
                  <a:schemeClr val="bg1"/>
                </a:solidFill>
              </a:rPr>
              <a:t>writing less code</a:t>
            </a:r>
          </a:p>
          <a:p>
            <a:pPr lvl="1">
              <a:buClr>
                <a:schemeClr val="tx1"/>
              </a:buClr>
            </a:pPr>
            <a:r>
              <a:rPr lang="da-DK" dirty="0"/>
              <a:t>Abstract from differences between object and relational world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Manageability of the CRUD operations </a:t>
            </a:r>
            <a:r>
              <a:rPr lang="en-US" dirty="0"/>
              <a:t>for complex relationships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Easier maintainability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Disadvantages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Reduced performance </a:t>
            </a:r>
            <a:r>
              <a:rPr lang="en-US" dirty="0"/>
              <a:t>(due to overhead or autogenerated SQL)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Reduces flexibility </a:t>
            </a:r>
            <a:r>
              <a:rPr lang="en-US" dirty="0"/>
              <a:t>(some operations are hard to implement)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ORM Advantages and Disadvantages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8FC4AD5-6FCF-43CF-881E-3A6478EFD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12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E9BE62-3BBB-43DA-AAE5-9881988CF7E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Entity Classes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F1EF0BB-F5EF-4CE4-BF37-AF154023DE00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Data Holders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89FA72-EA32-4ACA-BA91-43CE46BA95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000" y="1494000"/>
            <a:ext cx="2404316" cy="240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8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95CAFB-2539-410E-81FC-DB15621B4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Classes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EE1B38-3F1F-4DB7-9405-63CF5E64B8C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Entity classes </a:t>
            </a:r>
            <a:r>
              <a:rPr lang="en-US" dirty="0"/>
              <a:t>are regular </a:t>
            </a:r>
            <a:r>
              <a:rPr lang="en-US" b="1" dirty="0">
                <a:solidFill>
                  <a:schemeClr val="bg1"/>
                </a:solidFill>
              </a:rPr>
              <a:t>C# classes</a:t>
            </a:r>
          </a:p>
          <a:p>
            <a:pPr>
              <a:buClr>
                <a:schemeClr val="tx1"/>
              </a:buClr>
            </a:pPr>
            <a:r>
              <a:rPr lang="en-US" dirty="0"/>
              <a:t>Used for </a:t>
            </a:r>
            <a:r>
              <a:rPr lang="en-US" b="1" dirty="0">
                <a:solidFill>
                  <a:schemeClr val="bg1"/>
                </a:solidFill>
              </a:rPr>
              <a:t>storing</a:t>
            </a:r>
            <a:r>
              <a:rPr lang="en-US" dirty="0"/>
              <a:t> the </a:t>
            </a:r>
            <a:r>
              <a:rPr lang="en-US" b="1" dirty="0">
                <a:solidFill>
                  <a:schemeClr val="bg1"/>
                </a:solidFill>
              </a:rPr>
              <a:t>data</a:t>
            </a:r>
            <a:r>
              <a:rPr lang="en-US" dirty="0"/>
              <a:t> from the DB </a:t>
            </a:r>
            <a:r>
              <a:rPr lang="en-US" b="1" dirty="0">
                <a:solidFill>
                  <a:schemeClr val="bg1"/>
                </a:solidFill>
              </a:rPr>
              <a:t>in-memory</a:t>
            </a:r>
          </a:p>
          <a:p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63E63A5-2AE4-4D3E-AE8E-990C7419FF37}"/>
              </a:ext>
            </a:extLst>
          </p:cNvPr>
          <p:cNvSpPr/>
          <p:nvPr/>
        </p:nvSpPr>
        <p:spPr>
          <a:xfrm>
            <a:off x="5246556" y="4025644"/>
            <a:ext cx="646599" cy="50216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E467F-32CC-4402-B129-0E1F3DC02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298847" y="2669473"/>
            <a:ext cx="4927786" cy="31279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BE9C2A-767B-4826-81CD-0D9CD0CD9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375" y="2740787"/>
            <a:ext cx="2869466" cy="3071876"/>
          </a:xfrm>
          <a:prstGeom prst="rect">
            <a:avLst/>
          </a:prstGeom>
        </p:spPr>
      </p:pic>
      <p:sp>
        <p:nvSpPr>
          <p:cNvPr id="10" name="Slide Number">
            <a:extLst>
              <a:ext uri="{FF2B5EF4-FFF2-40B4-BE49-F238E27FC236}">
                <a16:creationId xmlns:a16="http://schemas.microsoft.com/office/drawing/2014/main" id="{A4E1C7EC-C01C-45A6-AE26-CF8442B3491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53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D8892-B37B-40F4-9C66-D47AF15B308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/>
            <a:r>
              <a:rPr lang="en-US" dirty="0"/>
              <a:t>Reference type properties</a:t>
            </a:r>
          </a:p>
          <a:p>
            <a:pPr marL="0"/>
            <a:r>
              <a:rPr lang="en-US" dirty="0"/>
              <a:t>Point to relevant object, connected by foreign key</a:t>
            </a:r>
          </a:p>
          <a:p>
            <a:pPr marL="0"/>
            <a:r>
              <a:rPr lang="en-US" dirty="0"/>
              <a:t>Set by the framework</a:t>
            </a:r>
          </a:p>
          <a:p>
            <a:pPr marL="0"/>
            <a:r>
              <a:rPr lang="en-US" dirty="0"/>
              <a:t>Example: Employee</a:t>
            </a:r>
            <a:r>
              <a:rPr lang="bg-BG" dirty="0"/>
              <a:t>'</a:t>
            </a:r>
            <a:r>
              <a:rPr lang="en-US" dirty="0"/>
              <a:t>s Department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1DB43E-A337-454C-936A-EA496C79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Classes: Navigation Properties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C3FA2-0A7A-4ECC-A706-9C47B34DE221}"/>
              </a:ext>
            </a:extLst>
          </p:cNvPr>
          <p:cNvSpPr txBox="1">
            <a:spLocks/>
          </p:cNvSpPr>
          <p:nvPr/>
        </p:nvSpPr>
        <p:spPr>
          <a:xfrm>
            <a:off x="2257099" y="4341086"/>
            <a:ext cx="7677801" cy="216591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</a:rPr>
              <a:t>public class Employee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</a:rPr>
              <a:t>  public int Id { get; set; }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</a:rPr>
              <a:t>  ...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</a:rPr>
              <a:t>  public int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DepartmentId</a:t>
            </a:r>
            <a:r>
              <a:rPr lang="en-US" sz="2400" b="1" noProof="1">
                <a:latin typeface="Consolas" pitchFamily="49" charset="0"/>
              </a:rPr>
              <a:t> { get; set; }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</a:rPr>
              <a:t>  public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Department Department </a:t>
            </a:r>
            <a:r>
              <a:rPr lang="en-US" sz="2400" b="1" noProof="1">
                <a:latin typeface="Consolas" pitchFamily="49" charset="0"/>
              </a:rPr>
              <a:t>{ get; set; }</a:t>
            </a:r>
          </a:p>
          <a:p>
            <a:pPr>
              <a:lnSpc>
                <a:spcPct val="80000"/>
              </a:lnSpc>
            </a:pPr>
            <a:r>
              <a:rPr lang="en-US" sz="2400" b="1" noProof="1">
                <a:latin typeface="Consolas" pitchFamily="49" charset="0"/>
              </a:rPr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C3B82B2-6D0F-4D78-923F-AAE99710F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247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D8892-B37B-40F4-9C66-D47AF15B30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Navigation Properties can also be collections</a:t>
            </a:r>
          </a:p>
          <a:p>
            <a:r>
              <a:rPr lang="en-US" dirty="0"/>
              <a:t>Usually of type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ICollection&lt;T&gt;</a:t>
            </a:r>
          </a:p>
          <a:p>
            <a:r>
              <a:rPr lang="en-US" dirty="0"/>
              <a:t>Hold all of the objects whose </a:t>
            </a:r>
            <a:r>
              <a:rPr lang="en-US" b="1" dirty="0">
                <a:solidFill>
                  <a:schemeClr val="bg1"/>
                </a:solidFill>
              </a:rPr>
              <a:t>foreign keys </a:t>
            </a:r>
            <a:r>
              <a:rPr lang="en-US" dirty="0"/>
              <a:t>are the same as the entity's </a:t>
            </a:r>
            <a:r>
              <a:rPr lang="en-US" b="1" dirty="0">
                <a:solidFill>
                  <a:schemeClr val="bg1"/>
                </a:solidFill>
              </a:rPr>
              <a:t>primary key</a:t>
            </a:r>
          </a:p>
          <a:p>
            <a:r>
              <a:rPr lang="en-US" dirty="0"/>
              <a:t>Set by the ORM framework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1DB43E-A337-454C-936A-EA496C79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Classes: Navigation Properties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C3FA2-0A7A-4ECC-A706-9C47B34DE221}"/>
              </a:ext>
            </a:extLst>
          </p:cNvPr>
          <p:cNvSpPr txBox="1">
            <a:spLocks/>
          </p:cNvSpPr>
          <p:nvPr/>
        </p:nvSpPr>
        <p:spPr>
          <a:xfrm>
            <a:off x="1066006" y="4701836"/>
            <a:ext cx="10059988" cy="192007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noProof="1"/>
              <a:t>public class Department</a:t>
            </a:r>
          </a:p>
          <a:p>
            <a:r>
              <a:rPr lang="en-US" noProof="1"/>
              <a:t>{</a:t>
            </a:r>
          </a:p>
          <a:p>
            <a:r>
              <a:rPr lang="en-US" noProof="1"/>
              <a:t>  public int Id { get; set; }</a:t>
            </a:r>
          </a:p>
          <a:p>
            <a:r>
              <a:rPr lang="en-US" noProof="1"/>
              <a:t>  ...</a:t>
            </a:r>
          </a:p>
          <a:p>
            <a:r>
              <a:rPr lang="en-US" noProof="1"/>
              <a:t>  public </a:t>
            </a:r>
            <a:r>
              <a:rPr lang="en-US" noProof="1">
                <a:solidFill>
                  <a:schemeClr val="bg1"/>
                </a:solidFill>
              </a:rPr>
              <a:t>ICollection&lt;Employee&gt;</a:t>
            </a:r>
            <a:r>
              <a:rPr lang="en-US" noProof="1"/>
              <a:t> Employees { get; set; }</a:t>
            </a:r>
          </a:p>
          <a:p>
            <a:r>
              <a:rPr lang="en-US" noProof="1"/>
              <a:t>}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E72EFC1-3A68-4C5A-9438-E4F094E64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839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5AABAC-040A-4376-B623-C3C7C806A7C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 err="1"/>
              <a:t>DbSet</a:t>
            </a:r>
            <a:r>
              <a:rPr lang="en-US" dirty="0"/>
              <a:t>&lt;T&gt;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8C40C54-EA26-4A54-A41B-CC5E2315854A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Specialized Collections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413BD-3D50-4547-BDF1-A11198C72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167" y="1385091"/>
            <a:ext cx="2835666" cy="263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4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CDEA32-6BF9-4F82-A4A2-8C63CA497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2766" y="1212411"/>
            <a:ext cx="9973234" cy="554658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Generic collection with additional features</a:t>
            </a:r>
          </a:p>
          <a:p>
            <a:pPr>
              <a:buClr>
                <a:schemeClr val="tx1"/>
              </a:buClr>
            </a:pPr>
            <a:r>
              <a:rPr lang="en-US" dirty="0"/>
              <a:t>Each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DbSet&lt;T&gt;</a:t>
            </a:r>
            <a:r>
              <a:rPr lang="en-US" dirty="0"/>
              <a:t> corresponds to a single </a:t>
            </a:r>
            <a:br>
              <a:rPr lang="bg-BG" dirty="0"/>
            </a:br>
            <a:r>
              <a:rPr lang="en-US" dirty="0"/>
              <a:t>database</a:t>
            </a:r>
            <a:r>
              <a:rPr lang="bg-BG" dirty="0"/>
              <a:t> </a:t>
            </a:r>
            <a:r>
              <a:rPr lang="en-US" dirty="0"/>
              <a:t>table</a:t>
            </a:r>
          </a:p>
          <a:p>
            <a:pPr>
              <a:buClr>
                <a:schemeClr val="tx1"/>
              </a:buClr>
            </a:pPr>
            <a:r>
              <a:rPr lang="en-US" dirty="0"/>
              <a:t>Inherits from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ICollection&lt;T&gt;</a:t>
            </a:r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foreach</a:t>
            </a:r>
            <a:r>
              <a:rPr lang="en-US" dirty="0">
                <a:latin typeface="Consolas" panose="020B0609020204030204" pitchFamily="49" charset="0"/>
              </a:rPr>
              <a:t>-able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Supports </a:t>
            </a:r>
            <a:r>
              <a:rPr lang="en-US" b="1" dirty="0">
                <a:solidFill>
                  <a:schemeClr val="bg1"/>
                </a:solidFill>
              </a:rPr>
              <a:t>LINQ</a:t>
            </a:r>
            <a:r>
              <a:rPr lang="en-US" dirty="0"/>
              <a:t> operations</a:t>
            </a:r>
          </a:p>
          <a:p>
            <a:pPr>
              <a:buClr>
                <a:schemeClr val="tx1"/>
              </a:buClr>
            </a:pPr>
            <a:r>
              <a:rPr lang="en-US" dirty="0"/>
              <a:t>Usually several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DbSets</a:t>
            </a:r>
            <a:r>
              <a:rPr lang="en-US" dirty="0"/>
              <a:t> are a part of a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2F2654-7DE1-4ED3-B7B4-62F50D78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DbSet&lt;T&gt; Class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676A710-6DFC-4BF1-83C3-E487F0CDE03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81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5FDF-64F3-439C-9580-5B208CF982D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Each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DbSet</a:t>
            </a:r>
            <a:r>
              <a:rPr lang="en-US" dirty="0"/>
              <a:t> tracks its own entities through a change tracker</a:t>
            </a:r>
          </a:p>
          <a:p>
            <a:pPr>
              <a:buClr>
                <a:schemeClr val="tx1"/>
              </a:buClr>
            </a:pPr>
            <a:r>
              <a:rPr lang="en-US" dirty="0"/>
              <a:t>Has every other feature of an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ICollection&lt;T&gt;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Accessing </a:t>
            </a:r>
            <a:r>
              <a:rPr lang="en-US" dirty="0"/>
              <a:t>the elements (LINQ)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Adding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en-US" dirty="0"/>
              <a:t>/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Updating</a:t>
            </a:r>
            <a:r>
              <a:rPr lang="en-US" dirty="0"/>
              <a:t> elements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Removing</a:t>
            </a:r>
            <a:r>
              <a:rPr lang="en-US" dirty="0"/>
              <a:t> an entity/a range of entities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Checking</a:t>
            </a:r>
            <a:r>
              <a:rPr lang="en-US" dirty="0"/>
              <a:t> for element </a:t>
            </a:r>
            <a:r>
              <a:rPr lang="en-US" b="1" dirty="0">
                <a:solidFill>
                  <a:schemeClr val="bg1"/>
                </a:solidFill>
              </a:rPr>
              <a:t>existence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Accessing the </a:t>
            </a:r>
            <a:r>
              <a:rPr lang="en-US" b="1" dirty="0">
                <a:solidFill>
                  <a:schemeClr val="bg1"/>
                </a:solidFill>
              </a:rPr>
              <a:t>count</a:t>
            </a:r>
            <a:r>
              <a:rPr lang="en-US" dirty="0"/>
              <a:t> of elements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148C0D-8568-4AA6-B8D5-60CA7D01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DbSet&lt;T&gt; Features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A1224874-13D7-4A50-89A3-90E2ED2D3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870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60EBFB-8259-4781-BD8A-F0F7882D0F2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 err="1"/>
              <a:t>DbContext</a:t>
            </a:r>
            <a:endParaRPr lang="en-US" dirty="0"/>
          </a:p>
        </p:txBody>
      </p:sp>
      <p:pic>
        <p:nvPicPr>
          <p:cNvPr id="1028" name="Picture 4" descr="Image result for database png">
            <a:extLst>
              <a:ext uri="{FF2B5EF4-FFF2-40B4-BE49-F238E27FC236}">
                <a16:creationId xmlns:a16="http://schemas.microsoft.com/office/drawing/2014/main" id="{D73A89E5-60D7-4C72-9138-03CE5EE0D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000" y="1314000"/>
            <a:ext cx="3284649" cy="246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57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2F532FD9-ECE2-44E7-9F4E-8FEFCED56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CCDD8A-D6F9-4230-A76B-1C1B0DA296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36000" y="1121143"/>
            <a:ext cx="9859234" cy="5546589"/>
          </a:xfrm>
        </p:spPr>
        <p:txBody>
          <a:bodyPr/>
          <a:lstStyle/>
          <a:p>
            <a:r>
              <a:rPr lang="en-US" dirty="0"/>
              <a:t>Holds several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DbSet&lt;T&gt;</a:t>
            </a:r>
          </a:p>
          <a:p>
            <a:r>
              <a:rPr lang="en-US" dirty="0"/>
              <a:t>Responsible for </a:t>
            </a:r>
            <a:r>
              <a:rPr lang="en-US" b="1" dirty="0">
                <a:solidFill>
                  <a:schemeClr val="bg1"/>
                </a:solidFill>
              </a:rPr>
              <a:t>populating</a:t>
            </a:r>
            <a:r>
              <a:rPr lang="en-US" dirty="0"/>
              <a:t> the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DbSets</a:t>
            </a:r>
          </a:p>
          <a:p>
            <a:r>
              <a:rPr lang="en-US" dirty="0"/>
              <a:t>Users create a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, which </a:t>
            </a:r>
            <a:r>
              <a:rPr lang="en-US" b="1" dirty="0">
                <a:solidFill>
                  <a:schemeClr val="bg1"/>
                </a:solidFill>
              </a:rPr>
              <a:t>inherits</a:t>
            </a:r>
            <a:r>
              <a:rPr lang="en-US" dirty="0"/>
              <a:t> </a:t>
            </a:r>
            <a:br>
              <a:rPr lang="bg-BG" dirty="0"/>
            </a:br>
            <a:r>
              <a:rPr lang="en-US" dirty="0"/>
              <a:t>from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</a:p>
          <a:p>
            <a:pPr lvl="1"/>
            <a:r>
              <a:rPr lang="en-US" dirty="0"/>
              <a:t>Using one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</a:t>
            </a:r>
            <a:r>
              <a:rPr lang="en-US" dirty="0"/>
              <a:t> per database table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24AF8C-E319-4F67-A8C4-A21A5845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DbContext Class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933A11D-880F-4BFC-9D6E-27F4FAFF34FB}"/>
              </a:ext>
            </a:extLst>
          </p:cNvPr>
          <p:cNvSpPr txBox="1">
            <a:spLocks/>
          </p:cNvSpPr>
          <p:nvPr/>
        </p:nvSpPr>
        <p:spPr>
          <a:xfrm>
            <a:off x="2586000" y="4599000"/>
            <a:ext cx="8370000" cy="172220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sz="2200" noProof="1"/>
              <a:t>public class </a:t>
            </a:r>
            <a:r>
              <a:rPr lang="en-US" sz="2200" noProof="1">
                <a:solidFill>
                  <a:schemeClr val="bg1"/>
                </a:solidFill>
              </a:rPr>
              <a:t>SoftUniDbContext</a:t>
            </a:r>
            <a:r>
              <a:rPr lang="en-US" sz="2200" noProof="1"/>
              <a:t> </a:t>
            </a:r>
            <a:r>
              <a:rPr lang="en-US" sz="2200" noProof="1">
                <a:solidFill>
                  <a:schemeClr val="bg1"/>
                </a:solidFill>
              </a:rPr>
              <a:t>: DbContext</a:t>
            </a:r>
          </a:p>
          <a:p>
            <a:r>
              <a:rPr lang="en-US" sz="2200" noProof="1"/>
              <a:t>{  </a:t>
            </a:r>
          </a:p>
          <a:p>
            <a:r>
              <a:rPr lang="en-US" sz="2200" noProof="1"/>
              <a:t>  public </a:t>
            </a:r>
            <a:r>
              <a:rPr lang="en-US" sz="2200" noProof="1">
                <a:solidFill>
                  <a:schemeClr val="bg1"/>
                </a:solidFill>
              </a:rPr>
              <a:t>DbSet</a:t>
            </a:r>
            <a:r>
              <a:rPr lang="en-US" sz="2200" noProof="1"/>
              <a:t>&lt;Employee&gt; Employees { get; set; }</a:t>
            </a:r>
          </a:p>
          <a:p>
            <a:r>
              <a:rPr lang="en-US" sz="2200" noProof="1"/>
              <a:t>  public </a:t>
            </a:r>
            <a:r>
              <a:rPr lang="en-US" sz="2200" noProof="1">
                <a:solidFill>
                  <a:schemeClr val="bg1"/>
                </a:solidFill>
              </a:rPr>
              <a:t>DbSet</a:t>
            </a:r>
            <a:r>
              <a:rPr lang="en-US" sz="2200" noProof="1"/>
              <a:t>&lt;Department&gt; Departments { get; set; }</a:t>
            </a:r>
          </a:p>
          <a:p>
            <a:r>
              <a:rPr lang="en-US" sz="2200" noProof="1"/>
              <a:t>  public </a:t>
            </a:r>
            <a:r>
              <a:rPr lang="en-US" sz="2200" noProof="1">
                <a:solidFill>
                  <a:schemeClr val="bg1"/>
                </a:solidFill>
              </a:rPr>
              <a:t>DbSet</a:t>
            </a:r>
            <a:r>
              <a:rPr lang="en-US" sz="2200" noProof="1"/>
              <a:t>&lt;Project&gt; Projects { get; set; }</a:t>
            </a:r>
          </a:p>
          <a:p>
            <a:r>
              <a:rPr lang="en-US" sz="2200" noProof="1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80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3A32ED-8502-4F26-99DB-0A0F8C48BF4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Reading Data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495" y="1394086"/>
            <a:ext cx="2786861" cy="2473376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1A90AD9F-BC30-4BEC-965B-9058873DF33F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Querying the DB Using ORM</a:t>
            </a:r>
          </a:p>
        </p:txBody>
      </p:sp>
    </p:spTree>
    <p:extLst>
      <p:ext uri="{BB962C8B-B14F-4D97-AF65-F5344CB8AC3E}">
        <p14:creationId xmlns:p14="http://schemas.microsoft.com/office/powerpoint/2010/main" val="11075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sz="3400" dirty="0"/>
              <a:t> First create instance of the </a:t>
            </a:r>
            <a:r>
              <a:rPr lang="en-US" sz="3400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endParaRPr lang="en-US" sz="3400" dirty="0"/>
          </a:p>
          <a:p>
            <a:pPr lvl="1"/>
            <a:endParaRPr lang="en-US" sz="3400" dirty="0"/>
          </a:p>
          <a:p>
            <a:r>
              <a:rPr lang="en-US" sz="3400" dirty="0"/>
              <a:t> In the constructor, you can pass a database connection string</a:t>
            </a:r>
          </a:p>
          <a:p>
            <a:r>
              <a:rPr lang="en-US" sz="3400" b="1" dirty="0">
                <a:latin typeface="+mj-lt"/>
              </a:rPr>
              <a:t> </a:t>
            </a:r>
            <a:r>
              <a:rPr lang="en-US" sz="3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sz="3400" dirty="0"/>
              <a:t> </a:t>
            </a:r>
            <a:r>
              <a:rPr lang="en-US" sz="3400" b="1" dirty="0">
                <a:solidFill>
                  <a:schemeClr val="bg1"/>
                </a:solidFill>
              </a:rPr>
              <a:t>properties</a:t>
            </a:r>
            <a:endParaRPr lang="en-US" sz="3400" dirty="0"/>
          </a:p>
          <a:p>
            <a:pPr lvl="1"/>
            <a:r>
              <a:rPr lang="en-US" dirty="0"/>
              <a:t>All </a:t>
            </a:r>
            <a:r>
              <a:rPr lang="en-US" b="1" dirty="0">
                <a:solidFill>
                  <a:schemeClr val="bg1"/>
                </a:solidFill>
              </a:rPr>
              <a:t>entity classes </a:t>
            </a:r>
            <a:r>
              <a:rPr lang="en-US" dirty="0"/>
              <a:t>(tables) are listed as </a:t>
            </a:r>
            <a:r>
              <a:rPr lang="en-US" b="1" dirty="0">
                <a:solidFill>
                  <a:schemeClr val="bg1"/>
                </a:solidFill>
              </a:rPr>
              <a:t>properties</a:t>
            </a:r>
          </a:p>
          <a:p>
            <a:pPr lvl="2"/>
            <a:r>
              <a:rPr lang="en-US" dirty="0"/>
              <a:t>e.g.,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</a:t>
            </a:r>
            <a:r>
              <a:rPr lang="en-US" noProof="1">
                <a:latin typeface="Consolas" panose="020B0609020204030204" pitchFamily="49" charset="0"/>
              </a:rPr>
              <a:t>&lt;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Employee</a:t>
            </a:r>
            <a:r>
              <a:rPr lang="en-US" noProof="1">
                <a:latin typeface="Consolas" panose="020B0609020204030204" pitchFamily="49" charset="0"/>
              </a:rPr>
              <a:t>&gt;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Employees</a:t>
            </a:r>
            <a:r>
              <a:rPr lang="en-US" noProof="1">
                <a:latin typeface="Consolas" panose="020B0609020204030204" pitchFamily="49" charset="0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{ get; 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DbContext Class</a:t>
            </a:r>
            <a:endParaRPr lang="bg-BG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966000" y="2034000"/>
            <a:ext cx="9165257" cy="36000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noProof="1"/>
              <a:t>var context = new SoftUniDbContext();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CCFCF2D-44E9-4E78-B1E5-F0D75AFA7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551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Executing </a:t>
            </a:r>
            <a:r>
              <a:rPr lang="en-US" b="1" dirty="0">
                <a:solidFill>
                  <a:schemeClr val="bg1"/>
                </a:solidFill>
              </a:rPr>
              <a:t>LINQ-to-Entities</a:t>
            </a:r>
            <a:r>
              <a:rPr lang="en-US" dirty="0"/>
              <a:t> query over entity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Employees</a:t>
            </a:r>
            <a:r>
              <a:rPr lang="en-US" dirty="0"/>
              <a:t> property in the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with LINQ Query</a:t>
            </a:r>
            <a:endParaRPr lang="bg-BG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650999" y="4859765"/>
            <a:ext cx="8375691" cy="186512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noProof="1"/>
              <a:t>public class SoftUniDbContext : DbContext</a:t>
            </a:r>
          </a:p>
          <a:p>
            <a:r>
              <a:rPr lang="en-US" noProof="1"/>
              <a:t>{</a:t>
            </a:r>
          </a:p>
          <a:p>
            <a:r>
              <a:rPr lang="en-US" noProof="1"/>
              <a:t>  </a:t>
            </a:r>
            <a:r>
              <a:rPr lang="en-US" noProof="1">
                <a:solidFill>
                  <a:schemeClr val="bg1"/>
                </a:solidFill>
              </a:rPr>
              <a:t>public DbSet&lt;Employee&gt; Employees { get; }</a:t>
            </a:r>
          </a:p>
          <a:p>
            <a:r>
              <a:rPr lang="en-US" noProof="1"/>
              <a:t>  public DbSet&lt;Project&gt; Projects { get; }</a:t>
            </a:r>
          </a:p>
          <a:p>
            <a:r>
              <a:rPr lang="en-US" noProof="1"/>
              <a:t>  public DbSet&lt;Department&gt; Departments { get; }</a:t>
            </a:r>
          </a:p>
          <a:p>
            <a:r>
              <a:rPr lang="en-US" noProof="1"/>
              <a:t>}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651000" y="2041785"/>
            <a:ext cx="8375691" cy="169390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>
            <a:defPPr>
              <a:defRPr lang="en-US"/>
            </a:defPPr>
            <a:lvl1pPr algn="ctr"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pPr algn="l"/>
            <a:r>
              <a:rPr lang="en-US" noProof="1"/>
              <a:t>var context = new SoftUniDbContext()</a:t>
            </a:r>
          </a:p>
          <a:p>
            <a:pPr algn="l"/>
            <a:endParaRPr lang="en-US" noProof="1"/>
          </a:p>
          <a:p>
            <a:pPr algn="l"/>
            <a:r>
              <a:rPr lang="en-US" noProof="1"/>
              <a:t>var employees = context.Employees</a:t>
            </a:r>
          </a:p>
          <a:p>
            <a:pPr algn="l"/>
            <a:r>
              <a:rPr lang="en-US" noProof="1"/>
              <a:t>  .Where(</a:t>
            </a:r>
            <a:r>
              <a:rPr lang="en-US" noProof="1">
                <a:solidFill>
                  <a:schemeClr val="bg1"/>
                </a:solidFill>
              </a:rPr>
              <a:t>e =&gt; e.JobTitle == "Design Engineer"</a:t>
            </a:r>
            <a:r>
              <a:rPr lang="en-US" noProof="1"/>
              <a:t>)</a:t>
            </a:r>
          </a:p>
          <a:p>
            <a:pPr algn="l"/>
            <a:r>
              <a:rPr lang="en-US" noProof="1"/>
              <a:t>  .ToList();</a:t>
            </a:r>
          </a:p>
          <a:p>
            <a:pPr algn="l"/>
            <a:endParaRPr lang="en-US" noProof="1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046341B-A89C-4C2D-84D5-F57258E86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954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We can also use </a:t>
            </a:r>
            <a:r>
              <a:rPr lang="en-US" b="1" dirty="0">
                <a:solidFill>
                  <a:schemeClr val="bg1"/>
                </a:solidFill>
              </a:rPr>
              <a:t>extension methods </a:t>
            </a:r>
            <a:r>
              <a:rPr lang="en-US" dirty="0"/>
              <a:t>for constructing the query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2400"/>
              </a:spcBef>
              <a:buNone/>
            </a:pPr>
            <a:endParaRPr lang="en-US" dirty="0"/>
          </a:p>
          <a:p>
            <a:r>
              <a:rPr lang="en-US" dirty="0"/>
              <a:t>Find element by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ID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Data with LINQ Query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696000" y="4914000"/>
            <a:ext cx="8848390" cy="13111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noProof="1"/>
              <a:t>var context = new SoftUniEntities()</a:t>
            </a:r>
          </a:p>
          <a:p>
            <a:r>
              <a:rPr lang="en-US" noProof="1"/>
              <a:t>var project = context.Projects</a:t>
            </a:r>
            <a:br>
              <a:rPr lang="en-US" noProof="1"/>
            </a:br>
            <a:r>
              <a:rPr lang="en-US" noProof="1"/>
              <a:t>	.FirstOrDefault(p =&gt; </a:t>
            </a:r>
            <a:r>
              <a:rPr lang="en-US" noProof="1">
                <a:solidFill>
                  <a:schemeClr val="bg1"/>
                </a:solidFill>
              </a:rPr>
              <a:t>p.Id == 2</a:t>
            </a:r>
            <a:r>
              <a:rPr lang="en-US" noProof="1"/>
              <a:t>);</a:t>
            </a:r>
          </a:p>
          <a:p>
            <a:r>
              <a:rPr lang="en-US" noProof="1"/>
              <a:t>Console.WriteLine(project.Name);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694136" y="1944038"/>
            <a:ext cx="8831218" cy="171000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noProof="1"/>
              <a:t>var context = new SoftUniDbContext()</a:t>
            </a:r>
          </a:p>
          <a:p>
            <a:r>
              <a:rPr lang="en-US" noProof="1"/>
              <a:t>var employees = context.Employees</a:t>
            </a:r>
          </a:p>
          <a:p>
            <a:r>
              <a:rPr lang="en-US" noProof="1"/>
              <a:t>    .Where(c =&gt; c.JobTitle == "Design Engineering")</a:t>
            </a:r>
          </a:p>
          <a:p>
            <a:r>
              <a:rPr lang="en-US" noProof="1"/>
              <a:t>    .Select(c =&gt; c.FirstName)</a:t>
            </a:r>
          </a:p>
          <a:p>
            <a:r>
              <a:rPr lang="en-US" noProof="1"/>
              <a:t>    .ToList();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BBD0C5A-3B49-4470-8525-85C56A498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617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6F3AC5-5D10-4FBB-9754-5EF6B52644B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Change Tracking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FBC3AF-A58B-4333-B834-FEA0F7EED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667" y="1373114"/>
            <a:ext cx="2790666" cy="259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5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95211F-A645-41EB-822A-28B907EF6A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01000" y="1224000"/>
            <a:ext cx="10129234" cy="5592857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dirty="0"/>
              <a:t>Each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 instance tracks changes made </a:t>
            </a:r>
            <a:br>
              <a:rPr lang="bg-BG" dirty="0"/>
            </a:br>
            <a:r>
              <a:rPr lang="en-US" dirty="0"/>
              <a:t>to entities</a:t>
            </a:r>
          </a:p>
          <a:p>
            <a:pPr lvl="1">
              <a:buClr>
                <a:schemeClr val="tx1"/>
              </a:buClr>
            </a:pPr>
            <a:r>
              <a:rPr lang="en-US" sz="3200" dirty="0"/>
              <a:t>These tracked entities in turn drive the changes to the database when 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SaveChanges</a:t>
            </a:r>
            <a:r>
              <a:rPr lang="en-US" sz="3200" dirty="0"/>
              <a:t> is called</a:t>
            </a:r>
          </a:p>
          <a:p>
            <a:pPr>
              <a:buClr>
                <a:schemeClr val="tx1"/>
              </a:buClr>
            </a:pPr>
            <a:r>
              <a:rPr lang="en-US" dirty="0"/>
              <a:t>Entity instances become tracked when they are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Returned from a query, executed against the database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Explicitly attached to the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 by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Add</a:t>
            </a:r>
            <a:r>
              <a:rPr lang="en-US" dirty="0"/>
              <a:t>,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Attach</a:t>
            </a:r>
            <a:r>
              <a:rPr lang="en-US" dirty="0"/>
              <a:t>,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Update</a:t>
            </a:r>
            <a:r>
              <a:rPr lang="en-US" dirty="0"/>
              <a:t> or similar methods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Detected as new entities connected to existing </a:t>
            </a:r>
            <a:br>
              <a:rPr lang="bg-BG" dirty="0"/>
            </a:br>
            <a:r>
              <a:rPr lang="en-US" dirty="0"/>
              <a:t>tracked entities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D03810-9000-4B14-9319-79B7F73C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Tracking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4265789-C7DC-4ED8-8D77-0E206AD08350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95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6C30-EAFF-40AD-A427-B41C3ABF649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CRUD Operations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174" y="1572359"/>
            <a:ext cx="5038980" cy="202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1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noProof="1"/>
              <a:t>To create a new table row use the method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Add(…)</a:t>
            </a:r>
            <a:r>
              <a:rPr lang="en-US" b="1" noProof="1">
                <a:solidFill>
                  <a:schemeClr val="bg1"/>
                </a:solidFill>
                <a:latin typeface="+mj-lt"/>
              </a:rPr>
              <a:t> </a:t>
            </a:r>
            <a:r>
              <a:rPr lang="en-US" noProof="1"/>
              <a:t>of the </a:t>
            </a:r>
            <a:r>
              <a:rPr lang="en-US" b="1" dirty="0">
                <a:solidFill>
                  <a:schemeClr val="bg1"/>
                </a:solidFill>
              </a:rPr>
              <a:t>corresponding</a:t>
            </a:r>
            <a:r>
              <a:rPr lang="en-US" dirty="0"/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</a:t>
            </a:r>
            <a:endParaRPr lang="en-US" noProof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New Entities</a:t>
            </a:r>
            <a:endParaRPr lang="bg-BG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823820" y="3267914"/>
            <a:ext cx="9412180" cy="220983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noProof="1"/>
              <a:t>var project = new Project()</a:t>
            </a:r>
          </a:p>
          <a:p>
            <a:r>
              <a:rPr lang="en-US" noProof="1"/>
              <a:t>{</a:t>
            </a:r>
          </a:p>
          <a:p>
            <a:r>
              <a:rPr lang="en-US" noProof="1"/>
              <a:t>  Name = "Judge System"</a:t>
            </a:r>
          </a:p>
          <a:p>
            <a:r>
              <a:rPr lang="en-US" noProof="1"/>
              <a:t>};</a:t>
            </a:r>
          </a:p>
          <a:p>
            <a:endParaRPr lang="en-US" noProof="1"/>
          </a:p>
          <a:p>
            <a:r>
              <a:rPr lang="en-US" noProof="1"/>
              <a:t>context.Projects.Add(project);</a:t>
            </a:r>
          </a:p>
          <a:p>
            <a:r>
              <a:rPr lang="en-US" noProof="1"/>
              <a:t>context.SaveChanges();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1752600" y="5524500"/>
            <a:ext cx="8686800" cy="1104900"/>
          </a:xfrm>
          <a:prstGeom prst="rect">
            <a:avLst/>
          </a:prstGeom>
        </p:spPr>
        <p:txBody>
          <a:bodyPr/>
          <a:lstStyle>
            <a:lvl1pPr marL="282575" indent="-282575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bg-BG" dirty="0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5011137" y="5313229"/>
            <a:ext cx="3650502" cy="510778"/>
          </a:xfrm>
          <a:prstGeom prst="wedgeRoundRectCallout">
            <a:avLst>
              <a:gd name="adj1" fmla="val -57576"/>
              <a:gd name="adj2" fmla="val -5345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 SQL statements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5826000" y="2422445"/>
            <a:ext cx="2516735" cy="919401"/>
          </a:xfrm>
          <a:prstGeom prst="wedgeRoundRectCallout">
            <a:avLst>
              <a:gd name="adj1" fmla="val -63265"/>
              <a:gd name="adj2" fmla="val 4339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 new Project object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5991329" y="4124328"/>
            <a:ext cx="4078308" cy="510778"/>
          </a:xfrm>
          <a:prstGeom prst="wedgeRoundRectCallout">
            <a:avLst>
              <a:gd name="adj1" fmla="val -55097"/>
              <a:gd name="adj2" fmla="val 4082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the object to the DbSet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943C5059-6806-4424-8B4E-9176BB01AB9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 allows modifying entity properties and persisting </a:t>
            </a:r>
            <a:br>
              <a:rPr lang="en-US" dirty="0"/>
            </a:br>
            <a:r>
              <a:rPr lang="en-US" dirty="0"/>
              <a:t>them in the database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Just load an entity, modify it and call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SaveChanges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 automatically tracks all </a:t>
            </a:r>
            <a:r>
              <a:rPr lang="en-US" b="1" dirty="0">
                <a:solidFill>
                  <a:schemeClr val="bg1"/>
                </a:solidFill>
              </a:rPr>
              <a:t>changes</a:t>
            </a:r>
            <a:r>
              <a:rPr lang="en-US" dirty="0"/>
              <a:t> made on its </a:t>
            </a:r>
            <a:br>
              <a:rPr lang="en-US" dirty="0"/>
            </a:br>
            <a:r>
              <a:rPr lang="en-US" dirty="0"/>
              <a:t>entity </a:t>
            </a:r>
            <a:r>
              <a:rPr lang="en-US" b="1" dirty="0">
                <a:solidFill>
                  <a:schemeClr val="bg1"/>
                </a:solidFill>
              </a:rPr>
              <a:t>objects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Existing Entities</a:t>
            </a:r>
            <a:endParaRPr lang="bg-BG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651000" y="4487565"/>
            <a:ext cx="9141599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noProof="1"/>
              <a:t>var employee =</a:t>
            </a:r>
          </a:p>
          <a:p>
            <a:r>
              <a:rPr lang="en-US" noProof="1"/>
              <a:t>  context.Employees.FirstOrDefault();</a:t>
            </a:r>
          </a:p>
          <a:p>
            <a:r>
              <a:rPr lang="en-US" noProof="1"/>
              <a:t>employees.FirstName = "Alex";</a:t>
            </a:r>
          </a:p>
          <a:p>
            <a:r>
              <a:rPr lang="en-US" noProof="1"/>
              <a:t>context.SaveChanges();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4799128" y="5529600"/>
            <a:ext cx="2343899" cy="914400"/>
          </a:xfrm>
          <a:prstGeom prst="wedgeRoundRectCallout">
            <a:avLst>
              <a:gd name="adj1" fmla="val -62992"/>
              <a:gd name="adj2" fmla="val -3932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 an SQL UPDATE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7136453" y="3904870"/>
            <a:ext cx="2430000" cy="919401"/>
          </a:xfrm>
          <a:prstGeom prst="wedgeRoundRectCallout">
            <a:avLst>
              <a:gd name="adj1" fmla="val -60073"/>
              <a:gd name="adj2" fmla="val 4296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the first employee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0DC80AC5-0192-462D-92B2-1508FAA3E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7750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/>
              <a:t>Delete is done by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on the specified entity collection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SaveChanges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method performs the delete action in </a:t>
            </a:r>
            <a:br>
              <a:rPr lang="bg-BG" dirty="0"/>
            </a:br>
            <a:r>
              <a:rPr lang="en-US" dirty="0"/>
              <a:t>the database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Existing Data</a:t>
            </a:r>
            <a:endParaRPr lang="bg-BG" dirty="0"/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762000" y="3367183"/>
            <a:ext cx="9789000" cy="129881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400" b="1">
                <a:latin typeface="Consolas" pitchFamily="49" charset="0"/>
              </a:defRPr>
            </a:lvl1pPr>
          </a:lstStyle>
          <a:p>
            <a:r>
              <a:rPr lang="en-US" noProof="1"/>
              <a:t>var employee =</a:t>
            </a:r>
          </a:p>
          <a:p>
            <a:r>
              <a:rPr lang="en-US" noProof="1"/>
              <a:t>  context.Employees.First();</a:t>
            </a:r>
          </a:p>
          <a:p>
            <a:r>
              <a:rPr lang="en-US" noProof="1"/>
              <a:t>context.Employees.</a:t>
            </a:r>
            <a:r>
              <a:rPr lang="en-US" noProof="1">
                <a:solidFill>
                  <a:schemeClr val="bg1"/>
                </a:solidFill>
              </a:rPr>
              <a:t>Remove</a:t>
            </a:r>
            <a:r>
              <a:rPr lang="en-US" noProof="1"/>
              <a:t>(employee);</a:t>
            </a:r>
          </a:p>
          <a:p>
            <a:r>
              <a:rPr lang="en-US" noProof="1"/>
              <a:t>context.SaveChanges();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717738" y="3054588"/>
            <a:ext cx="3564489" cy="919401"/>
          </a:xfrm>
          <a:prstGeom prst="wedgeRoundRectCallout">
            <a:avLst>
              <a:gd name="adj1" fmla="val -54245"/>
              <a:gd name="adj2" fmla="val 4298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 the entity for deleting at the next save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746000" y="4666000"/>
            <a:ext cx="3182752" cy="919401"/>
          </a:xfrm>
          <a:prstGeom prst="wedgeRoundRectCallout">
            <a:avLst>
              <a:gd name="adj1" fmla="val -59368"/>
              <a:gd name="adj2" fmla="val -422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 the SQL DELETE command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9E8FE4C5-F0D1-43B1-9C25-276F2FDFE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0628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06714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99284" y="1559724"/>
            <a:ext cx="800049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ADO.NET </a:t>
            </a:r>
            <a:r>
              <a:rPr lang="en-US" sz="3200" b="1" dirty="0">
                <a:solidFill>
                  <a:schemeClr val="bg2"/>
                </a:solidFill>
              </a:rPr>
              <a:t>- Primary Data Access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ORM</a:t>
            </a:r>
            <a:r>
              <a:rPr lang="en-US" sz="32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+mj-lt"/>
              </a:rPr>
              <a:t>frameworks</a:t>
            </a:r>
            <a:r>
              <a:rPr lang="en-US" sz="32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en-US" sz="3200" b="1" dirty="0">
                <a:solidFill>
                  <a:schemeClr val="bg2"/>
                </a:solidFill>
              </a:rPr>
              <a:t>map database schema to objects in a programming language</a:t>
            </a:r>
          </a:p>
          <a:p>
            <a:pPr marL="457200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LINQ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2"/>
                </a:solidFill>
              </a:rPr>
              <a:t>can be used to query the DB through the </a:t>
            </a:r>
            <a:r>
              <a:rPr lang="en-US" sz="3200" b="1" dirty="0">
                <a:solidFill>
                  <a:schemeClr val="bg1"/>
                </a:solidFill>
                <a:latin typeface="+mj-lt"/>
              </a:rPr>
              <a:t>DB Context</a:t>
            </a:r>
          </a:p>
          <a:p>
            <a:pPr marL="914400" lvl="1" indent="-457200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chemeClr val="bg2"/>
                </a:solidFill>
              </a:rPr>
              <a:t>Change Tracking</a:t>
            </a:r>
          </a:p>
          <a:p>
            <a:pPr marL="914400" lvl="1" indent="-457200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000" b="1" dirty="0">
                <a:solidFill>
                  <a:schemeClr val="bg2"/>
                </a:solidFill>
              </a:rPr>
              <a:t>CRUD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71ABE94D-38C2-4190-88E0-7E3A2944A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999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E3B9F1F-174F-4A88-8926-136B79AEAA3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21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EF18F3C-94D9-443A-A656-BE52603FF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820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4999</TotalTime>
  <Words>1998</Words>
  <Application>Microsoft Office PowerPoint</Application>
  <PresentationFormat>Widescreen</PresentationFormat>
  <Paragraphs>345</Paragraphs>
  <Slides>40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Consolas</vt:lpstr>
      <vt:lpstr>Wingdings</vt:lpstr>
      <vt:lpstr>Wingdings 2</vt:lpstr>
      <vt:lpstr>SoftUni</vt:lpstr>
      <vt:lpstr>ORM Fundamentals</vt:lpstr>
      <vt:lpstr>Questions</vt:lpstr>
      <vt:lpstr>Table of Contents</vt:lpstr>
      <vt:lpstr>ADO.NET</vt:lpstr>
      <vt:lpstr>What is ADO.NET?</vt:lpstr>
      <vt:lpstr>Data Providers in ADO.NET</vt:lpstr>
      <vt:lpstr>Data Providers in ADO.NET</vt:lpstr>
      <vt:lpstr>.NET, EF, ADO.NET and Data Providers</vt:lpstr>
      <vt:lpstr>SqlClient and ADO.NET Connected Model</vt:lpstr>
      <vt:lpstr>ORM (Object-Relational Mapping)</vt:lpstr>
      <vt:lpstr>ORM – Benefits and Problems</vt:lpstr>
      <vt:lpstr>ADO.NET: Entity Framework Core</vt:lpstr>
      <vt:lpstr>Introduction to ORM</vt:lpstr>
      <vt:lpstr>What is ORM?</vt:lpstr>
      <vt:lpstr>ORM Frameworks: Features</vt:lpstr>
      <vt:lpstr>Database First Model</vt:lpstr>
      <vt:lpstr>Code-First Model</vt:lpstr>
      <vt:lpstr>ORM Advantages and Disadvantages</vt:lpstr>
      <vt:lpstr>Entity Classes</vt:lpstr>
      <vt:lpstr>Entity Classes</vt:lpstr>
      <vt:lpstr>Entity Classes: Navigation Properties</vt:lpstr>
      <vt:lpstr>Entity Classes: Navigation Properties</vt:lpstr>
      <vt:lpstr>DbSet&lt;T&gt;</vt:lpstr>
      <vt:lpstr>DbSet&lt;T&gt; Class</vt:lpstr>
      <vt:lpstr>DbSet&lt;T&gt; Features</vt:lpstr>
      <vt:lpstr>DbContext</vt:lpstr>
      <vt:lpstr>DbContext Class</vt:lpstr>
      <vt:lpstr>Reading Data</vt:lpstr>
      <vt:lpstr>Using DbContext Class</vt:lpstr>
      <vt:lpstr>Reading Data with LINQ Query</vt:lpstr>
      <vt:lpstr>Reading Data with LINQ Query</vt:lpstr>
      <vt:lpstr>Change Tracking</vt:lpstr>
      <vt:lpstr>Change Tracking</vt:lpstr>
      <vt:lpstr>CRUD Operations</vt:lpstr>
      <vt:lpstr>Creating New Entities</vt:lpstr>
      <vt:lpstr>Updating Existing Entities</vt:lpstr>
      <vt:lpstr>Deleting Existing Data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Databases Advanced – Entity Framework</dc:title>
  <dc:subject>Software Development Course</dc:subject>
  <dc:creator>Software University</dc:creator>
  <cp:keywords>Databases; SQL; programming; SoftUni; Software University; programming; software development; software engineering; course; database systems</cp:keywords>
  <dc:description>© SoftUni – https://about.softuni.bg/
© Software University – https://softuni.bg
Copyrighted document. Unauthorized copy, reproduction or use is not permitted.</dc:description>
  <cp:lastModifiedBy>Krasimir Tsanev</cp:lastModifiedBy>
  <cp:revision>113</cp:revision>
  <dcterms:created xsi:type="dcterms:W3CDTF">2018-05-23T13:08:44Z</dcterms:created>
  <dcterms:modified xsi:type="dcterms:W3CDTF">2025-10-13T05:46:05Z</dcterms:modified>
  <cp:category>programming;computer programming;software development;databases</cp:category>
</cp:coreProperties>
</file>