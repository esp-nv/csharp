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34"/>
  </p:notesMasterIdLst>
  <p:handoutMasterIdLst>
    <p:handoutMasterId r:id="rId35"/>
  </p:handoutMasterIdLst>
  <p:sldIdLst>
    <p:sldId id="678" r:id="rId2"/>
    <p:sldId id="679" r:id="rId3"/>
    <p:sldId id="651" r:id="rId4"/>
    <p:sldId id="652" r:id="rId5"/>
    <p:sldId id="653" r:id="rId6"/>
    <p:sldId id="655" r:id="rId7"/>
    <p:sldId id="656" r:id="rId8"/>
    <p:sldId id="657" r:id="rId9"/>
    <p:sldId id="658" r:id="rId10"/>
    <p:sldId id="659" r:id="rId11"/>
    <p:sldId id="660" r:id="rId12"/>
    <p:sldId id="661" r:id="rId13"/>
    <p:sldId id="662" r:id="rId14"/>
    <p:sldId id="663" r:id="rId15"/>
    <p:sldId id="664" r:id="rId16"/>
    <p:sldId id="665" r:id="rId17"/>
    <p:sldId id="666" r:id="rId18"/>
    <p:sldId id="667" r:id="rId19"/>
    <p:sldId id="668" r:id="rId20"/>
    <p:sldId id="669" r:id="rId21"/>
    <p:sldId id="670" r:id="rId22"/>
    <p:sldId id="671" r:id="rId23"/>
    <p:sldId id="672" r:id="rId24"/>
    <p:sldId id="673" r:id="rId25"/>
    <p:sldId id="674" r:id="rId26"/>
    <p:sldId id="675" r:id="rId27"/>
    <p:sldId id="676" r:id="rId28"/>
    <p:sldId id="681" r:id="rId29"/>
    <p:sldId id="646" r:id="rId30"/>
    <p:sldId id="614" r:id="rId31"/>
    <p:sldId id="405" r:id="rId32"/>
    <p:sldId id="49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67F1A61-408F-439E-948A-F183BAB9A5A8}">
          <p14:sldIdLst>
            <p14:sldId id="678"/>
            <p14:sldId id="679"/>
          </p14:sldIdLst>
        </p14:section>
        <p14:section name="Query Basics" id="{7B7B5FB1-12AF-461A-9FC1-1043D4B31DD2}">
          <p14:sldIdLst>
            <p14:sldId id="651"/>
            <p14:sldId id="652"/>
            <p14:sldId id="653"/>
          </p14:sldIdLst>
        </p14:section>
        <p14:section name="Retrieving Data" id="{905D866E-5673-475D-82FD-6F5BB3084B64}">
          <p14:sldIdLst>
            <p14:sldId id="655"/>
            <p14:sldId id="656"/>
            <p14:sldId id="657"/>
            <p14:sldId id="658"/>
            <p14:sldId id="659"/>
            <p14:sldId id="660"/>
            <p14:sldId id="661"/>
            <p14:sldId id="662"/>
            <p14:sldId id="663"/>
            <p14:sldId id="664"/>
            <p14:sldId id="665"/>
            <p14:sldId id="666"/>
            <p14:sldId id="667"/>
            <p14:sldId id="668"/>
          </p14:sldIdLst>
        </p14:section>
        <p14:section name="Writing Data in Tables" id="{3BD2762B-CFE2-4E24-AAD6-5AEE6D2C820C}">
          <p14:sldIdLst>
            <p14:sldId id="669"/>
            <p14:sldId id="670"/>
            <p14:sldId id="671"/>
            <p14:sldId id="672"/>
          </p14:sldIdLst>
        </p14:section>
        <p14:section name="Modifying Existing Records" id="{051FC009-F338-4929-8511-19837F6838E2}">
          <p14:sldIdLst>
            <p14:sldId id="673"/>
            <p14:sldId id="674"/>
            <p14:sldId id="675"/>
            <p14:sldId id="676"/>
            <p14:sldId id="681"/>
          </p14:sldIdLst>
        </p14:section>
        <p14:section name="Conclusion" id="{35A98A8F-D843-42B8-ABDC-1550548884DB}">
          <p14:sldIdLst>
            <p14:sldId id="646"/>
            <p14:sldId id="614"/>
            <p14:sldId id="405"/>
            <p14:sldId id="493"/>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646"/>
    <a:srgbClr val="F2A40D"/>
    <a:srgbClr val="DBBD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344DF0-40D9-4B51-9D74-F4CD6ED1266E}" v="7" dt="2022-04-27T11:45:35.202"/>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41" autoAdjust="0"/>
    <p:restoredTop sz="68316" autoAdjust="0"/>
  </p:normalViewPr>
  <p:slideViewPr>
    <p:cSldViewPr showGuides="1">
      <p:cViewPr varScale="1">
        <p:scale>
          <a:sx n="111" d="100"/>
          <a:sy n="111" d="100"/>
        </p:scale>
        <p:origin x="116" y="200"/>
      </p:cViewPr>
      <p:guideLst>
        <p:guide orient="horz" pos="2184"/>
        <p:guide pos="3840"/>
      </p:guideLst>
    </p:cSldViewPr>
  </p:slideViewPr>
  <p:outlineViewPr>
    <p:cViewPr>
      <p:scale>
        <a:sx n="33" d="100"/>
        <a:sy n="33" d="100"/>
      </p:scale>
      <p:origin x="0" y="-9989"/>
    </p:cViewPr>
    <p:sldLst>
      <p:sld r:id="rId1" collapse="1"/>
      <p:sld r:id="rId2" collapse="1"/>
      <p:sld r:id="rId3" collapse="1"/>
    </p:sldLst>
  </p:outlineViewPr>
  <p:notesTextViewPr>
    <p:cViewPr>
      <p:scale>
        <a:sx n="1" d="1"/>
        <a:sy n="1" d="1"/>
      </p:scale>
      <p:origin x="0" y="0"/>
    </p:cViewPr>
  </p:notesTextViewPr>
  <p:sorterViewPr>
    <p:cViewPr>
      <p:scale>
        <a:sx n="100" d="100"/>
        <a:sy n="100" d="100"/>
      </p:scale>
      <p:origin x="0" y="-6566"/>
    </p:cViewPr>
  </p:sorterViewPr>
  <p:notesViewPr>
    <p:cSldViewPr>
      <p:cViewPr varScale="1">
        <p:scale>
          <a:sx n="62" d="100"/>
          <a:sy n="62" d="100"/>
        </p:scale>
        <p:origin x="3154" y="72"/>
      </p:cViewPr>
      <p:guideLst/>
    </p:cSldViewPr>
  </p:notesViewPr>
  <p:gridSpacing cx="45000" cy="45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_rels/viewProps.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slide" Target="slides/slide8.xml"/><Relationship Id="rId1"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gurður Elí Haraldsson" userId="1ea31e91-17f4-44f4-a676-1060bca600ca" providerId="ADAL" clId="{09344DF0-40D9-4B51-9D74-F4CD6ED1266E}"/>
    <pc:docChg chg="addSld delSld modSld modSection">
      <pc:chgData name="Sigurður Elí Haraldsson" userId="1ea31e91-17f4-44f4-a676-1060bca600ca" providerId="ADAL" clId="{09344DF0-40D9-4B51-9D74-F4CD6ED1266E}" dt="2022-04-27T11:45:35.198" v="8"/>
      <pc:docMkLst>
        <pc:docMk/>
      </pc:docMkLst>
      <pc:sldChg chg="del">
        <pc:chgData name="Sigurður Elí Haraldsson" userId="1ea31e91-17f4-44f4-a676-1060bca600ca" providerId="ADAL" clId="{09344DF0-40D9-4B51-9D74-F4CD6ED1266E}" dt="2022-04-27T11:45:18.465" v="5" actId="2696"/>
        <pc:sldMkLst>
          <pc:docMk/>
          <pc:sldMk cId="3269303760" sldId="494"/>
        </pc:sldMkLst>
      </pc:sldChg>
      <pc:sldChg chg="del">
        <pc:chgData name="Sigurður Elí Haraldsson" userId="1ea31e91-17f4-44f4-a676-1060bca600ca" providerId="ADAL" clId="{09344DF0-40D9-4B51-9D74-F4CD6ED1266E}" dt="2022-04-27T11:45:20.696" v="6" actId="2696"/>
        <pc:sldMkLst>
          <pc:docMk/>
          <pc:sldMk cId="1901753048" sldId="495"/>
        </pc:sldMkLst>
      </pc:sldChg>
      <pc:sldChg chg="add">
        <pc:chgData name="Sigurður Elí Haraldsson" userId="1ea31e91-17f4-44f4-a676-1060bca600ca" providerId="ADAL" clId="{09344DF0-40D9-4B51-9D74-F4CD6ED1266E}" dt="2022-04-27T11:45:35.198" v="8"/>
        <pc:sldMkLst>
          <pc:docMk/>
          <pc:sldMk cId="1874608649" sldId="608"/>
        </pc:sldMkLst>
      </pc:sldChg>
      <pc:sldChg chg="add">
        <pc:chgData name="Sigurður Elí Haraldsson" userId="1ea31e91-17f4-44f4-a676-1060bca600ca" providerId="ADAL" clId="{09344DF0-40D9-4B51-9D74-F4CD6ED1266E}" dt="2022-04-27T11:45:29.529" v="7"/>
        <pc:sldMkLst>
          <pc:docMk/>
          <pc:sldMk cId="993903741" sldId="614"/>
        </pc:sldMkLst>
      </pc:sldChg>
      <pc:sldChg chg="modAnim">
        <pc:chgData name="Sigurður Elí Haraldsson" userId="1ea31e91-17f4-44f4-a676-1060bca600ca" providerId="ADAL" clId="{09344DF0-40D9-4B51-9D74-F4CD6ED1266E}" dt="2022-04-27T10:45:04.738" v="4"/>
        <pc:sldMkLst>
          <pc:docMk/>
          <pc:sldMk cId="1577935033" sldId="679"/>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hyperlink" Target="https://softuni.org/" TargetMode="Externa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F20103-83CC-4A54-8FDE-9D37FC2629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a:extLst>
              <a:ext uri="{FF2B5EF4-FFF2-40B4-BE49-F238E27FC236}">
                <a16:creationId xmlns:a16="http://schemas.microsoft.com/office/drawing/2014/main" id="{27A53962-26EF-44E4-9E69-61B1727AB1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087215-0C8F-4762-A664-737A353EC9A4}" type="datetimeFigureOut">
              <a:rPr lang="bg-BG" smtClean="0"/>
              <a:t>26.8.2025 г.</a:t>
            </a:fld>
            <a:endParaRPr lang="bg-BG"/>
          </a:p>
        </p:txBody>
      </p:sp>
      <p:sp>
        <p:nvSpPr>
          <p:cNvPr id="4" name="Footer Placeholder 3">
            <a:extLst>
              <a:ext uri="{FF2B5EF4-FFF2-40B4-BE49-F238E27FC236}">
                <a16:creationId xmlns:a16="http://schemas.microsoft.com/office/drawing/2014/main" id="{28A6967E-448F-4887-8FCB-34482EFBCC74}"/>
              </a:ext>
            </a:extLst>
          </p:cNvPr>
          <p:cNvSpPr>
            <a:spLocks noGrp="1"/>
          </p:cNvSpPr>
          <p:nvPr>
            <p:ph type="ftr" sz="quarter" idx="2"/>
          </p:nvPr>
        </p:nvSpPr>
        <p:spPr>
          <a:xfrm>
            <a:off x="-1" y="8847000"/>
            <a:ext cx="6443999" cy="297000"/>
          </a:xfrm>
          <a:prstGeom prst="rect">
            <a:avLst/>
          </a:prstGeom>
        </p:spPr>
        <p:txBody>
          <a:bodyPr vert="horz" lIns="91440" tIns="45720" rIns="91440" bIns="45720" rtlCol="0" anchor="b"/>
          <a:lstStyle>
            <a:lvl1pPr algn="l">
              <a:defRPr sz="1200"/>
            </a:lvl1pPr>
          </a:lstStyle>
          <a:p>
            <a:r>
              <a:rPr lang="en-US" sz="1100" dirty="0"/>
              <a:t>© SoftUni – </a:t>
            </a:r>
            <a:r>
              <a:rPr lang="en-US" sz="1100" u="sng" dirty="0">
                <a:hlinkClick r:id="rId2"/>
              </a:rPr>
              <a:t>https://softuni.org</a:t>
            </a:r>
            <a:r>
              <a:rPr lang="en-US" sz="1100" dirty="0"/>
              <a:t>. Copyrighted document. Unauthorized copy or reproduction is not permitted.</a:t>
            </a:r>
          </a:p>
        </p:txBody>
      </p:sp>
      <p:sp>
        <p:nvSpPr>
          <p:cNvPr id="5" name="Slide Number Placeholder 4">
            <a:extLst>
              <a:ext uri="{FF2B5EF4-FFF2-40B4-BE49-F238E27FC236}">
                <a16:creationId xmlns:a16="http://schemas.microsoft.com/office/drawing/2014/main" id="{8B6554C2-DDBA-40E2-9536-53A07EC50274}"/>
              </a:ext>
            </a:extLst>
          </p:cNvPr>
          <p:cNvSpPr>
            <a:spLocks noGrp="1"/>
          </p:cNvSpPr>
          <p:nvPr>
            <p:ph type="sldNum" sz="quarter" idx="3"/>
          </p:nvPr>
        </p:nvSpPr>
        <p:spPr>
          <a:xfrm>
            <a:off x="6443999" y="8847000"/>
            <a:ext cx="412413" cy="297000"/>
          </a:xfrm>
          <a:prstGeom prst="rect">
            <a:avLst/>
          </a:prstGeom>
        </p:spPr>
        <p:txBody>
          <a:bodyPr vert="horz" lIns="91440" tIns="45720" rIns="91440" bIns="45720" rtlCol="0" anchor="b"/>
          <a:lstStyle>
            <a:lvl1pPr algn="r">
              <a:defRPr sz="1200"/>
            </a:lvl1pPr>
          </a:lstStyle>
          <a:p>
            <a:fld id="{7AC318AE-53F9-47EA-B5FE-E9473933AF11}" type="slidenum">
              <a:rPr lang="bg-BG" smtClean="0"/>
              <a:t>‹#›</a:t>
            </a:fld>
            <a:endParaRPr lang="bg-BG" dirty="0"/>
          </a:p>
        </p:txBody>
      </p:sp>
    </p:spTree>
    <p:extLst>
      <p:ext uri="{BB962C8B-B14F-4D97-AF65-F5344CB8AC3E}">
        <p14:creationId xmlns:p14="http://schemas.microsoft.com/office/powerpoint/2010/main" val="415060296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hyperlink" Target="https://softuni.org/" TargetMode="Externa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D84649-876A-46C9-8472-14CB09C070D8}" type="datetimeFigureOut">
              <a:rPr lang="en-US" smtClean="0"/>
              <a:t>8/26/2025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6488999" y="8847000"/>
            <a:ext cx="367414" cy="297000"/>
          </a:xfrm>
          <a:prstGeom prst="rect">
            <a:avLst/>
          </a:prstGeom>
        </p:spPr>
        <p:txBody>
          <a:bodyPr vert="horz" lIns="91440" tIns="45720" rIns="91440" bIns="45720" rtlCol="0" anchor="b"/>
          <a:lstStyle>
            <a:lvl1pPr algn="r">
              <a:defRPr sz="1200"/>
            </a:lvl1pPr>
          </a:lstStyle>
          <a:p>
            <a:fld id="{2BF067CD-8E6B-4360-9AA8-C5DF2A48A6D1}" type="slidenum">
              <a:rPr lang="en-US" smtClean="0"/>
              <a:t>‹#›</a:t>
            </a:fld>
            <a:endParaRPr lang="en-US" dirty="0"/>
          </a:p>
        </p:txBody>
      </p:sp>
      <p:sp>
        <p:nvSpPr>
          <p:cNvPr id="8" name="Footer Placeholder 7">
            <a:extLst>
              <a:ext uri="{FF2B5EF4-FFF2-40B4-BE49-F238E27FC236}">
                <a16:creationId xmlns:a16="http://schemas.microsoft.com/office/drawing/2014/main" id="{CAC3A49B-3196-44DF-AC28-085C72EFBFF0}"/>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2"/>
              </a:rPr>
              <a:t>https://softuni.org</a:t>
            </a:r>
            <a:r>
              <a:rPr lang="en-US" dirty="0"/>
              <a:t>. Copyrighted document. Unauthorized copy or reproduction is not permitted.</a:t>
            </a:r>
          </a:p>
        </p:txBody>
      </p:sp>
    </p:spTree>
    <p:extLst>
      <p:ext uri="{BB962C8B-B14F-4D97-AF65-F5344CB8AC3E}">
        <p14:creationId xmlns:p14="http://schemas.microsoft.com/office/powerpoint/2010/main" val="153084769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11"/>
          </p:nvPr>
        </p:nvSpPr>
        <p:spPr/>
        <p:txBody>
          <a:bodyPr/>
          <a:lstStyle/>
          <a:p>
            <a:fld id="{3EBA5BD7-F043-4D1B-AA17-CD412FC534DE}" type="slidenum">
              <a:rPr lang="en-US" smtClean="0"/>
              <a:pPr/>
              <a:t>1</a:t>
            </a:fld>
            <a:endParaRPr lang="en-US" dirty="0"/>
          </a:p>
        </p:txBody>
      </p:sp>
      <p:sp>
        <p:nvSpPr>
          <p:cNvPr id="7" name="Footer Placeholder 7">
            <a:extLst>
              <a:ext uri="{FF2B5EF4-FFF2-40B4-BE49-F238E27FC236}">
                <a16:creationId xmlns:a16="http://schemas.microsoft.com/office/drawing/2014/main" id="{742B8D2E-38C9-4264-943B-46060A22DA4C}"/>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068038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bg-BG"/>
          </a:p>
        </p:txBody>
      </p:sp>
      <p:sp>
        <p:nvSpPr>
          <p:cNvPr id="3" name="Slide Number Placeholder 2"/>
          <p:cNvSpPr>
            <a:spLocks noGrp="1"/>
          </p:cNvSpPr>
          <p:nvPr>
            <p:ph type="sldNum" sz="quarter" idx="11"/>
          </p:nvPr>
        </p:nvSpPr>
        <p:spPr/>
        <p:txBody>
          <a:bodyPr/>
          <a:lstStyle/>
          <a:p>
            <a:fld id="{3EBA5BD7-F043-4D1B-AA17-CD412FC534DE}" type="slidenum">
              <a:rPr lang="en-US" smtClean="0"/>
              <a:pPr/>
              <a:t>2</a:t>
            </a:fld>
            <a:endParaRPr lang="en-US" dirty="0"/>
          </a:p>
        </p:txBody>
      </p:sp>
      <p:sp>
        <p:nvSpPr>
          <p:cNvPr id="6" name="Footer Placeholder 7">
            <a:extLst>
              <a:ext uri="{FF2B5EF4-FFF2-40B4-BE49-F238E27FC236}">
                <a16:creationId xmlns:a16="http://schemas.microsoft.com/office/drawing/2014/main" id="{92D12564-C6C1-4EA5-A81D-C763E8A32080}"/>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668112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323F4482-E835-4D6D-A703-2ECE310B629A}" type="slidenum">
              <a:rPr lang="en-US"/>
              <a:pPr/>
              <a:t>7</a:t>
            </a:fld>
            <a:r>
              <a:rPr lang="en-US" dirty="0"/>
              <a:t>##</a:t>
            </a:r>
            <a:endParaRPr lang="en-US" sz="1100" dirty="0"/>
          </a:p>
        </p:txBody>
      </p:sp>
      <p:sp>
        <p:nvSpPr>
          <p:cNvPr id="493570" name="Rectangle 2"/>
          <p:cNvSpPr>
            <a:spLocks noGrp="1" noRot="1" noChangeAspect="1" noChangeArrowheads="1" noTextEdit="1"/>
          </p:cNvSpPr>
          <p:nvPr>
            <p:ph type="sldImg"/>
          </p:nvPr>
        </p:nvSpPr>
        <p:spPr>
          <a:ln/>
        </p:spPr>
      </p:sp>
      <p:sp>
        <p:nvSpPr>
          <p:cNvPr id="493571" name="Rectangle 3"/>
          <p:cNvSpPr>
            <a:spLocks noGrp="1" noChangeArrowheads="1"/>
          </p:cNvSpPr>
          <p:nvPr>
            <p:ph type="body" idx="1"/>
          </p:nvPr>
        </p:nvSpPr>
        <p:spPr>
          <a:xfrm>
            <a:off x="688481" y="4416099"/>
            <a:ext cx="5504853" cy="4182457"/>
          </a:xfrm>
        </p:spPr>
        <p:txBody>
          <a:bodyPr/>
          <a:lstStyle/>
          <a:p>
            <a:r>
              <a:rPr lang="en-US" b="1" dirty="0"/>
              <a:t>Capabilities of SQL </a:t>
            </a:r>
            <a:r>
              <a:rPr lang="en-US" b="1" dirty="0">
                <a:latin typeface="Courier New" pitchFamily="49" charset="0"/>
              </a:rPr>
              <a:t>SELECT</a:t>
            </a:r>
            <a:r>
              <a:rPr lang="en-US" b="1" dirty="0"/>
              <a:t> Statements</a:t>
            </a:r>
          </a:p>
          <a:p>
            <a:r>
              <a:rPr lang="en-US" dirty="0"/>
              <a:t>A </a:t>
            </a:r>
            <a:r>
              <a:rPr lang="en-US" b="1" dirty="0">
                <a:latin typeface="Consolas" panose="020B0609020204030204" pitchFamily="49" charset="0"/>
              </a:rPr>
              <a:t>SELECT</a:t>
            </a:r>
            <a:r>
              <a:rPr lang="en-US" dirty="0"/>
              <a:t> statement retrieves information from the database. Using a </a:t>
            </a:r>
            <a:r>
              <a:rPr lang="en-US" b="1" dirty="0">
                <a:solidFill>
                  <a:srgbClr val="FC0128"/>
                </a:solidFill>
                <a:latin typeface="Consolas" panose="020B0609020204030204" pitchFamily="49" charset="0"/>
              </a:rPr>
              <a:t>SELECT</a:t>
            </a:r>
            <a:r>
              <a:rPr lang="en-US" dirty="0">
                <a:solidFill>
                  <a:srgbClr val="FC0128"/>
                </a:solidFill>
              </a:rPr>
              <a:t> </a:t>
            </a:r>
            <a:r>
              <a:rPr lang="en-US" dirty="0"/>
              <a:t>statement, you can do the following:</a:t>
            </a:r>
          </a:p>
          <a:p>
            <a:pPr lvl="2"/>
            <a:r>
              <a:rPr lang="en-US" b="1" dirty="0">
                <a:solidFill>
                  <a:srgbClr val="FC0128"/>
                </a:solidFill>
              </a:rPr>
              <a:t>Projection</a:t>
            </a:r>
            <a:r>
              <a:rPr lang="en-US" dirty="0">
                <a:solidFill>
                  <a:srgbClr val="FC0128"/>
                </a:solidFill>
              </a:rPr>
              <a:t>:</a:t>
            </a:r>
            <a:r>
              <a:rPr lang="en-US" dirty="0"/>
              <a:t> You can use the projection capability in SQL to choose the columns in a table that you want returned by your query. You can choose as few or as many columns of the table as you require. </a:t>
            </a:r>
          </a:p>
          <a:p>
            <a:pPr lvl="2"/>
            <a:r>
              <a:rPr lang="en-US" b="1" dirty="0">
                <a:solidFill>
                  <a:srgbClr val="FC0128"/>
                </a:solidFill>
              </a:rPr>
              <a:t>Selection</a:t>
            </a:r>
            <a:r>
              <a:rPr lang="en-US" dirty="0">
                <a:solidFill>
                  <a:srgbClr val="FC0128"/>
                </a:solidFill>
              </a:rPr>
              <a:t>:</a:t>
            </a:r>
            <a:r>
              <a:rPr lang="en-US" dirty="0"/>
              <a:t> You can use the selection capability in SQL to choose the rows in a table that you want returned by a query. You can use various criteria to restrict the rows that you see.</a:t>
            </a:r>
          </a:p>
          <a:p>
            <a:pPr lvl="2"/>
            <a:r>
              <a:rPr lang="en-US" b="1" dirty="0">
                <a:solidFill>
                  <a:srgbClr val="FC0128"/>
                </a:solidFill>
              </a:rPr>
              <a:t>Joining</a:t>
            </a:r>
            <a:r>
              <a:rPr lang="en-US" dirty="0">
                <a:solidFill>
                  <a:srgbClr val="FC0128"/>
                </a:solidFill>
              </a:rPr>
              <a:t>:</a:t>
            </a:r>
            <a:r>
              <a:rPr lang="en-US" dirty="0"/>
              <a:t> You can use the join capability in SQL to bring together data that is stored in different tables by creating a link between them. You learn more about joins in a later lesson.</a:t>
            </a:r>
            <a:r>
              <a:rPr lang="en-US" b="1" dirty="0"/>
              <a:t> </a:t>
            </a:r>
            <a:endParaRPr lang="en-US" b="1" dirty="0">
              <a:solidFill>
                <a:schemeClr val="accent2"/>
              </a:solidFill>
            </a:endParaRPr>
          </a:p>
        </p:txBody>
      </p:sp>
      <p:sp>
        <p:nvSpPr>
          <p:cNvPr id="6" name="Footer Placeholder 7">
            <a:extLst>
              <a:ext uri="{FF2B5EF4-FFF2-40B4-BE49-F238E27FC236}">
                <a16:creationId xmlns:a16="http://schemas.microsoft.com/office/drawing/2014/main" id="{8AF65488-28F8-4583-97C4-1895072A2888}"/>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421630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13AAA2EA-81A0-4B25-86A0-D4E3FE99029F}" type="slidenum">
              <a:rPr lang="en-US"/>
              <a:pPr/>
              <a:t>8</a:t>
            </a:fld>
            <a:r>
              <a:rPr lang="en-US" dirty="0"/>
              <a:t>##</a:t>
            </a:r>
            <a:endParaRPr lang="en-US" sz="1100" dirty="0"/>
          </a:p>
        </p:txBody>
      </p:sp>
      <p:sp>
        <p:nvSpPr>
          <p:cNvPr id="497666" name="Rectangle 2"/>
          <p:cNvSpPr>
            <a:spLocks noGrp="1" noRot="1" noChangeAspect="1" noChangeArrowheads="1" noTextEdit="1"/>
          </p:cNvSpPr>
          <p:nvPr>
            <p:ph type="sldImg"/>
          </p:nvPr>
        </p:nvSpPr>
        <p:spPr>
          <a:ln/>
        </p:spPr>
      </p:sp>
      <p:sp>
        <p:nvSpPr>
          <p:cNvPr id="497667" name="Rectangle 3"/>
          <p:cNvSpPr>
            <a:spLocks noGrp="1" noChangeArrowheads="1"/>
          </p:cNvSpPr>
          <p:nvPr>
            <p:ph type="body" idx="1"/>
          </p:nvPr>
        </p:nvSpPr>
        <p:spPr>
          <a:xfrm>
            <a:off x="688481" y="4416099"/>
            <a:ext cx="5504853" cy="4182457"/>
          </a:xfrm>
        </p:spPr>
        <p:txBody>
          <a:bodyPr/>
          <a:lstStyle/>
          <a:p>
            <a:r>
              <a:rPr lang="en-US" b="1" dirty="0"/>
              <a:t>Selecting All Columns of All Rows</a:t>
            </a:r>
          </a:p>
          <a:p>
            <a:pPr lvl="1"/>
            <a:endParaRPr lang="en-US" dirty="0"/>
          </a:p>
          <a:p>
            <a:pPr lvl="1"/>
            <a:r>
              <a:rPr lang="en-US" dirty="0"/>
              <a:t>You can display all columns of data in a table by following the </a:t>
            </a:r>
            <a:r>
              <a:rPr lang="en-US" b="1" dirty="0">
                <a:latin typeface="Consolas" panose="020B0609020204030204" pitchFamily="49" charset="0"/>
              </a:rPr>
              <a:t>SELECT</a:t>
            </a:r>
            <a:r>
              <a:rPr lang="en-US" dirty="0"/>
              <a:t> keyword with an asterisk (</a:t>
            </a:r>
            <a:r>
              <a:rPr lang="en-US" b="1" dirty="0">
                <a:latin typeface="Consolas" panose="020B0609020204030204" pitchFamily="49" charset="0"/>
              </a:rPr>
              <a:t>*</a:t>
            </a:r>
            <a:r>
              <a:rPr lang="en-US" dirty="0"/>
              <a:t>). In the example on the slide, the department table contains five columns: </a:t>
            </a:r>
            <a:r>
              <a:rPr lang="en-US" b="1" dirty="0" err="1">
                <a:latin typeface="Consolas" panose="020B0609020204030204" pitchFamily="49" charset="0"/>
              </a:rPr>
              <a:t>DepartmentID</a:t>
            </a:r>
            <a:r>
              <a:rPr lang="en-US" dirty="0"/>
              <a:t>, </a:t>
            </a:r>
            <a:r>
              <a:rPr lang="en-US" b="1" dirty="0">
                <a:latin typeface="Consolas" panose="020B0609020204030204" pitchFamily="49" charset="0"/>
              </a:rPr>
              <a:t>Name</a:t>
            </a:r>
            <a:r>
              <a:rPr lang="en-US" dirty="0"/>
              <a:t>, </a:t>
            </a:r>
            <a:r>
              <a:rPr lang="en-US" b="1" dirty="0" err="1">
                <a:latin typeface="Consolas" panose="020B0609020204030204" pitchFamily="49" charset="0"/>
              </a:rPr>
              <a:t>GroupName</a:t>
            </a:r>
            <a:r>
              <a:rPr lang="en-US" dirty="0"/>
              <a:t>, </a:t>
            </a:r>
            <a:r>
              <a:rPr lang="en-US" b="1" dirty="0" err="1">
                <a:latin typeface="Consolas" panose="020B0609020204030204" pitchFamily="49" charset="0"/>
              </a:rPr>
              <a:t>ModifiedDate</a:t>
            </a:r>
            <a:r>
              <a:rPr lang="en-US" b="1" dirty="0">
                <a:latin typeface="Consolas" panose="020B0609020204030204" pitchFamily="49" charset="0"/>
              </a:rPr>
              <a:t> </a:t>
            </a:r>
            <a:r>
              <a:rPr lang="en-US" dirty="0"/>
              <a:t>and </a:t>
            </a:r>
            <a:r>
              <a:rPr lang="en-US" dirty="0" err="1">
                <a:latin typeface="Consolas" panose="020B0609020204030204" pitchFamily="49" charset="0"/>
              </a:rPr>
              <a:t>rowguid</a:t>
            </a:r>
            <a:r>
              <a:rPr lang="en-US" dirty="0"/>
              <a:t>. The table contains 16 rows, one for each department. </a:t>
            </a:r>
          </a:p>
          <a:p>
            <a:pPr lvl="1"/>
            <a:r>
              <a:rPr lang="en-US" dirty="0">
                <a:solidFill>
                  <a:srgbClr val="000000"/>
                </a:solidFill>
              </a:rPr>
              <a:t>You can also display all columns in the table by listing all the columns after the </a:t>
            </a:r>
            <a:r>
              <a:rPr lang="en-US" dirty="0">
                <a:solidFill>
                  <a:srgbClr val="000000"/>
                </a:solidFill>
                <a:latin typeface="Consolas" panose="020B0609020204030204" pitchFamily="49" charset="0"/>
              </a:rPr>
              <a:t>SELECT</a:t>
            </a:r>
            <a:r>
              <a:rPr lang="en-US" dirty="0">
                <a:solidFill>
                  <a:srgbClr val="000000"/>
                </a:solidFill>
              </a:rPr>
              <a:t> keyword. For example, the following SQL statement, like the example on the slide, displays all columns and all rows of the </a:t>
            </a:r>
            <a:r>
              <a:rPr lang="en-US" dirty="0">
                <a:solidFill>
                  <a:srgbClr val="000000"/>
                </a:solidFill>
                <a:latin typeface="Consolas" panose="020B0609020204030204" pitchFamily="49" charset="0"/>
              </a:rPr>
              <a:t>Departments</a:t>
            </a:r>
            <a:r>
              <a:rPr lang="en-US" dirty="0">
                <a:solidFill>
                  <a:srgbClr val="000000"/>
                </a:solidFill>
              </a:rPr>
              <a:t> table:</a:t>
            </a:r>
          </a:p>
          <a:p>
            <a:pPr lvl="1"/>
            <a:endParaRPr lang="en-US" sz="500" dirty="0">
              <a:solidFill>
                <a:srgbClr val="000000"/>
              </a:solidFill>
            </a:endParaRPr>
          </a:p>
          <a:p>
            <a:pPr>
              <a:spcBef>
                <a:spcPct val="0"/>
              </a:spcBef>
            </a:pPr>
            <a:r>
              <a:rPr lang="en-US" b="1" dirty="0">
                <a:latin typeface="Consolas" panose="020B0609020204030204" pitchFamily="49" charset="0"/>
              </a:rPr>
              <a:t>   SELECT  </a:t>
            </a:r>
            <a:r>
              <a:rPr lang="en-US" b="1" dirty="0" err="1">
                <a:latin typeface="Consolas" panose="020B0609020204030204" pitchFamily="49" charset="0"/>
              </a:rPr>
              <a:t>DepartmentID</a:t>
            </a:r>
            <a:r>
              <a:rPr lang="en-US" b="1" dirty="0">
                <a:latin typeface="Consolas" panose="020B0609020204030204" pitchFamily="49" charset="0"/>
              </a:rPr>
              <a:t>, Name, </a:t>
            </a:r>
            <a:r>
              <a:rPr lang="en-US" b="1" dirty="0" err="1">
                <a:latin typeface="Consolas" panose="020B0609020204030204" pitchFamily="49" charset="0"/>
              </a:rPr>
              <a:t>GroupName</a:t>
            </a:r>
            <a:r>
              <a:rPr lang="en-US" b="1" dirty="0">
                <a:latin typeface="Consolas" panose="020B0609020204030204" pitchFamily="49" charset="0"/>
              </a:rPr>
              <a:t>, </a:t>
            </a:r>
            <a:r>
              <a:rPr lang="en-US" b="1" dirty="0" err="1">
                <a:latin typeface="Consolas" panose="020B0609020204030204" pitchFamily="49" charset="0"/>
              </a:rPr>
              <a:t>ModifiedDate</a:t>
            </a:r>
            <a:r>
              <a:rPr lang="en-US" b="1" dirty="0">
                <a:latin typeface="Consolas" panose="020B0609020204030204" pitchFamily="49" charset="0"/>
              </a:rPr>
              <a:t>, </a:t>
            </a:r>
            <a:r>
              <a:rPr lang="en-US" b="1" dirty="0" err="1">
                <a:latin typeface="Consolas" panose="020B0609020204030204" pitchFamily="49" charset="0"/>
              </a:rPr>
              <a:t>rowguid</a:t>
            </a:r>
            <a:endParaRPr lang="en-US" b="1" dirty="0">
              <a:latin typeface="Consolas" panose="020B0609020204030204" pitchFamily="49" charset="0"/>
            </a:endParaRPr>
          </a:p>
          <a:p>
            <a:pPr>
              <a:spcBef>
                <a:spcPct val="0"/>
              </a:spcBef>
            </a:pPr>
            <a:r>
              <a:rPr lang="en-US" b="1" dirty="0">
                <a:latin typeface="Consolas" panose="020B0609020204030204" pitchFamily="49" charset="0"/>
              </a:rPr>
              <a:t>   FROM    department;</a:t>
            </a:r>
            <a:endParaRPr lang="en-US" b="1" dirty="0">
              <a:solidFill>
                <a:srgbClr val="000000"/>
              </a:solidFill>
              <a:latin typeface="Consolas" panose="020B0609020204030204" pitchFamily="49" charset="0"/>
            </a:endParaRPr>
          </a:p>
          <a:p>
            <a:endParaRPr lang="en-US" dirty="0"/>
          </a:p>
          <a:p>
            <a:r>
              <a:rPr lang="en-US" b="1" dirty="0"/>
              <a:t>Selecting Specific Columns of All Rows</a:t>
            </a:r>
          </a:p>
          <a:p>
            <a:pPr lvl="1"/>
            <a:endParaRPr lang="en-US" dirty="0"/>
          </a:p>
          <a:p>
            <a:pPr lvl="1"/>
            <a:r>
              <a:rPr lang="en-US" dirty="0"/>
              <a:t>You can use the </a:t>
            </a:r>
            <a:r>
              <a:rPr lang="en-US" b="1" dirty="0">
                <a:solidFill>
                  <a:srgbClr val="FC0128"/>
                </a:solidFill>
                <a:latin typeface="Consolas" panose="020B0609020204030204" pitchFamily="49" charset="0"/>
              </a:rPr>
              <a:t>SELECT</a:t>
            </a:r>
            <a:r>
              <a:rPr lang="en-US" dirty="0">
                <a:solidFill>
                  <a:srgbClr val="FC0128"/>
                </a:solidFill>
              </a:rPr>
              <a:t> statement</a:t>
            </a:r>
            <a:r>
              <a:rPr lang="en-US" dirty="0"/>
              <a:t> to display specific columns of the table by specifying the column names, separated by commas. The example on the slide displays all the department numbers and location numbers from the </a:t>
            </a:r>
            <a:r>
              <a:rPr lang="en-US" b="1" dirty="0">
                <a:latin typeface="Consolas" panose="020B0609020204030204" pitchFamily="49" charset="0"/>
              </a:rPr>
              <a:t>Departments</a:t>
            </a:r>
            <a:r>
              <a:rPr lang="en-US" dirty="0"/>
              <a:t> table. </a:t>
            </a:r>
          </a:p>
          <a:p>
            <a:pPr lvl="1"/>
            <a:r>
              <a:rPr lang="en-US" dirty="0"/>
              <a:t>In the </a:t>
            </a:r>
            <a:r>
              <a:rPr lang="en-US" b="1" dirty="0">
                <a:latin typeface="Consolas" panose="020B0609020204030204" pitchFamily="49" charset="0"/>
              </a:rPr>
              <a:t>SELECT</a:t>
            </a:r>
            <a:r>
              <a:rPr lang="en-US" dirty="0"/>
              <a:t> clause, specify the columns that you want, in the order in which you want them to appear in the output. For example, to display location before department number going from left to right, you use the following statement:</a:t>
            </a:r>
          </a:p>
          <a:p>
            <a:pPr lvl="1"/>
            <a:endParaRPr lang="en-US" sz="500" dirty="0"/>
          </a:p>
          <a:p>
            <a:pPr>
              <a:spcBef>
                <a:spcPct val="0"/>
              </a:spcBef>
            </a:pPr>
            <a:r>
              <a:rPr lang="en-US" b="1" dirty="0">
                <a:latin typeface="Consolas" panose="020B0609020204030204" pitchFamily="49" charset="0"/>
              </a:rPr>
              <a:t>    SELECT </a:t>
            </a:r>
            <a:r>
              <a:rPr lang="en-US" b="1" dirty="0" err="1">
                <a:latin typeface="Consolas" panose="020B0609020204030204" pitchFamily="49" charset="0"/>
              </a:rPr>
              <a:t>DepartmentID</a:t>
            </a:r>
            <a:r>
              <a:rPr lang="en-US" b="1" dirty="0">
                <a:latin typeface="Consolas" panose="020B0609020204030204" pitchFamily="49" charset="0"/>
              </a:rPr>
              <a:t>, Name</a:t>
            </a:r>
          </a:p>
          <a:p>
            <a:pPr>
              <a:spcBef>
                <a:spcPct val="0"/>
              </a:spcBef>
            </a:pPr>
            <a:r>
              <a:rPr lang="en-US" b="1" dirty="0">
                <a:latin typeface="Consolas" panose="020B0609020204030204" pitchFamily="49" charset="0"/>
              </a:rPr>
              <a:t>    FROM Departments</a:t>
            </a:r>
          </a:p>
          <a:p>
            <a:endParaRPr lang="bg-BG" dirty="0"/>
          </a:p>
        </p:txBody>
      </p:sp>
      <p:sp>
        <p:nvSpPr>
          <p:cNvPr id="6" name="Footer Placeholder 7">
            <a:extLst>
              <a:ext uri="{FF2B5EF4-FFF2-40B4-BE49-F238E27FC236}">
                <a16:creationId xmlns:a16="http://schemas.microsoft.com/office/drawing/2014/main" id="{74F6ECB8-3833-4418-B20F-9B25598E40F6}"/>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119379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BFEB4A5C-547E-49FC-8604-96088E451FB3}" type="slidenum">
              <a:rPr lang="en-US"/>
              <a:pPr/>
              <a:t>9</a:t>
            </a:fld>
            <a:r>
              <a:rPr lang="en-US" dirty="0"/>
              <a:t>##</a:t>
            </a:r>
            <a:endParaRPr lang="en-US" sz="1100" dirty="0"/>
          </a:p>
        </p:txBody>
      </p:sp>
      <p:sp>
        <p:nvSpPr>
          <p:cNvPr id="503810" name="Rectangle 2"/>
          <p:cNvSpPr>
            <a:spLocks noGrp="1" noRot="1" noChangeAspect="1" noChangeArrowheads="1" noTextEdit="1"/>
          </p:cNvSpPr>
          <p:nvPr>
            <p:ph type="sldImg"/>
          </p:nvPr>
        </p:nvSpPr>
        <p:spPr>
          <a:ln/>
        </p:spPr>
      </p:sp>
      <p:sp>
        <p:nvSpPr>
          <p:cNvPr id="503811" name="Rectangle 3"/>
          <p:cNvSpPr>
            <a:spLocks noGrp="1" noChangeArrowheads="1"/>
          </p:cNvSpPr>
          <p:nvPr>
            <p:ph type="body" idx="1"/>
          </p:nvPr>
        </p:nvSpPr>
        <p:spPr>
          <a:xfrm>
            <a:off x="688481" y="4416099"/>
            <a:ext cx="5504853" cy="4182457"/>
          </a:xfrm>
        </p:spPr>
        <p:txBody>
          <a:bodyPr/>
          <a:lstStyle/>
          <a:p>
            <a:pPr>
              <a:lnSpc>
                <a:spcPct val="112000"/>
              </a:lnSpc>
              <a:spcBef>
                <a:spcPct val="0"/>
              </a:spcBef>
              <a:spcAft>
                <a:spcPct val="24000"/>
              </a:spcAft>
            </a:pPr>
            <a:r>
              <a:rPr lang="en-US" b="1" dirty="0"/>
              <a:t>Column Aliases</a:t>
            </a:r>
            <a:endParaRPr lang="en-US" b="1" dirty="0">
              <a:latin typeface="Times" pitchFamily="18" charset="0"/>
            </a:endParaRPr>
          </a:p>
          <a:p>
            <a:pPr lvl="1"/>
            <a:r>
              <a:rPr lang="en-US" dirty="0"/>
              <a:t>When displaying the result of a query, </a:t>
            </a:r>
            <a:r>
              <a:rPr lang="en-US" i="1" dirty="0"/>
              <a:t>SQL Query Analyzer </a:t>
            </a:r>
            <a:r>
              <a:rPr lang="en-US" dirty="0"/>
              <a:t>normally uses the name of the selected column as the column heading. For calculations the value usually is "(No column name)". This heading is not descriptive and hence may be difficult to understand. You can change a column heading by using a column alias.</a:t>
            </a:r>
          </a:p>
          <a:p>
            <a:pPr lvl="1"/>
            <a:r>
              <a:rPr lang="en-US" dirty="0"/>
              <a:t>Specify the alias after the column in the </a:t>
            </a:r>
            <a:r>
              <a:rPr lang="en-US" b="1" dirty="0">
                <a:latin typeface="Consolas" panose="020B0609020204030204" pitchFamily="49" charset="0"/>
              </a:rPr>
              <a:t>SELECT</a:t>
            </a:r>
            <a:r>
              <a:rPr lang="en-US" dirty="0"/>
              <a:t> list using a space as a separator. If the alias contains spaces or special characters (such as</a:t>
            </a:r>
            <a:r>
              <a:rPr lang="en-US" b="1" dirty="0">
                <a:latin typeface="Consolas" panose="020B0609020204030204" pitchFamily="49" charset="0"/>
              </a:rPr>
              <a:t> #</a:t>
            </a:r>
            <a:r>
              <a:rPr lang="en-US" dirty="0"/>
              <a:t> or </a:t>
            </a:r>
            <a:r>
              <a:rPr lang="en-US" b="1" dirty="0">
                <a:latin typeface="Consolas" panose="020B0609020204030204" pitchFamily="49" charset="0"/>
              </a:rPr>
              <a:t>$</a:t>
            </a:r>
            <a:r>
              <a:rPr lang="en-US" dirty="0"/>
              <a:t>), enclose the alias in double quotation marks (" ").</a:t>
            </a:r>
          </a:p>
        </p:txBody>
      </p:sp>
      <p:sp>
        <p:nvSpPr>
          <p:cNvPr id="6" name="Footer Placeholder 7">
            <a:extLst>
              <a:ext uri="{FF2B5EF4-FFF2-40B4-BE49-F238E27FC236}">
                <a16:creationId xmlns:a16="http://schemas.microsoft.com/office/drawing/2014/main" id="{A96F2080-162D-4F4B-AFA6-13236954D316}"/>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124583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1EC52957-6182-4E9B-A2CC-870C5CF9040D}" type="slidenum">
              <a:rPr lang="en-US"/>
              <a:pPr/>
              <a:t>10</a:t>
            </a:fld>
            <a:r>
              <a:rPr lang="en-US" dirty="0"/>
              <a:t>##</a:t>
            </a:r>
            <a:endParaRPr lang="en-US" sz="1100" dirty="0"/>
          </a:p>
        </p:txBody>
      </p:sp>
      <p:sp>
        <p:nvSpPr>
          <p:cNvPr id="505858" name="Rectangle 2"/>
          <p:cNvSpPr>
            <a:spLocks noGrp="1" noRot="1" noChangeAspect="1" noChangeArrowheads="1" noTextEdit="1"/>
          </p:cNvSpPr>
          <p:nvPr>
            <p:ph type="sldImg"/>
          </p:nvPr>
        </p:nvSpPr>
        <p:spPr>
          <a:ln/>
        </p:spPr>
      </p:sp>
      <p:sp>
        <p:nvSpPr>
          <p:cNvPr id="505859" name="Rectangle 3"/>
          <p:cNvSpPr>
            <a:spLocks noGrp="1" noChangeArrowheads="1"/>
          </p:cNvSpPr>
          <p:nvPr>
            <p:ph type="body" idx="1"/>
          </p:nvPr>
        </p:nvSpPr>
        <p:spPr>
          <a:xfrm>
            <a:off x="688481" y="4416099"/>
            <a:ext cx="5504853" cy="4182457"/>
          </a:xfrm>
        </p:spPr>
        <p:txBody>
          <a:bodyPr/>
          <a:lstStyle/>
          <a:p>
            <a:r>
              <a:rPr lang="en-US" b="1" dirty="0"/>
              <a:t>Concatenation Operator</a:t>
            </a:r>
          </a:p>
          <a:p>
            <a:pPr lvl="1"/>
            <a:r>
              <a:rPr lang="en-US" dirty="0"/>
              <a:t>You can link columns to other columns, arithmetic expressions or constant values to create a character expression by using the </a:t>
            </a:r>
            <a:r>
              <a:rPr lang="en-US" dirty="0">
                <a:solidFill>
                  <a:srgbClr val="FC0128"/>
                </a:solidFill>
              </a:rPr>
              <a:t>concatenation operator</a:t>
            </a:r>
            <a:r>
              <a:rPr lang="en-US" dirty="0"/>
              <a:t> (</a:t>
            </a:r>
            <a:r>
              <a:rPr lang="en-US" b="1" dirty="0">
                <a:latin typeface="Consolas" panose="020B0609020204030204" pitchFamily="49" charset="0"/>
              </a:rPr>
              <a:t>+</a:t>
            </a:r>
            <a:r>
              <a:rPr lang="en-US" dirty="0"/>
              <a:t>). Columns on either side of the operator are combined to make a single output column.</a:t>
            </a:r>
          </a:p>
          <a:p>
            <a:pPr lvl="1"/>
            <a:r>
              <a:rPr lang="en-US" dirty="0"/>
              <a:t>In the example, </a:t>
            </a:r>
            <a:r>
              <a:rPr lang="en-US" b="1" dirty="0" err="1">
                <a:latin typeface="Consolas" panose="020B0609020204030204" pitchFamily="49" charset="0"/>
              </a:rPr>
              <a:t>FirstName</a:t>
            </a:r>
            <a:r>
              <a:rPr lang="en-US" dirty="0"/>
              <a:t> and </a:t>
            </a:r>
            <a:r>
              <a:rPr lang="en-US" b="1" dirty="0" err="1">
                <a:latin typeface="Consolas" panose="020B0609020204030204" pitchFamily="49" charset="0"/>
              </a:rPr>
              <a:t>LastName</a:t>
            </a:r>
            <a:r>
              <a:rPr lang="en-US" dirty="0"/>
              <a:t> are concatenated, and they are given the alias </a:t>
            </a:r>
            <a:r>
              <a:rPr lang="en-US" b="1" dirty="0" err="1">
                <a:latin typeface="Consolas" panose="020B0609020204030204" pitchFamily="49" charset="0"/>
              </a:rPr>
              <a:t>FullName</a:t>
            </a:r>
            <a:r>
              <a:rPr lang="en-US" dirty="0"/>
              <a:t>. Notice that the employee first name and last name are combined to make a single output column.</a:t>
            </a:r>
          </a:p>
          <a:p>
            <a:pPr lvl="1"/>
            <a:r>
              <a:rPr lang="en-US" dirty="0"/>
              <a:t>The </a:t>
            </a:r>
            <a:r>
              <a:rPr lang="en-US" b="1" dirty="0">
                <a:latin typeface="Consolas" panose="020B0609020204030204" pitchFamily="49" charset="0"/>
              </a:rPr>
              <a:t>AS</a:t>
            </a:r>
            <a:r>
              <a:rPr lang="en-US" dirty="0"/>
              <a:t> keyword before the alias name makes the </a:t>
            </a:r>
            <a:r>
              <a:rPr lang="en-US" b="1" dirty="0">
                <a:latin typeface="Consolas" panose="020B0609020204030204" pitchFamily="49" charset="0"/>
              </a:rPr>
              <a:t>SELECT</a:t>
            </a:r>
            <a:r>
              <a:rPr lang="en-US" dirty="0"/>
              <a:t> clause easier to read.</a:t>
            </a:r>
          </a:p>
          <a:p>
            <a:endParaRPr lang="en-US" dirty="0"/>
          </a:p>
        </p:txBody>
      </p:sp>
      <p:sp>
        <p:nvSpPr>
          <p:cNvPr id="6" name="Footer Placeholder 7">
            <a:extLst>
              <a:ext uri="{FF2B5EF4-FFF2-40B4-BE49-F238E27FC236}">
                <a16:creationId xmlns:a16="http://schemas.microsoft.com/office/drawing/2014/main" id="{170D3F54-6784-4E31-A7EE-28BDE8834AF0}"/>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527789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9F267CD7-A18F-4980-AB6D-286E4AF98F86}" type="slidenum">
              <a:rPr lang="en-US"/>
              <a:pPr/>
              <a:t>13</a:t>
            </a:fld>
            <a:r>
              <a:rPr lang="en-US" dirty="0"/>
              <a:t>##</a:t>
            </a:r>
            <a:endParaRPr lang="en-US" sz="1100" dirty="0"/>
          </a:p>
        </p:txBody>
      </p:sp>
      <p:sp>
        <p:nvSpPr>
          <p:cNvPr id="512002" name="Rectangle 2"/>
          <p:cNvSpPr>
            <a:spLocks noGrp="1" noRot="1" noChangeAspect="1" noChangeArrowheads="1" noTextEdit="1"/>
          </p:cNvSpPr>
          <p:nvPr>
            <p:ph type="sldImg"/>
          </p:nvPr>
        </p:nvSpPr>
        <p:spPr>
          <a:ln/>
        </p:spPr>
      </p:sp>
      <p:sp>
        <p:nvSpPr>
          <p:cNvPr id="512003" name="Rectangle 3"/>
          <p:cNvSpPr>
            <a:spLocks noGrp="1" noChangeArrowheads="1"/>
          </p:cNvSpPr>
          <p:nvPr>
            <p:ph type="body" idx="1"/>
          </p:nvPr>
        </p:nvSpPr>
        <p:spPr>
          <a:xfrm>
            <a:off x="688481" y="4416099"/>
            <a:ext cx="5504853" cy="4182457"/>
          </a:xfrm>
        </p:spPr>
        <p:txBody>
          <a:bodyPr/>
          <a:lstStyle/>
          <a:p>
            <a:pPr lvl="1"/>
            <a:r>
              <a:rPr lang="en-US" dirty="0">
                <a:solidFill>
                  <a:srgbClr val="000000"/>
                </a:solidFill>
              </a:rPr>
              <a:t>In the example, the </a:t>
            </a:r>
            <a:r>
              <a:rPr lang="en-US" b="1" dirty="0">
                <a:solidFill>
                  <a:srgbClr val="000000"/>
                </a:solidFill>
                <a:latin typeface="Consolas" panose="020B0609020204030204" pitchFamily="49" charset="0"/>
              </a:rPr>
              <a:t>SELECT</a:t>
            </a:r>
            <a:r>
              <a:rPr lang="en-US" dirty="0">
                <a:solidFill>
                  <a:srgbClr val="000000"/>
                </a:solidFill>
              </a:rPr>
              <a:t> statement retrieves the name and department number of all employees whose department is 1.</a:t>
            </a:r>
          </a:p>
          <a:p>
            <a:pPr lvl="1"/>
            <a:endParaRPr lang="en-US" dirty="0">
              <a:solidFill>
                <a:srgbClr val="000000"/>
              </a:solidFill>
            </a:endParaRPr>
          </a:p>
          <a:p>
            <a:pPr lvl="1"/>
            <a:r>
              <a:rPr lang="en-US" dirty="0">
                <a:solidFill>
                  <a:srgbClr val="FC0128"/>
                </a:solidFill>
              </a:rPr>
              <a:t>Character strings</a:t>
            </a:r>
            <a:r>
              <a:rPr lang="en-US" dirty="0"/>
              <a:t> and dates in the </a:t>
            </a:r>
            <a:r>
              <a:rPr lang="en-US" b="1" dirty="0">
                <a:solidFill>
                  <a:srgbClr val="FC0128"/>
                </a:solidFill>
                <a:latin typeface="Consolas" panose="020B0609020204030204" pitchFamily="49" charset="0"/>
              </a:rPr>
              <a:t>WHERE</a:t>
            </a:r>
            <a:r>
              <a:rPr lang="en-US" dirty="0">
                <a:solidFill>
                  <a:srgbClr val="FC0128"/>
                </a:solidFill>
              </a:rPr>
              <a:t> clause</a:t>
            </a:r>
            <a:r>
              <a:rPr lang="en-US" dirty="0"/>
              <a:t> must be enclosed in single quotation marks (</a:t>
            </a:r>
            <a:r>
              <a:rPr lang="en-US" dirty="0">
                <a:latin typeface="Courier New" pitchFamily="49" charset="0"/>
              </a:rPr>
              <a:t>''</a:t>
            </a:r>
            <a:r>
              <a:rPr lang="en-US" dirty="0"/>
              <a:t>). Number constants, however, should not be enclosed in single quotation marks.</a:t>
            </a:r>
            <a:endParaRPr lang="en-US" b="1" dirty="0"/>
          </a:p>
          <a:p>
            <a:pPr lvl="1"/>
            <a:endParaRPr lang="en-US" dirty="0">
              <a:solidFill>
                <a:srgbClr val="000000"/>
              </a:solidFill>
            </a:endParaRPr>
          </a:p>
        </p:txBody>
      </p:sp>
      <p:sp>
        <p:nvSpPr>
          <p:cNvPr id="6" name="Footer Placeholder 7">
            <a:extLst>
              <a:ext uri="{FF2B5EF4-FFF2-40B4-BE49-F238E27FC236}">
                <a16:creationId xmlns:a16="http://schemas.microsoft.com/office/drawing/2014/main" id="{38098BBA-FC19-443F-B98C-FC6E79CC229A}"/>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985529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E1583E75-DA76-4813-B316-C64EF6206043}" type="slidenum">
              <a:rPr lang="en-US"/>
              <a:pPr/>
              <a:t>14</a:t>
            </a:fld>
            <a:r>
              <a:rPr lang="en-US" dirty="0"/>
              <a:t>##</a:t>
            </a:r>
            <a:endParaRPr lang="en-US" sz="1100" dirty="0"/>
          </a:p>
        </p:txBody>
      </p:sp>
      <p:sp>
        <p:nvSpPr>
          <p:cNvPr id="514050" name="Rectangle 2"/>
          <p:cNvSpPr>
            <a:spLocks noGrp="1" noRot="1" noChangeAspect="1" noChangeArrowheads="1" noTextEdit="1"/>
          </p:cNvSpPr>
          <p:nvPr>
            <p:ph type="sldImg"/>
          </p:nvPr>
        </p:nvSpPr>
        <p:spPr>
          <a:ln/>
        </p:spPr>
      </p:sp>
      <p:sp>
        <p:nvSpPr>
          <p:cNvPr id="514051" name="Rectangle 3"/>
          <p:cNvSpPr>
            <a:spLocks noGrp="1" noChangeArrowheads="1"/>
          </p:cNvSpPr>
          <p:nvPr>
            <p:ph type="body" idx="1"/>
          </p:nvPr>
        </p:nvSpPr>
        <p:spPr>
          <a:xfrm>
            <a:off x="688481" y="4416099"/>
            <a:ext cx="5504853" cy="4182457"/>
          </a:xfrm>
        </p:spPr>
        <p:txBody>
          <a:bodyPr/>
          <a:lstStyle/>
          <a:p>
            <a:r>
              <a:rPr lang="en-US" b="1" dirty="0"/>
              <a:t>The </a:t>
            </a:r>
            <a:r>
              <a:rPr lang="en-US" b="1" dirty="0">
                <a:latin typeface="Courier New" pitchFamily="49" charset="0"/>
              </a:rPr>
              <a:t>BETWEEN</a:t>
            </a:r>
            <a:r>
              <a:rPr lang="en-US" b="1" dirty="0"/>
              <a:t> Condition</a:t>
            </a:r>
          </a:p>
          <a:p>
            <a:pPr lvl="1"/>
            <a:r>
              <a:rPr lang="en-US" dirty="0"/>
              <a:t>You can display rows based on a range of values using the </a:t>
            </a:r>
            <a:r>
              <a:rPr lang="en-US" b="1" dirty="0">
                <a:solidFill>
                  <a:srgbClr val="FC0128"/>
                </a:solidFill>
                <a:latin typeface="Consolas" panose="020B0609020204030204" pitchFamily="49" charset="0"/>
              </a:rPr>
              <a:t>BETWEEN</a:t>
            </a:r>
            <a:r>
              <a:rPr lang="en-US" dirty="0">
                <a:solidFill>
                  <a:srgbClr val="FC0128"/>
                </a:solidFill>
              </a:rPr>
              <a:t> range condition</a:t>
            </a:r>
            <a:r>
              <a:rPr lang="en-US" dirty="0"/>
              <a:t>. The range that you specify contains a lower limit and an upper limit.</a:t>
            </a:r>
          </a:p>
          <a:p>
            <a:pPr lvl="1">
              <a:lnSpc>
                <a:spcPct val="95000"/>
              </a:lnSpc>
              <a:spcBef>
                <a:spcPct val="35000"/>
              </a:spcBef>
            </a:pPr>
            <a:r>
              <a:rPr lang="en-US" dirty="0"/>
              <a:t>The </a:t>
            </a:r>
            <a:r>
              <a:rPr lang="en-US" b="1" dirty="0">
                <a:latin typeface="Consolas" panose="020B0609020204030204" pitchFamily="49" charset="0"/>
              </a:rPr>
              <a:t>SELECT</a:t>
            </a:r>
            <a:r>
              <a:rPr lang="en-US" dirty="0"/>
              <a:t> statement on the slide returns rows from the </a:t>
            </a:r>
            <a:r>
              <a:rPr lang="en-US" b="1" dirty="0">
                <a:latin typeface="Consolas" panose="020B0609020204030204" pitchFamily="49" charset="0"/>
              </a:rPr>
              <a:t>Employees</a:t>
            </a:r>
            <a:r>
              <a:rPr lang="en-US" dirty="0"/>
              <a:t> table for any employee whose base rate is between 40 and 50.</a:t>
            </a:r>
            <a:endParaRPr lang="en-US" sz="2400" b="1" dirty="0">
              <a:effectLst>
                <a:outerShdw blurRad="38100" dist="38100" dir="2700000" algn="tl">
                  <a:srgbClr val="C0C0C0"/>
                </a:outerShdw>
              </a:effectLst>
            </a:endParaRPr>
          </a:p>
          <a:p>
            <a:pPr lvl="1"/>
            <a:r>
              <a:rPr lang="en-US" dirty="0"/>
              <a:t>Values specified with the </a:t>
            </a:r>
            <a:r>
              <a:rPr lang="en-US" b="1" dirty="0">
                <a:latin typeface="Consolas" panose="020B0609020204030204" pitchFamily="49" charset="0"/>
              </a:rPr>
              <a:t>BETWEEN</a:t>
            </a:r>
            <a:r>
              <a:rPr lang="en-US" dirty="0"/>
              <a:t> condition are inclusive. You must specify the lower limit first.</a:t>
            </a:r>
          </a:p>
          <a:p>
            <a:endParaRPr lang="en-US" b="1" dirty="0"/>
          </a:p>
          <a:p>
            <a:r>
              <a:rPr lang="en-US" b="1" dirty="0"/>
              <a:t>The </a:t>
            </a:r>
            <a:r>
              <a:rPr lang="en-US" b="1" dirty="0">
                <a:latin typeface="Courier New" pitchFamily="49" charset="0"/>
              </a:rPr>
              <a:t>IN</a:t>
            </a:r>
            <a:r>
              <a:rPr lang="en-US" b="1" dirty="0"/>
              <a:t> Condition</a:t>
            </a:r>
          </a:p>
          <a:p>
            <a:pPr lvl="1"/>
            <a:r>
              <a:rPr lang="en-US" dirty="0"/>
              <a:t>To test for values in a specified set of values, use the </a:t>
            </a:r>
            <a:r>
              <a:rPr lang="en-US" b="1" dirty="0">
                <a:solidFill>
                  <a:srgbClr val="FC0128"/>
                </a:solidFill>
                <a:latin typeface="Consolas" panose="020B0609020204030204" pitchFamily="49" charset="0"/>
              </a:rPr>
              <a:t>IN</a:t>
            </a:r>
            <a:r>
              <a:rPr lang="en-US" dirty="0">
                <a:solidFill>
                  <a:srgbClr val="FC0128"/>
                </a:solidFill>
              </a:rPr>
              <a:t> condition</a:t>
            </a:r>
            <a:r>
              <a:rPr lang="en-US" dirty="0"/>
              <a:t>. The </a:t>
            </a:r>
            <a:r>
              <a:rPr lang="en-US" b="1" dirty="0">
                <a:latin typeface="Consolas" panose="020B0609020204030204" pitchFamily="49" charset="0"/>
              </a:rPr>
              <a:t>IN</a:t>
            </a:r>
            <a:r>
              <a:rPr lang="en-US" dirty="0"/>
              <a:t> condition is also known as the </a:t>
            </a:r>
            <a:r>
              <a:rPr lang="en-US" i="1" dirty="0"/>
              <a:t>membership condition</a:t>
            </a:r>
            <a:r>
              <a:rPr lang="en-US" dirty="0"/>
              <a:t>.</a:t>
            </a:r>
          </a:p>
          <a:p>
            <a:pPr lvl="1"/>
            <a:endParaRPr lang="en-US" dirty="0"/>
          </a:p>
          <a:p>
            <a:r>
              <a:rPr lang="en-US" b="1" dirty="0"/>
              <a:t>The </a:t>
            </a:r>
            <a:r>
              <a:rPr lang="en-US" b="1" dirty="0">
                <a:latin typeface="Courier New" pitchFamily="49" charset="0"/>
              </a:rPr>
              <a:t>LIKE</a:t>
            </a:r>
            <a:r>
              <a:rPr lang="en-US" b="1" dirty="0"/>
              <a:t> Condition</a:t>
            </a:r>
          </a:p>
          <a:p>
            <a:pPr lvl="1"/>
            <a:r>
              <a:rPr lang="en-US" dirty="0"/>
              <a:t>You may not always know the exact value to search for. You can select rows that match a character pattern by using the </a:t>
            </a:r>
            <a:r>
              <a:rPr lang="en-US" b="1" dirty="0">
                <a:solidFill>
                  <a:srgbClr val="FC0128"/>
                </a:solidFill>
                <a:latin typeface="Consolas" panose="020B0609020204030204" pitchFamily="49" charset="0"/>
              </a:rPr>
              <a:t>LIKE</a:t>
            </a:r>
            <a:r>
              <a:rPr lang="en-US" dirty="0">
                <a:solidFill>
                  <a:srgbClr val="FC0128"/>
                </a:solidFill>
              </a:rPr>
              <a:t> condition</a:t>
            </a:r>
            <a:r>
              <a:rPr lang="en-US" dirty="0"/>
              <a:t>. The character pattern-matching operation is referred to as a </a:t>
            </a:r>
            <a:r>
              <a:rPr lang="en-US" i="1" dirty="0">
                <a:solidFill>
                  <a:srgbClr val="FC0128"/>
                </a:solidFill>
              </a:rPr>
              <a:t>wildcard </a:t>
            </a:r>
            <a:r>
              <a:rPr lang="en-US" dirty="0">
                <a:solidFill>
                  <a:srgbClr val="FC0128"/>
                </a:solidFill>
              </a:rPr>
              <a:t>search</a:t>
            </a:r>
            <a:r>
              <a:rPr lang="en-US" dirty="0"/>
              <a:t>. Two symbols can be used to construct the search string. </a:t>
            </a:r>
          </a:p>
          <a:p>
            <a:r>
              <a:rPr lang="en-US" dirty="0"/>
              <a:t>	Search conditions can contain either literal characters or numbers:</a:t>
            </a:r>
          </a:p>
          <a:p>
            <a:pPr lvl="1"/>
            <a:r>
              <a:rPr lang="en-US" dirty="0">
                <a:latin typeface="Courier New" pitchFamily="49" charset="0"/>
              </a:rPr>
              <a:t>		</a:t>
            </a:r>
            <a:r>
              <a:rPr lang="en-US" b="1" dirty="0">
                <a:latin typeface="Consolas" panose="020B0609020204030204" pitchFamily="49" charset="0"/>
              </a:rPr>
              <a:t>%</a:t>
            </a:r>
            <a:r>
              <a:rPr lang="en-US" dirty="0"/>
              <a:t> denotes zero or many characters.</a:t>
            </a:r>
          </a:p>
          <a:p>
            <a:pPr lvl="1"/>
            <a:r>
              <a:rPr lang="en-US" dirty="0">
                <a:latin typeface="Courier New" pitchFamily="49" charset="0"/>
              </a:rPr>
              <a:t>		</a:t>
            </a:r>
            <a:r>
              <a:rPr lang="en-US" b="1" dirty="0">
                <a:latin typeface="Consolas" panose="020B0609020204030204" pitchFamily="49" charset="0"/>
              </a:rPr>
              <a:t>_ </a:t>
            </a:r>
            <a:r>
              <a:rPr lang="en-US" dirty="0"/>
              <a:t>denotes one character.</a:t>
            </a:r>
          </a:p>
          <a:p>
            <a:pPr lvl="1"/>
            <a:endParaRPr lang="en-US" dirty="0"/>
          </a:p>
        </p:txBody>
      </p:sp>
      <p:sp>
        <p:nvSpPr>
          <p:cNvPr id="6" name="Footer Placeholder 7">
            <a:extLst>
              <a:ext uri="{FF2B5EF4-FFF2-40B4-BE49-F238E27FC236}">
                <a16:creationId xmlns:a16="http://schemas.microsoft.com/office/drawing/2014/main" id="{02683617-8FE4-4A87-A23B-738DDBE881B4}"/>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394251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C3C00336-F467-488C-BA9A-FF63DD7FC134}" type="slidenum">
              <a:rPr lang="en-US"/>
              <a:pPr/>
              <a:t>15</a:t>
            </a:fld>
            <a:r>
              <a:rPr lang="en-US" dirty="0"/>
              <a:t>##</a:t>
            </a:r>
            <a:endParaRPr lang="en-US" sz="1100" dirty="0"/>
          </a:p>
        </p:txBody>
      </p:sp>
      <p:sp>
        <p:nvSpPr>
          <p:cNvPr id="501762" name="Rectangle 2"/>
          <p:cNvSpPr>
            <a:spLocks noGrp="1" noRot="1" noChangeAspect="1" noChangeArrowheads="1" noTextEdit="1"/>
          </p:cNvSpPr>
          <p:nvPr>
            <p:ph type="sldImg"/>
          </p:nvPr>
        </p:nvSpPr>
        <p:spPr>
          <a:ln/>
        </p:spPr>
      </p:sp>
      <p:sp>
        <p:nvSpPr>
          <p:cNvPr id="501763" name="Rectangle 3"/>
          <p:cNvSpPr>
            <a:spLocks noGrp="1" noChangeArrowheads="1"/>
          </p:cNvSpPr>
          <p:nvPr>
            <p:ph type="body" idx="1"/>
          </p:nvPr>
        </p:nvSpPr>
        <p:spPr>
          <a:xfrm>
            <a:off x="688481" y="4416099"/>
            <a:ext cx="5504853" cy="4182457"/>
          </a:xfrm>
        </p:spPr>
        <p:txBody>
          <a:bodyPr/>
          <a:lstStyle/>
          <a:p>
            <a:r>
              <a:rPr lang="en-US" b="1" dirty="0"/>
              <a:t>Null Values</a:t>
            </a:r>
          </a:p>
          <a:p>
            <a:pPr lvl="1"/>
            <a:r>
              <a:rPr lang="en-US" dirty="0"/>
              <a:t>If a row lacks the data value for a particular column, that value is said to be </a:t>
            </a:r>
            <a:r>
              <a:rPr lang="en-US" i="1" dirty="0"/>
              <a:t>null</a:t>
            </a:r>
            <a:r>
              <a:rPr lang="en-US" dirty="0"/>
              <a:t> or to contain a </a:t>
            </a:r>
            <a:r>
              <a:rPr lang="en-US" dirty="0">
                <a:solidFill>
                  <a:srgbClr val="FC0128"/>
                </a:solidFill>
              </a:rPr>
              <a:t>null.</a:t>
            </a:r>
            <a:r>
              <a:rPr lang="en-US" dirty="0"/>
              <a:t> </a:t>
            </a:r>
          </a:p>
          <a:p>
            <a:pPr lvl="1"/>
            <a:r>
              <a:rPr lang="en-US" dirty="0"/>
              <a:t>A null is a value that is unavailable, unassigned, unknown or inapplicable. A null is not the same as zero or a space. Zero is a number and a space is a character. </a:t>
            </a:r>
          </a:p>
          <a:p>
            <a:pPr lvl="1"/>
            <a:r>
              <a:rPr lang="en-US" dirty="0"/>
              <a:t>Columns of any data type can contain nulls. However, some constraints, </a:t>
            </a:r>
            <a:r>
              <a:rPr lang="en-US" b="1" dirty="0">
                <a:latin typeface="Consolas" panose="020B0609020204030204" pitchFamily="49" charset="0"/>
              </a:rPr>
              <a:t>NOT NULL </a:t>
            </a:r>
            <a:r>
              <a:rPr lang="en-US" dirty="0"/>
              <a:t>and </a:t>
            </a:r>
            <a:r>
              <a:rPr lang="en-US" b="1" dirty="0">
                <a:latin typeface="Consolas" panose="020B0609020204030204" pitchFamily="49" charset="0"/>
              </a:rPr>
              <a:t>PRIMARY KEY</a:t>
            </a:r>
            <a:r>
              <a:rPr lang="en-US" dirty="0"/>
              <a:t>, prevent nulls from being used in the column. </a:t>
            </a:r>
          </a:p>
          <a:p>
            <a:pPr lvl="1"/>
            <a:r>
              <a:rPr lang="en-US" dirty="0"/>
              <a:t>In the </a:t>
            </a:r>
            <a:r>
              <a:rPr lang="en-US" b="1" dirty="0" err="1">
                <a:latin typeface="Courier New" pitchFamily="49" charset="0"/>
              </a:rPr>
              <a:t>ManagerID</a:t>
            </a:r>
            <a:r>
              <a:rPr lang="en-US" dirty="0"/>
              <a:t> column in the </a:t>
            </a:r>
            <a:r>
              <a:rPr lang="en-US" b="1" dirty="0">
                <a:latin typeface="Courier New" pitchFamily="49" charset="0"/>
              </a:rPr>
              <a:t>Employees</a:t>
            </a:r>
            <a:r>
              <a:rPr lang="en-US" dirty="0"/>
              <a:t> table, notice that managers (like Sanchez) have no </a:t>
            </a:r>
            <a:r>
              <a:rPr lang="en-US" b="1" dirty="0" err="1"/>
              <a:t>ManagerID</a:t>
            </a:r>
            <a:r>
              <a:rPr lang="en-US" dirty="0"/>
              <a:t>. </a:t>
            </a:r>
          </a:p>
          <a:p>
            <a:pPr lvl="1"/>
            <a:r>
              <a:rPr lang="en-US" dirty="0"/>
              <a:t>If any column value in an arithmetic expression is null, the result is </a:t>
            </a:r>
            <a:r>
              <a:rPr lang="en-US" dirty="0">
                <a:solidFill>
                  <a:srgbClr val="FC0128"/>
                </a:solidFill>
              </a:rPr>
              <a:t>null.</a:t>
            </a:r>
            <a:r>
              <a:rPr lang="en-US" dirty="0"/>
              <a:t> For example, if you attempt to perform division with zero, you get an error. However, if you divide a number by null, the result is a null or unknown. </a:t>
            </a:r>
          </a:p>
          <a:p>
            <a:pPr lvl="1"/>
            <a:endParaRPr lang="en-US" dirty="0"/>
          </a:p>
          <a:p>
            <a:pPr lvl="1"/>
            <a:endParaRPr lang="en-US" dirty="0">
              <a:solidFill>
                <a:srgbClr val="000000"/>
              </a:solidFill>
            </a:endParaRPr>
          </a:p>
        </p:txBody>
      </p:sp>
      <p:sp>
        <p:nvSpPr>
          <p:cNvPr id="6" name="Footer Placeholder 7">
            <a:extLst>
              <a:ext uri="{FF2B5EF4-FFF2-40B4-BE49-F238E27FC236}">
                <a16:creationId xmlns:a16="http://schemas.microsoft.com/office/drawing/2014/main" id="{B36F8432-D63B-4757-BBB5-8872BDE22372}"/>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880693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5AD25F89-D88C-455F-8A69-83D987A61408}" type="slidenum">
              <a:rPr lang="en-US"/>
              <a:pPr/>
              <a:t>16</a:t>
            </a:fld>
            <a:r>
              <a:rPr lang="en-US" dirty="0"/>
              <a:t>##</a:t>
            </a:r>
            <a:endParaRPr lang="en-US" sz="1100" dirty="0"/>
          </a:p>
        </p:txBody>
      </p:sp>
      <p:sp>
        <p:nvSpPr>
          <p:cNvPr id="518146" name="Rectangle 2"/>
          <p:cNvSpPr>
            <a:spLocks noGrp="1" noRot="1" noChangeAspect="1" noChangeArrowheads="1" noTextEdit="1"/>
          </p:cNvSpPr>
          <p:nvPr>
            <p:ph type="sldImg"/>
          </p:nvPr>
        </p:nvSpPr>
        <p:spPr>
          <a:ln/>
        </p:spPr>
      </p:sp>
      <p:sp>
        <p:nvSpPr>
          <p:cNvPr id="518147" name="Rectangle 3"/>
          <p:cNvSpPr>
            <a:spLocks noGrp="1" noChangeArrowheads="1"/>
          </p:cNvSpPr>
          <p:nvPr>
            <p:ph type="body" idx="1"/>
          </p:nvPr>
        </p:nvSpPr>
        <p:spPr>
          <a:xfrm>
            <a:off x="688481" y="4416099"/>
            <a:ext cx="5504853" cy="4182457"/>
          </a:xfrm>
        </p:spPr>
        <p:txBody>
          <a:bodyPr/>
          <a:lstStyle/>
          <a:p>
            <a:r>
              <a:rPr lang="en-US" b="1" dirty="0"/>
              <a:t>The </a:t>
            </a:r>
            <a:r>
              <a:rPr lang="en-US" b="1" dirty="0">
                <a:latin typeface="Courier New" pitchFamily="49" charset="0"/>
              </a:rPr>
              <a:t>ORDER BY</a:t>
            </a:r>
            <a:r>
              <a:rPr lang="en-US" b="1" dirty="0"/>
              <a:t> Clause</a:t>
            </a:r>
          </a:p>
          <a:p>
            <a:pPr lvl="1"/>
            <a:r>
              <a:rPr lang="en-US" dirty="0"/>
              <a:t>The </a:t>
            </a:r>
            <a:r>
              <a:rPr lang="en-US" dirty="0">
                <a:solidFill>
                  <a:srgbClr val="FC0128"/>
                </a:solidFill>
              </a:rPr>
              <a:t>order of rows</a:t>
            </a:r>
            <a:r>
              <a:rPr lang="en-US" dirty="0"/>
              <a:t> returned in a query result is undefined. The </a:t>
            </a:r>
            <a:r>
              <a:rPr lang="en-US" b="1" dirty="0">
                <a:solidFill>
                  <a:srgbClr val="FC0128"/>
                </a:solidFill>
                <a:latin typeface="Courier New" pitchFamily="49" charset="0"/>
              </a:rPr>
              <a:t>ORDER BY</a:t>
            </a:r>
            <a:r>
              <a:rPr lang="en-US" b="1" dirty="0">
                <a:solidFill>
                  <a:srgbClr val="FC0128"/>
                </a:solidFill>
              </a:rPr>
              <a:t> </a:t>
            </a:r>
            <a:r>
              <a:rPr lang="en-US" dirty="0">
                <a:solidFill>
                  <a:srgbClr val="FC0128"/>
                </a:solidFill>
              </a:rPr>
              <a:t>clause</a:t>
            </a:r>
            <a:r>
              <a:rPr lang="en-US" dirty="0"/>
              <a:t> can be used to sort the rows. If you use the </a:t>
            </a:r>
            <a:r>
              <a:rPr lang="en-US" b="1" dirty="0">
                <a:latin typeface="Courier New" pitchFamily="49" charset="0"/>
              </a:rPr>
              <a:t>ORDER BY</a:t>
            </a:r>
            <a:r>
              <a:rPr lang="en-US" b="1" dirty="0"/>
              <a:t> </a:t>
            </a:r>
            <a:r>
              <a:rPr lang="en-US" dirty="0"/>
              <a:t>clause, it must be the last clause of the SQL statement. You can specify an expression, or an alias, or column position as the sort condition. </a:t>
            </a:r>
          </a:p>
          <a:p>
            <a:pPr lvl="1"/>
            <a:endParaRPr lang="en-US" dirty="0">
              <a:solidFill>
                <a:srgbClr val="000000"/>
              </a:solidFill>
            </a:endParaRPr>
          </a:p>
        </p:txBody>
      </p:sp>
      <p:sp>
        <p:nvSpPr>
          <p:cNvPr id="6" name="Footer Placeholder 7">
            <a:extLst>
              <a:ext uri="{FF2B5EF4-FFF2-40B4-BE49-F238E27FC236}">
                <a16:creationId xmlns:a16="http://schemas.microsoft.com/office/drawing/2014/main" id="{F31959EA-3E8A-4F8D-9310-12F33F91C179}"/>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712783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601085D9-18F7-4846-B589-891CC68D6FE8}" type="slidenum">
              <a:rPr lang="en-US"/>
              <a:pPr/>
              <a:t>20</a:t>
            </a:fld>
            <a:r>
              <a:rPr lang="en-US" dirty="0"/>
              <a:t>##</a:t>
            </a:r>
            <a:endParaRPr lang="en-US" sz="1100" dirty="0"/>
          </a:p>
        </p:txBody>
      </p:sp>
      <p:sp>
        <p:nvSpPr>
          <p:cNvPr id="558082" name="Rectangle 2"/>
          <p:cNvSpPr>
            <a:spLocks noGrp="1" noRot="1" noChangeAspect="1" noChangeArrowheads="1" noTextEdit="1"/>
          </p:cNvSpPr>
          <p:nvPr>
            <p:ph type="sldImg"/>
          </p:nvPr>
        </p:nvSpPr>
        <p:spPr>
          <a:ln/>
        </p:spPr>
      </p:sp>
      <p:sp>
        <p:nvSpPr>
          <p:cNvPr id="558083" name="Rectangle 3"/>
          <p:cNvSpPr>
            <a:spLocks noGrp="1" noChangeArrowheads="1"/>
          </p:cNvSpPr>
          <p:nvPr>
            <p:ph type="body" idx="1"/>
          </p:nvPr>
        </p:nvSpPr>
        <p:spPr>
          <a:xfrm>
            <a:off x="688481" y="4416099"/>
            <a:ext cx="5504853" cy="4182457"/>
          </a:xfrm>
        </p:spPr>
        <p:txBody>
          <a:bodyPr/>
          <a:lstStyle/>
          <a:p>
            <a:endParaRPr lang="bg-BG"/>
          </a:p>
        </p:txBody>
      </p:sp>
      <p:sp>
        <p:nvSpPr>
          <p:cNvPr id="6" name="Footer Placeholder 7">
            <a:extLst>
              <a:ext uri="{FF2B5EF4-FFF2-40B4-BE49-F238E27FC236}">
                <a16:creationId xmlns:a16="http://schemas.microsoft.com/office/drawing/2014/main" id="{67805358-0DEE-4B92-826B-0C4FFA9A209A}"/>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251128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BF067CD-8E6B-4360-9AA8-C5DF2A48A6D1}" type="slidenum">
              <a:rPr lang="en-US" smtClean="0"/>
              <a:t>21</a:t>
            </a:fld>
            <a:endParaRPr lang="en-US" dirty="0"/>
          </a:p>
        </p:txBody>
      </p:sp>
      <p:sp>
        <p:nvSpPr>
          <p:cNvPr id="5" name="Footer Placeholder 4"/>
          <p:cNvSpPr>
            <a:spLocks noGrp="1"/>
          </p:cNvSpPr>
          <p:nvPr>
            <p:ph type="ftr" sz="quarter" idx="4"/>
          </p:nvPr>
        </p:nvSpPr>
        <p:spPr/>
        <p:txBody>
          <a:bodyPr/>
          <a:lstStyle/>
          <a:p>
            <a:r>
              <a:rPr lang="en-US"/>
              <a:t>© SoftUni – </a:t>
            </a:r>
            <a:r>
              <a:rPr lang="en-US" u="sng">
                <a:hlinkClick r:id="rId3"/>
              </a:rPr>
              <a:t>https://softuni.org</a:t>
            </a:r>
            <a:r>
              <a:rPr lang="en-US"/>
              <a:t>. Copyrighted document. Unauthorized copy or reproduction is not permitted.</a:t>
            </a:r>
            <a:endParaRPr lang="en-US" dirty="0"/>
          </a:p>
        </p:txBody>
      </p:sp>
    </p:spTree>
    <p:extLst>
      <p:ext uri="{BB962C8B-B14F-4D97-AF65-F5344CB8AC3E}">
        <p14:creationId xmlns:p14="http://schemas.microsoft.com/office/powerpoint/2010/main" val="1577058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23</a:t>
            </a:fld>
            <a:endParaRPr lang="en-US" dirty="0"/>
          </a:p>
        </p:txBody>
      </p:sp>
      <p:sp>
        <p:nvSpPr>
          <p:cNvPr id="6" name="Footer Placeholder 7">
            <a:extLst>
              <a:ext uri="{FF2B5EF4-FFF2-40B4-BE49-F238E27FC236}">
                <a16:creationId xmlns:a16="http://schemas.microsoft.com/office/drawing/2014/main" id="{13F39AA4-DE0E-4E60-97B9-3DCAB4278C85}"/>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0755980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BA5BD7-F043-4D1B-AA17-CD412FC534D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ooter Placeholder 7">
            <a:extLst>
              <a:ext uri="{FF2B5EF4-FFF2-40B4-BE49-F238E27FC236}">
                <a16:creationId xmlns:a16="http://schemas.microsoft.com/office/drawing/2014/main" id="{DCE9DC28-130B-4B8A-8108-F1E00FDFF15B}"/>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3374616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Slide Number Placeholder 5">
            <a:extLst>
              <a:ext uri="{FF2B5EF4-FFF2-40B4-BE49-F238E27FC236}">
                <a16:creationId xmlns:a16="http://schemas.microsoft.com/office/drawing/2014/main" id="{5D1C0779-821B-433B-AB3A-0953EE966C7E}"/>
              </a:ext>
            </a:extLst>
          </p:cNvPr>
          <p:cNvSpPr txBox="1">
            <a:spLocks/>
          </p:cNvSpPr>
          <p:nvPr/>
        </p:nvSpPr>
        <p:spPr>
          <a:xfrm>
            <a:off x="6488999" y="884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BA5BD7-F043-4D1B-AA17-CD412FC534DE}" type="slidenum">
              <a:rPr lang="en-US" smtClean="0"/>
              <a:pPr/>
              <a:t>31</a:t>
            </a:fld>
            <a:endParaRPr lang="en-US" dirty="0"/>
          </a:p>
        </p:txBody>
      </p:sp>
      <p:sp>
        <p:nvSpPr>
          <p:cNvPr id="6" name="Footer Placeholder 7">
            <a:extLst>
              <a:ext uri="{FF2B5EF4-FFF2-40B4-BE49-F238E27FC236}">
                <a16:creationId xmlns:a16="http://schemas.microsoft.com/office/drawing/2014/main" id="{A93BC4C9-2A0B-4BB4-AC10-CE9D43ECC598}"/>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354852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6627548A-4D3C-449B-81A5-FA4BE4628490}"/>
              </a:ext>
            </a:extLst>
          </p:cNvPr>
          <p:cNvSpPr txBox="1">
            <a:spLocks/>
          </p:cNvSpPr>
          <p:nvPr/>
        </p:nvSpPr>
        <p:spPr>
          <a:xfrm>
            <a:off x="6488999" y="884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BA5BD7-F043-4D1B-AA17-CD412FC534DE}" type="slidenum">
              <a:rPr lang="en-US" smtClean="0"/>
              <a:pPr/>
              <a:t>32</a:t>
            </a:fld>
            <a:endParaRPr lang="en-US" dirty="0"/>
          </a:p>
        </p:txBody>
      </p:sp>
      <p:sp>
        <p:nvSpPr>
          <p:cNvPr id="7" name="Footer Placeholder 7">
            <a:extLst>
              <a:ext uri="{FF2B5EF4-FFF2-40B4-BE49-F238E27FC236}">
                <a16:creationId xmlns:a16="http://schemas.microsoft.com/office/drawing/2014/main" id="{1A26A8A8-9085-49A1-A8D7-8BC769FB73CF}"/>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42549919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softuni.org/"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hyperlink" Target="https://about.softuni.bg/" TargetMode="External"/><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image" Target="../media/image4.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8" Type="http://schemas.openxmlformats.org/officeDocument/2006/relationships/hyperlink" Target="https://softuni.foundation/" TargetMode="External"/><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hyperlink" Target="https://www.facebook.com/SoftwareUniversity" TargetMode="External"/><Relationship Id="rId1" Type="http://schemas.openxmlformats.org/officeDocument/2006/relationships/slideMaster" Target="../slideMasters/slideMaster1.xml"/><Relationship Id="rId6" Type="http://schemas.openxmlformats.org/officeDocument/2006/relationships/hyperlink" Target="https://softuni.bg/" TargetMode="External"/><Relationship Id="rId5" Type="http://schemas.openxmlformats.org/officeDocument/2006/relationships/image" Target="../media/image17.png"/><Relationship Id="rId10" Type="http://schemas.openxmlformats.org/officeDocument/2006/relationships/image" Target="../media/image5.png"/><Relationship Id="rId4" Type="http://schemas.openxmlformats.org/officeDocument/2006/relationships/hyperlink" Target="https://softuni.org/" TargetMode="External"/><Relationship Id="rId9" Type="http://schemas.openxmlformats.org/officeDocument/2006/relationships/hyperlink" Target="https://forum.softuni.bg/" TargetMode="Externa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resentation Title Slide">
    <p:spTree>
      <p:nvGrpSpPr>
        <p:cNvPr id="1" name=""/>
        <p:cNvGrpSpPr/>
        <p:nvPr/>
      </p:nvGrpSpPr>
      <p:grpSpPr>
        <a:xfrm>
          <a:off x="0" y="0"/>
          <a:ext cx="0" cy="0"/>
          <a:chOff x="0" y="0"/>
          <a:chExt cx="0" cy="0"/>
        </a:xfrm>
      </p:grpSpPr>
      <p:sp>
        <p:nvSpPr>
          <p:cNvPr id="16" name="Rectangle Bottom">
            <a:extLst>
              <a:ext uri="{FF2B5EF4-FFF2-40B4-BE49-F238E27FC236}">
                <a16:creationId xmlns:a16="http://schemas.microsoft.com/office/drawing/2014/main" id="{6854D183-0374-4B3E-B2CE-32F308A81591}"/>
              </a:ext>
            </a:extLst>
          </p:cNvPr>
          <p:cNvSpPr/>
          <p:nvPr/>
        </p:nvSpPr>
        <p:spPr>
          <a:xfrm>
            <a:off x="0" y="6702676"/>
            <a:ext cx="12195176" cy="1553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4" name="Picture Logo SoftUni" descr="SoftUni logo">
            <a:extLst>
              <a:ext uri="{FF2B5EF4-FFF2-40B4-BE49-F238E27FC236}">
                <a16:creationId xmlns:a16="http://schemas.microsoft.com/office/drawing/2014/main" id="{C4D6B2A2-DFF0-4712-BFEC-6676BEC99FEC}"/>
              </a:ext>
            </a:extLst>
          </p:cNvPr>
          <p:cNvPicPr>
            <a:picLocks noChangeAspect="1"/>
          </p:cNvPicPr>
          <p:nvPr userDrawn="1"/>
        </p:nvPicPr>
        <p:blipFill>
          <a:blip r:embed="rId2"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24460" y="5184000"/>
            <a:ext cx="3751540" cy="1297655"/>
          </a:xfrm>
          <a:prstGeom prst="rect">
            <a:avLst/>
          </a:prstGeom>
        </p:spPr>
      </p:pic>
      <p:sp>
        <p:nvSpPr>
          <p:cNvPr id="31" name="Text Placeholder Company Site">
            <a:extLst>
              <a:ext uri="{FF2B5EF4-FFF2-40B4-BE49-F238E27FC236}">
                <a16:creationId xmlns:a16="http://schemas.microsoft.com/office/drawing/2014/main" id="{3E6B87B7-9D33-4EBB-BD4F-C0436BA3FD72}"/>
              </a:ext>
            </a:extLst>
          </p:cNvPr>
          <p:cNvSpPr>
            <a:spLocks noGrp="1"/>
          </p:cNvSpPr>
          <p:nvPr>
            <p:ph type="body" sz="quarter" idx="18" hasCustomPrompt="1"/>
          </p:nvPr>
        </p:nvSpPr>
        <p:spPr bwMode="auto">
          <a:xfrm>
            <a:off x="8708505" y="6130863"/>
            <a:ext cx="2951518" cy="341556"/>
          </a:xfrm>
          <a:prstGeom prst="rect">
            <a:avLst/>
          </a:prstGeom>
          <a:noFill/>
          <a:effectLst/>
        </p:spPr>
        <p:txBody>
          <a:bodyPr wrap="square" lIns="36000" tIns="36000" rIns="36000" bIns="36000" rtlCol="0" anchor="ctr" anchorCtr="0">
            <a:noAutofit/>
          </a:bodyPr>
          <a:lstStyle>
            <a:lvl1pPr marL="0" indent="0" algn="r" rtl="0" fontAlgn="base" latinLnBrk="0">
              <a:spcBef>
                <a:spcPct val="0"/>
              </a:spcBef>
              <a:spcAft>
                <a:spcPct val="0"/>
              </a:spcAft>
              <a:buNone/>
              <a:defRPr lang="en-US" sz="1798" b="1" kern="1200" dirty="0" smtClean="0">
                <a:solidFill>
                  <a:schemeClr val="tx1">
                    <a:lumMod val="75000"/>
                  </a:schemeClr>
                </a:solidFill>
                <a:effectLst/>
                <a:latin typeface="+mn-lt"/>
                <a:ea typeface="+mn-ea"/>
                <a:cs typeface="+mn-cs"/>
              </a:defRPr>
            </a:lvl1pPr>
          </a:lstStyle>
          <a:p>
            <a:pPr lvl="0"/>
            <a:r>
              <a:rPr lang="en-US" noProof="0" dirty="0"/>
              <a:t>Company Web Site</a:t>
            </a:r>
          </a:p>
        </p:txBody>
      </p:sp>
      <p:sp>
        <p:nvSpPr>
          <p:cNvPr id="30" name="Text Placeholder Company Name">
            <a:extLst>
              <a:ext uri="{FF2B5EF4-FFF2-40B4-BE49-F238E27FC236}">
                <a16:creationId xmlns:a16="http://schemas.microsoft.com/office/drawing/2014/main" id="{2EA92DCA-4DB5-4D03-ACD3-A6A296592D0C}"/>
              </a:ext>
            </a:extLst>
          </p:cNvPr>
          <p:cNvSpPr>
            <a:spLocks noGrp="1"/>
          </p:cNvSpPr>
          <p:nvPr>
            <p:ph type="body" sz="quarter" idx="17" hasCustomPrompt="1"/>
          </p:nvPr>
        </p:nvSpPr>
        <p:spPr bwMode="auto">
          <a:xfrm>
            <a:off x="8708505" y="5756628"/>
            <a:ext cx="2951518" cy="367080"/>
          </a:xfrm>
          <a:prstGeom prst="rect">
            <a:avLst/>
          </a:prstGeom>
          <a:noFill/>
          <a:effectLst/>
        </p:spPr>
        <p:txBody>
          <a:bodyPr wrap="square" lIns="36000" tIns="36000" rIns="36000" bIns="36000" rtlCol="0" anchor="ctr" anchorCtr="0">
            <a:noAutofit/>
          </a:bodyPr>
          <a:lstStyle>
            <a:lvl1pPr marL="0" indent="0" algn="r" rtl="0" fontAlgn="base" latinLnBrk="0">
              <a:spcBef>
                <a:spcPct val="0"/>
              </a:spcBef>
              <a:spcAft>
                <a:spcPct val="0"/>
              </a:spcAft>
              <a:buNone/>
              <a:defRPr lang="en-US" sz="1998" b="1" kern="1200" dirty="0" smtClean="0">
                <a:solidFill>
                  <a:schemeClr val="tx1">
                    <a:lumMod val="75000"/>
                  </a:schemeClr>
                </a:solidFill>
                <a:effectLst/>
                <a:latin typeface="+mn-lt"/>
                <a:ea typeface="+mn-ea"/>
                <a:cs typeface="+mn-cs"/>
              </a:defRPr>
            </a:lvl1pPr>
          </a:lstStyle>
          <a:p>
            <a:pPr lvl="0"/>
            <a:r>
              <a:rPr lang="en-US" noProof="0" dirty="0"/>
              <a:t>Company Name</a:t>
            </a:r>
          </a:p>
        </p:txBody>
      </p:sp>
      <p:pic>
        <p:nvPicPr>
          <p:cNvPr id="35" name="Picture SoftUni Mascot" descr="SoftUni mascot">
            <a:extLst>
              <a:ext uri="{FF2B5EF4-FFF2-40B4-BE49-F238E27FC236}">
                <a16:creationId xmlns:a16="http://schemas.microsoft.com/office/drawing/2014/main" id="{951E7DA9-C5F0-43D9-B013-3BDF9EEF029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flipH="1">
            <a:off x="8848924" y="2609644"/>
            <a:ext cx="2788893" cy="3018284"/>
          </a:xfrm>
          <a:prstGeom prst="rect">
            <a:avLst/>
          </a:prstGeom>
        </p:spPr>
      </p:pic>
      <p:pic>
        <p:nvPicPr>
          <p:cNvPr id="22" name="Picture Logo Software University" descr="Software University logo">
            <a:hlinkClick r:id="rId4"/>
            <a:extLst>
              <a:ext uri="{FF2B5EF4-FFF2-40B4-BE49-F238E27FC236}">
                <a16:creationId xmlns:a16="http://schemas.microsoft.com/office/drawing/2014/main" id="{F2315EB3-3FE4-4D3B-921E-5F209CEC13CB}"/>
              </a:ext>
            </a:extLst>
          </p:cNvPr>
          <p:cNvPicPr>
            <a:picLocks noChangeAspect="1"/>
          </p:cNvPicPr>
          <p:nvPr userDrawn="1"/>
        </p:nvPicPr>
        <p:blipFill>
          <a:blip r:embed="rId5"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7944" y="5918567"/>
            <a:ext cx="1830305" cy="628159"/>
          </a:xfrm>
          <a:prstGeom prst="rect">
            <a:avLst/>
          </a:prstGeom>
        </p:spPr>
      </p:pic>
      <p:sp>
        <p:nvSpPr>
          <p:cNvPr id="40" name="Text Placeholder Author Position">
            <a:extLst>
              <a:ext uri="{FF2B5EF4-FFF2-40B4-BE49-F238E27FC236}">
                <a16:creationId xmlns:a16="http://schemas.microsoft.com/office/drawing/2014/main" id="{CD940256-851E-46C8-8BFB-A5ECA6C7DA07}"/>
              </a:ext>
            </a:extLst>
          </p:cNvPr>
          <p:cNvSpPr>
            <a:spLocks noGrp="1"/>
          </p:cNvSpPr>
          <p:nvPr>
            <p:ph type="body" sz="quarter" idx="20" hasCustomPrompt="1"/>
          </p:nvPr>
        </p:nvSpPr>
        <p:spPr bwMode="auto">
          <a:xfrm>
            <a:off x="553082" y="5344180"/>
            <a:ext cx="2980696" cy="444793"/>
          </a:xfrm>
          <a:prstGeom prst="rect">
            <a:avLst/>
          </a:prstGeom>
          <a:noFill/>
          <a:effectLst/>
        </p:spPr>
        <p:txBody>
          <a:bodyPr wrap="square" lIns="36000" tIns="36000" rIns="36000" bIns="36000" rtlCol="0" anchor="ctr" anchorCtr="0">
            <a:spAutoFit/>
          </a:bodyPr>
          <a:lstStyle>
            <a:lvl1pPr marL="0" indent="0" algn="l" rtl="0" fontAlgn="base" latinLnBrk="0">
              <a:spcBef>
                <a:spcPct val="0"/>
              </a:spcBef>
              <a:spcAft>
                <a:spcPct val="0"/>
              </a:spcAft>
              <a:buNone/>
              <a:defRPr lang="en-US" sz="2398" b="1" kern="1200" dirty="0" smtClean="0">
                <a:solidFill>
                  <a:schemeClr val="tx1"/>
                </a:solidFill>
                <a:effectLst/>
                <a:latin typeface="+mn-lt"/>
                <a:ea typeface="+mn-ea"/>
                <a:cs typeface="+mn-cs"/>
              </a:defRPr>
            </a:lvl1pPr>
          </a:lstStyle>
          <a:p>
            <a:pPr lvl="0"/>
            <a:r>
              <a:rPr lang="en-US" noProof="0" dirty="0"/>
              <a:t>Position</a:t>
            </a:r>
          </a:p>
        </p:txBody>
      </p:sp>
      <p:sp>
        <p:nvSpPr>
          <p:cNvPr id="36" name="Text Placeholder Author Name">
            <a:extLst>
              <a:ext uri="{FF2B5EF4-FFF2-40B4-BE49-F238E27FC236}">
                <a16:creationId xmlns:a16="http://schemas.microsoft.com/office/drawing/2014/main" id="{3B21F47B-DE1F-442D-A2B7-6866F8786704}"/>
              </a:ext>
            </a:extLst>
          </p:cNvPr>
          <p:cNvSpPr>
            <a:spLocks noGrp="1"/>
          </p:cNvSpPr>
          <p:nvPr>
            <p:ph type="body" sz="quarter" idx="19" hasCustomPrompt="1"/>
          </p:nvPr>
        </p:nvSpPr>
        <p:spPr bwMode="auto">
          <a:xfrm>
            <a:off x="553082" y="4851838"/>
            <a:ext cx="2980696" cy="454398"/>
          </a:xfrm>
          <a:prstGeom prst="rect">
            <a:avLst/>
          </a:prstGeom>
          <a:noFill/>
          <a:effectLst/>
        </p:spPr>
        <p:txBody>
          <a:bodyPr wrap="square" lIns="36000" tIns="36000" rIns="36000" bIns="36000" rtlCol="0" anchor="ctr" anchorCtr="0">
            <a:noAutofit/>
          </a:bodyPr>
          <a:lstStyle>
            <a:lvl1pPr marL="0" indent="0" algn="l" rtl="0" fontAlgn="base" latinLnBrk="0">
              <a:spcBef>
                <a:spcPct val="0"/>
              </a:spcBef>
              <a:spcAft>
                <a:spcPct val="0"/>
              </a:spcAft>
              <a:buNone/>
              <a:defRPr lang="en-US" sz="2798" b="1" kern="1200" dirty="0" smtClean="0">
                <a:solidFill>
                  <a:schemeClr val="tx1"/>
                </a:solidFill>
                <a:effectLst/>
                <a:latin typeface="+mn-lt"/>
                <a:ea typeface="+mn-ea"/>
                <a:cs typeface="+mn-cs"/>
              </a:defRPr>
            </a:lvl1pPr>
          </a:lstStyle>
          <a:p>
            <a:pPr lvl="0"/>
            <a:r>
              <a:rPr lang="en-US" noProof="0" dirty="0"/>
              <a:t>Author Name</a:t>
            </a:r>
          </a:p>
        </p:txBody>
      </p:sp>
      <p:sp>
        <p:nvSpPr>
          <p:cNvPr id="33" name="Picture Placeholder Title Image">
            <a:extLst>
              <a:ext uri="{FF2B5EF4-FFF2-40B4-BE49-F238E27FC236}">
                <a16:creationId xmlns:a16="http://schemas.microsoft.com/office/drawing/2014/main" id="{A04D819A-89E2-4714-8C56-1838BF467EF7}"/>
              </a:ext>
            </a:extLst>
          </p:cNvPr>
          <p:cNvSpPr>
            <a:spLocks noGrp="1"/>
          </p:cNvSpPr>
          <p:nvPr>
            <p:ph type="pic" sz="quarter" idx="10"/>
          </p:nvPr>
        </p:nvSpPr>
        <p:spPr>
          <a:xfrm>
            <a:off x="553082" y="2740913"/>
            <a:ext cx="4642919" cy="1936503"/>
          </a:xfrm>
        </p:spPr>
        <p:txBody>
          <a:bodyPr/>
          <a:lstStyle>
            <a:lvl1pPr marL="0" indent="0" algn="ctr" latinLnBrk="0">
              <a:buNone/>
              <a:defRPr>
                <a:solidFill>
                  <a:schemeClr val="bg1"/>
                </a:solidFill>
              </a:defRPr>
            </a:lvl1pPr>
          </a:lstStyle>
          <a:p>
            <a:r>
              <a:rPr lang="en-US" noProof="0" dirty="0"/>
              <a:t>Click icon to add picture</a:t>
            </a:r>
          </a:p>
        </p:txBody>
      </p:sp>
      <p:sp>
        <p:nvSpPr>
          <p:cNvPr id="43" name="Presentation Subtitle">
            <a:extLst>
              <a:ext uri="{FF2B5EF4-FFF2-40B4-BE49-F238E27FC236}">
                <a16:creationId xmlns:a16="http://schemas.microsoft.com/office/drawing/2014/main" id="{37BDB812-1395-4B02-ABCF-6A331EEE23E5}"/>
              </a:ext>
            </a:extLst>
          </p:cNvPr>
          <p:cNvSpPr>
            <a:spLocks noGrp="1"/>
          </p:cNvSpPr>
          <p:nvPr>
            <p:ph type="subTitle" idx="1" hasCustomPrompt="1"/>
          </p:nvPr>
        </p:nvSpPr>
        <p:spPr>
          <a:xfrm>
            <a:off x="554182" y="1258272"/>
            <a:ext cx="11083636" cy="1315728"/>
          </a:xfrm>
        </p:spPr>
        <p:txBody>
          <a:bodyPr anchor="t" anchorCtr="0">
            <a:normAutofit/>
          </a:bodyPr>
          <a:lstStyle>
            <a:lvl1pPr marL="0" indent="0" algn="ctr" latinLnBrk="0">
              <a:buNone/>
              <a:defRPr sz="3598">
                <a:solidFill>
                  <a:schemeClr val="tx1"/>
                </a:solidFill>
              </a:defRPr>
            </a:lvl1pPr>
          </a:lstStyle>
          <a:p>
            <a:r>
              <a:rPr lang="en-US" noProof="0" dirty="0"/>
              <a:t>Presentation Subtitle</a:t>
            </a:r>
          </a:p>
        </p:txBody>
      </p:sp>
      <p:sp>
        <p:nvSpPr>
          <p:cNvPr id="2" name="Presentation Title">
            <a:extLst>
              <a:ext uri="{FF2B5EF4-FFF2-40B4-BE49-F238E27FC236}">
                <a16:creationId xmlns:a16="http://schemas.microsoft.com/office/drawing/2014/main" id="{A4DF3AB8-E6E3-4FCE-8A4A-ECD147720A5D}"/>
              </a:ext>
            </a:extLst>
          </p:cNvPr>
          <p:cNvSpPr>
            <a:spLocks noGrp="1"/>
          </p:cNvSpPr>
          <p:nvPr>
            <p:ph type="title" hasCustomPrompt="1"/>
          </p:nvPr>
        </p:nvSpPr>
        <p:spPr>
          <a:xfrm>
            <a:off x="554182" y="321502"/>
            <a:ext cx="11083636" cy="882654"/>
          </a:xfrm>
        </p:spPr>
        <p:txBody>
          <a:bodyPr/>
          <a:lstStyle>
            <a:lvl1pPr algn="ctr" latinLnBrk="0">
              <a:defRPr sz="4798"/>
            </a:lvl1pPr>
          </a:lstStyle>
          <a:p>
            <a:r>
              <a:rPr lang="en-US" noProof="0" dirty="0"/>
              <a:t>Presentation Title</a:t>
            </a:r>
          </a:p>
        </p:txBody>
      </p:sp>
    </p:spTree>
    <p:extLst>
      <p:ext uri="{BB962C8B-B14F-4D97-AF65-F5344CB8AC3E}">
        <p14:creationId xmlns:p14="http://schemas.microsoft.com/office/powerpoint/2010/main" val="97017929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Slide">
    <p:spTree>
      <p:nvGrpSpPr>
        <p:cNvPr id="1" name=""/>
        <p:cNvGrpSpPr/>
        <p:nvPr/>
      </p:nvGrpSpPr>
      <p:grpSpPr>
        <a:xfrm>
          <a:off x="0" y="0"/>
          <a:ext cx="0" cy="0"/>
          <a:chOff x="0" y="0"/>
          <a:chExt cx="0" cy="0"/>
        </a:xfrm>
      </p:grpSpPr>
      <p:sp>
        <p:nvSpPr>
          <p:cNvPr id="4" name="Oval Center Icon"/>
          <p:cNvSpPr>
            <a:spLocks noChangeAspect="1"/>
          </p:cNvSpPr>
          <p:nvPr/>
        </p:nvSpPr>
        <p:spPr>
          <a:xfrm>
            <a:off x="4319736" y="867751"/>
            <a:ext cx="3552529" cy="3552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Slide Subtitle"/>
          <p:cNvSpPr>
            <a:spLocks noGrp="1"/>
          </p:cNvSpPr>
          <p:nvPr>
            <p:ph type="subTitle" sz="quarter" idx="11" hasCustomPrompt="1"/>
          </p:nvPr>
        </p:nvSpPr>
        <p:spPr>
          <a:xfrm>
            <a:off x="615109" y="5585916"/>
            <a:ext cx="10961783" cy="768084"/>
          </a:xfrm>
          <a:prstGeom prst="rect">
            <a:avLst/>
          </a:prstGeom>
        </p:spPr>
        <p:txBody>
          <a:bodyPr anchor="ctr">
            <a:noAutofit/>
          </a:bodyPr>
          <a:lstStyle>
            <a:lvl1pPr marL="0" indent="0" algn="ctr" latinLnBrk="0">
              <a:buNone/>
              <a:defRPr sz="3998" b="0" baseline="0">
                <a:solidFill>
                  <a:schemeClr val="tx1"/>
                </a:solidFill>
                <a:latin typeface="+mn-lt"/>
                <a:cs typeface="Arial" pitchFamily="34" charset="0"/>
              </a:defRPr>
            </a:lvl1pPr>
          </a:lstStyle>
          <a:p>
            <a:pPr lvl="0"/>
            <a:r>
              <a:rPr lang="en-US" noProof="0" dirty="0"/>
              <a:t>Click to Edit Section Subtitle</a:t>
            </a:r>
          </a:p>
        </p:txBody>
      </p:sp>
      <p:sp>
        <p:nvSpPr>
          <p:cNvPr id="10" name="Slide Title"/>
          <p:cNvSpPr>
            <a:spLocks noGrp="1"/>
          </p:cNvSpPr>
          <p:nvPr>
            <p:ph type="title" sz="quarter" idx="10" hasCustomPrompt="1"/>
          </p:nvPr>
        </p:nvSpPr>
        <p:spPr>
          <a:xfrm>
            <a:off x="615109" y="4704825"/>
            <a:ext cx="10961783" cy="768084"/>
          </a:xfrm>
          <a:prstGeom prst="rect">
            <a:avLst/>
          </a:prstGeom>
        </p:spPr>
        <p:txBody>
          <a:bodyPr anchor="ctr">
            <a:noAutofit/>
          </a:bodyPr>
          <a:lstStyle>
            <a:lvl1pPr marL="0" indent="0" algn="ctr" latinLnBrk="0">
              <a:buNone/>
              <a:defRPr sz="5396" b="1" baseline="0">
                <a:solidFill>
                  <a:schemeClr val="tx1"/>
                </a:solidFill>
                <a:latin typeface="+mj-lt"/>
                <a:cs typeface="Arial" pitchFamily="34" charset="0"/>
              </a:defRPr>
            </a:lvl1pPr>
          </a:lstStyle>
          <a:p>
            <a:pPr lvl="0"/>
            <a:r>
              <a:rPr lang="en-US" noProof="0" dirty="0"/>
              <a:t>Click to Edit Section Title</a:t>
            </a:r>
            <a:endParaRPr lang="en-US" altLang="ko-KR" noProof="0" dirty="0"/>
          </a:p>
        </p:txBody>
      </p:sp>
    </p:spTree>
    <p:extLst>
      <p:ext uri="{BB962C8B-B14F-4D97-AF65-F5344CB8AC3E}">
        <p14:creationId xmlns:p14="http://schemas.microsoft.com/office/powerpoint/2010/main" val="352921640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C1780DB1-0AF0-4108-AFE1-9DA99F0DBCB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3" name="Slide Body Text">
            <a:extLst>
              <a:ext uri="{FF2B5EF4-FFF2-40B4-BE49-F238E27FC236}">
                <a16:creationId xmlns:a16="http://schemas.microsoft.com/office/drawing/2014/main" id="{5A9D2960-6D42-439F-82E8-812822013A10}"/>
              </a:ext>
            </a:extLst>
          </p:cNvPr>
          <p:cNvSpPr>
            <a:spLocks noGrp="1"/>
          </p:cNvSpPr>
          <p:nvPr>
            <p:ph type="body" sz="quarter" idx="10" hasCustomPrompt="1"/>
          </p:nvPr>
        </p:nvSpPr>
        <p:spPr>
          <a:xfrm>
            <a:off x="190402" y="1196125"/>
            <a:ext cx="11818096" cy="5528766"/>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Rectangle Top">
            <a:extLst>
              <a:ext uri="{FF2B5EF4-FFF2-40B4-BE49-F238E27FC236}">
                <a16:creationId xmlns:a16="http://schemas.microsoft.com/office/drawing/2014/main" id="{391AFA4E-7870-4561-A1B8-AC956B0C8931}"/>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escr="Software University logo">
            <a:extLst>
              <a:ext uri="{FF2B5EF4-FFF2-40B4-BE49-F238E27FC236}">
                <a16:creationId xmlns:a16="http://schemas.microsoft.com/office/drawing/2014/main" id="{B1D3B425-B9BF-43ED-9DEC-C05002FBA22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6" name="Slide Title">
            <a:extLst>
              <a:ext uri="{FF2B5EF4-FFF2-40B4-BE49-F238E27FC236}">
                <a16:creationId xmlns:a16="http://schemas.microsoft.com/office/drawing/2014/main" id="{19B5B676-7892-440F-8191-7109B2C59885}"/>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110297071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portant Concept">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0020EB61-2079-41A3-B356-B1D8D48D786E}"/>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6" name="Rectangle Left"/>
          <p:cNvSpPr/>
          <p:nvPr/>
        </p:nvSpPr>
        <p:spPr>
          <a:xfrm>
            <a:off x="0" y="0"/>
            <a:ext cx="115383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7" name="Slide Body Text">
            <a:extLst>
              <a:ext uri="{FF2B5EF4-FFF2-40B4-BE49-F238E27FC236}">
                <a16:creationId xmlns:a16="http://schemas.microsoft.com/office/drawing/2014/main" id="{CB4CB13C-66A1-466B-A6C1-B0BABF5CFEC1}"/>
              </a:ext>
            </a:extLst>
          </p:cNvPr>
          <p:cNvSpPr>
            <a:spLocks noGrp="1"/>
          </p:cNvSpPr>
          <p:nvPr>
            <p:ph type="body" sz="quarter" idx="10"/>
          </p:nvPr>
        </p:nvSpPr>
        <p:spPr>
          <a:xfrm>
            <a:off x="1866000" y="1121143"/>
            <a:ext cx="10129234"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3" name="Logo Software University" descr="Software University logo">
            <a:extLst>
              <a:ext uri="{FF2B5EF4-FFF2-40B4-BE49-F238E27FC236}">
                <a16:creationId xmlns:a16="http://schemas.microsoft.com/office/drawing/2014/main" id="{5573C101-930B-47AC-967A-A64513DFFDEE}"/>
              </a:ext>
            </a:extLst>
          </p:cNvPr>
          <p:cNvPicPr>
            <a:picLocks noChangeAspect="1"/>
          </p:cNvPicPr>
          <p:nvPr userDrawn="1"/>
        </p:nvPicPr>
        <p:blipFill>
          <a:blip r:embed="rId2"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
        <p:nvSpPr>
          <p:cNvPr id="8" name="Slide Title">
            <a:extLst>
              <a:ext uri="{FF2B5EF4-FFF2-40B4-BE49-F238E27FC236}">
                <a16:creationId xmlns:a16="http://schemas.microsoft.com/office/drawing/2014/main" id="{E2DA9691-CDF5-499C-94BB-AAA61DAC1BFB}"/>
              </a:ext>
            </a:extLst>
          </p:cNvPr>
          <p:cNvSpPr>
            <a:spLocks noGrp="1"/>
          </p:cNvSpPr>
          <p:nvPr>
            <p:ph type="title" hasCustomPrompt="1"/>
          </p:nvPr>
        </p:nvSpPr>
        <p:spPr>
          <a:xfrm>
            <a:off x="1296957" y="100750"/>
            <a:ext cx="8625520" cy="882654"/>
          </a:xfrm>
        </p:spPr>
        <p:txBody>
          <a:bodyPr/>
          <a:lstStyle>
            <a:lvl1pPr latinLnBrk="0">
              <a:defRPr/>
            </a:lvl1pPr>
          </a:lstStyle>
          <a:p>
            <a:r>
              <a:rPr lang="en-US" noProof="0" dirty="0"/>
              <a:t>Slide Title</a:t>
            </a:r>
          </a:p>
        </p:txBody>
      </p:sp>
      <p:grpSp>
        <p:nvGrpSpPr>
          <p:cNvPr id="10" name="Group 9">
            <a:extLst>
              <a:ext uri="{FF2B5EF4-FFF2-40B4-BE49-F238E27FC236}">
                <a16:creationId xmlns:a16="http://schemas.microsoft.com/office/drawing/2014/main" id="{43CDBCC2-1C96-44BC-B992-7B0C49C34904}"/>
              </a:ext>
            </a:extLst>
          </p:cNvPr>
          <p:cNvGrpSpPr/>
          <p:nvPr userDrawn="1"/>
        </p:nvGrpSpPr>
        <p:grpSpPr>
          <a:xfrm>
            <a:off x="185076" y="1868177"/>
            <a:ext cx="1937508" cy="3070349"/>
            <a:chOff x="3928039" y="1792355"/>
            <a:chExt cx="1830304" cy="2900460"/>
          </a:xfrm>
        </p:grpSpPr>
        <p:grpSp>
          <p:nvGrpSpPr>
            <p:cNvPr id="11" name="Group 10">
              <a:extLst>
                <a:ext uri="{FF2B5EF4-FFF2-40B4-BE49-F238E27FC236}">
                  <a16:creationId xmlns:a16="http://schemas.microsoft.com/office/drawing/2014/main" id="{7D71B3A8-4D39-42CF-9255-81EA3A622DD6}"/>
                </a:ext>
              </a:extLst>
            </p:cNvPr>
            <p:cNvGrpSpPr/>
            <p:nvPr/>
          </p:nvGrpSpPr>
          <p:grpSpPr>
            <a:xfrm>
              <a:off x="3928039" y="1792355"/>
              <a:ext cx="1830304" cy="2206534"/>
              <a:chOff x="3216839" y="2404072"/>
              <a:chExt cx="1830304" cy="2206534"/>
            </a:xfrm>
          </p:grpSpPr>
          <p:sp>
            <p:nvSpPr>
              <p:cNvPr id="25" name="Oval 24">
                <a:extLst>
                  <a:ext uri="{FF2B5EF4-FFF2-40B4-BE49-F238E27FC236}">
                    <a16:creationId xmlns:a16="http://schemas.microsoft.com/office/drawing/2014/main" id="{B98059F9-1874-426D-8AF7-A12C21F37DD9}"/>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6" name="Rectangle 5">
                <a:extLst>
                  <a:ext uri="{FF2B5EF4-FFF2-40B4-BE49-F238E27FC236}">
                    <a16:creationId xmlns:a16="http://schemas.microsoft.com/office/drawing/2014/main" id="{A3A1E077-DBDF-48F0-A924-604984B940A2}"/>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27" name="Rectangle 5">
                <a:extLst>
                  <a:ext uri="{FF2B5EF4-FFF2-40B4-BE49-F238E27FC236}">
                    <a16:creationId xmlns:a16="http://schemas.microsoft.com/office/drawing/2014/main" id="{798B1F51-1FA4-4199-81C7-62356C936CC9}"/>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28" name="Arc 27">
                <a:extLst>
                  <a:ext uri="{FF2B5EF4-FFF2-40B4-BE49-F238E27FC236}">
                    <a16:creationId xmlns:a16="http://schemas.microsoft.com/office/drawing/2014/main" id="{40A224C8-1233-40F7-96AB-BFF79AF6CDCB}"/>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29" name="Arc 28">
                <a:extLst>
                  <a:ext uri="{FF2B5EF4-FFF2-40B4-BE49-F238E27FC236}">
                    <a16:creationId xmlns:a16="http://schemas.microsoft.com/office/drawing/2014/main" id="{B57C7CCC-E218-4321-8C7B-3F0C5753C7A1}"/>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13" name="Rectangle: Rounded Corners 12">
              <a:extLst>
                <a:ext uri="{FF2B5EF4-FFF2-40B4-BE49-F238E27FC236}">
                  <a16:creationId xmlns:a16="http://schemas.microsoft.com/office/drawing/2014/main" id="{6AF309CA-A56C-4ABC-B293-420F4EB1A9B4}"/>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4" name="Rectangle: Rounded Corners 13">
              <a:extLst>
                <a:ext uri="{FF2B5EF4-FFF2-40B4-BE49-F238E27FC236}">
                  <a16:creationId xmlns:a16="http://schemas.microsoft.com/office/drawing/2014/main" id="{07955808-2AC7-44EB-8B6D-82B974E53A3C}"/>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15" name="Straight Connector 14">
              <a:extLst>
                <a:ext uri="{FF2B5EF4-FFF2-40B4-BE49-F238E27FC236}">
                  <a16:creationId xmlns:a16="http://schemas.microsoft.com/office/drawing/2014/main" id="{AC6420D7-AEAB-45EF-8D46-11EB06E4AFEA}"/>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76C7FABC-6773-44F6-990B-3EB082BE9B35}"/>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17" name="Group 16">
              <a:extLst>
                <a:ext uri="{FF2B5EF4-FFF2-40B4-BE49-F238E27FC236}">
                  <a16:creationId xmlns:a16="http://schemas.microsoft.com/office/drawing/2014/main" id="{1FAD48E1-DC45-4B3D-9CE5-613250708496}"/>
                </a:ext>
              </a:extLst>
            </p:cNvPr>
            <p:cNvGrpSpPr/>
            <p:nvPr/>
          </p:nvGrpSpPr>
          <p:grpSpPr>
            <a:xfrm>
              <a:off x="4203288" y="2479090"/>
              <a:ext cx="436874" cy="448528"/>
              <a:chOff x="2320288" y="2903541"/>
              <a:chExt cx="332555" cy="302680"/>
            </a:xfrm>
            <a:solidFill>
              <a:srgbClr val="464646"/>
            </a:solidFill>
          </p:grpSpPr>
          <p:cxnSp>
            <p:nvCxnSpPr>
              <p:cNvPr id="23" name="Straight Connector 22">
                <a:extLst>
                  <a:ext uri="{FF2B5EF4-FFF2-40B4-BE49-F238E27FC236}">
                    <a16:creationId xmlns:a16="http://schemas.microsoft.com/office/drawing/2014/main" id="{B01FD1D1-046F-457B-AB63-2702CE3E906E}"/>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895660C3-C72C-43EE-9C4A-170F85E5BE08}"/>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19" name="Straight Connector 18">
              <a:extLst>
                <a:ext uri="{FF2B5EF4-FFF2-40B4-BE49-F238E27FC236}">
                  <a16:creationId xmlns:a16="http://schemas.microsoft.com/office/drawing/2014/main" id="{A74EE503-8FC0-42A6-8860-CA4EE42272E4}"/>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12" name="Rectangle: Rounded Corners 11">
              <a:extLst>
                <a:ext uri="{FF2B5EF4-FFF2-40B4-BE49-F238E27FC236}">
                  <a16:creationId xmlns:a16="http://schemas.microsoft.com/office/drawing/2014/main" id="{F4189FDA-9FE8-490B-8A70-2E941811021F}"/>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18" name="Group 17">
              <a:extLst>
                <a:ext uri="{FF2B5EF4-FFF2-40B4-BE49-F238E27FC236}">
                  <a16:creationId xmlns:a16="http://schemas.microsoft.com/office/drawing/2014/main" id="{FDA3EFCD-0DF8-419D-8533-D781521E597E}"/>
                </a:ext>
              </a:extLst>
            </p:cNvPr>
            <p:cNvGrpSpPr/>
            <p:nvPr/>
          </p:nvGrpSpPr>
          <p:grpSpPr>
            <a:xfrm flipH="1">
              <a:off x="5035162" y="2479090"/>
              <a:ext cx="436872" cy="448528"/>
              <a:chOff x="2320288" y="2903541"/>
              <a:chExt cx="332555" cy="302680"/>
            </a:xfrm>
            <a:solidFill>
              <a:srgbClr val="464646"/>
            </a:solidFill>
          </p:grpSpPr>
          <p:cxnSp>
            <p:nvCxnSpPr>
              <p:cNvPr id="21" name="Straight Connector 20">
                <a:extLst>
                  <a:ext uri="{FF2B5EF4-FFF2-40B4-BE49-F238E27FC236}">
                    <a16:creationId xmlns:a16="http://schemas.microsoft.com/office/drawing/2014/main" id="{C3CC6A5A-182E-4A09-9C04-EB191881D789}"/>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440C8953-0555-48CC-8255-78F17E053EE7}"/>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cxnSp>
        <p:nvCxnSpPr>
          <p:cNvPr id="34" name="Straight Connector 33">
            <a:extLst>
              <a:ext uri="{FF2B5EF4-FFF2-40B4-BE49-F238E27FC236}">
                <a16:creationId xmlns:a16="http://schemas.microsoft.com/office/drawing/2014/main" id="{29B538CA-8CCB-43FB-B5E5-5FC04EBC1F54}"/>
              </a:ext>
            </a:extLst>
          </p:cNvPr>
          <p:cNvCxnSpPr>
            <a:cxnSpLocks/>
            <a:stCxn id="26" idx="2"/>
          </p:cNvCxnSpPr>
          <p:nvPr userDrawn="1"/>
        </p:nvCxnSpPr>
        <p:spPr>
          <a:xfrm flipH="1">
            <a:off x="673735" y="4203953"/>
            <a:ext cx="955204"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4354534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portant Example">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1865BF6B-7F07-4E9C-879F-80E36EEB3405}"/>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12" name="Rectangle Left">
            <a:extLst>
              <a:ext uri="{FF2B5EF4-FFF2-40B4-BE49-F238E27FC236}">
                <a16:creationId xmlns:a16="http://schemas.microsoft.com/office/drawing/2014/main" id="{345FB1C8-7F66-4D5C-ACCE-AE919936BCFD}"/>
              </a:ext>
            </a:extLst>
          </p:cNvPr>
          <p:cNvSpPr/>
          <p:nvPr/>
        </p:nvSpPr>
        <p:spPr>
          <a:xfrm>
            <a:off x="0" y="0"/>
            <a:ext cx="115383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5" name="Slide Body Text">
            <a:extLst>
              <a:ext uri="{FF2B5EF4-FFF2-40B4-BE49-F238E27FC236}">
                <a16:creationId xmlns:a16="http://schemas.microsoft.com/office/drawing/2014/main" id="{6157C8DE-E0AF-422B-BBB1-F0AF1264B5E9}"/>
              </a:ext>
            </a:extLst>
          </p:cNvPr>
          <p:cNvSpPr>
            <a:spLocks noGrp="1"/>
          </p:cNvSpPr>
          <p:nvPr>
            <p:ph type="body" sz="quarter" idx="10"/>
          </p:nvPr>
        </p:nvSpPr>
        <p:spPr>
          <a:xfrm>
            <a:off x="1673561" y="1121143"/>
            <a:ext cx="10321675"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16" name="Logo Software University" descr="Software University logo">
            <a:extLst>
              <a:ext uri="{FF2B5EF4-FFF2-40B4-BE49-F238E27FC236}">
                <a16:creationId xmlns:a16="http://schemas.microsoft.com/office/drawing/2014/main" id="{EFEBB553-EACE-4B4F-8B4F-7629FDD910A4}"/>
              </a:ext>
            </a:extLst>
          </p:cNvPr>
          <p:cNvPicPr>
            <a:picLocks noChangeAspect="1"/>
          </p:cNvPicPr>
          <p:nvPr userDrawn="1"/>
        </p:nvPicPr>
        <p:blipFill>
          <a:blip r:embed="rId2"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
        <p:nvSpPr>
          <p:cNvPr id="13" name="Slide Title">
            <a:extLst>
              <a:ext uri="{FF2B5EF4-FFF2-40B4-BE49-F238E27FC236}">
                <a16:creationId xmlns:a16="http://schemas.microsoft.com/office/drawing/2014/main" id="{0D5CC956-5C4A-44BE-8F8B-327FAFA51E97}"/>
              </a:ext>
            </a:extLst>
          </p:cNvPr>
          <p:cNvSpPr>
            <a:spLocks noGrp="1"/>
          </p:cNvSpPr>
          <p:nvPr>
            <p:ph type="title" hasCustomPrompt="1"/>
          </p:nvPr>
        </p:nvSpPr>
        <p:spPr>
          <a:xfrm>
            <a:off x="1296957" y="100750"/>
            <a:ext cx="8625520" cy="882654"/>
          </a:xfrm>
        </p:spPr>
        <p:txBody>
          <a:bodyPr/>
          <a:lstStyle>
            <a:lvl1pPr latinLnBrk="0">
              <a:defRPr/>
            </a:lvl1pPr>
          </a:lstStyle>
          <a:p>
            <a:r>
              <a:rPr lang="en-US" noProof="0" dirty="0"/>
              <a:t>Slide Title</a:t>
            </a:r>
          </a:p>
        </p:txBody>
      </p:sp>
      <p:grpSp>
        <p:nvGrpSpPr>
          <p:cNvPr id="33" name="Group 32">
            <a:extLst>
              <a:ext uri="{FF2B5EF4-FFF2-40B4-BE49-F238E27FC236}">
                <a16:creationId xmlns:a16="http://schemas.microsoft.com/office/drawing/2014/main" id="{7CF60135-47AA-48F0-96BA-0E795668ABDB}"/>
              </a:ext>
            </a:extLst>
          </p:cNvPr>
          <p:cNvGrpSpPr/>
          <p:nvPr userDrawn="1"/>
        </p:nvGrpSpPr>
        <p:grpSpPr>
          <a:xfrm>
            <a:off x="392806" y="3429000"/>
            <a:ext cx="1522048" cy="2411973"/>
            <a:chOff x="3928039" y="1792355"/>
            <a:chExt cx="1830304" cy="2900460"/>
          </a:xfrm>
        </p:grpSpPr>
        <p:grpSp>
          <p:nvGrpSpPr>
            <p:cNvPr id="34" name="Group 33">
              <a:extLst>
                <a:ext uri="{FF2B5EF4-FFF2-40B4-BE49-F238E27FC236}">
                  <a16:creationId xmlns:a16="http://schemas.microsoft.com/office/drawing/2014/main" id="{2823380E-3936-41AF-BDF7-DA54D75BBF6B}"/>
                </a:ext>
              </a:extLst>
            </p:cNvPr>
            <p:cNvGrpSpPr/>
            <p:nvPr/>
          </p:nvGrpSpPr>
          <p:grpSpPr>
            <a:xfrm>
              <a:off x="3928039" y="1792355"/>
              <a:ext cx="1830304" cy="2206534"/>
              <a:chOff x="3216839" y="2404072"/>
              <a:chExt cx="1830304" cy="2206534"/>
            </a:xfrm>
          </p:grpSpPr>
          <p:sp>
            <p:nvSpPr>
              <p:cNvPr id="47" name="Oval 46">
                <a:extLst>
                  <a:ext uri="{FF2B5EF4-FFF2-40B4-BE49-F238E27FC236}">
                    <a16:creationId xmlns:a16="http://schemas.microsoft.com/office/drawing/2014/main" id="{52B047D9-D8DD-45C7-9BC8-6D4F682F5182}"/>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8" name="Rectangle 5">
                <a:extLst>
                  <a:ext uri="{FF2B5EF4-FFF2-40B4-BE49-F238E27FC236}">
                    <a16:creationId xmlns:a16="http://schemas.microsoft.com/office/drawing/2014/main" id="{4D84FE51-BD8E-47EA-9463-CE02FEA31766}"/>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9" name="Rectangle 5">
                <a:extLst>
                  <a:ext uri="{FF2B5EF4-FFF2-40B4-BE49-F238E27FC236}">
                    <a16:creationId xmlns:a16="http://schemas.microsoft.com/office/drawing/2014/main" id="{F5C8F037-C197-4219-AC87-3A81763512BC}"/>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50" name="Arc 49">
                <a:extLst>
                  <a:ext uri="{FF2B5EF4-FFF2-40B4-BE49-F238E27FC236}">
                    <a16:creationId xmlns:a16="http://schemas.microsoft.com/office/drawing/2014/main" id="{786EE401-CF8E-439B-94A0-EE6F3A7D5798}"/>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51" name="Arc 50">
                <a:extLst>
                  <a:ext uri="{FF2B5EF4-FFF2-40B4-BE49-F238E27FC236}">
                    <a16:creationId xmlns:a16="http://schemas.microsoft.com/office/drawing/2014/main" id="{8D9ACD38-B3EB-4A63-9730-CBF0501BF235}"/>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35" name="Rectangle: Rounded Corners 34">
              <a:extLst>
                <a:ext uri="{FF2B5EF4-FFF2-40B4-BE49-F238E27FC236}">
                  <a16:creationId xmlns:a16="http://schemas.microsoft.com/office/drawing/2014/main" id="{64EE493E-A353-4C75-A3B9-D48ABA2C57CC}"/>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6" name="Rectangle: Rounded Corners 35">
              <a:extLst>
                <a:ext uri="{FF2B5EF4-FFF2-40B4-BE49-F238E27FC236}">
                  <a16:creationId xmlns:a16="http://schemas.microsoft.com/office/drawing/2014/main" id="{718408B9-204E-42E3-9E79-33E047E869BC}"/>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37" name="Straight Connector 36">
              <a:extLst>
                <a:ext uri="{FF2B5EF4-FFF2-40B4-BE49-F238E27FC236}">
                  <a16:creationId xmlns:a16="http://schemas.microsoft.com/office/drawing/2014/main" id="{0AB66D97-DF6F-4CD2-AF13-42B5C852F673}"/>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F2AFBA69-C196-4703-8AAB-5F72A8EDCEB5}"/>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39" name="Group 38">
              <a:extLst>
                <a:ext uri="{FF2B5EF4-FFF2-40B4-BE49-F238E27FC236}">
                  <a16:creationId xmlns:a16="http://schemas.microsoft.com/office/drawing/2014/main" id="{9AFC66C1-0C1C-4332-9C4E-782574C896B8}"/>
                </a:ext>
              </a:extLst>
            </p:cNvPr>
            <p:cNvGrpSpPr/>
            <p:nvPr/>
          </p:nvGrpSpPr>
          <p:grpSpPr>
            <a:xfrm>
              <a:off x="4203288" y="2479090"/>
              <a:ext cx="436874" cy="448528"/>
              <a:chOff x="2320288" y="2903541"/>
              <a:chExt cx="332555" cy="302680"/>
            </a:xfrm>
            <a:solidFill>
              <a:srgbClr val="464646"/>
            </a:solidFill>
          </p:grpSpPr>
          <p:cxnSp>
            <p:nvCxnSpPr>
              <p:cNvPr id="45" name="Straight Connector 44">
                <a:extLst>
                  <a:ext uri="{FF2B5EF4-FFF2-40B4-BE49-F238E27FC236}">
                    <a16:creationId xmlns:a16="http://schemas.microsoft.com/office/drawing/2014/main" id="{872CA8AD-EAF6-40BE-9DDE-ECDB4A980CA5}"/>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57DD3EC7-1A13-4AFE-BD6F-DA12C281FAFB}"/>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40" name="Straight Connector 39">
              <a:extLst>
                <a:ext uri="{FF2B5EF4-FFF2-40B4-BE49-F238E27FC236}">
                  <a16:creationId xmlns:a16="http://schemas.microsoft.com/office/drawing/2014/main" id="{E46151FA-19E9-4E84-A082-EDAC6F76EA9D}"/>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41" name="Rectangle: Rounded Corners 40">
              <a:extLst>
                <a:ext uri="{FF2B5EF4-FFF2-40B4-BE49-F238E27FC236}">
                  <a16:creationId xmlns:a16="http://schemas.microsoft.com/office/drawing/2014/main" id="{3423EEF0-5B70-4091-B2DA-0740D2609643}"/>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42" name="Group 41">
              <a:extLst>
                <a:ext uri="{FF2B5EF4-FFF2-40B4-BE49-F238E27FC236}">
                  <a16:creationId xmlns:a16="http://schemas.microsoft.com/office/drawing/2014/main" id="{49A8AAA7-98E7-4224-B027-830FFCC285A3}"/>
                </a:ext>
              </a:extLst>
            </p:cNvPr>
            <p:cNvGrpSpPr/>
            <p:nvPr/>
          </p:nvGrpSpPr>
          <p:grpSpPr>
            <a:xfrm flipH="1">
              <a:off x="5035162" y="2479090"/>
              <a:ext cx="436872" cy="448528"/>
              <a:chOff x="2320288" y="2903541"/>
              <a:chExt cx="332555" cy="302680"/>
            </a:xfrm>
            <a:solidFill>
              <a:srgbClr val="464646"/>
            </a:solidFill>
          </p:grpSpPr>
          <p:cxnSp>
            <p:nvCxnSpPr>
              <p:cNvPr id="43" name="Straight Connector 42">
                <a:extLst>
                  <a:ext uri="{FF2B5EF4-FFF2-40B4-BE49-F238E27FC236}">
                    <a16:creationId xmlns:a16="http://schemas.microsoft.com/office/drawing/2014/main" id="{2129EC38-471E-4685-973E-BA7A7F567C42}"/>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678142BE-84C9-4834-B6CC-6623E401661C}"/>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67965175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F0B8C963-1813-4B69-AD27-6D02EBBBB569}"/>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3" name="Rectangle Left">
            <a:extLst>
              <a:ext uri="{FF2B5EF4-FFF2-40B4-BE49-F238E27FC236}">
                <a16:creationId xmlns:a16="http://schemas.microsoft.com/office/drawing/2014/main" id="{345FB1C8-7F66-4D5C-ACCE-AE919936BCFD}"/>
              </a:ext>
            </a:extLst>
          </p:cNvPr>
          <p:cNvSpPr/>
          <p:nvPr userDrawn="1"/>
        </p:nvSpPr>
        <p:spPr>
          <a:xfrm>
            <a:off x="0" y="0"/>
            <a:ext cx="42947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1"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7" name="Slide Body Text">
            <a:extLst>
              <a:ext uri="{FF2B5EF4-FFF2-40B4-BE49-F238E27FC236}">
                <a16:creationId xmlns:a16="http://schemas.microsoft.com/office/drawing/2014/main" id="{7296EDA7-D37D-4B31-A888-371F0804124F}"/>
              </a:ext>
            </a:extLst>
          </p:cNvPr>
          <p:cNvSpPr>
            <a:spLocks noGrp="1"/>
          </p:cNvSpPr>
          <p:nvPr>
            <p:ph type="body" sz="quarter" idx="10"/>
          </p:nvPr>
        </p:nvSpPr>
        <p:spPr>
          <a:xfrm>
            <a:off x="585176" y="1121143"/>
            <a:ext cx="11410061"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Slide Title">
            <a:extLst>
              <a:ext uri="{FF2B5EF4-FFF2-40B4-BE49-F238E27FC236}">
                <a16:creationId xmlns:a16="http://schemas.microsoft.com/office/drawing/2014/main" id="{55A88B09-3557-48A3-BF27-42699C269215}"/>
              </a:ext>
            </a:extLst>
          </p:cNvPr>
          <p:cNvSpPr>
            <a:spLocks noGrp="1"/>
          </p:cNvSpPr>
          <p:nvPr>
            <p:ph type="title" hasCustomPrompt="1"/>
          </p:nvPr>
        </p:nvSpPr>
        <p:spPr>
          <a:xfrm>
            <a:off x="585176" y="100750"/>
            <a:ext cx="11410061" cy="882654"/>
          </a:xfrm>
        </p:spPr>
        <p:txBody>
          <a:bodyPr/>
          <a:lstStyle>
            <a:lvl1pPr latinLnBrk="0">
              <a:defRPr/>
            </a:lvl1pPr>
          </a:lstStyle>
          <a:p>
            <a:r>
              <a:rPr lang="en-US" noProof="0" dirty="0"/>
              <a:t>Slide Title</a:t>
            </a:r>
          </a:p>
        </p:txBody>
      </p:sp>
      <p:grpSp>
        <p:nvGrpSpPr>
          <p:cNvPr id="28" name="Group 27">
            <a:extLst>
              <a:ext uri="{FF2B5EF4-FFF2-40B4-BE49-F238E27FC236}">
                <a16:creationId xmlns:a16="http://schemas.microsoft.com/office/drawing/2014/main" id="{C4248838-4E67-439E-AE0A-0043D2CB04D6}"/>
              </a:ext>
            </a:extLst>
          </p:cNvPr>
          <p:cNvGrpSpPr/>
          <p:nvPr userDrawn="1"/>
        </p:nvGrpSpPr>
        <p:grpSpPr>
          <a:xfrm>
            <a:off x="108596" y="5591709"/>
            <a:ext cx="641749" cy="1016973"/>
            <a:chOff x="3928039" y="1792355"/>
            <a:chExt cx="1830304" cy="2900460"/>
          </a:xfrm>
        </p:grpSpPr>
        <p:grpSp>
          <p:nvGrpSpPr>
            <p:cNvPr id="29" name="Group 28">
              <a:extLst>
                <a:ext uri="{FF2B5EF4-FFF2-40B4-BE49-F238E27FC236}">
                  <a16:creationId xmlns:a16="http://schemas.microsoft.com/office/drawing/2014/main" id="{810CFD6A-2427-49D5-846A-5F93601D4184}"/>
                </a:ext>
              </a:extLst>
            </p:cNvPr>
            <p:cNvGrpSpPr/>
            <p:nvPr/>
          </p:nvGrpSpPr>
          <p:grpSpPr>
            <a:xfrm>
              <a:off x="3928039" y="1792355"/>
              <a:ext cx="1830304" cy="2206534"/>
              <a:chOff x="3216839" y="2404072"/>
              <a:chExt cx="1830304" cy="2206534"/>
            </a:xfrm>
          </p:grpSpPr>
          <p:sp>
            <p:nvSpPr>
              <p:cNvPr id="42" name="Oval 41">
                <a:extLst>
                  <a:ext uri="{FF2B5EF4-FFF2-40B4-BE49-F238E27FC236}">
                    <a16:creationId xmlns:a16="http://schemas.microsoft.com/office/drawing/2014/main" id="{017B1AE5-5C36-4839-BA1F-B404EA44E701}"/>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3" name="Rectangle 5">
                <a:extLst>
                  <a:ext uri="{FF2B5EF4-FFF2-40B4-BE49-F238E27FC236}">
                    <a16:creationId xmlns:a16="http://schemas.microsoft.com/office/drawing/2014/main" id="{FB963D79-BB49-4A1D-BA66-EA0670C79BAE}"/>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4" name="Rectangle 5">
                <a:extLst>
                  <a:ext uri="{FF2B5EF4-FFF2-40B4-BE49-F238E27FC236}">
                    <a16:creationId xmlns:a16="http://schemas.microsoft.com/office/drawing/2014/main" id="{6D7746D8-B913-493B-AAE9-25BC6893D40E}"/>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5" name="Arc 44">
                <a:extLst>
                  <a:ext uri="{FF2B5EF4-FFF2-40B4-BE49-F238E27FC236}">
                    <a16:creationId xmlns:a16="http://schemas.microsoft.com/office/drawing/2014/main" id="{29031C02-E965-417B-8799-96061B14F30D}"/>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46" name="Arc 45">
                <a:extLst>
                  <a:ext uri="{FF2B5EF4-FFF2-40B4-BE49-F238E27FC236}">
                    <a16:creationId xmlns:a16="http://schemas.microsoft.com/office/drawing/2014/main" id="{26BFD8A6-BC99-4B16-BA10-08A9E5C681C0}"/>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30" name="Rectangle: Rounded Corners 29">
              <a:extLst>
                <a:ext uri="{FF2B5EF4-FFF2-40B4-BE49-F238E27FC236}">
                  <a16:creationId xmlns:a16="http://schemas.microsoft.com/office/drawing/2014/main" id="{B310277F-A78E-4FB9-9EA9-88BE4F1D585B}"/>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1" name="Rectangle: Rounded Corners 30">
              <a:extLst>
                <a:ext uri="{FF2B5EF4-FFF2-40B4-BE49-F238E27FC236}">
                  <a16:creationId xmlns:a16="http://schemas.microsoft.com/office/drawing/2014/main" id="{A92CF92B-C212-4542-83AE-A0058B5BB5EA}"/>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32" name="Straight Connector 31">
              <a:extLst>
                <a:ext uri="{FF2B5EF4-FFF2-40B4-BE49-F238E27FC236}">
                  <a16:creationId xmlns:a16="http://schemas.microsoft.com/office/drawing/2014/main" id="{563B4374-5C0D-461F-B3BD-78D99614D365}"/>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BC6FDE7-AEA1-4230-8433-4C088A0FF5F9}"/>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34" name="Group 33">
              <a:extLst>
                <a:ext uri="{FF2B5EF4-FFF2-40B4-BE49-F238E27FC236}">
                  <a16:creationId xmlns:a16="http://schemas.microsoft.com/office/drawing/2014/main" id="{C4D1021D-07C7-4331-8FF6-36980A30978B}"/>
                </a:ext>
              </a:extLst>
            </p:cNvPr>
            <p:cNvGrpSpPr/>
            <p:nvPr/>
          </p:nvGrpSpPr>
          <p:grpSpPr>
            <a:xfrm>
              <a:off x="4203288" y="2479090"/>
              <a:ext cx="436874" cy="448528"/>
              <a:chOff x="2320288" y="2903541"/>
              <a:chExt cx="332555" cy="302680"/>
            </a:xfrm>
            <a:solidFill>
              <a:srgbClr val="464646"/>
            </a:solidFill>
          </p:grpSpPr>
          <p:cxnSp>
            <p:nvCxnSpPr>
              <p:cNvPr id="40" name="Straight Connector 39">
                <a:extLst>
                  <a:ext uri="{FF2B5EF4-FFF2-40B4-BE49-F238E27FC236}">
                    <a16:creationId xmlns:a16="http://schemas.microsoft.com/office/drawing/2014/main" id="{13B7FE99-95CF-45D5-966B-87A979B93431}"/>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71BBA69B-19FF-4ADB-A739-AD8136A5F0A6}"/>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35" name="Straight Connector 34">
              <a:extLst>
                <a:ext uri="{FF2B5EF4-FFF2-40B4-BE49-F238E27FC236}">
                  <a16:creationId xmlns:a16="http://schemas.microsoft.com/office/drawing/2014/main" id="{BFD1D86B-562B-40B2-8E46-34233EFEE7FC}"/>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36" name="Rectangle: Rounded Corners 35">
              <a:extLst>
                <a:ext uri="{FF2B5EF4-FFF2-40B4-BE49-F238E27FC236}">
                  <a16:creationId xmlns:a16="http://schemas.microsoft.com/office/drawing/2014/main" id="{388C17BD-16A1-43C5-BFFA-2FF9174719E1}"/>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37" name="Group 36">
              <a:extLst>
                <a:ext uri="{FF2B5EF4-FFF2-40B4-BE49-F238E27FC236}">
                  <a16:creationId xmlns:a16="http://schemas.microsoft.com/office/drawing/2014/main" id="{1B3B910E-ACFC-4F28-8E28-F02E1588B87E}"/>
                </a:ext>
              </a:extLst>
            </p:cNvPr>
            <p:cNvGrpSpPr/>
            <p:nvPr/>
          </p:nvGrpSpPr>
          <p:grpSpPr>
            <a:xfrm flipH="1">
              <a:off x="5035162" y="2479090"/>
              <a:ext cx="436872" cy="448528"/>
              <a:chOff x="2320288" y="2903541"/>
              <a:chExt cx="332555" cy="302680"/>
            </a:xfrm>
            <a:solidFill>
              <a:srgbClr val="464646"/>
            </a:solidFill>
          </p:grpSpPr>
          <p:cxnSp>
            <p:nvCxnSpPr>
              <p:cNvPr id="38" name="Straight Connector 37">
                <a:extLst>
                  <a:ext uri="{FF2B5EF4-FFF2-40B4-BE49-F238E27FC236}">
                    <a16:creationId xmlns:a16="http://schemas.microsoft.com/office/drawing/2014/main" id="{F57772B6-06C0-4F54-AA94-D3F92DA4716A}"/>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23370C1F-7876-4278-AB20-78F6CAA385E2}"/>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328456255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urce Code Example">
    <p:spTree>
      <p:nvGrpSpPr>
        <p:cNvPr id="1" name=""/>
        <p:cNvGrpSpPr/>
        <p:nvPr/>
      </p:nvGrpSpPr>
      <p:grpSpPr>
        <a:xfrm>
          <a:off x="0" y="0"/>
          <a:ext cx="0" cy="0"/>
          <a:chOff x="0" y="0"/>
          <a:chExt cx="0" cy="0"/>
        </a:xfrm>
      </p:grpSpPr>
      <p:sp>
        <p:nvSpPr>
          <p:cNvPr id="8" name="Slide Number">
            <a:extLst>
              <a:ext uri="{FF2B5EF4-FFF2-40B4-BE49-F238E27FC236}">
                <a16:creationId xmlns:a16="http://schemas.microsoft.com/office/drawing/2014/main" id="{509D954E-A844-4072-A556-DE584BEB9321}"/>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sp>
        <p:nvSpPr>
          <p:cNvPr id="6" name="Code Box">
            <a:extLst>
              <a:ext uri="{FF2B5EF4-FFF2-40B4-BE49-F238E27FC236}">
                <a16:creationId xmlns:a16="http://schemas.microsoft.com/office/drawing/2014/main" id="{3278A82F-5546-4977-9F75-2A933B415945}"/>
              </a:ext>
            </a:extLst>
          </p:cNvPr>
          <p:cNvSpPr>
            <a:spLocks noGrp="1"/>
          </p:cNvSpPr>
          <p:nvPr>
            <p:ph type="body" sz="quarter" idx="11" hasCustomPrompt="1"/>
          </p:nvPr>
        </p:nvSpPr>
        <p:spPr>
          <a:xfrm>
            <a:off x="621234" y="1931154"/>
            <a:ext cx="10949531" cy="1362846"/>
          </a:xfrm>
          <a:prstGeom prst="rect">
            <a:avLst/>
          </a:prstGeom>
          <a:solidFill>
            <a:schemeClr val="accent6">
              <a:lumMod val="75000"/>
              <a:alpha val="15000"/>
            </a:schemeClr>
          </a:solidFill>
          <a:ln w="12700">
            <a:solidFill>
              <a:schemeClr val="tx1">
                <a:lumMod val="50000"/>
              </a:schemeClr>
            </a:solidFill>
          </a:ln>
        </p:spPr>
        <p:txBody>
          <a:bodyPr wrap="square" lIns="144000" tIns="108000" rIns="144000" bIns="108000">
            <a:spAutoFit/>
          </a:bodyPr>
          <a:lstStyle>
            <a:lvl1pPr marL="0" indent="0" latinLnBrk="0">
              <a:lnSpc>
                <a:spcPct val="105000"/>
              </a:lnSpc>
              <a:spcBef>
                <a:spcPts val="0"/>
              </a:spcBef>
              <a:spcAft>
                <a:spcPts val="0"/>
              </a:spcAft>
              <a:buNone/>
              <a:defRPr lang="en-US" sz="2398" b="1" noProof="1" smtClean="0">
                <a:solidFill>
                  <a:schemeClr val="tx1"/>
                </a:solidFill>
                <a:effectLst/>
                <a:latin typeface="Consolas" pitchFamily="49" charset="0"/>
                <a:cs typeface="Consolas" pitchFamily="49" charset="0"/>
              </a:defRPr>
            </a:lvl1pPr>
          </a:lstStyle>
          <a:p>
            <a:pPr marL="0" lvl="0"/>
            <a:r>
              <a:rPr lang="en-US" noProof="1"/>
              <a:t>Source code box</a:t>
            </a:r>
          </a:p>
          <a:p>
            <a:pPr marL="0" lvl="0"/>
            <a:r>
              <a:rPr lang="en-US" noProof="1"/>
              <a:t>…</a:t>
            </a:r>
          </a:p>
          <a:p>
            <a:pPr marL="0" lvl="0"/>
            <a:r>
              <a:rPr lang="en-US" noProof="1"/>
              <a:t>…</a:t>
            </a:r>
          </a:p>
        </p:txBody>
      </p:sp>
      <p:sp>
        <p:nvSpPr>
          <p:cNvPr id="21" name="Slide Body Text">
            <a:extLst>
              <a:ext uri="{FF2B5EF4-FFF2-40B4-BE49-F238E27FC236}">
                <a16:creationId xmlns:a16="http://schemas.microsoft.com/office/drawing/2014/main" id="{04F318BE-2BAD-4677-871C-D78A4BF0CBA6}"/>
              </a:ext>
            </a:extLst>
          </p:cNvPr>
          <p:cNvSpPr>
            <a:spLocks noGrp="1"/>
          </p:cNvSpPr>
          <p:nvPr>
            <p:ph type="body" sz="quarter" idx="10" hasCustomPrompt="1"/>
          </p:nvPr>
        </p:nvSpPr>
        <p:spPr>
          <a:xfrm>
            <a:off x="190501" y="1196126"/>
            <a:ext cx="11811097" cy="5561124"/>
          </a:xfrm>
        </p:spPr>
        <p:txBody>
          <a:bodyPr/>
          <a:lstStyle>
            <a:lvl1pPr marL="0" indent="0" latinLnBrk="0">
              <a:buNone/>
              <a:defRPr>
                <a:solidFill>
                  <a:schemeClr val="tx1"/>
                </a:solidFill>
              </a:defRPr>
            </a:lvl1pPr>
            <a:lvl2pPr marL="609219" indent="0">
              <a:buNone/>
              <a:defRPr/>
            </a:lvl2pPr>
          </a:lstStyle>
          <a:p>
            <a:pPr lvl="0"/>
            <a:r>
              <a:rPr lang="en-US" noProof="0"/>
              <a:t>Sample source code:</a:t>
            </a:r>
          </a:p>
        </p:txBody>
      </p:sp>
      <p:sp>
        <p:nvSpPr>
          <p:cNvPr id="9" name="Rectangle Top">
            <a:extLst>
              <a:ext uri="{FF2B5EF4-FFF2-40B4-BE49-F238E27FC236}">
                <a16:creationId xmlns:a16="http://schemas.microsoft.com/office/drawing/2014/main" id="{A15CE03A-0933-4E5D-9EA1-718D4F802FFC}"/>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0" name="Logo Software University" descr="Software University logo">
            <a:extLst>
              <a:ext uri="{FF2B5EF4-FFF2-40B4-BE49-F238E27FC236}">
                <a16:creationId xmlns:a16="http://schemas.microsoft.com/office/drawing/2014/main" id="{8C01D7AF-7CBD-46E1-99F3-8EB60E838D9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1" name="Slide Title">
            <a:extLst>
              <a:ext uri="{FF2B5EF4-FFF2-40B4-BE49-F238E27FC236}">
                <a16:creationId xmlns:a16="http://schemas.microsoft.com/office/drawing/2014/main" id="{47D60833-F0A9-4F29-8C06-A963A7C8BE93}"/>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100082982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39DDE17E-5472-41F3-AF5F-54DFF10DC63C}"/>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pic>
        <p:nvPicPr>
          <p:cNvPr id="9" name="Picture SoftUni Mascot" descr="SoftUni mascot with laptop">
            <a:extLst>
              <a:ext uri="{FF2B5EF4-FFF2-40B4-BE49-F238E27FC236}">
                <a16:creationId xmlns:a16="http://schemas.microsoft.com/office/drawing/2014/main" id="{DC4365F6-D2C1-47B4-8477-38FD2C7711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516000" y="3408496"/>
            <a:ext cx="2251057" cy="3044431"/>
          </a:xfrm>
          <a:prstGeom prst="rect">
            <a:avLst/>
          </a:prstGeom>
        </p:spPr>
      </p:pic>
      <p:sp>
        <p:nvSpPr>
          <p:cNvPr id="23" name="Slide Body Text">
            <a:extLst>
              <a:ext uri="{FF2B5EF4-FFF2-40B4-BE49-F238E27FC236}">
                <a16:creationId xmlns:a16="http://schemas.microsoft.com/office/drawing/2014/main" id="{889D93F4-ABFA-46BF-8E5D-FE6562ACB20F}"/>
              </a:ext>
            </a:extLst>
          </p:cNvPr>
          <p:cNvSpPr>
            <a:spLocks noGrp="1"/>
          </p:cNvSpPr>
          <p:nvPr>
            <p:ph type="body" sz="quarter" idx="13" hasCustomPrompt="1"/>
          </p:nvPr>
        </p:nvSpPr>
        <p:spPr>
          <a:xfrm>
            <a:off x="196766" y="1371604"/>
            <a:ext cx="9049234" cy="5207396"/>
          </a:xfrm>
        </p:spPr>
        <p:txBody>
          <a:bodyPr>
            <a:normAutofit/>
          </a:bodyPr>
          <a:lstStyle>
            <a:lvl1pPr marL="514042" indent="-514042" latinLnBrk="0">
              <a:buFont typeface="+mj-lt"/>
              <a:buAutoNum type="arabicPeriod"/>
              <a:defRPr sz="3600">
                <a:solidFill>
                  <a:schemeClr val="tx1"/>
                </a:solidFill>
              </a:defRPr>
            </a:lvl1pPr>
            <a:lvl2pPr>
              <a:defRPr sz="3400"/>
            </a:lvl2pPr>
          </a:lstStyle>
          <a:p>
            <a:pPr lvl="0"/>
            <a:r>
              <a:rPr lang="en-US" noProof="0"/>
              <a:t>…</a:t>
            </a:r>
          </a:p>
          <a:p>
            <a:pPr lvl="1"/>
            <a:r>
              <a:rPr lang="en-US" noProof="0"/>
              <a:t>…</a:t>
            </a:r>
          </a:p>
          <a:p>
            <a:pPr lvl="1"/>
            <a:r>
              <a:rPr lang="en-US" noProof="0"/>
              <a:t>…</a:t>
            </a:r>
          </a:p>
          <a:p>
            <a:pPr lvl="0"/>
            <a:r>
              <a:rPr lang="en-US" noProof="0"/>
              <a:t>…</a:t>
            </a:r>
          </a:p>
          <a:p>
            <a:pPr lvl="1"/>
            <a:r>
              <a:rPr lang="en-US" noProof="0"/>
              <a:t>…</a:t>
            </a:r>
          </a:p>
          <a:p>
            <a:pPr lvl="1"/>
            <a:r>
              <a:rPr lang="en-US" noProof="0"/>
              <a:t>…</a:t>
            </a:r>
          </a:p>
          <a:p>
            <a:pPr lvl="0"/>
            <a:r>
              <a:rPr lang="en-US" noProof="0"/>
              <a:t>…</a:t>
            </a:r>
          </a:p>
        </p:txBody>
      </p:sp>
      <p:sp>
        <p:nvSpPr>
          <p:cNvPr id="8" name="Rectangle Top">
            <a:extLst>
              <a:ext uri="{FF2B5EF4-FFF2-40B4-BE49-F238E27FC236}">
                <a16:creationId xmlns:a16="http://schemas.microsoft.com/office/drawing/2014/main" id="{930E0800-9260-4369-8330-8264DD33C5CE}"/>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1" name="Logo Software University" descr="Software University logo">
            <a:extLst>
              <a:ext uri="{FF2B5EF4-FFF2-40B4-BE49-F238E27FC236}">
                <a16:creationId xmlns:a16="http://schemas.microsoft.com/office/drawing/2014/main" id="{14F779A7-4A91-448B-BEFA-956C70A1C22F}"/>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3" name="Slide Title">
            <a:extLst>
              <a:ext uri="{FF2B5EF4-FFF2-40B4-BE49-F238E27FC236}">
                <a16:creationId xmlns:a16="http://schemas.microsoft.com/office/drawing/2014/main" id="{357D7BE1-6358-42CC-94F3-7BCDD91DCB6D}"/>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Table of Contents</a:t>
            </a:r>
          </a:p>
        </p:txBody>
      </p:sp>
    </p:spTree>
    <p:extLst>
      <p:ext uri="{BB962C8B-B14F-4D97-AF65-F5344CB8AC3E}">
        <p14:creationId xmlns:p14="http://schemas.microsoft.com/office/powerpoint/2010/main" val="102872448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Slide">
    <p:spTree>
      <p:nvGrpSpPr>
        <p:cNvPr id="1" name=""/>
        <p:cNvGrpSpPr/>
        <p:nvPr/>
      </p:nvGrpSpPr>
      <p:grpSpPr>
        <a:xfrm>
          <a:off x="0" y="0"/>
          <a:ext cx="0" cy="0"/>
          <a:chOff x="0" y="0"/>
          <a:chExt cx="0" cy="0"/>
        </a:xfrm>
      </p:grpSpPr>
      <p:sp>
        <p:nvSpPr>
          <p:cNvPr id="2" name="Rectangle Bottom"/>
          <p:cNvSpPr/>
          <p:nvPr/>
        </p:nvSpPr>
        <p:spPr>
          <a:xfrm>
            <a:off x="2" y="6264000"/>
            <a:ext cx="12192000" cy="594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56" tIns="60928" rIns="121856" bIns="60928" numCol="1" spcCol="0" rtlCol="0" fromWordArt="0" anchor="ctr" anchorCtr="0" forceAA="0" compatLnSpc="1">
            <a:prstTxWarp prst="textNoShape">
              <a:avLst/>
            </a:prstTxWarp>
            <a:no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Slide Number">
            <a:extLst>
              <a:ext uri="{FF2B5EF4-FFF2-40B4-BE49-F238E27FC236}">
                <a16:creationId xmlns:a16="http://schemas.microsoft.com/office/drawing/2014/main" id="{6750ECE4-94E0-469B-B8E4-562792823B0F}"/>
              </a:ext>
            </a:extLst>
          </p:cNvPr>
          <p:cNvSpPr>
            <a:spLocks noGrp="1"/>
          </p:cNvSpPr>
          <p:nvPr>
            <p:ph type="sldNum" sz="quarter" idx="4"/>
          </p:nvPr>
        </p:nvSpPr>
        <p:spPr>
          <a:xfrm>
            <a:off x="11753030" y="6462000"/>
            <a:ext cx="367414" cy="297000"/>
          </a:xfrm>
          <a:prstGeom prst="rect">
            <a:avLst/>
          </a:prstGeom>
        </p:spPr>
        <p:txBody>
          <a:bodyPr vert="horz" lIns="91440" tIns="45720" rIns="91440" bIns="45720" rtlCol="0" anchor="b"/>
          <a:lstStyle>
            <a:lvl1pPr algn="r">
              <a:defRPr sz="1000">
                <a:solidFill>
                  <a:schemeClr val="bg2"/>
                </a:solidFill>
              </a:defRPr>
            </a:lvl1pPr>
          </a:lstStyle>
          <a:p>
            <a:fld id="{2BF067CD-8E6B-4360-9AA8-C5DF2A48A6D1}" type="slidenum">
              <a:rPr lang="en-US" smtClean="0"/>
              <a:pPr/>
              <a:t>‹#›</a:t>
            </a:fld>
            <a:endParaRPr lang="en-US" dirty="0"/>
          </a:p>
        </p:txBody>
      </p:sp>
      <p:sp>
        <p:nvSpPr>
          <p:cNvPr id="4" name="Oval Logo Holder"/>
          <p:cNvSpPr/>
          <p:nvPr/>
        </p:nvSpPr>
        <p:spPr>
          <a:xfrm>
            <a:off x="5161650" y="4824665"/>
            <a:ext cx="1868701" cy="1868701"/>
          </a:xfrm>
          <a:prstGeom prst="ellipse">
            <a:avLst/>
          </a:prstGeom>
          <a:solidFill>
            <a:schemeClr val="tx2"/>
          </a:solid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own" descr="Software University logo">
            <a:extLst>
              <a:ext uri="{FF2B5EF4-FFF2-40B4-BE49-F238E27FC236}">
                <a16:creationId xmlns:a16="http://schemas.microsoft.com/office/drawing/2014/main" id="{7028D2F0-1E67-414B-A93D-D3F8F131A1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16551" y="5206773"/>
            <a:ext cx="958900" cy="1184869"/>
          </a:xfrm>
          <a:prstGeom prst="rect">
            <a:avLst/>
          </a:prstGeom>
        </p:spPr>
      </p:pic>
      <p:sp>
        <p:nvSpPr>
          <p:cNvPr id="10" name="Text Placeholder Right">
            <a:extLst>
              <a:ext uri="{FF2B5EF4-FFF2-40B4-BE49-F238E27FC236}">
                <a16:creationId xmlns:a16="http://schemas.microsoft.com/office/drawing/2014/main" id="{AF69A59F-C564-4A04-B1CC-31C261499991}"/>
              </a:ext>
            </a:extLst>
          </p:cNvPr>
          <p:cNvSpPr>
            <a:spLocks noGrp="1"/>
          </p:cNvSpPr>
          <p:nvPr>
            <p:ph type="body" sz="quarter" idx="11" hasCustomPrompt="1"/>
          </p:nvPr>
        </p:nvSpPr>
        <p:spPr>
          <a:xfrm>
            <a:off x="6456000" y="1195931"/>
            <a:ext cx="5545597" cy="4957073"/>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Left">
            <a:extLst>
              <a:ext uri="{FF2B5EF4-FFF2-40B4-BE49-F238E27FC236}">
                <a16:creationId xmlns:a16="http://schemas.microsoft.com/office/drawing/2014/main" id="{C8A626D2-456B-41EF-9818-EA8DD7E314DA}"/>
              </a:ext>
            </a:extLst>
          </p:cNvPr>
          <p:cNvSpPr>
            <a:spLocks noGrp="1"/>
          </p:cNvSpPr>
          <p:nvPr>
            <p:ph type="body" sz="quarter" idx="10" hasCustomPrompt="1"/>
          </p:nvPr>
        </p:nvSpPr>
        <p:spPr>
          <a:xfrm>
            <a:off x="190402" y="1195931"/>
            <a:ext cx="5545598" cy="4957073"/>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Rectangle Top">
            <a:extLst>
              <a:ext uri="{FF2B5EF4-FFF2-40B4-BE49-F238E27FC236}">
                <a16:creationId xmlns:a16="http://schemas.microsoft.com/office/drawing/2014/main" id="{E03301DA-D0AF-46FD-8740-2F761250203A}"/>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4" name="Logo Software University" descr="Software University logo">
            <a:extLst>
              <a:ext uri="{FF2B5EF4-FFF2-40B4-BE49-F238E27FC236}">
                <a16:creationId xmlns:a16="http://schemas.microsoft.com/office/drawing/2014/main" id="{19A67BB9-D880-4EAD-B90E-89C4219BFC0B}"/>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5" name="Slide Title">
            <a:extLst>
              <a:ext uri="{FF2B5EF4-FFF2-40B4-BE49-F238E27FC236}">
                <a16:creationId xmlns:a16="http://schemas.microsoft.com/office/drawing/2014/main" id="{EA9A94D1-F9F6-4D7B-85E3-896A987B6A4D}"/>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304403346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F888EE71-82B3-40F1-A63F-7417422FB4A4}"/>
              </a:ext>
            </a:extLst>
          </p:cNvPr>
          <p:cNvSpPr>
            <a:spLocks noGrp="1"/>
          </p:cNvSpPr>
          <p:nvPr>
            <p:ph type="sldNum" sz="quarter" idx="4"/>
          </p:nvPr>
        </p:nvSpPr>
        <p:spPr>
          <a:xfrm>
            <a:off x="11753030" y="6444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sp>
        <p:nvSpPr>
          <p:cNvPr id="14" name="Text Placeholder Body">
            <a:extLst>
              <a:ext uri="{FF2B5EF4-FFF2-40B4-BE49-F238E27FC236}">
                <a16:creationId xmlns:a16="http://schemas.microsoft.com/office/drawing/2014/main" id="{A2ABE920-240F-4CF6-AD45-23ED489FAD6E}"/>
              </a:ext>
            </a:extLst>
          </p:cNvPr>
          <p:cNvSpPr>
            <a:spLocks noGrp="1"/>
          </p:cNvSpPr>
          <p:nvPr>
            <p:ph type="body" sz="quarter" idx="13" hasCustomPrompt="1"/>
          </p:nvPr>
        </p:nvSpPr>
        <p:spPr>
          <a:xfrm>
            <a:off x="4569002" y="1353866"/>
            <a:ext cx="7426234" cy="5219931"/>
          </a:xfrm>
        </p:spPr>
        <p:txBody>
          <a:bodyPr/>
          <a:lstStyle>
            <a:lvl1pPr latinLnBrk="0">
              <a:defRPr/>
            </a:lvl1pPr>
            <a:lvl2pPr latinLnBrk="0">
              <a:defRPr/>
            </a:lvl2pPr>
            <a:lvl3pPr latinLnBrk="0">
              <a:defRPr/>
            </a:lvl3pPr>
            <a:lvl4pPr latinLnBrk="0">
              <a:defRPr/>
            </a:lvl4pPr>
            <a:lvl5pPr latinLnBrk="0">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Picture Placeholder Left"/>
          <p:cNvSpPr>
            <a:spLocks noGrp="1"/>
          </p:cNvSpPr>
          <p:nvPr>
            <p:ph type="pic" idx="1" hasCustomPrompt="1"/>
          </p:nvPr>
        </p:nvSpPr>
        <p:spPr>
          <a:xfrm>
            <a:off x="190405" y="1355077"/>
            <a:ext cx="3889373" cy="5366405"/>
          </a:xfrm>
          <a:prstGeom prst="rect">
            <a:avLst/>
          </a:prstGeom>
          <a:solidFill>
            <a:schemeClr val="bg2">
              <a:lumMod val="90000"/>
            </a:schemeClr>
          </a:solidFill>
        </p:spPr>
        <p:txBody>
          <a:bodyPr anchor="ctr"/>
          <a:lstStyle>
            <a:lvl1pPr marL="0" indent="0" algn="ctr" latinLnBrk="0">
              <a:buNone/>
              <a:defRPr sz="2131" baseline="0">
                <a:solidFill>
                  <a:schemeClr val="tx1"/>
                </a:solidFill>
                <a:latin typeface="+mn-lt"/>
                <a:cs typeface="Arial" pitchFamily="34" charset="0"/>
              </a:defRPr>
            </a:lvl1pPr>
            <a:lvl2pPr marL="609219" indent="0">
              <a:buNone/>
              <a:defRPr sz="3731"/>
            </a:lvl2pPr>
            <a:lvl3pPr marL="1218438" indent="0">
              <a:buNone/>
              <a:defRPr sz="3198"/>
            </a:lvl3pPr>
            <a:lvl4pPr marL="1827657" indent="0">
              <a:buNone/>
              <a:defRPr sz="2665"/>
            </a:lvl4pPr>
            <a:lvl5pPr marL="2436876" indent="0">
              <a:buNone/>
              <a:defRPr sz="2665"/>
            </a:lvl5pPr>
            <a:lvl6pPr marL="3046096" indent="0">
              <a:buNone/>
              <a:defRPr sz="2665"/>
            </a:lvl6pPr>
            <a:lvl7pPr marL="3655315" indent="0">
              <a:buNone/>
              <a:defRPr sz="2665"/>
            </a:lvl7pPr>
            <a:lvl8pPr marL="4264533" indent="0">
              <a:buNone/>
              <a:defRPr sz="2665"/>
            </a:lvl8pPr>
            <a:lvl9pPr marL="4873752" indent="0">
              <a:buNone/>
              <a:defRPr sz="2665"/>
            </a:lvl9pPr>
          </a:lstStyle>
          <a:p>
            <a:r>
              <a:rPr lang="en-US" altLang="ko-KR" noProof="0"/>
              <a:t>Your Picture Here</a:t>
            </a:r>
          </a:p>
        </p:txBody>
      </p:sp>
      <p:sp>
        <p:nvSpPr>
          <p:cNvPr id="3" name="Rectangle Left Second"/>
          <p:cNvSpPr/>
          <p:nvPr/>
        </p:nvSpPr>
        <p:spPr>
          <a:xfrm>
            <a:off x="4127777" y="1748999"/>
            <a:ext cx="240001" cy="336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2" name="Rectangle Left First"/>
          <p:cNvSpPr/>
          <p:nvPr/>
        </p:nvSpPr>
        <p:spPr>
          <a:xfrm>
            <a:off x="4079775" y="1355073"/>
            <a:ext cx="48001" cy="550292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0" name="Rectangle Down">
            <a:extLst>
              <a:ext uri="{FF2B5EF4-FFF2-40B4-BE49-F238E27FC236}">
                <a16:creationId xmlns:a16="http://schemas.microsoft.com/office/drawing/2014/main" id="{E9B994EC-35A8-4A11-98CB-25DC28852F94}"/>
              </a:ext>
            </a:extLst>
          </p:cNvPr>
          <p:cNvSpPr/>
          <p:nvPr/>
        </p:nvSpPr>
        <p:spPr>
          <a:xfrm>
            <a:off x="2" y="6721482"/>
            <a:ext cx="12192000" cy="1365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Rectangle Top">
            <a:extLst>
              <a:ext uri="{FF2B5EF4-FFF2-40B4-BE49-F238E27FC236}">
                <a16:creationId xmlns:a16="http://schemas.microsoft.com/office/drawing/2014/main" id="{274B8F05-DFCE-47BD-BAFD-DF93E1A63BDD}"/>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escr="Software University logo">
            <a:extLst>
              <a:ext uri="{FF2B5EF4-FFF2-40B4-BE49-F238E27FC236}">
                <a16:creationId xmlns:a16="http://schemas.microsoft.com/office/drawing/2014/main" id="{233CBB95-791E-4630-B3D9-FADFCE7BCF5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3" name="Slide Title">
            <a:extLst>
              <a:ext uri="{FF2B5EF4-FFF2-40B4-BE49-F238E27FC236}">
                <a16:creationId xmlns:a16="http://schemas.microsoft.com/office/drawing/2014/main" id="{3F218E34-55D7-4290-BFE4-80F31F941551}"/>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377401940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estions Slide">
    <p:bg>
      <p:bgPr>
        <a:solidFill>
          <a:schemeClr val="bg2"/>
        </a:solidFill>
        <a:effectLst/>
      </p:bgPr>
    </p:bg>
    <p:spTree>
      <p:nvGrpSpPr>
        <p:cNvPr id="1" name=""/>
        <p:cNvGrpSpPr/>
        <p:nvPr/>
      </p:nvGrpSpPr>
      <p:grpSpPr>
        <a:xfrm>
          <a:off x="0" y="0"/>
          <a:ext cx="0" cy="0"/>
          <a:chOff x="0" y="0"/>
          <a:chExt cx="0" cy="0"/>
        </a:xfrm>
      </p:grpSpPr>
      <p:sp>
        <p:nvSpPr>
          <p:cNvPr id="35" name="Rectangle Bottom">
            <a:extLst>
              <a:ext uri="{FF2B5EF4-FFF2-40B4-BE49-F238E27FC236}">
                <a16:creationId xmlns:a16="http://schemas.microsoft.com/office/drawing/2014/main" id="{550A59F9-9A9D-4956-95B4-F78CC0DB1D59}"/>
              </a:ext>
            </a:extLst>
          </p:cNvPr>
          <p:cNvSpPr/>
          <p:nvPr userDrawn="1"/>
        </p:nvSpPr>
        <p:spPr>
          <a:xfrm>
            <a:off x="0" y="6371332"/>
            <a:ext cx="12195176" cy="4872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53" name="Rectangle Bottom Copyright">
            <a:extLst>
              <a:ext uri="{FF2B5EF4-FFF2-40B4-BE49-F238E27FC236}">
                <a16:creationId xmlns:a16="http://schemas.microsoft.com/office/drawing/2014/main" id="{B07FB7FB-DA6C-4F5D-B068-357F0FCE27D8}"/>
              </a:ext>
            </a:extLst>
          </p:cNvPr>
          <p:cNvSpPr/>
          <p:nvPr userDrawn="1"/>
        </p:nvSpPr>
        <p:spPr>
          <a:xfrm>
            <a:off x="111000" y="6454758"/>
            <a:ext cx="11970000" cy="258449"/>
          </a:xfrm>
          <a:prstGeom prst="rect">
            <a:avLst/>
          </a:prstGeom>
        </p:spPr>
        <p:txBody>
          <a:bodyPr wrap="square">
            <a:noAutofit/>
          </a:bodyPr>
          <a:lstStyle/>
          <a:p>
            <a:pPr algn="ctr">
              <a:lnSpc>
                <a:spcPct val="100000"/>
              </a:lnSpc>
              <a:spcBef>
                <a:spcPts val="0"/>
              </a:spcBef>
              <a:spcAft>
                <a:spcPts val="0"/>
              </a:spcAft>
            </a:pPr>
            <a:r>
              <a:rPr lang="en-US" sz="16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rPr>
              <a:t>© SoftUni – </a:t>
            </a:r>
            <a:r>
              <a:rPr lang="en-US" sz="1600" dirty="0">
                <a:hlinkClick r:id="rId2"/>
              </a:rPr>
              <a:t>https://about.softuni.bg</a:t>
            </a:r>
            <a:r>
              <a:rPr lang="en-US" sz="16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hlinkClick r:id="rId2"/>
              </a:rPr>
              <a:t>. </a:t>
            </a:r>
            <a:r>
              <a:rPr lang="en-US" sz="16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rPr>
              <a:t>Copyrighted document. Unauthorized copy, reproduction or use is not permitted.</a:t>
            </a:r>
            <a:endParaRPr lang="en-US" sz="24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6" name="Picture SoftUni Mascot" descr="SoftUni mascot with open hand">
            <a:extLst>
              <a:ext uri="{FF2B5EF4-FFF2-40B4-BE49-F238E27FC236}">
                <a16:creationId xmlns:a16="http://schemas.microsoft.com/office/drawing/2014/main" id="{247CFF3C-C4FA-493D-8505-DF469F4D36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586" y="2898830"/>
            <a:ext cx="2451608" cy="2959741"/>
          </a:xfrm>
          <a:prstGeom prst="rect">
            <a:avLst/>
          </a:prstGeom>
        </p:spPr>
      </p:pic>
      <p:grpSp>
        <p:nvGrpSpPr>
          <p:cNvPr id="2" name="Group SoftUni Brands">
            <a:extLst>
              <a:ext uri="{FF2B5EF4-FFF2-40B4-BE49-F238E27FC236}">
                <a16:creationId xmlns:a16="http://schemas.microsoft.com/office/drawing/2014/main" id="{418FAE34-C1F8-46C7-A4AE-F270D1E70F25}"/>
              </a:ext>
            </a:extLst>
          </p:cNvPr>
          <p:cNvGrpSpPr/>
          <p:nvPr userDrawn="1"/>
        </p:nvGrpSpPr>
        <p:grpSpPr>
          <a:xfrm>
            <a:off x="3332216" y="1702473"/>
            <a:ext cx="8314909" cy="3543782"/>
            <a:chOff x="3332216" y="1702473"/>
            <a:chExt cx="8314909" cy="3543782"/>
          </a:xfrm>
        </p:grpSpPr>
        <p:pic>
          <p:nvPicPr>
            <p:cNvPr id="24" name="Picture SoftUni Kids Logo" descr="SoftUni Kids logo">
              <a:extLst>
                <a:ext uri="{FF2B5EF4-FFF2-40B4-BE49-F238E27FC236}">
                  <a16:creationId xmlns:a16="http://schemas.microsoft.com/office/drawing/2014/main" id="{B0812936-74B6-4265-8C08-AEDC8C79870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16883" y="3776294"/>
              <a:ext cx="1130242" cy="1389256"/>
            </a:xfrm>
            <a:prstGeom prst="rect">
              <a:avLst/>
            </a:prstGeom>
          </p:spPr>
        </p:pic>
        <p:pic>
          <p:nvPicPr>
            <p:cNvPr id="23" name="Picture SoftUni Foundation Logo" descr="SoftUni Foundation logo">
              <a:extLst>
                <a:ext uri="{FF2B5EF4-FFF2-40B4-BE49-F238E27FC236}">
                  <a16:creationId xmlns:a16="http://schemas.microsoft.com/office/drawing/2014/main" id="{6643F71A-2013-433A-8322-FBAAED3162D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053913" y="3788231"/>
              <a:ext cx="1166400" cy="1350756"/>
            </a:xfrm>
            <a:prstGeom prst="rect">
              <a:avLst/>
            </a:prstGeom>
          </p:spPr>
        </p:pic>
        <p:pic>
          <p:nvPicPr>
            <p:cNvPr id="22" name="Picture SoftUni Digital Logo" descr="SoftUni Digital logo">
              <a:extLst>
                <a:ext uri="{FF2B5EF4-FFF2-40B4-BE49-F238E27FC236}">
                  <a16:creationId xmlns:a16="http://schemas.microsoft.com/office/drawing/2014/main" id="{0A83D66F-855B-463B-920B-BF239B01A20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657695" y="3789000"/>
              <a:ext cx="1084614" cy="1457255"/>
            </a:xfrm>
            <a:prstGeom prst="rect">
              <a:avLst/>
            </a:prstGeom>
          </p:spPr>
        </p:pic>
        <p:pic>
          <p:nvPicPr>
            <p:cNvPr id="21" name="Picture SoftUni Creative Logo" descr="SoftUni Creative logo">
              <a:extLst>
                <a:ext uri="{FF2B5EF4-FFF2-40B4-BE49-F238E27FC236}">
                  <a16:creationId xmlns:a16="http://schemas.microsoft.com/office/drawing/2014/main" id="{EA755AAE-BA08-481C-9224-0061170EE4B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73913" y="3776293"/>
              <a:ext cx="1166400" cy="1389257"/>
            </a:xfrm>
            <a:prstGeom prst="rect">
              <a:avLst/>
            </a:prstGeom>
          </p:spPr>
        </p:pic>
        <p:pic>
          <p:nvPicPr>
            <p:cNvPr id="20" name="Picture SoftUni Svetlina Logo" descr="SoftUni Svetlina logo">
              <a:extLst>
                <a:ext uri="{FF2B5EF4-FFF2-40B4-BE49-F238E27FC236}">
                  <a16:creationId xmlns:a16="http://schemas.microsoft.com/office/drawing/2014/main" id="{827D15FD-4C66-4B85-98E6-7826AA8F61C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35029" y="3776293"/>
              <a:ext cx="1166400" cy="1402229"/>
            </a:xfrm>
            <a:prstGeom prst="rect">
              <a:avLst/>
            </a:prstGeom>
          </p:spPr>
        </p:pic>
        <p:pic>
          <p:nvPicPr>
            <p:cNvPr id="25" name="Picture Software University Logo" descr="Software University logo">
              <a:extLst>
                <a:ext uri="{FF2B5EF4-FFF2-40B4-BE49-F238E27FC236}">
                  <a16:creationId xmlns:a16="http://schemas.microsoft.com/office/drawing/2014/main" id="{C74C190C-5856-41B9-8819-AE8DE0E1098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332216" y="3776295"/>
              <a:ext cx="1164654" cy="1440000"/>
            </a:xfrm>
            <a:prstGeom prst="rect">
              <a:avLst/>
            </a:prstGeom>
          </p:spPr>
        </p:pic>
        <p:cxnSp>
          <p:nvCxnSpPr>
            <p:cNvPr id="33" name="Straight Connector 6">
              <a:extLst>
                <a:ext uri="{FF2B5EF4-FFF2-40B4-BE49-F238E27FC236}">
                  <a16:creationId xmlns:a16="http://schemas.microsoft.com/office/drawing/2014/main" id="{5C63D1E8-4A92-4691-8A24-A2FC7E8008E5}"/>
                </a:ext>
              </a:extLst>
            </p:cNvPr>
            <p:cNvCxnSpPr>
              <a:cxnSpLocks/>
            </p:cNvCxnSpPr>
            <p:nvPr userDrawn="1"/>
          </p:nvCxnSpPr>
          <p:spPr>
            <a:xfrm>
              <a:off x="11077113"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Straight Connector 5">
              <a:extLst>
                <a:ext uri="{FF2B5EF4-FFF2-40B4-BE49-F238E27FC236}">
                  <a16:creationId xmlns:a16="http://schemas.microsoft.com/office/drawing/2014/main" id="{6E91D320-3732-40B8-864D-142D0A277ED1}"/>
                </a:ext>
              </a:extLst>
            </p:cNvPr>
            <p:cNvCxnSpPr>
              <a:cxnSpLocks/>
            </p:cNvCxnSpPr>
            <p:nvPr userDrawn="1"/>
          </p:nvCxnSpPr>
          <p:spPr>
            <a:xfrm>
              <a:off x="963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1" name="Straight Connector 4">
              <a:extLst>
                <a:ext uri="{FF2B5EF4-FFF2-40B4-BE49-F238E27FC236}">
                  <a16:creationId xmlns:a16="http://schemas.microsoft.com/office/drawing/2014/main" id="{299ABE09-E33C-46B7-A80D-7BF4A6956211}"/>
                </a:ext>
              </a:extLst>
            </p:cNvPr>
            <p:cNvCxnSpPr/>
            <p:nvPr userDrawn="1"/>
          </p:nvCxnSpPr>
          <p:spPr>
            <a:xfrm>
              <a:off x="819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Straight Connector 3">
              <a:extLst>
                <a:ext uri="{FF2B5EF4-FFF2-40B4-BE49-F238E27FC236}">
                  <a16:creationId xmlns:a16="http://schemas.microsoft.com/office/drawing/2014/main" id="{93DDBF37-0764-47AA-94E3-9A44F3ED8FB5}"/>
                </a:ext>
              </a:extLst>
            </p:cNvPr>
            <p:cNvCxnSpPr/>
            <p:nvPr userDrawn="1"/>
          </p:nvCxnSpPr>
          <p:spPr>
            <a:xfrm>
              <a:off x="675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9" name="Straight Connector 2">
              <a:extLst>
                <a:ext uri="{FF2B5EF4-FFF2-40B4-BE49-F238E27FC236}">
                  <a16:creationId xmlns:a16="http://schemas.microsoft.com/office/drawing/2014/main" id="{72BFE2F3-0845-4E5B-9375-E9D4027DD675}"/>
                </a:ext>
              </a:extLst>
            </p:cNvPr>
            <p:cNvCxnSpPr/>
            <p:nvPr userDrawn="1"/>
          </p:nvCxnSpPr>
          <p:spPr>
            <a:xfrm>
              <a:off x="5309913"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1">
              <a:extLst>
                <a:ext uri="{FF2B5EF4-FFF2-40B4-BE49-F238E27FC236}">
                  <a16:creationId xmlns:a16="http://schemas.microsoft.com/office/drawing/2014/main" id="{D4E5982E-3110-47E1-A5BB-91B7BECC3093}"/>
                </a:ext>
              </a:extLst>
            </p:cNvPr>
            <p:cNvCxnSpPr/>
            <p:nvPr userDrawn="1"/>
          </p:nvCxnSpPr>
          <p:spPr>
            <a:xfrm>
              <a:off x="3915327"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Horizontal">
              <a:extLst>
                <a:ext uri="{FF2B5EF4-FFF2-40B4-BE49-F238E27FC236}">
                  <a16:creationId xmlns:a16="http://schemas.microsoft.com/office/drawing/2014/main" id="{5F62FB7C-BD6E-4383-98C1-2CF30F34CAFD}"/>
                </a:ext>
              </a:extLst>
            </p:cNvPr>
            <p:cNvCxnSpPr>
              <a:cxnSpLocks/>
            </p:cNvCxnSpPr>
            <p:nvPr userDrawn="1"/>
          </p:nvCxnSpPr>
          <p:spPr>
            <a:xfrm>
              <a:off x="3915327" y="3335565"/>
              <a:ext cx="716178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4" name="Straight Connector 0">
              <a:extLst>
                <a:ext uri="{FF2B5EF4-FFF2-40B4-BE49-F238E27FC236}">
                  <a16:creationId xmlns:a16="http://schemas.microsoft.com/office/drawing/2014/main" id="{C84A0FE1-723D-4682-8682-77BAD950EE15}"/>
                </a:ext>
              </a:extLst>
            </p:cNvPr>
            <p:cNvCxnSpPr/>
            <p:nvPr userDrawn="1"/>
          </p:nvCxnSpPr>
          <p:spPr>
            <a:xfrm>
              <a:off x="7496220" y="309299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18" name="Picture SoftUni Logo" descr="SoftUni logo">
              <a:extLst>
                <a:ext uri="{FF2B5EF4-FFF2-40B4-BE49-F238E27FC236}">
                  <a16:creationId xmlns:a16="http://schemas.microsoft.com/office/drawing/2014/main" id="{A0675455-B7FA-4569-A5FD-A3B0F20B2A2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896770" y="1702473"/>
              <a:ext cx="1198901" cy="1198901"/>
            </a:xfrm>
            <a:prstGeom prst="rect">
              <a:avLst/>
            </a:prstGeom>
          </p:spPr>
        </p:pic>
      </p:grpSp>
      <p:sp>
        <p:nvSpPr>
          <p:cNvPr id="19" name="Slide Title">
            <a:extLst>
              <a:ext uri="{FF2B5EF4-FFF2-40B4-BE49-F238E27FC236}">
                <a16:creationId xmlns:a16="http://schemas.microsoft.com/office/drawing/2014/main" id="{7CFDBB16-985C-4CC7-B6DB-B81B36037922}"/>
              </a:ext>
            </a:extLst>
          </p:cNvPr>
          <p:cNvSpPr>
            <a:spLocks noGrp="1"/>
          </p:cNvSpPr>
          <p:nvPr>
            <p:ph type="title"/>
          </p:nvPr>
        </p:nvSpPr>
        <p:spPr>
          <a:xfrm>
            <a:off x="809628" y="703244"/>
            <a:ext cx="5916372" cy="1033303"/>
          </a:xfrm>
          <a:prstGeom prst="rect">
            <a:avLst/>
          </a:prstGeom>
        </p:spPr>
        <p:txBody>
          <a:bodyPr wrap="none" lIns="0" tIns="0" rIns="0" bIns="0" anchor="ctr" anchorCtr="0">
            <a:noAutofit/>
            <a:scene3d>
              <a:camera prst="orthographicFront"/>
              <a:lightRig rig="soft" dir="t">
                <a:rot lat="0" lon="0" rev="10800000"/>
              </a:lightRig>
            </a:scene3d>
            <a:sp3d>
              <a:bevelT w="27940" h="12700"/>
              <a:contourClr>
                <a:srgbClr val="DDDDDD"/>
              </a:contourClr>
            </a:sp3d>
          </a:bodyPr>
          <a:lstStyle/>
          <a:p>
            <a:pPr marL="0" marR="0" lvl="0" indent="0" algn="l" defTabSz="913852" rtl="0" eaLnBrk="0" fontAlgn="auto" latinLnBrk="0" hangingPunct="0">
              <a:lnSpc>
                <a:spcPct val="100000"/>
              </a:lnSpc>
              <a:spcBef>
                <a:spcPts val="0"/>
              </a:spcBef>
              <a:spcAft>
                <a:spcPts val="0"/>
              </a:spcAft>
              <a:buClr>
                <a:srgbClr val="67748E">
                  <a:lumMod val="40000"/>
                  <a:lumOff val="60000"/>
                </a:srgbClr>
              </a:buClr>
              <a:buSzPct val="70000"/>
              <a:buFont typeface="Wingdings 2" pitchFamily="18" charset="2"/>
              <a:buNone/>
              <a:tabLst/>
              <a:defRPr/>
            </a:pPr>
            <a:r>
              <a:rPr kumimoji="0" lang="en-US" sz="8797" b="1" i="0" u="none" strike="noStrike" kern="1200" cap="none" spc="0" normalizeH="0" baseline="0" noProof="0" dirty="0">
                <a:ln>
                  <a:noFill/>
                </a:ln>
                <a:solidFill>
                  <a:srgbClr val="234465"/>
                </a:solidFill>
                <a:effectLst/>
                <a:uLnTx/>
                <a:uFillTx/>
                <a:latin typeface="Calibri" panose="020F0502020204030204"/>
                <a:ea typeface="+mn-ea"/>
                <a:cs typeface="+mn-cs"/>
              </a:rPr>
              <a:t>Questions?</a:t>
            </a:r>
            <a:endParaRPr kumimoji="0" lang="en-US" sz="8797" b="1" i="0" u="none" strike="noStrike" kern="1200" cap="none" spc="150" normalizeH="0" baseline="0" noProof="0" dirty="0">
              <a:ln w="11430"/>
              <a:solidFill>
                <a:srgbClr val="234465"/>
              </a:solidFill>
              <a:effectLst>
                <a:outerShdw blurRad="25400" algn="tl" rotWithShape="0">
                  <a:srgbClr val="000000">
                    <a:alpha val="43000"/>
                  </a:srgbClr>
                </a:outerShdw>
              </a:effectLst>
              <a:uLnTx/>
              <a:uFillTx/>
              <a:latin typeface="Calibri" panose="020F0502020204030204"/>
              <a:ea typeface="+mn-ea"/>
              <a:cs typeface="+mn-cs"/>
            </a:endParaRPr>
          </a:p>
        </p:txBody>
      </p:sp>
      <p:pic>
        <p:nvPicPr>
          <p:cNvPr id="36" name="Logo Software University" descr="Software University logo">
            <a:extLst>
              <a:ext uri="{FF2B5EF4-FFF2-40B4-BE49-F238E27FC236}">
                <a16:creationId xmlns:a16="http://schemas.microsoft.com/office/drawing/2014/main" id="{67FC4D2E-913D-432A-B658-F0D82839FA5E}"/>
              </a:ext>
            </a:extLst>
          </p:cNvPr>
          <p:cNvPicPr>
            <a:picLocks noChangeAspect="1"/>
          </p:cNvPicPr>
          <p:nvPr userDrawn="1"/>
        </p:nvPicPr>
        <p:blipFill>
          <a:blip r:embed="rId11"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Tree>
    <p:extLst>
      <p:ext uri="{BB962C8B-B14F-4D97-AF65-F5344CB8AC3E}">
        <p14:creationId xmlns:p14="http://schemas.microsoft.com/office/powerpoint/2010/main" val="419206122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out Slide">
    <p:spTree>
      <p:nvGrpSpPr>
        <p:cNvPr id="1" name=""/>
        <p:cNvGrpSpPr/>
        <p:nvPr/>
      </p:nvGrpSpPr>
      <p:grpSpPr>
        <a:xfrm>
          <a:off x="0" y="0"/>
          <a:ext cx="0" cy="0"/>
          <a:chOff x="0" y="0"/>
          <a:chExt cx="0" cy="0"/>
        </a:xfrm>
      </p:grpSpPr>
      <p:sp>
        <p:nvSpPr>
          <p:cNvPr id="13" name="Slide Number">
            <a:extLst>
              <a:ext uri="{FF2B5EF4-FFF2-40B4-BE49-F238E27FC236}">
                <a16:creationId xmlns:a16="http://schemas.microsoft.com/office/drawing/2014/main" id="{5B8761D8-B42F-4A70-A0CE-682CEB2AE31B}"/>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pic>
        <p:nvPicPr>
          <p:cNvPr id="17" name="Picture Logo FB" descr="Facebook logo">
            <a:hlinkClick r:id="rId2" tooltip="Software University @ Facebook"/>
            <a:extLst>
              <a:ext uri="{FF2B5EF4-FFF2-40B4-BE49-F238E27FC236}">
                <a16:creationId xmlns:a16="http://schemas.microsoft.com/office/drawing/2014/main" id="{6B2C510E-5EF2-49F6-B926-2BD74CD3C7F8}"/>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10523832" y="4170326"/>
            <a:ext cx="1003954" cy="101756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Logo SoftUni Right" descr="Software University logo">
            <a:hlinkClick r:id="rId4"/>
            <a:extLst>
              <a:ext uri="{FF2B5EF4-FFF2-40B4-BE49-F238E27FC236}">
                <a16:creationId xmlns:a16="http://schemas.microsoft.com/office/drawing/2014/main" id="{F4604840-E810-44B7-9FF1-3B28CD68B758}"/>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0413401" y="1674000"/>
            <a:ext cx="1192055" cy="1473880"/>
          </a:xfrm>
          <a:prstGeom prst="rect">
            <a:avLst/>
          </a:prstGeom>
        </p:spPr>
      </p:pic>
      <p:pic>
        <p:nvPicPr>
          <p:cNvPr id="16" name="Picture SoftUni Mascot" descr="SoftUni mascot">
            <a:hlinkClick r:id="rId6"/>
            <a:extLst>
              <a:ext uri="{FF2B5EF4-FFF2-40B4-BE49-F238E27FC236}">
                <a16:creationId xmlns:a16="http://schemas.microsoft.com/office/drawing/2014/main" id="{07C965FA-A87E-4824-AFA8-C67AF548A76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7181957" y="2584289"/>
            <a:ext cx="2732955" cy="3630993"/>
          </a:xfrm>
          <a:prstGeom prst="rect">
            <a:avLst/>
          </a:prstGeom>
        </p:spPr>
      </p:pic>
      <p:sp>
        <p:nvSpPr>
          <p:cNvPr id="12" name="Slide Body Text">
            <a:extLst>
              <a:ext uri="{FF2B5EF4-FFF2-40B4-BE49-F238E27FC236}">
                <a16:creationId xmlns:a16="http://schemas.microsoft.com/office/drawing/2014/main" id="{0C1F9416-8B6E-46DE-973C-777785E27A26}"/>
              </a:ext>
            </a:extLst>
          </p:cNvPr>
          <p:cNvSpPr>
            <a:spLocks noGrp="1"/>
          </p:cNvSpPr>
          <p:nvPr>
            <p:ph idx="4294967295" hasCustomPrompt="1"/>
          </p:nvPr>
        </p:nvSpPr>
        <p:spPr>
          <a:xfrm>
            <a:off x="152410" y="1186307"/>
            <a:ext cx="8688590" cy="5496127"/>
          </a:xfrm>
        </p:spPr>
        <p:txBody>
          <a:bodyPr wrap="square">
            <a:noAutofit/>
          </a:bodyPr>
          <a:lstStyle>
            <a:lvl1pPr latinLnBrk="0">
              <a:buClr>
                <a:schemeClr val="tx1"/>
              </a:buClr>
              <a:defRPr sz="2798"/>
            </a:lvl1pPr>
            <a:lvl2pPr marL="989981" marR="0" indent="-380762" algn="l" defTabSz="1218438" rtl="0" eaLnBrk="1" fontAlgn="auto" latinLnBrk="1" hangingPunct="1">
              <a:lnSpc>
                <a:spcPct val="100000"/>
              </a:lnSpc>
              <a:spcBef>
                <a:spcPts val="600"/>
              </a:spcBef>
              <a:spcAft>
                <a:spcPts val="600"/>
              </a:spcAft>
              <a:buClrTx/>
              <a:buSzTx/>
              <a:buFont typeface="Wingdings" panose="05000000000000000000" pitchFamily="2" charset="2"/>
              <a:buChar char="§"/>
              <a:tabLst>
                <a:tab pos="282405" algn="l"/>
              </a:tabLst>
              <a:defRPr sz="2800"/>
            </a:lvl2pPr>
            <a:lvl3pPr>
              <a:buClr>
                <a:schemeClr val="tx1"/>
              </a:buClr>
              <a:defRPr/>
            </a:lvl3pPr>
          </a:lstStyle>
          <a:p>
            <a:r>
              <a:rPr lang="en-US" sz="3000" noProof="0" dirty="0"/>
              <a:t>Software University – High-Quality Education, Profession and Job for Software Developers</a:t>
            </a:r>
          </a:p>
          <a:p>
            <a:pPr lvl="1"/>
            <a:r>
              <a:rPr lang="en-US" noProof="1">
                <a:hlinkClick r:id="rId6"/>
              </a:rPr>
              <a:t>softuni.bg</a:t>
            </a:r>
            <a:r>
              <a:rPr lang="en-US" noProof="1"/>
              <a:t> </a:t>
            </a:r>
          </a:p>
          <a:p>
            <a:r>
              <a:rPr lang="en-US" sz="3000" noProof="0" dirty="0"/>
              <a:t>Software University Foundation</a:t>
            </a:r>
          </a:p>
          <a:p>
            <a:pPr lvl="1"/>
            <a:r>
              <a:rPr lang="en-US" noProof="1">
                <a:hlinkClick r:id="rId8"/>
              </a:rPr>
              <a:t>softuni.foundation</a:t>
            </a:r>
            <a:endParaRPr lang="en-US" noProof="1"/>
          </a:p>
          <a:p>
            <a:r>
              <a:rPr lang="en-US" sz="3000" noProof="0" dirty="0"/>
              <a:t>Software University @ Facebook</a:t>
            </a:r>
          </a:p>
          <a:p>
            <a:pPr lvl="1"/>
            <a:r>
              <a:rPr lang="en-US" noProof="1">
                <a:hlinkClick r:id="rId2"/>
              </a:rPr>
              <a:t>facebook.com/SoftwareUniversity</a:t>
            </a:r>
            <a:endParaRPr lang="en-US" noProof="1"/>
          </a:p>
          <a:p>
            <a:r>
              <a:rPr lang="en-US" sz="3000" noProof="0" dirty="0"/>
              <a:t>Software University Forums</a:t>
            </a:r>
          </a:p>
          <a:p>
            <a:pPr lvl="1"/>
            <a:r>
              <a:rPr lang="en-US" noProof="1">
                <a:hlinkClick r:id="rId9"/>
              </a:rPr>
              <a:t>forum.softuni.bg</a:t>
            </a:r>
            <a:endParaRPr lang="en-US" noProof="1"/>
          </a:p>
        </p:txBody>
      </p:sp>
      <p:sp>
        <p:nvSpPr>
          <p:cNvPr id="10" name="Rectangle Top">
            <a:extLst>
              <a:ext uri="{FF2B5EF4-FFF2-40B4-BE49-F238E27FC236}">
                <a16:creationId xmlns:a16="http://schemas.microsoft.com/office/drawing/2014/main" id="{86646B95-5E3B-4DE8-9118-031C2C296D8C}"/>
              </a:ext>
            </a:extLst>
          </p:cNvPr>
          <p:cNvSpPr/>
          <p:nvPr userDrawn="1"/>
        </p:nvSpPr>
        <p:spPr>
          <a:xfrm>
            <a:off x="0" y="0"/>
            <a:ext cx="12195176"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1" name="Logo Software University" descr="Software University logo">
            <a:extLst>
              <a:ext uri="{FF2B5EF4-FFF2-40B4-BE49-F238E27FC236}">
                <a16:creationId xmlns:a16="http://schemas.microsoft.com/office/drawing/2014/main" id="{58AB1944-B146-4E89-B2D9-426EB610F319}"/>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8" name="Slide Title">
            <a:extLst>
              <a:ext uri="{FF2B5EF4-FFF2-40B4-BE49-F238E27FC236}">
                <a16:creationId xmlns:a16="http://schemas.microsoft.com/office/drawing/2014/main" id="{AE87ED9C-76E1-4D85-9B06-3AF44AABB668}"/>
              </a:ext>
            </a:extLst>
          </p:cNvPr>
          <p:cNvSpPr>
            <a:spLocks noGrp="1"/>
          </p:cNvSpPr>
          <p:nvPr>
            <p:ph type="title" hasCustomPrompt="1"/>
          </p:nvPr>
        </p:nvSpPr>
        <p:spPr>
          <a:xfrm>
            <a:off x="172286" y="108873"/>
            <a:ext cx="9742626" cy="882654"/>
          </a:xfrm>
        </p:spPr>
        <p:txBody>
          <a:bodyPr/>
          <a:lstStyle>
            <a:lvl1pPr latinLnBrk="0">
              <a:defRPr>
                <a:solidFill>
                  <a:schemeClr val="bg2"/>
                </a:solidFill>
              </a:defRPr>
            </a:lvl1pPr>
          </a:lstStyle>
          <a:p>
            <a:r>
              <a:rPr lang="en-US" noProof="0" dirty="0"/>
              <a:t>Trainings @ Software University (SoftUni)</a:t>
            </a:r>
          </a:p>
        </p:txBody>
      </p:sp>
    </p:spTree>
    <p:extLst>
      <p:ext uri="{BB962C8B-B14F-4D97-AF65-F5344CB8AC3E}">
        <p14:creationId xmlns:p14="http://schemas.microsoft.com/office/powerpoint/2010/main" val="219646632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ource Code Example">
  <p:cSld name="1_Source Code Example">
    <p:spTree>
      <p:nvGrpSpPr>
        <p:cNvPr id="1" name="Shape 142"/>
        <p:cNvGrpSpPr/>
        <p:nvPr/>
      </p:nvGrpSpPr>
      <p:grpSpPr>
        <a:xfrm>
          <a:off x="0" y="0"/>
          <a:ext cx="0" cy="0"/>
          <a:chOff x="0" y="0"/>
          <a:chExt cx="0" cy="0"/>
        </a:xfrm>
      </p:grpSpPr>
      <p:sp>
        <p:nvSpPr>
          <p:cNvPr id="143" name="Google Shape;143;p10"/>
          <p:cNvSpPr txBox="1">
            <a:spLocks noGrp="1"/>
          </p:cNvSpPr>
          <p:nvPr>
            <p:ph type="sldNum" idx="12"/>
          </p:nvPr>
        </p:nvSpPr>
        <p:spPr>
          <a:xfrm>
            <a:off x="11753030" y="6507000"/>
            <a:ext cx="367414" cy="2970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4" name="Google Shape;144;p10"/>
          <p:cNvSpPr txBox="1">
            <a:spLocks noGrp="1"/>
          </p:cNvSpPr>
          <p:nvPr>
            <p:ph type="body" idx="1"/>
          </p:nvPr>
        </p:nvSpPr>
        <p:spPr>
          <a:xfrm>
            <a:off x="621234" y="1931154"/>
            <a:ext cx="10949531" cy="1362846"/>
          </a:xfrm>
          <a:prstGeom prst="rect">
            <a:avLst/>
          </a:prstGeom>
          <a:solidFill>
            <a:srgbClr val="ACB4C3">
              <a:alpha val="14509"/>
            </a:srgbClr>
          </a:solidFill>
          <a:ln w="12700" cap="flat" cmpd="sng">
            <a:solidFill>
              <a:srgbClr val="112232"/>
            </a:solidFill>
            <a:prstDash val="solid"/>
            <a:round/>
            <a:headEnd type="none" w="sm" len="sm"/>
            <a:tailEnd type="none" w="sm" len="sm"/>
          </a:ln>
        </p:spPr>
        <p:txBody>
          <a:bodyPr spcFirstLastPara="1" wrap="square" lIns="144000" tIns="108000" rIns="144000" bIns="108000" anchor="t" anchorCtr="0">
            <a:spAutoFit/>
          </a:bodyPr>
          <a:lstStyle>
            <a:lvl1pPr marL="457200" lvl="0" indent="-228600" algn="l">
              <a:lnSpc>
                <a:spcPct val="105000"/>
              </a:lnSpc>
              <a:spcBef>
                <a:spcPts val="0"/>
              </a:spcBef>
              <a:spcAft>
                <a:spcPts val="0"/>
              </a:spcAft>
              <a:buClr>
                <a:schemeClr val="dk1"/>
              </a:buClr>
              <a:buSzPts val="2398"/>
              <a:buNone/>
              <a:defRPr sz="2398" b="1">
                <a:solidFill>
                  <a:schemeClr val="dk1"/>
                </a:solidFill>
                <a:latin typeface="Consolas"/>
                <a:ea typeface="Consolas"/>
                <a:cs typeface="Consolas"/>
                <a:sym typeface="Consolas"/>
              </a:defRPr>
            </a:lvl1pPr>
            <a:lvl2pPr marL="914400" lvl="1" indent="-342900" algn="l">
              <a:lnSpc>
                <a:spcPct val="105000"/>
              </a:lnSpc>
              <a:spcBef>
                <a:spcPts val="600"/>
              </a:spcBef>
              <a:spcAft>
                <a:spcPts val="0"/>
              </a:spcAft>
              <a:buClr>
                <a:schemeClr val="dk1"/>
              </a:buClr>
              <a:buSzPts val="1800"/>
              <a:buChar char="▪"/>
              <a:defRPr/>
            </a:lvl2pPr>
            <a:lvl3pPr marL="1371600" lvl="2" indent="-342900" algn="l">
              <a:lnSpc>
                <a:spcPct val="105000"/>
              </a:lnSpc>
              <a:spcBef>
                <a:spcPts val="600"/>
              </a:spcBef>
              <a:spcAft>
                <a:spcPts val="0"/>
              </a:spcAft>
              <a:buClr>
                <a:schemeClr val="dk1"/>
              </a:buClr>
              <a:buSzPts val="1800"/>
              <a:buChar char="▪"/>
              <a:defRPr/>
            </a:lvl3pPr>
            <a:lvl4pPr marL="1828800" lvl="3" indent="-342900" algn="l">
              <a:lnSpc>
                <a:spcPct val="105000"/>
              </a:lnSpc>
              <a:spcBef>
                <a:spcPts val="600"/>
              </a:spcBef>
              <a:spcAft>
                <a:spcPts val="0"/>
              </a:spcAft>
              <a:buClr>
                <a:schemeClr val="dk1"/>
              </a:buClr>
              <a:buSzPts val="1800"/>
              <a:buChar char="▪"/>
              <a:defRPr/>
            </a:lvl4pPr>
            <a:lvl5pPr marL="2286000" lvl="4" indent="-342900" algn="l">
              <a:lnSpc>
                <a:spcPct val="105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5" name="Google Shape;145;p10"/>
          <p:cNvSpPr txBox="1">
            <a:spLocks noGrp="1"/>
          </p:cNvSpPr>
          <p:nvPr>
            <p:ph type="body" idx="2"/>
          </p:nvPr>
        </p:nvSpPr>
        <p:spPr>
          <a:xfrm>
            <a:off x="190501" y="1196126"/>
            <a:ext cx="11811097" cy="5561124"/>
          </a:xfrm>
          <a:prstGeom prst="rect">
            <a:avLst/>
          </a:prstGeom>
          <a:noFill/>
          <a:ln>
            <a:noFill/>
          </a:ln>
        </p:spPr>
        <p:txBody>
          <a:bodyPr spcFirstLastPara="1" wrap="square" lIns="108000" tIns="36000" rIns="108000" bIns="36000" anchor="t" anchorCtr="0">
            <a:normAutofit/>
          </a:bodyPr>
          <a:lstStyle>
            <a:lvl1pPr marL="457200" lvl="0" indent="-228600" algn="l">
              <a:lnSpc>
                <a:spcPct val="105000"/>
              </a:lnSpc>
              <a:spcBef>
                <a:spcPts val="600"/>
              </a:spcBef>
              <a:spcAft>
                <a:spcPts val="0"/>
              </a:spcAft>
              <a:buClr>
                <a:schemeClr val="dk1"/>
              </a:buClr>
              <a:buSzPts val="3398"/>
              <a:buNone/>
              <a:defRPr>
                <a:solidFill>
                  <a:schemeClr val="dk1"/>
                </a:solidFill>
              </a:defRPr>
            </a:lvl1pPr>
            <a:lvl2pPr marL="914400" lvl="1" indent="-228600" algn="l">
              <a:lnSpc>
                <a:spcPct val="105000"/>
              </a:lnSpc>
              <a:spcBef>
                <a:spcPts val="600"/>
              </a:spcBef>
              <a:spcAft>
                <a:spcPts val="0"/>
              </a:spcAft>
              <a:buClr>
                <a:schemeClr val="dk1"/>
              </a:buClr>
              <a:buSzPts val="3198"/>
              <a:buNone/>
              <a:defRPr/>
            </a:lvl2pPr>
            <a:lvl3pPr marL="1371600" lvl="2" indent="-342900" algn="l">
              <a:lnSpc>
                <a:spcPct val="105000"/>
              </a:lnSpc>
              <a:spcBef>
                <a:spcPts val="600"/>
              </a:spcBef>
              <a:spcAft>
                <a:spcPts val="0"/>
              </a:spcAft>
              <a:buClr>
                <a:schemeClr val="dk1"/>
              </a:buClr>
              <a:buSzPts val="1800"/>
              <a:buChar char="▪"/>
              <a:defRPr/>
            </a:lvl3pPr>
            <a:lvl4pPr marL="1828800" lvl="3" indent="-342900" algn="l">
              <a:lnSpc>
                <a:spcPct val="105000"/>
              </a:lnSpc>
              <a:spcBef>
                <a:spcPts val="600"/>
              </a:spcBef>
              <a:spcAft>
                <a:spcPts val="0"/>
              </a:spcAft>
              <a:buClr>
                <a:schemeClr val="dk1"/>
              </a:buClr>
              <a:buSzPts val="1800"/>
              <a:buChar char="▪"/>
              <a:defRPr/>
            </a:lvl4pPr>
            <a:lvl5pPr marL="2286000" lvl="4" indent="-342900" algn="l">
              <a:lnSpc>
                <a:spcPct val="105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6" name="Google Shape;146;p10"/>
          <p:cNvSpPr/>
          <p:nvPr/>
        </p:nvSpPr>
        <p:spPr>
          <a:xfrm>
            <a:off x="0" y="0"/>
            <a:ext cx="12196800" cy="109537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398"/>
              <a:buFont typeface="Calibri"/>
              <a:buNone/>
            </a:pPr>
            <a:endParaRPr sz="2398" b="0" i="0" u="none" strike="noStrike" cap="none">
              <a:solidFill>
                <a:srgbClr val="F7C86D"/>
              </a:solidFill>
              <a:latin typeface="Calibri"/>
              <a:ea typeface="Calibri"/>
              <a:cs typeface="Calibri"/>
              <a:sym typeface="Calibri"/>
            </a:endParaRPr>
          </a:p>
        </p:txBody>
      </p:sp>
      <p:pic>
        <p:nvPicPr>
          <p:cNvPr id="147" name="Google Shape;147;p10" descr="Software University logo"/>
          <p:cNvPicPr preferRelativeResize="0"/>
          <p:nvPr/>
        </p:nvPicPr>
        <p:blipFill rotWithShape="1">
          <a:blip r:embed="rId2">
            <a:alphaModFix/>
          </a:blip>
          <a:srcRect/>
          <a:stretch/>
        </p:blipFill>
        <p:spPr>
          <a:xfrm>
            <a:off x="10067957" y="253936"/>
            <a:ext cx="1915704" cy="559235"/>
          </a:xfrm>
          <a:prstGeom prst="rect">
            <a:avLst/>
          </a:prstGeom>
          <a:noFill/>
          <a:ln>
            <a:noFill/>
          </a:ln>
        </p:spPr>
      </p:pic>
      <p:sp>
        <p:nvSpPr>
          <p:cNvPr id="148" name="Google Shape;148;p10"/>
          <p:cNvSpPr txBox="1">
            <a:spLocks noGrp="1"/>
          </p:cNvSpPr>
          <p:nvPr>
            <p:ph type="title"/>
          </p:nvPr>
        </p:nvSpPr>
        <p:spPr>
          <a:xfrm>
            <a:off x="190406" y="100750"/>
            <a:ext cx="9715594" cy="882654"/>
          </a:xfrm>
          <a:prstGeom prst="rect">
            <a:avLst/>
          </a:prstGeom>
          <a:noFill/>
          <a:ln>
            <a:noFill/>
          </a:ln>
        </p:spPr>
        <p:txBody>
          <a:bodyPr spcFirstLastPara="1" wrap="square" lIns="108000" tIns="36000" rIns="108000" bIns="36000" anchor="ctr" anchorCtr="0">
            <a:normAutofit/>
          </a:bodyPr>
          <a:lstStyle>
            <a:lvl1pPr lvl="0" algn="l">
              <a:lnSpc>
                <a:spcPct val="100000"/>
              </a:lnSpc>
              <a:spcBef>
                <a:spcPts val="0"/>
              </a:spcBef>
              <a:spcAft>
                <a:spcPts val="0"/>
              </a:spcAft>
              <a:buClr>
                <a:schemeClr val="lt2"/>
              </a:buClr>
              <a:buSzPts val="3998"/>
              <a:buFont typeface="Calibri"/>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775323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2"/>
        </a:solidFill>
        <a:effectLst/>
      </p:bgPr>
    </p:bg>
    <p:spTree>
      <p:nvGrpSpPr>
        <p:cNvPr id="1" name=""/>
        <p:cNvGrpSpPr/>
        <p:nvPr/>
      </p:nvGrpSpPr>
      <p:grpSpPr>
        <a:xfrm>
          <a:off x="0" y="0"/>
          <a:ext cx="0" cy="0"/>
          <a:chOff x="0" y="0"/>
          <a:chExt cx="0" cy="0"/>
        </a:xfrm>
      </p:grpSpPr>
      <p:pic>
        <p:nvPicPr>
          <p:cNvPr id="4" name="Picture Background" descr="SoftUni Background">
            <a:extLst>
              <a:ext uri="{FF2B5EF4-FFF2-40B4-BE49-F238E27FC236}">
                <a16:creationId xmlns:a16="http://schemas.microsoft.com/office/drawing/2014/main" id="{5BE90A63-DDD9-4B3B-A234-DF69B9BC812F}"/>
              </a:ext>
            </a:extLst>
          </p:cNvPr>
          <p:cNvPicPr>
            <a:picLocks noChangeAspect="1"/>
          </p:cNvPicPr>
          <p:nvPr userDrawn="1"/>
        </p:nvPicPr>
        <p:blipFill rotWithShape="1">
          <a:blip r:embed="rId15"/>
          <a:srcRect b="1672"/>
          <a:stretch/>
        </p:blipFill>
        <p:spPr>
          <a:xfrm>
            <a:off x="0" y="1"/>
            <a:ext cx="12192000" cy="6857999"/>
          </a:xfrm>
          <a:prstGeom prst="rect">
            <a:avLst/>
          </a:prstGeom>
        </p:spPr>
      </p:pic>
      <p:sp>
        <p:nvSpPr>
          <p:cNvPr id="11" name="Slide Body Text">
            <a:extLst>
              <a:ext uri="{FF2B5EF4-FFF2-40B4-BE49-F238E27FC236}">
                <a16:creationId xmlns:a16="http://schemas.microsoft.com/office/drawing/2014/main" id="{90CBFB32-9F46-4F2F-8A54-9EE8BED27855}"/>
              </a:ext>
            </a:extLst>
          </p:cNvPr>
          <p:cNvSpPr>
            <a:spLocks noGrp="1"/>
          </p:cNvSpPr>
          <p:nvPr>
            <p:ph type="body" idx="1"/>
          </p:nvPr>
        </p:nvSpPr>
        <p:spPr>
          <a:xfrm>
            <a:off x="190404" y="1138844"/>
            <a:ext cx="11804830" cy="5530156"/>
          </a:xfrm>
          <a:prstGeom prst="rect">
            <a:avLst/>
          </a:prstGeom>
        </p:spPr>
        <p:txBody>
          <a:bodyPr vert="horz" lIns="108000" tIns="36000" rIns="108000" bIns="36000" rtlCol="0">
            <a:norm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0" name="Slide Title">
            <a:extLst>
              <a:ext uri="{FF2B5EF4-FFF2-40B4-BE49-F238E27FC236}">
                <a16:creationId xmlns:a16="http://schemas.microsoft.com/office/drawing/2014/main" id="{B770C392-3003-4C35-9625-BB041F8257BA}"/>
              </a:ext>
            </a:extLst>
          </p:cNvPr>
          <p:cNvSpPr>
            <a:spLocks noGrp="1"/>
          </p:cNvSpPr>
          <p:nvPr>
            <p:ph type="title"/>
          </p:nvPr>
        </p:nvSpPr>
        <p:spPr>
          <a:xfrm>
            <a:off x="190405" y="100750"/>
            <a:ext cx="11804829" cy="882654"/>
          </a:xfrm>
          <a:prstGeom prst="rect">
            <a:avLst/>
          </a:prstGeom>
        </p:spPr>
        <p:txBody>
          <a:bodyPr vert="horz" lIns="108000" tIns="36000" rIns="108000" bIns="36000" rtlCol="0" anchor="ctr" anchorCtr="0">
            <a:normAutofit/>
          </a:bodyPr>
          <a:lstStyle/>
          <a:p>
            <a:r>
              <a:rPr lang="en-US" dirty="0"/>
              <a:t>Click to Edit Master Title Style</a:t>
            </a:r>
            <a:endParaRPr dirty="0"/>
          </a:p>
        </p:txBody>
      </p:sp>
    </p:spTree>
    <p:extLst>
      <p:ext uri="{BB962C8B-B14F-4D97-AF65-F5344CB8AC3E}">
        <p14:creationId xmlns:p14="http://schemas.microsoft.com/office/powerpoint/2010/main" val="156789181"/>
      </p:ext>
    </p:extLst>
  </p:cSld>
  <p:clrMap bg1="lt1" tx1="dk1" bg2="lt2" tx2="dk2" accent1="accent1" accent2="accent2" accent3="accent3" accent4="accent4" accent5="accent5" accent6="accent6" hlink="hlink" folHlink="folHlink"/>
  <p:sldLayoutIdLst>
    <p:sldLayoutId id="2147483676" r:id="rId1"/>
    <p:sldLayoutId id="2147483689" r:id="rId2"/>
    <p:sldLayoutId id="2147483681" r:id="rId3"/>
    <p:sldLayoutId id="2147483691" r:id="rId4"/>
    <p:sldLayoutId id="2147483680" r:id="rId5"/>
    <p:sldLayoutId id="2147483688" r:id="rId6"/>
    <p:sldLayoutId id="2147483684" r:id="rId7"/>
    <p:sldLayoutId id="2147483677" r:id="rId8"/>
    <p:sldLayoutId id="2147483683" r:id="rId9"/>
    <p:sldLayoutId id="2147483685" r:id="rId10"/>
    <p:sldLayoutId id="2147483686" r:id="rId11"/>
    <p:sldLayoutId id="2147483687" r:id="rId12"/>
    <p:sldLayoutId id="2147483693" r:id="rId13"/>
  </p:sldLayoutIdLst>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hf hdr="0" ftr="0" dt="0"/>
  <p:txStyles>
    <p:titleStyle>
      <a:lvl1pPr algn="l" defTabSz="1218438" rtl="0" eaLnBrk="1" latinLnBrk="0" hangingPunct="1">
        <a:spcBef>
          <a:spcPct val="0"/>
        </a:spcBef>
        <a:buNone/>
        <a:defRPr sz="3998" b="1" kern="1200">
          <a:solidFill>
            <a:schemeClr val="tx1"/>
          </a:solidFill>
          <a:latin typeface="+mj-lt"/>
          <a:ea typeface="+mj-ea"/>
          <a:cs typeface="+mj-cs"/>
        </a:defRPr>
      </a:lvl1pPr>
    </p:titleStyle>
    <p:bodyStyle>
      <a:lvl1pPr marL="360363" indent="-360363"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803275" indent="-360363"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255713" indent="-360363"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1700213" indent="-352425"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058988" indent="-26670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p:bodyStyle>
    <p:otherStyle>
      <a:defPPr>
        <a:defRPr lang="ko-KR"/>
      </a:defPPr>
      <a:lvl1pPr marL="0" algn="l" defTabSz="1218438" rtl="0" eaLnBrk="1" latinLnBrk="1" hangingPunct="1">
        <a:defRPr sz="2398" kern="1200">
          <a:solidFill>
            <a:schemeClr val="tx1"/>
          </a:solidFill>
          <a:latin typeface="+mn-lt"/>
          <a:ea typeface="+mn-ea"/>
          <a:cs typeface="+mn-cs"/>
        </a:defRPr>
      </a:lvl1pPr>
      <a:lvl2pPr marL="609219" algn="l" defTabSz="1218438" rtl="0" eaLnBrk="1" latinLnBrk="1" hangingPunct="1">
        <a:defRPr sz="2398" kern="1200">
          <a:solidFill>
            <a:schemeClr val="tx1"/>
          </a:solidFill>
          <a:latin typeface="+mn-lt"/>
          <a:ea typeface="+mn-ea"/>
          <a:cs typeface="+mn-cs"/>
        </a:defRPr>
      </a:lvl2pPr>
      <a:lvl3pPr marL="1218438" algn="l" defTabSz="1218438" rtl="0" eaLnBrk="1" latinLnBrk="1" hangingPunct="1">
        <a:defRPr sz="2398" kern="1200">
          <a:solidFill>
            <a:schemeClr val="tx1"/>
          </a:solidFill>
          <a:latin typeface="+mn-lt"/>
          <a:ea typeface="+mn-ea"/>
          <a:cs typeface="+mn-cs"/>
        </a:defRPr>
      </a:lvl3pPr>
      <a:lvl4pPr marL="1827657" algn="l" defTabSz="1218438" rtl="0" eaLnBrk="1" latinLnBrk="1" hangingPunct="1">
        <a:defRPr sz="2398" kern="1200">
          <a:solidFill>
            <a:schemeClr val="tx1"/>
          </a:solidFill>
          <a:latin typeface="+mn-lt"/>
          <a:ea typeface="+mn-ea"/>
          <a:cs typeface="+mn-cs"/>
        </a:defRPr>
      </a:lvl4pPr>
      <a:lvl5pPr marL="2436876" algn="l" defTabSz="1218438" rtl="0" eaLnBrk="1" latinLnBrk="1" hangingPunct="1">
        <a:defRPr sz="2398" kern="1200">
          <a:solidFill>
            <a:schemeClr val="tx1"/>
          </a:solidFill>
          <a:latin typeface="+mn-lt"/>
          <a:ea typeface="+mn-ea"/>
          <a:cs typeface="+mn-cs"/>
        </a:defRPr>
      </a:lvl5pPr>
      <a:lvl6pPr marL="3046096" algn="l" defTabSz="1218438" rtl="0" eaLnBrk="1" latinLnBrk="1" hangingPunct="1">
        <a:defRPr sz="2398" kern="1200">
          <a:solidFill>
            <a:schemeClr val="tx1"/>
          </a:solidFill>
          <a:latin typeface="+mn-lt"/>
          <a:ea typeface="+mn-ea"/>
          <a:cs typeface="+mn-cs"/>
        </a:defRPr>
      </a:lvl6pPr>
      <a:lvl7pPr marL="3655315" algn="l" defTabSz="1218438" rtl="0" eaLnBrk="1" latinLnBrk="1" hangingPunct="1">
        <a:defRPr sz="2398" kern="1200">
          <a:solidFill>
            <a:schemeClr val="tx1"/>
          </a:solidFill>
          <a:latin typeface="+mn-lt"/>
          <a:ea typeface="+mn-ea"/>
          <a:cs typeface="+mn-cs"/>
        </a:defRPr>
      </a:lvl7pPr>
      <a:lvl8pPr marL="4264533" algn="l" defTabSz="1218438" rtl="0" eaLnBrk="1" latinLnBrk="1" hangingPunct="1">
        <a:defRPr sz="2398" kern="1200">
          <a:solidFill>
            <a:schemeClr val="tx1"/>
          </a:solidFill>
          <a:latin typeface="+mn-lt"/>
          <a:ea typeface="+mn-ea"/>
          <a:cs typeface="+mn-cs"/>
        </a:defRPr>
      </a:lvl8pPr>
      <a:lvl9pPr marL="4873752" algn="l" defTabSz="1218438" rtl="0" eaLnBrk="1" latinLnBrk="1" hangingPunct="1">
        <a:defRPr sz="23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184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softuni.b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8" Type="http://schemas.openxmlformats.org/officeDocument/2006/relationships/hyperlink" Target="https://www.vivacom.bg/bg/residential/za-nas/za-kompanijata/koi-sme-nie" TargetMode="External"/><Relationship Id="rId13" Type="http://schemas.openxmlformats.org/officeDocument/2006/relationships/image" Target="../media/image41.PNG"/><Relationship Id="rId18" Type="http://schemas.openxmlformats.org/officeDocument/2006/relationships/image" Target="../media/image44.png"/><Relationship Id="rId3" Type="http://schemas.openxmlformats.org/officeDocument/2006/relationships/image" Target="../media/image36.png"/><Relationship Id="rId7" Type="http://schemas.openxmlformats.org/officeDocument/2006/relationships/image" Target="../media/image38.png"/><Relationship Id="rId12" Type="http://schemas.openxmlformats.org/officeDocument/2006/relationships/hyperlink" Target="https://www.postbank.bg/" TargetMode="External"/><Relationship Id="rId17" Type="http://schemas.openxmlformats.org/officeDocument/2006/relationships/hyperlink" Target="https://encorp.ai/" TargetMode="External"/><Relationship Id="rId2" Type="http://schemas.openxmlformats.org/officeDocument/2006/relationships/hyperlink" Target="https://en.superhosting.bg/" TargetMode="External"/><Relationship Id="rId16" Type="http://schemas.openxmlformats.org/officeDocument/2006/relationships/image" Target="../media/image43.png"/><Relationship Id="rId1" Type="http://schemas.openxmlformats.org/officeDocument/2006/relationships/slideLayout" Target="../slideLayouts/slideLayout13.xml"/><Relationship Id="rId6" Type="http://schemas.openxmlformats.org/officeDocument/2006/relationships/hyperlink" Target="https://indeavr.com/careers/" TargetMode="External"/><Relationship Id="rId11" Type="http://schemas.openxmlformats.org/officeDocument/2006/relationships/image" Target="../media/image40.png"/><Relationship Id="rId5" Type="http://schemas.openxmlformats.org/officeDocument/2006/relationships/image" Target="../media/image37.png"/><Relationship Id="rId15" Type="http://schemas.openxmlformats.org/officeDocument/2006/relationships/image" Target="../media/image42.png"/><Relationship Id="rId10" Type="http://schemas.openxmlformats.org/officeDocument/2006/relationships/hyperlink" Target="https://www.draftkings.com/" TargetMode="External"/><Relationship Id="rId19" Type="http://schemas.openxmlformats.org/officeDocument/2006/relationships/image" Target="../media/image45.svg"/><Relationship Id="rId4" Type="http://schemas.openxmlformats.org/officeDocument/2006/relationships/hyperlink" Target="https://createx.bg/" TargetMode="External"/><Relationship Id="rId9" Type="http://schemas.openxmlformats.org/officeDocument/2006/relationships/image" Target="../media/image39.png"/><Relationship Id="rId14" Type="http://schemas.openxmlformats.org/officeDocument/2006/relationships/hyperlink" Target="https://bg.coca-colahellenic.com/"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softuni.bg/"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hyperlink" Target="https://www.facebook.com/SoftwareUniversity" TargetMode="External"/><Relationship Id="rId5" Type="http://schemas.openxmlformats.org/officeDocument/2006/relationships/hyperlink" Target="https://softuni.foundation/" TargetMode="External"/><Relationship Id="rId4" Type="http://schemas.openxmlformats.org/officeDocument/2006/relationships/hyperlink" Target="https://about.softuni.bg/"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about.softuni.bg/"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hyperlink" Target="https://softuni.b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noAutofit/>
          </a:bodyPr>
          <a:lstStyle/>
          <a:p>
            <a:r>
              <a:rPr lang="en-US" sz="2800" dirty="0"/>
              <a:t>Create, Read, Update, Delete</a:t>
            </a:r>
          </a:p>
          <a:p>
            <a:r>
              <a:rPr lang="en-US" sz="2800" dirty="0"/>
              <a:t>using SQL Queries</a:t>
            </a:r>
          </a:p>
        </p:txBody>
      </p:sp>
      <p:sp>
        <p:nvSpPr>
          <p:cNvPr id="5" name="Title 4"/>
          <p:cNvSpPr>
            <a:spLocks noGrp="1"/>
          </p:cNvSpPr>
          <p:nvPr>
            <p:ph type="title"/>
          </p:nvPr>
        </p:nvSpPr>
        <p:spPr/>
        <p:txBody>
          <a:bodyPr/>
          <a:lstStyle/>
          <a:p>
            <a:r>
              <a:rPr lang="en-US" dirty="0"/>
              <a:t>Basic CRUD in SQL Server</a:t>
            </a:r>
          </a:p>
        </p:txBody>
      </p:sp>
      <p:sp>
        <p:nvSpPr>
          <p:cNvPr id="11" name="Text Placeholder 10"/>
          <p:cNvSpPr>
            <a:spLocks noGrp="1"/>
          </p:cNvSpPr>
          <p:nvPr>
            <p:ph type="body" sz="quarter" idx="17"/>
          </p:nvPr>
        </p:nvSpPr>
        <p:spPr/>
        <p:txBody>
          <a:bodyPr/>
          <a:lstStyle/>
          <a:p>
            <a:r>
              <a:rPr lang="en-US" dirty="0"/>
              <a:t>Software University</a:t>
            </a:r>
          </a:p>
        </p:txBody>
      </p:sp>
      <p:sp>
        <p:nvSpPr>
          <p:cNvPr id="12" name="Text Placeholder 11"/>
          <p:cNvSpPr>
            <a:spLocks noGrp="1"/>
          </p:cNvSpPr>
          <p:nvPr>
            <p:ph type="body" sz="quarter" idx="18"/>
          </p:nvPr>
        </p:nvSpPr>
        <p:spPr/>
        <p:txBody>
          <a:bodyPr/>
          <a:lstStyle/>
          <a:p>
            <a:r>
              <a:rPr lang="en-US">
                <a:hlinkClick r:id="rId3"/>
              </a:rPr>
              <a:t>https://softuni.bg</a:t>
            </a:r>
            <a:endParaRPr lang="en-US" dirty="0"/>
          </a:p>
        </p:txBody>
      </p:sp>
      <p:sp>
        <p:nvSpPr>
          <p:cNvPr id="3" name="Text Placeholder 2"/>
          <p:cNvSpPr>
            <a:spLocks noGrp="1"/>
          </p:cNvSpPr>
          <p:nvPr>
            <p:ph type="body" sz="quarter" idx="19"/>
          </p:nvPr>
        </p:nvSpPr>
        <p:spPr>
          <a:xfrm>
            <a:off x="671147" y="4650873"/>
            <a:ext cx="2951518" cy="958651"/>
          </a:xfrm>
        </p:spPr>
        <p:txBody>
          <a:bodyPr/>
          <a:lstStyle/>
          <a:p>
            <a:r>
              <a:rPr lang="en-US" dirty="0" err="1"/>
              <a:t>SoftUni</a:t>
            </a:r>
            <a:r>
              <a:rPr lang="en-US" dirty="0"/>
              <a:t> Team</a:t>
            </a:r>
          </a:p>
        </p:txBody>
      </p:sp>
      <p:sp>
        <p:nvSpPr>
          <p:cNvPr id="4" name="Text Placeholder 3"/>
          <p:cNvSpPr>
            <a:spLocks noGrp="1"/>
          </p:cNvSpPr>
          <p:nvPr>
            <p:ph type="body" sz="quarter" idx="20"/>
          </p:nvPr>
        </p:nvSpPr>
        <p:spPr>
          <a:xfrm>
            <a:off x="671147" y="5368869"/>
            <a:ext cx="2951518" cy="444536"/>
          </a:xfrm>
        </p:spPr>
        <p:txBody>
          <a:bodyPr/>
          <a:lstStyle/>
          <a:p>
            <a:r>
              <a:rPr lang="en-US" dirty="0"/>
              <a:t>Technical Trainers</a:t>
            </a:r>
          </a:p>
        </p:txBody>
      </p:sp>
      <p:grpSp>
        <p:nvGrpSpPr>
          <p:cNvPr id="13" name="Group 12"/>
          <p:cNvGrpSpPr/>
          <p:nvPr/>
        </p:nvGrpSpPr>
        <p:grpSpPr>
          <a:xfrm>
            <a:off x="4141340" y="2677547"/>
            <a:ext cx="4016339" cy="2261864"/>
            <a:chOff x="3056094" y="1995552"/>
            <a:chExt cx="5026085" cy="2881340"/>
          </a:xfrm>
        </p:grpSpPr>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6094" y="3084425"/>
              <a:ext cx="1792467" cy="1792467"/>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43779" y="1995552"/>
              <a:ext cx="2438400" cy="2438400"/>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39986" y="2226986"/>
              <a:ext cx="1543051" cy="1543050"/>
            </a:xfrm>
            <a:prstGeom prst="rect">
              <a:avLst/>
            </a:prstGeom>
          </p:spPr>
        </p:pic>
      </p:grpSp>
    </p:spTree>
    <p:extLst>
      <p:ext uri="{BB962C8B-B14F-4D97-AF65-F5344CB8AC3E}">
        <p14:creationId xmlns:p14="http://schemas.microsoft.com/office/powerpoint/2010/main" val="338270716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9" name="Rectangle 3"/>
          <p:cNvSpPr>
            <a:spLocks noGrp="1" noChangeArrowheads="1"/>
          </p:cNvSpPr>
          <p:nvPr>
            <p:ph type="body" sz="quarter" idx="13"/>
          </p:nvPr>
        </p:nvSpPr>
        <p:spPr/>
        <p:txBody>
          <a:bodyPr>
            <a:normAutofit/>
          </a:bodyPr>
          <a:lstStyle/>
          <a:p>
            <a:pPr marL="446088" indent="-446088">
              <a:lnSpc>
                <a:spcPts val="4000"/>
              </a:lnSpc>
              <a:buFontTx/>
              <a:buAutoNum type="arabicPeriod"/>
            </a:pPr>
            <a:r>
              <a:rPr lang="en-US" dirty="0"/>
              <a:t>Query Basics</a:t>
            </a:r>
          </a:p>
          <a:p>
            <a:pPr marL="446088" indent="-446088">
              <a:lnSpc>
                <a:spcPts val="4000"/>
              </a:lnSpc>
              <a:buFontTx/>
              <a:buAutoNum type="arabicPeriod"/>
            </a:pPr>
            <a:r>
              <a:rPr lang="en-US" dirty="0"/>
              <a:t>Retrieving Data</a:t>
            </a:r>
          </a:p>
          <a:p>
            <a:pPr marL="746433" lvl="1" indent="-457200">
              <a:lnSpc>
                <a:spcPts val="4000"/>
              </a:lnSpc>
            </a:pPr>
            <a:r>
              <a:rPr lang="en-US" dirty="0"/>
              <a:t>SELECT</a:t>
            </a:r>
          </a:p>
          <a:p>
            <a:pPr marL="746433" lvl="1" indent="-457200">
              <a:lnSpc>
                <a:spcPts val="4000"/>
              </a:lnSpc>
            </a:pPr>
            <a:r>
              <a:rPr lang="en-US" dirty="0"/>
              <a:t>Views</a:t>
            </a:r>
            <a:endParaRPr lang="bg-BG" dirty="0"/>
          </a:p>
          <a:p>
            <a:pPr marL="446088" indent="-446088">
              <a:lnSpc>
                <a:spcPts val="4000"/>
              </a:lnSpc>
              <a:buFontTx/>
              <a:buAutoNum type="arabicPeriod"/>
            </a:pPr>
            <a:r>
              <a:rPr lang="en-US" dirty="0"/>
              <a:t>Writing Data</a:t>
            </a:r>
          </a:p>
          <a:p>
            <a:pPr marL="746433" lvl="1" indent="-457200">
              <a:lnSpc>
                <a:spcPts val="4000"/>
              </a:lnSpc>
            </a:pPr>
            <a:r>
              <a:rPr lang="en-US" dirty="0"/>
              <a:t>INSERT</a:t>
            </a:r>
            <a:endParaRPr lang="bg-BG" dirty="0"/>
          </a:p>
          <a:p>
            <a:pPr marL="446088" indent="-446088">
              <a:lnSpc>
                <a:spcPts val="4000"/>
              </a:lnSpc>
              <a:buFontTx/>
              <a:buAutoNum type="arabicPeriod"/>
            </a:pPr>
            <a:r>
              <a:rPr lang="en-US" dirty="0"/>
              <a:t>Modifying Existing Records</a:t>
            </a:r>
          </a:p>
          <a:p>
            <a:pPr marL="746433" lvl="1" indent="-457200">
              <a:lnSpc>
                <a:spcPts val="4000"/>
              </a:lnSpc>
            </a:pPr>
            <a:r>
              <a:rPr lang="en-US" dirty="0"/>
              <a:t>UPDATE and DELETE</a:t>
            </a:r>
          </a:p>
        </p:txBody>
      </p:sp>
      <p:sp>
        <p:nvSpPr>
          <p:cNvPr id="444418" name="Rectangle 2"/>
          <p:cNvSpPr>
            <a:spLocks noGrp="1" noChangeArrowheads="1"/>
          </p:cNvSpPr>
          <p:nvPr>
            <p:ph type="title"/>
          </p:nvPr>
        </p:nvSpPr>
        <p:spPr/>
        <p:txBody>
          <a:bodyPr>
            <a:normAutofit/>
          </a:bodyPr>
          <a:lstStyle/>
          <a:p>
            <a:r>
              <a:rPr lang="en-US" dirty="0"/>
              <a:t>Table of Contents</a:t>
            </a:r>
            <a:endParaRPr lang="bg-BG" dirty="0"/>
          </a:p>
        </p:txBody>
      </p:sp>
      <p:sp>
        <p:nvSpPr>
          <p:cNvPr id="5" name="Slide Number">
            <a:extLst>
              <a:ext uri="{FF2B5EF4-FFF2-40B4-BE49-F238E27FC236}">
                <a16:creationId xmlns:a16="http://schemas.microsoft.com/office/drawing/2014/main" id="{AA60A349-23EE-4970-A20C-AC7AD797FDAB}"/>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2</a:t>
            </a:fld>
            <a:endParaRPr lang="en-US" dirty="0"/>
          </a:p>
        </p:txBody>
      </p:sp>
    </p:spTree>
    <p:extLst>
      <p:ext uri="{BB962C8B-B14F-4D97-AF65-F5344CB8AC3E}">
        <p14:creationId xmlns:p14="http://schemas.microsoft.com/office/powerpoint/2010/main" val="157793503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441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441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4441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441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441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441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44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1D322A-1BFF-4CDC-9FA8-0C7EC9EDAC96}"/>
              </a:ext>
            </a:extLst>
          </p:cNvPr>
          <p:cNvSpPr>
            <a:spLocks noGrp="1"/>
          </p:cNvSpPr>
          <p:nvPr>
            <p:ph type="title" sz="quarter" idx="10"/>
          </p:nvPr>
        </p:nvSpPr>
        <p:spPr/>
        <p:txBody>
          <a:bodyPr/>
          <a:lstStyle/>
          <a:p>
            <a:r>
              <a:rPr lang="en-US" dirty="0"/>
              <a:t>Query Basics</a:t>
            </a:r>
          </a:p>
        </p:txBody>
      </p:sp>
      <p:pic>
        <p:nvPicPr>
          <p:cNvPr id="5" name="Picture 4"/>
          <p:cNvPicPr>
            <a:picLocks noChangeAspect="1"/>
          </p:cNvPicPr>
          <p:nvPr/>
        </p:nvPicPr>
        <p:blipFill>
          <a:blip r:embed="rId2" cstate="hqprint">
            <a:extLst>
              <a:ext uri="{BEBA8EAE-BF5A-486C-A8C5-ECC9F3942E4B}">
                <a14:imgProps xmlns:a14="http://schemas.microsoft.com/office/drawing/2010/main">
                  <a14:imgLayer r:embed="rId3">
                    <a14:imgEffect>
                      <a14:saturation sat="0"/>
                    </a14:imgEffect>
                    <a14:imgEffect>
                      <a14:brightnessContrast bright="100000" contrast="70000"/>
                    </a14:imgEffect>
                  </a14:imgLayer>
                </a14:imgProps>
              </a:ext>
              <a:ext uri="{28A0092B-C50C-407E-A947-70E740481C1C}">
                <a14:useLocalDpi xmlns:a14="http://schemas.microsoft.com/office/drawing/2010/main" val="0"/>
              </a:ext>
            </a:extLst>
          </a:blip>
          <a:stretch>
            <a:fillRect/>
          </a:stretch>
        </p:blipFill>
        <p:spPr>
          <a:xfrm>
            <a:off x="4815115" y="1238251"/>
            <a:ext cx="2552700" cy="2552700"/>
          </a:xfrm>
          <a:prstGeom prst="rect">
            <a:avLst/>
          </a:prstGeom>
        </p:spPr>
      </p:pic>
      <p:sp>
        <p:nvSpPr>
          <p:cNvPr id="7" name="Subtitle 6">
            <a:extLst>
              <a:ext uri="{FF2B5EF4-FFF2-40B4-BE49-F238E27FC236}">
                <a16:creationId xmlns:a16="http://schemas.microsoft.com/office/drawing/2014/main" id="{B453BB81-C51F-4B6A-9125-EABBB9886E5F}"/>
              </a:ext>
            </a:extLst>
          </p:cNvPr>
          <p:cNvSpPr>
            <a:spLocks noGrp="1"/>
          </p:cNvSpPr>
          <p:nvPr>
            <p:ph type="subTitle" sz="quarter" idx="11"/>
          </p:nvPr>
        </p:nvSpPr>
        <p:spPr>
          <a:xfrm>
            <a:off x="610573" y="5618699"/>
            <a:ext cx="10961783" cy="768084"/>
          </a:xfrm>
        </p:spPr>
        <p:txBody>
          <a:bodyPr/>
          <a:lstStyle/>
          <a:p>
            <a:r>
              <a:rPr lang="en-US" dirty="0"/>
              <a:t>SQL and T-SQL Introduction</a:t>
            </a:r>
          </a:p>
        </p:txBody>
      </p:sp>
    </p:spTree>
    <p:extLst>
      <p:ext uri="{BB962C8B-B14F-4D97-AF65-F5344CB8AC3E}">
        <p14:creationId xmlns:p14="http://schemas.microsoft.com/office/powerpoint/2010/main" val="219234805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normAutofit/>
          </a:bodyPr>
          <a:lstStyle/>
          <a:p>
            <a:pPr>
              <a:lnSpc>
                <a:spcPct val="110000"/>
              </a:lnSpc>
              <a:buClr>
                <a:schemeClr val="tx1"/>
              </a:buClr>
            </a:pPr>
            <a:r>
              <a:rPr lang="en-US" sz="3400" b="1" dirty="0">
                <a:solidFill>
                  <a:schemeClr val="bg1"/>
                </a:solidFill>
              </a:rPr>
              <a:t>Structured Query Language</a:t>
            </a:r>
          </a:p>
          <a:p>
            <a:pPr lvl="1">
              <a:lnSpc>
                <a:spcPct val="110000"/>
              </a:lnSpc>
            </a:pPr>
            <a:r>
              <a:rPr lang="en-US" sz="3200" dirty="0"/>
              <a:t>Declarative language</a:t>
            </a:r>
          </a:p>
          <a:p>
            <a:pPr lvl="1">
              <a:lnSpc>
                <a:spcPct val="110000"/>
              </a:lnSpc>
            </a:pPr>
            <a:r>
              <a:rPr lang="en-US" sz="3200" dirty="0"/>
              <a:t>Close to regular English</a:t>
            </a:r>
          </a:p>
          <a:p>
            <a:pPr lvl="1">
              <a:lnSpc>
                <a:spcPct val="110000"/>
              </a:lnSpc>
            </a:pPr>
            <a:endParaRPr lang="en-US" sz="3400" dirty="0"/>
          </a:p>
          <a:p>
            <a:pPr lvl="1">
              <a:lnSpc>
                <a:spcPct val="110000"/>
              </a:lnSpc>
            </a:pPr>
            <a:r>
              <a:rPr lang="en-US" sz="3200" dirty="0"/>
              <a:t>Supports definition, manipulation and access control of records</a:t>
            </a:r>
          </a:p>
          <a:p>
            <a:pPr>
              <a:lnSpc>
                <a:spcPct val="110000"/>
              </a:lnSpc>
              <a:buClr>
                <a:schemeClr val="tx1"/>
              </a:buClr>
            </a:pPr>
            <a:r>
              <a:rPr lang="en-US" sz="3400" b="1" dirty="0">
                <a:solidFill>
                  <a:schemeClr val="bg1"/>
                </a:solidFill>
              </a:rPr>
              <a:t>Transact-SQL (T-SQL) </a:t>
            </a:r>
            <a:r>
              <a:rPr lang="en-US" sz="3400" dirty="0"/>
              <a:t>– SQL Server's version of SQL</a:t>
            </a:r>
          </a:p>
          <a:p>
            <a:pPr lvl="1">
              <a:lnSpc>
                <a:spcPct val="110000"/>
              </a:lnSpc>
            </a:pPr>
            <a:r>
              <a:rPr lang="en-US" sz="3200" dirty="0"/>
              <a:t>Supports control flow (</a:t>
            </a:r>
            <a:r>
              <a:rPr lang="en-US" sz="3200" b="1" dirty="0">
                <a:solidFill>
                  <a:schemeClr val="bg1"/>
                </a:solidFill>
                <a:latin typeface="+mj-lt"/>
              </a:rPr>
              <a:t>if</a:t>
            </a:r>
            <a:r>
              <a:rPr lang="en-US" sz="3200" b="1" dirty="0">
                <a:latin typeface="+mj-lt"/>
              </a:rPr>
              <a:t>-</a:t>
            </a:r>
            <a:r>
              <a:rPr lang="en-US" sz="3200" dirty="0"/>
              <a:t>statements, </a:t>
            </a:r>
            <a:r>
              <a:rPr lang="en-US" sz="3200" b="1" dirty="0">
                <a:solidFill>
                  <a:schemeClr val="bg1"/>
                </a:solidFill>
              </a:rPr>
              <a:t>loops</a:t>
            </a:r>
            <a:r>
              <a:rPr lang="en-US" sz="3200" dirty="0"/>
              <a:t>)</a:t>
            </a:r>
          </a:p>
          <a:p>
            <a:pPr lvl="1">
              <a:lnSpc>
                <a:spcPct val="110000"/>
              </a:lnSpc>
            </a:pPr>
            <a:r>
              <a:rPr lang="en-US" sz="3200" dirty="0"/>
              <a:t>Designed for writing </a:t>
            </a:r>
            <a:r>
              <a:rPr lang="en-US" sz="3200" b="1" dirty="0">
                <a:solidFill>
                  <a:schemeClr val="bg1"/>
                </a:solidFill>
              </a:rPr>
              <a:t>logic</a:t>
            </a:r>
            <a:r>
              <a:rPr lang="en-US" sz="3200" dirty="0"/>
              <a:t> inside the database</a:t>
            </a:r>
          </a:p>
        </p:txBody>
      </p:sp>
      <p:sp>
        <p:nvSpPr>
          <p:cNvPr id="483330" name="Rectangle 2"/>
          <p:cNvSpPr>
            <a:spLocks noGrp="1" noChangeArrowheads="1"/>
          </p:cNvSpPr>
          <p:nvPr>
            <p:ph type="title"/>
          </p:nvPr>
        </p:nvSpPr>
        <p:spPr/>
        <p:txBody>
          <a:bodyPr/>
          <a:lstStyle/>
          <a:p>
            <a:r>
              <a:rPr lang="en-US"/>
              <a:t>What Are SQL and T-SQL?</a:t>
            </a:r>
            <a:endParaRPr lang="bg-BG" dirty="0"/>
          </a:p>
        </p:txBody>
      </p:sp>
      <p:sp>
        <p:nvSpPr>
          <p:cNvPr id="5" name="Rectangle 3"/>
          <p:cNvSpPr>
            <a:spLocks noChangeArrowheads="1"/>
          </p:cNvSpPr>
          <p:nvPr/>
        </p:nvSpPr>
        <p:spPr bwMode="auto">
          <a:xfrm>
            <a:off x="1146000" y="3339000"/>
            <a:ext cx="9510512" cy="49244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SELECT</a:t>
            </a:r>
            <a:r>
              <a:rPr lang="en-US" sz="2600" b="1" noProof="1">
                <a:solidFill>
                  <a:srgbClr val="FBEEDC"/>
                </a:solidFill>
                <a:latin typeface="Consolas" pitchFamily="49" charset="0"/>
                <a:cs typeface="Consolas" pitchFamily="49" charset="0"/>
              </a:rPr>
              <a:t> </a:t>
            </a:r>
            <a:r>
              <a:rPr lang="en-US" sz="2600" b="1" noProof="1">
                <a:latin typeface="Consolas" pitchFamily="49" charset="0"/>
                <a:cs typeface="Consolas" pitchFamily="49" charset="0"/>
              </a:rPr>
              <a:t>FirstName, LastName, JobTitle </a:t>
            </a:r>
            <a:r>
              <a:rPr lang="en-US" sz="2600" b="1" noProof="1">
                <a:solidFill>
                  <a:schemeClr val="bg1"/>
                </a:solidFill>
                <a:latin typeface="Consolas" pitchFamily="49" charset="0"/>
                <a:cs typeface="Consolas" pitchFamily="49" charset="0"/>
              </a:rPr>
              <a:t>FROM</a:t>
            </a:r>
            <a:r>
              <a:rPr lang="en-US" sz="2600" b="1" noProof="1">
                <a:latin typeface="Consolas" pitchFamily="49" charset="0"/>
                <a:cs typeface="Consolas" pitchFamily="49" charset="0"/>
              </a:rPr>
              <a:t> Employees</a:t>
            </a:r>
          </a:p>
        </p:txBody>
      </p:sp>
      <p:sp>
        <p:nvSpPr>
          <p:cNvPr id="6" name="Slide Number">
            <a:extLst>
              <a:ext uri="{FF2B5EF4-FFF2-40B4-BE49-F238E27FC236}">
                <a16:creationId xmlns:a16="http://schemas.microsoft.com/office/drawing/2014/main" id="{3613BC5A-643B-4D9A-80F7-E253BEEBB882}"/>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a:t>
            </a:fld>
            <a:endParaRPr lang="en-US" noProof="0" dirty="0"/>
          </a:p>
        </p:txBody>
      </p:sp>
    </p:spTree>
    <p:extLst>
      <p:ext uri="{BB962C8B-B14F-4D97-AF65-F5344CB8AC3E}">
        <p14:creationId xmlns:p14="http://schemas.microsoft.com/office/powerpoint/2010/main" val="31905401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p:txBody>
          <a:bodyPr/>
          <a:lstStyle/>
          <a:p>
            <a:r>
              <a:rPr lang="en-US" dirty="0"/>
              <a:t>SQL – Examples</a:t>
            </a:r>
            <a:endParaRPr lang="bg-BG" dirty="0"/>
          </a:p>
        </p:txBody>
      </p:sp>
      <p:sp>
        <p:nvSpPr>
          <p:cNvPr id="484355" name="Rectangle 3"/>
          <p:cNvSpPr>
            <a:spLocks noChangeArrowheads="1"/>
          </p:cNvSpPr>
          <p:nvPr/>
        </p:nvSpPr>
        <p:spPr bwMode="auto">
          <a:xfrm>
            <a:off x="1236000" y="1354787"/>
            <a:ext cx="9997024" cy="49244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SELECT </a:t>
            </a:r>
            <a:r>
              <a:rPr lang="en-US" sz="2600" b="1" noProof="1">
                <a:latin typeface="Consolas" pitchFamily="49" charset="0"/>
                <a:cs typeface="Consolas" pitchFamily="49" charset="0"/>
              </a:rPr>
              <a:t>FirstName</a:t>
            </a:r>
            <a:r>
              <a:rPr lang="en-US" sz="2600" b="1" noProof="1">
                <a:solidFill>
                  <a:schemeClr val="bg1"/>
                </a:solidFill>
                <a:latin typeface="Consolas" pitchFamily="49" charset="0"/>
                <a:cs typeface="Consolas" pitchFamily="49" charset="0"/>
              </a:rPr>
              <a:t>, </a:t>
            </a:r>
            <a:r>
              <a:rPr lang="en-US" sz="2600" b="1" noProof="1">
                <a:latin typeface="Consolas" pitchFamily="49" charset="0"/>
                <a:cs typeface="Consolas" pitchFamily="49" charset="0"/>
              </a:rPr>
              <a:t>LastName</a:t>
            </a:r>
            <a:r>
              <a:rPr lang="en-US" sz="2600" b="1" noProof="1">
                <a:solidFill>
                  <a:schemeClr val="bg1"/>
                </a:solidFill>
                <a:latin typeface="Consolas" pitchFamily="49" charset="0"/>
                <a:cs typeface="Consolas" pitchFamily="49" charset="0"/>
              </a:rPr>
              <a:t>, </a:t>
            </a:r>
            <a:r>
              <a:rPr lang="en-US" sz="2600" b="1" noProof="1">
                <a:latin typeface="Consolas" pitchFamily="49" charset="0"/>
                <a:cs typeface="Consolas" pitchFamily="49" charset="0"/>
              </a:rPr>
              <a:t>JobTitle</a:t>
            </a:r>
            <a:r>
              <a:rPr lang="en-US" sz="2600" b="1" noProof="1">
                <a:solidFill>
                  <a:schemeClr val="bg1"/>
                </a:solidFill>
                <a:latin typeface="Consolas" pitchFamily="49" charset="0"/>
                <a:cs typeface="Consolas" pitchFamily="49" charset="0"/>
              </a:rPr>
              <a:t> FROM </a:t>
            </a:r>
            <a:r>
              <a:rPr lang="en-US" sz="2600" b="1" noProof="1">
                <a:latin typeface="Consolas" pitchFamily="49" charset="0"/>
                <a:cs typeface="Consolas" pitchFamily="49" charset="0"/>
              </a:rPr>
              <a:t>Employees</a:t>
            </a:r>
          </a:p>
        </p:txBody>
      </p:sp>
      <p:sp>
        <p:nvSpPr>
          <p:cNvPr id="484356" name="Rectangle 4"/>
          <p:cNvSpPr>
            <a:spLocks noChangeArrowheads="1"/>
          </p:cNvSpPr>
          <p:nvPr/>
        </p:nvSpPr>
        <p:spPr bwMode="auto">
          <a:xfrm>
            <a:off x="1236000" y="2844000"/>
            <a:ext cx="9997024" cy="89255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INSERT INTO </a:t>
            </a:r>
            <a:r>
              <a:rPr lang="en-US" sz="2600" b="1" noProof="1">
                <a:latin typeface="Consolas" pitchFamily="49" charset="0"/>
                <a:cs typeface="Consolas" pitchFamily="49" charset="0"/>
              </a:rPr>
              <a:t>Projects(Name, StartDate)</a:t>
            </a:r>
          </a:p>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     VALUES (</a:t>
            </a:r>
            <a:r>
              <a:rPr lang="en-US" sz="2600" b="1" noProof="1">
                <a:latin typeface="Consolas" pitchFamily="49" charset="0"/>
                <a:cs typeface="Consolas" pitchFamily="49" charset="0"/>
              </a:rPr>
              <a:t>'Introduction to SQL Course', '1/1/2006'</a:t>
            </a:r>
            <a:r>
              <a:rPr lang="en-US" sz="2600" b="1" noProof="1">
                <a:solidFill>
                  <a:schemeClr val="bg1"/>
                </a:solidFill>
                <a:latin typeface="Consolas" pitchFamily="49" charset="0"/>
                <a:cs typeface="Consolas" pitchFamily="49" charset="0"/>
              </a:rPr>
              <a:t>)</a:t>
            </a:r>
          </a:p>
        </p:txBody>
      </p:sp>
      <p:sp>
        <p:nvSpPr>
          <p:cNvPr id="484357" name="Rectangle 5"/>
          <p:cNvSpPr>
            <a:spLocks noChangeArrowheads="1"/>
          </p:cNvSpPr>
          <p:nvPr/>
        </p:nvSpPr>
        <p:spPr bwMode="auto">
          <a:xfrm>
            <a:off x="1234414" y="2104087"/>
            <a:ext cx="9997022" cy="49244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SELECT </a:t>
            </a:r>
            <a:r>
              <a:rPr lang="en-US" sz="2600" b="1" noProof="1">
                <a:latin typeface="Consolas" pitchFamily="49" charset="0"/>
                <a:cs typeface="Consolas" pitchFamily="49" charset="0"/>
              </a:rPr>
              <a:t>*</a:t>
            </a:r>
            <a:r>
              <a:rPr lang="en-US" sz="2600" b="1" noProof="1">
                <a:solidFill>
                  <a:schemeClr val="bg1"/>
                </a:solidFill>
                <a:latin typeface="Consolas" pitchFamily="49" charset="0"/>
                <a:cs typeface="Consolas" pitchFamily="49" charset="0"/>
              </a:rPr>
              <a:t> FROM </a:t>
            </a:r>
            <a:r>
              <a:rPr lang="en-US" sz="2600" b="1" noProof="1">
                <a:latin typeface="Consolas" pitchFamily="49" charset="0"/>
                <a:cs typeface="Consolas" pitchFamily="49" charset="0"/>
              </a:rPr>
              <a:t>Projects</a:t>
            </a:r>
            <a:r>
              <a:rPr lang="en-US" sz="2600" b="1" noProof="1">
                <a:solidFill>
                  <a:schemeClr val="bg1"/>
                </a:solidFill>
                <a:latin typeface="Consolas" pitchFamily="49" charset="0"/>
                <a:cs typeface="Consolas" pitchFamily="49" charset="0"/>
              </a:rPr>
              <a:t> WHERE </a:t>
            </a:r>
            <a:r>
              <a:rPr lang="en-US" sz="2600" b="1" noProof="1">
                <a:latin typeface="Consolas" pitchFamily="49" charset="0"/>
                <a:cs typeface="Consolas" pitchFamily="49" charset="0"/>
              </a:rPr>
              <a:t>StartDate</a:t>
            </a:r>
            <a:r>
              <a:rPr lang="en-US" sz="2600" b="1" noProof="1">
                <a:solidFill>
                  <a:schemeClr val="bg1"/>
                </a:solidFill>
                <a:latin typeface="Consolas" pitchFamily="49" charset="0"/>
                <a:cs typeface="Consolas" pitchFamily="49" charset="0"/>
              </a:rPr>
              <a:t> </a:t>
            </a:r>
            <a:r>
              <a:rPr lang="en-US" sz="2600" b="1" noProof="1">
                <a:latin typeface="Consolas" pitchFamily="49" charset="0"/>
                <a:cs typeface="Consolas" pitchFamily="49" charset="0"/>
              </a:rPr>
              <a:t>=</a:t>
            </a:r>
            <a:r>
              <a:rPr lang="en-US" sz="2600" b="1" noProof="1">
                <a:solidFill>
                  <a:schemeClr val="bg1"/>
                </a:solidFill>
                <a:latin typeface="Consolas" pitchFamily="49" charset="0"/>
                <a:cs typeface="Consolas" pitchFamily="49" charset="0"/>
              </a:rPr>
              <a:t> </a:t>
            </a:r>
            <a:r>
              <a:rPr lang="en-US" sz="2600" b="1" noProof="1">
                <a:latin typeface="Consolas" pitchFamily="49" charset="0"/>
                <a:cs typeface="Consolas" pitchFamily="49" charset="0"/>
              </a:rPr>
              <a:t>'1/1/2006'</a:t>
            </a:r>
          </a:p>
        </p:txBody>
      </p:sp>
      <p:sp>
        <p:nvSpPr>
          <p:cNvPr id="484358" name="Rectangle 6"/>
          <p:cNvSpPr>
            <a:spLocks noChangeArrowheads="1"/>
          </p:cNvSpPr>
          <p:nvPr/>
        </p:nvSpPr>
        <p:spPr bwMode="auto">
          <a:xfrm>
            <a:off x="1234414" y="4001053"/>
            <a:ext cx="9997022" cy="129266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UPDATE </a:t>
            </a:r>
            <a:r>
              <a:rPr lang="en-US" sz="2600" b="1" noProof="1">
                <a:latin typeface="Consolas" pitchFamily="49" charset="0"/>
                <a:cs typeface="Consolas" pitchFamily="49" charset="0"/>
              </a:rPr>
              <a:t>Projects</a:t>
            </a:r>
          </a:p>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   SET </a:t>
            </a:r>
            <a:r>
              <a:rPr lang="en-US" sz="2600" b="1" noProof="1">
                <a:latin typeface="Consolas" pitchFamily="49" charset="0"/>
                <a:cs typeface="Consolas" pitchFamily="49" charset="0"/>
              </a:rPr>
              <a:t>EndDate = '8/31/2006'</a:t>
            </a:r>
          </a:p>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 WHERE </a:t>
            </a:r>
            <a:r>
              <a:rPr lang="en-US" sz="2600" b="1" noProof="1">
                <a:latin typeface="Consolas" pitchFamily="49" charset="0"/>
                <a:cs typeface="Consolas" pitchFamily="49" charset="0"/>
              </a:rPr>
              <a:t>StartDate = '1/1/2006'</a:t>
            </a:r>
          </a:p>
        </p:txBody>
      </p:sp>
      <p:sp>
        <p:nvSpPr>
          <p:cNvPr id="484359" name="Rectangle 7"/>
          <p:cNvSpPr>
            <a:spLocks noChangeArrowheads="1"/>
          </p:cNvSpPr>
          <p:nvPr/>
        </p:nvSpPr>
        <p:spPr bwMode="auto">
          <a:xfrm>
            <a:off x="1234414" y="5533086"/>
            <a:ext cx="9997022" cy="89255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DELETE FROM </a:t>
            </a:r>
            <a:r>
              <a:rPr lang="en-US" sz="2600" b="1" noProof="1">
                <a:latin typeface="Consolas" pitchFamily="49" charset="0"/>
                <a:cs typeface="Consolas" pitchFamily="49" charset="0"/>
              </a:rPr>
              <a:t>Projects</a:t>
            </a:r>
          </a:p>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      WHERE </a:t>
            </a:r>
            <a:r>
              <a:rPr lang="en-US" sz="2600" b="1" noProof="1">
                <a:latin typeface="Consolas" pitchFamily="49" charset="0"/>
                <a:cs typeface="Consolas" pitchFamily="49" charset="0"/>
              </a:rPr>
              <a:t>StartDate</a:t>
            </a:r>
            <a:r>
              <a:rPr lang="en-US" sz="2600" b="1" noProof="1">
                <a:solidFill>
                  <a:schemeClr val="bg1"/>
                </a:solidFill>
                <a:latin typeface="Consolas" pitchFamily="49" charset="0"/>
                <a:cs typeface="Consolas" pitchFamily="49" charset="0"/>
              </a:rPr>
              <a:t> </a:t>
            </a:r>
            <a:r>
              <a:rPr lang="en-US" sz="2600" b="1" noProof="1">
                <a:latin typeface="Consolas" pitchFamily="49" charset="0"/>
                <a:cs typeface="Consolas" pitchFamily="49" charset="0"/>
              </a:rPr>
              <a:t>= '1/1/2006'</a:t>
            </a:r>
          </a:p>
        </p:txBody>
      </p:sp>
      <p:sp>
        <p:nvSpPr>
          <p:cNvPr id="9" name="Slide Number">
            <a:extLst>
              <a:ext uri="{FF2B5EF4-FFF2-40B4-BE49-F238E27FC236}">
                <a16:creationId xmlns:a16="http://schemas.microsoft.com/office/drawing/2014/main" id="{86889366-3393-4DAD-83F5-57612E696EB7}"/>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5</a:t>
            </a:fld>
            <a:endParaRPr lang="en-US" noProof="0" dirty="0"/>
          </a:p>
        </p:txBody>
      </p:sp>
    </p:spTree>
    <p:extLst>
      <p:ext uri="{BB962C8B-B14F-4D97-AF65-F5344CB8AC3E}">
        <p14:creationId xmlns:p14="http://schemas.microsoft.com/office/powerpoint/2010/main" val="34285233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43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43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43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43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6" grpId="0" animBg="1"/>
      <p:bldP spid="484357" grpId="0" animBg="1"/>
      <p:bldP spid="484358" grpId="0" animBg="1"/>
      <p:bldP spid="48435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60AE08D8-C5E4-47F3-AD6D-C3DBA91BDDE1}"/>
              </a:ext>
            </a:extLst>
          </p:cNvPr>
          <p:cNvSpPr>
            <a:spLocks noGrp="1"/>
          </p:cNvSpPr>
          <p:nvPr>
            <p:ph type="subTitle" sz="quarter" idx="11"/>
          </p:nvPr>
        </p:nvSpPr>
        <p:spPr/>
        <p:txBody>
          <a:bodyPr/>
          <a:lstStyle/>
          <a:p>
            <a:r>
              <a:rPr lang="en-US"/>
              <a:t>Using SQL SELECT</a:t>
            </a:r>
            <a:endParaRPr lang="en-US" dirty="0"/>
          </a:p>
        </p:txBody>
      </p:sp>
      <p:sp>
        <p:nvSpPr>
          <p:cNvPr id="5" name="Title 4">
            <a:extLst>
              <a:ext uri="{FF2B5EF4-FFF2-40B4-BE49-F238E27FC236}">
                <a16:creationId xmlns:a16="http://schemas.microsoft.com/office/drawing/2014/main" id="{4827C04F-68D0-46E2-B674-24AF524B8B2F}"/>
              </a:ext>
            </a:extLst>
          </p:cNvPr>
          <p:cNvSpPr>
            <a:spLocks noGrp="1"/>
          </p:cNvSpPr>
          <p:nvPr>
            <p:ph type="title" sz="quarter" idx="10"/>
          </p:nvPr>
        </p:nvSpPr>
        <p:spPr/>
        <p:txBody>
          <a:bodyPr/>
          <a:lstStyle/>
          <a:p>
            <a:r>
              <a:rPr lang="en-US" dirty="0"/>
              <a:t>Retrieving Data</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9900" y="1328511"/>
            <a:ext cx="3632199" cy="2677432"/>
          </a:xfrm>
          <a:prstGeom prst="rect">
            <a:avLst/>
          </a:prstGeom>
        </p:spPr>
      </p:pic>
    </p:spTree>
    <p:extLst>
      <p:ext uri="{BB962C8B-B14F-4D97-AF65-F5344CB8AC3E}">
        <p14:creationId xmlns:p14="http://schemas.microsoft.com/office/powerpoint/2010/main" val="392911142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p:txBody>
          <a:bodyPr/>
          <a:lstStyle/>
          <a:p>
            <a:r>
              <a:rPr lang="en-US" dirty="0"/>
              <a:t>Capabilities of SQL SELECT </a:t>
            </a:r>
          </a:p>
        </p:txBody>
      </p:sp>
      <p:grpSp>
        <p:nvGrpSpPr>
          <p:cNvPr id="10" name="Group 9"/>
          <p:cNvGrpSpPr/>
          <p:nvPr/>
        </p:nvGrpSpPr>
        <p:grpSpPr>
          <a:xfrm>
            <a:off x="1128712" y="1287305"/>
            <a:ext cx="9963264" cy="2927322"/>
            <a:chOff x="1128712" y="1140306"/>
            <a:chExt cx="9963264" cy="2927322"/>
          </a:xfrm>
        </p:grpSpPr>
        <p:grpSp>
          <p:nvGrpSpPr>
            <p:cNvPr id="11" name="Group 10"/>
            <p:cNvGrpSpPr/>
            <p:nvPr/>
          </p:nvGrpSpPr>
          <p:grpSpPr>
            <a:xfrm>
              <a:off x="6192837" y="1145296"/>
              <a:ext cx="4899139" cy="2922332"/>
              <a:chOff x="6191248" y="1116268"/>
              <a:chExt cx="4899139" cy="2922332"/>
            </a:xfrm>
          </p:grpSpPr>
          <p:sp>
            <p:nvSpPr>
              <p:cNvPr id="76" name="Rounded Rectangle 75"/>
              <p:cNvSpPr/>
              <p:nvPr/>
            </p:nvSpPr>
            <p:spPr>
              <a:xfrm>
                <a:off x="6191248" y="1116268"/>
                <a:ext cx="4899139" cy="2922332"/>
              </a:xfrm>
              <a:prstGeom prst="roundRect">
                <a:avLst>
                  <a:gd name="adj" fmla="val 3505"/>
                </a:avLst>
              </a:prstGeom>
              <a:solidFill>
                <a:srgbClr val="D9D5C7">
                  <a:alpha val="20000"/>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7" name="Group 6"/>
              <p:cNvGrpSpPr/>
              <p:nvPr/>
            </p:nvGrpSpPr>
            <p:grpSpPr>
              <a:xfrm>
                <a:off x="7542212" y="2349500"/>
                <a:ext cx="1866900" cy="1377951"/>
                <a:chOff x="7542212" y="2349500"/>
                <a:chExt cx="1866900" cy="1377951"/>
              </a:xfrm>
            </p:grpSpPr>
            <p:sp>
              <p:nvSpPr>
                <p:cNvPr id="492549" name="Rectangle 5"/>
                <p:cNvSpPr>
                  <a:spLocks noChangeArrowheads="1"/>
                </p:cNvSpPr>
                <p:nvPr/>
              </p:nvSpPr>
              <p:spPr bwMode="blackWhite">
                <a:xfrm>
                  <a:off x="7554912" y="2363787"/>
                  <a:ext cx="1841500" cy="13462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bg-BG" dirty="0"/>
                </a:p>
              </p:txBody>
            </p:sp>
            <p:grpSp>
              <p:nvGrpSpPr>
                <p:cNvPr id="3" name="Group 9"/>
                <p:cNvGrpSpPr>
                  <a:grpSpLocks/>
                </p:cNvGrpSpPr>
                <p:nvPr/>
              </p:nvGrpSpPr>
              <p:grpSpPr bwMode="auto">
                <a:xfrm>
                  <a:off x="7564438" y="2527300"/>
                  <a:ext cx="1825625" cy="1066800"/>
                  <a:chOff x="3422" y="1549"/>
                  <a:chExt cx="1150" cy="672"/>
                </a:xfrm>
              </p:grpSpPr>
              <p:sp>
                <p:nvSpPr>
                  <p:cNvPr id="492554" name="Rectangle 10"/>
                  <p:cNvSpPr>
                    <a:spLocks noChangeArrowheads="1"/>
                  </p:cNvSpPr>
                  <p:nvPr/>
                </p:nvSpPr>
                <p:spPr bwMode="ltGray">
                  <a:xfrm>
                    <a:off x="3422" y="1741"/>
                    <a:ext cx="1150" cy="91"/>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sp>
                <p:nvSpPr>
                  <p:cNvPr id="492555" name="Rectangle 11"/>
                  <p:cNvSpPr>
                    <a:spLocks noChangeArrowheads="1"/>
                  </p:cNvSpPr>
                  <p:nvPr/>
                </p:nvSpPr>
                <p:spPr bwMode="ltGray">
                  <a:xfrm>
                    <a:off x="3422" y="2026"/>
                    <a:ext cx="1150" cy="195"/>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sp>
                <p:nvSpPr>
                  <p:cNvPr id="492556" name="Rectangle 12"/>
                  <p:cNvSpPr>
                    <a:spLocks noChangeArrowheads="1"/>
                  </p:cNvSpPr>
                  <p:nvPr/>
                </p:nvSpPr>
                <p:spPr bwMode="ltGray">
                  <a:xfrm>
                    <a:off x="3422" y="1549"/>
                    <a:ext cx="1150" cy="85"/>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grpSp>
            <p:sp>
              <p:nvSpPr>
                <p:cNvPr id="492557" name="Line 13"/>
                <p:cNvSpPr>
                  <a:spLocks noChangeShapeType="1"/>
                </p:cNvSpPr>
                <p:nvPr/>
              </p:nvSpPr>
              <p:spPr bwMode="auto">
                <a:xfrm>
                  <a:off x="8523287" y="2351088"/>
                  <a:ext cx="0" cy="1376363"/>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58" name="Line 14"/>
                <p:cNvSpPr>
                  <a:spLocks noChangeShapeType="1"/>
                </p:cNvSpPr>
                <p:nvPr/>
              </p:nvSpPr>
              <p:spPr bwMode="auto">
                <a:xfrm>
                  <a:off x="7827962" y="2351088"/>
                  <a:ext cx="0" cy="1376363"/>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59" name="Line 15"/>
                <p:cNvSpPr>
                  <a:spLocks noChangeShapeType="1"/>
                </p:cNvSpPr>
                <p:nvPr/>
              </p:nvSpPr>
              <p:spPr bwMode="auto">
                <a:xfrm>
                  <a:off x="7542212" y="25225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0" name="Line 16"/>
                <p:cNvSpPr>
                  <a:spLocks noChangeShapeType="1"/>
                </p:cNvSpPr>
                <p:nvPr/>
              </p:nvSpPr>
              <p:spPr bwMode="auto">
                <a:xfrm>
                  <a:off x="7542212" y="26749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1" name="Line 17"/>
                <p:cNvSpPr>
                  <a:spLocks noChangeShapeType="1"/>
                </p:cNvSpPr>
                <p:nvPr/>
              </p:nvSpPr>
              <p:spPr bwMode="auto">
                <a:xfrm>
                  <a:off x="7542212" y="28273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2" name="Line 18"/>
                <p:cNvSpPr>
                  <a:spLocks noChangeShapeType="1"/>
                </p:cNvSpPr>
                <p:nvPr/>
              </p:nvSpPr>
              <p:spPr bwMode="auto">
                <a:xfrm>
                  <a:off x="7542212" y="29797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3" name="Line 19"/>
                <p:cNvSpPr>
                  <a:spLocks noChangeShapeType="1"/>
                </p:cNvSpPr>
                <p:nvPr/>
              </p:nvSpPr>
              <p:spPr bwMode="auto">
                <a:xfrm>
                  <a:off x="7542212" y="31321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4" name="Line 20"/>
                <p:cNvSpPr>
                  <a:spLocks noChangeShapeType="1"/>
                </p:cNvSpPr>
                <p:nvPr/>
              </p:nvSpPr>
              <p:spPr bwMode="auto">
                <a:xfrm>
                  <a:off x="7542212" y="32845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5" name="Line 21"/>
                <p:cNvSpPr>
                  <a:spLocks noChangeShapeType="1"/>
                </p:cNvSpPr>
                <p:nvPr/>
              </p:nvSpPr>
              <p:spPr bwMode="auto">
                <a:xfrm>
                  <a:off x="7542212" y="34369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6" name="Line 22"/>
                <p:cNvSpPr>
                  <a:spLocks noChangeShapeType="1"/>
                </p:cNvSpPr>
                <p:nvPr/>
              </p:nvSpPr>
              <p:spPr bwMode="auto">
                <a:xfrm>
                  <a:off x="7542212" y="3589337"/>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7" name="Line 23"/>
                <p:cNvSpPr>
                  <a:spLocks noChangeShapeType="1"/>
                </p:cNvSpPr>
                <p:nvPr/>
              </p:nvSpPr>
              <p:spPr bwMode="auto">
                <a:xfrm>
                  <a:off x="8794750" y="2351088"/>
                  <a:ext cx="0" cy="1376363"/>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68" name="Line 24"/>
                <p:cNvSpPr>
                  <a:spLocks noChangeShapeType="1"/>
                </p:cNvSpPr>
                <p:nvPr/>
              </p:nvSpPr>
              <p:spPr bwMode="auto">
                <a:xfrm>
                  <a:off x="9120187" y="2349500"/>
                  <a:ext cx="0" cy="1376362"/>
                </a:xfrm>
                <a:prstGeom prst="line">
                  <a:avLst/>
                </a:prstGeom>
                <a:noFill/>
                <a:ln w="25400">
                  <a:solidFill>
                    <a:srgbClr val="000000"/>
                  </a:solidFill>
                  <a:round/>
                  <a:headEnd type="none" w="sm" len="sm"/>
                  <a:tailEnd type="none" w="sm" len="sm"/>
                </a:ln>
                <a:effectLst/>
              </p:spPr>
              <p:txBody>
                <a:bodyPr/>
                <a:lstStyle/>
                <a:p>
                  <a:endParaRPr lang="bg-BG" dirty="0"/>
                </a:p>
              </p:txBody>
            </p:sp>
          </p:grpSp>
          <p:sp>
            <p:nvSpPr>
              <p:cNvPr id="492614" name="Text Box 70"/>
              <p:cNvSpPr txBox="1">
                <a:spLocks noChangeArrowheads="1"/>
              </p:cNvSpPr>
              <p:nvPr/>
            </p:nvSpPr>
            <p:spPr bwMode="auto">
              <a:xfrm>
                <a:off x="6371636" y="1143000"/>
                <a:ext cx="3944862" cy="1015663"/>
              </a:xfrm>
              <a:prstGeom prst="rect">
                <a:avLst/>
              </a:prstGeom>
              <a:noFill/>
              <a:ln w="9525">
                <a:noFill/>
                <a:miter lim="800000"/>
                <a:headEnd/>
                <a:tailEnd/>
              </a:ln>
              <a:effectLst/>
            </p:spPr>
            <p:txBody>
              <a:bodyPr wrap="none">
                <a:spAutoFit/>
              </a:bodyPr>
              <a:lstStyle/>
              <a:p>
                <a:pPr>
                  <a:lnSpc>
                    <a:spcPct val="100000"/>
                  </a:lnSpc>
                </a:pPr>
                <a:r>
                  <a:rPr lang="en-US" sz="3200" b="1" dirty="0"/>
                  <a:t>Selection</a:t>
                </a:r>
              </a:p>
              <a:p>
                <a:pPr>
                  <a:lnSpc>
                    <a:spcPct val="100000"/>
                  </a:lnSpc>
                </a:pPr>
                <a:r>
                  <a:rPr lang="en-US" sz="2800" b="1" dirty="0"/>
                  <a:t>Take a subset of the rows</a:t>
                </a:r>
              </a:p>
            </p:txBody>
          </p:sp>
        </p:grpSp>
        <p:sp>
          <p:nvSpPr>
            <p:cNvPr id="5" name="Rounded Rectangle 4"/>
            <p:cNvSpPr/>
            <p:nvPr/>
          </p:nvSpPr>
          <p:spPr>
            <a:xfrm>
              <a:off x="1128712" y="1140306"/>
              <a:ext cx="4738688" cy="2912808"/>
            </a:xfrm>
            <a:prstGeom prst="roundRect">
              <a:avLst>
                <a:gd name="adj" fmla="val 3505"/>
              </a:avLst>
            </a:prstGeom>
            <a:solidFill>
              <a:srgbClr val="D9D5C7">
                <a:alpha val="20000"/>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492547" name="Rectangle 3"/>
            <p:cNvSpPr>
              <a:spLocks noChangeArrowheads="1"/>
            </p:cNvSpPr>
            <p:nvPr/>
          </p:nvSpPr>
          <p:spPr bwMode="blackWhite">
            <a:xfrm>
              <a:off x="2452687" y="2370138"/>
              <a:ext cx="1841500" cy="13462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bg-BG" dirty="0"/>
            </a:p>
          </p:txBody>
        </p:sp>
        <p:grpSp>
          <p:nvGrpSpPr>
            <p:cNvPr id="2" name="Group 6"/>
            <p:cNvGrpSpPr>
              <a:grpSpLocks/>
            </p:cNvGrpSpPr>
            <p:nvPr/>
          </p:nvGrpSpPr>
          <p:grpSpPr bwMode="auto">
            <a:xfrm>
              <a:off x="2735264" y="2381250"/>
              <a:ext cx="1274763" cy="1327150"/>
              <a:chOff x="1244" y="1460"/>
              <a:chExt cx="803" cy="836"/>
            </a:xfrm>
          </p:grpSpPr>
          <p:sp>
            <p:nvSpPr>
              <p:cNvPr id="492551" name="Rectangle 7"/>
              <p:cNvSpPr>
                <a:spLocks noChangeArrowheads="1"/>
              </p:cNvSpPr>
              <p:nvPr/>
            </p:nvSpPr>
            <p:spPr bwMode="ltGray">
              <a:xfrm>
                <a:off x="1244" y="1460"/>
                <a:ext cx="425" cy="836"/>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sp>
            <p:nvSpPr>
              <p:cNvPr id="492552" name="Rectangle 8"/>
              <p:cNvSpPr>
                <a:spLocks noChangeArrowheads="1"/>
              </p:cNvSpPr>
              <p:nvPr/>
            </p:nvSpPr>
            <p:spPr bwMode="ltGray">
              <a:xfrm>
                <a:off x="1852" y="1460"/>
                <a:ext cx="195" cy="836"/>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grpSp>
        <p:sp>
          <p:nvSpPr>
            <p:cNvPr id="492597" name="Line 53"/>
            <p:cNvSpPr>
              <a:spLocks noChangeShapeType="1"/>
            </p:cNvSpPr>
            <p:nvPr/>
          </p:nvSpPr>
          <p:spPr bwMode="auto">
            <a:xfrm>
              <a:off x="3421062" y="2357438"/>
              <a:ext cx="0" cy="1376362"/>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98" name="Line 54"/>
            <p:cNvSpPr>
              <a:spLocks noChangeShapeType="1"/>
            </p:cNvSpPr>
            <p:nvPr/>
          </p:nvSpPr>
          <p:spPr bwMode="auto">
            <a:xfrm>
              <a:off x="2725737" y="2357438"/>
              <a:ext cx="0" cy="1376362"/>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599" name="Line 55"/>
            <p:cNvSpPr>
              <a:spLocks noChangeShapeType="1"/>
            </p:cNvSpPr>
            <p:nvPr/>
          </p:nvSpPr>
          <p:spPr bwMode="auto">
            <a:xfrm>
              <a:off x="2439987" y="25288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0" name="Line 56"/>
            <p:cNvSpPr>
              <a:spLocks noChangeShapeType="1"/>
            </p:cNvSpPr>
            <p:nvPr/>
          </p:nvSpPr>
          <p:spPr bwMode="auto">
            <a:xfrm>
              <a:off x="2439987" y="26812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1" name="Line 57"/>
            <p:cNvSpPr>
              <a:spLocks noChangeShapeType="1"/>
            </p:cNvSpPr>
            <p:nvPr/>
          </p:nvSpPr>
          <p:spPr bwMode="auto">
            <a:xfrm>
              <a:off x="2439987" y="28336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2" name="Line 58"/>
            <p:cNvSpPr>
              <a:spLocks noChangeShapeType="1"/>
            </p:cNvSpPr>
            <p:nvPr/>
          </p:nvSpPr>
          <p:spPr bwMode="auto">
            <a:xfrm>
              <a:off x="2462212" y="29860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3" name="Line 59"/>
            <p:cNvSpPr>
              <a:spLocks noChangeShapeType="1"/>
            </p:cNvSpPr>
            <p:nvPr/>
          </p:nvSpPr>
          <p:spPr bwMode="auto">
            <a:xfrm>
              <a:off x="2439987" y="31384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4" name="Line 60"/>
            <p:cNvSpPr>
              <a:spLocks noChangeShapeType="1"/>
            </p:cNvSpPr>
            <p:nvPr/>
          </p:nvSpPr>
          <p:spPr bwMode="auto">
            <a:xfrm>
              <a:off x="2439987" y="32908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5" name="Line 61"/>
            <p:cNvSpPr>
              <a:spLocks noChangeShapeType="1"/>
            </p:cNvSpPr>
            <p:nvPr/>
          </p:nvSpPr>
          <p:spPr bwMode="auto">
            <a:xfrm>
              <a:off x="2439987" y="34432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6" name="Line 62"/>
            <p:cNvSpPr>
              <a:spLocks noChangeShapeType="1"/>
            </p:cNvSpPr>
            <p:nvPr/>
          </p:nvSpPr>
          <p:spPr bwMode="auto">
            <a:xfrm>
              <a:off x="2439987" y="3595688"/>
              <a:ext cx="1866900" cy="0"/>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7" name="Line 63"/>
            <p:cNvSpPr>
              <a:spLocks noChangeShapeType="1"/>
            </p:cNvSpPr>
            <p:nvPr/>
          </p:nvSpPr>
          <p:spPr bwMode="auto">
            <a:xfrm>
              <a:off x="3692525" y="2357438"/>
              <a:ext cx="0" cy="1376362"/>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08" name="Line 64"/>
            <p:cNvSpPr>
              <a:spLocks noChangeShapeType="1"/>
            </p:cNvSpPr>
            <p:nvPr/>
          </p:nvSpPr>
          <p:spPr bwMode="auto">
            <a:xfrm>
              <a:off x="4017962" y="2355852"/>
              <a:ext cx="0" cy="1376363"/>
            </a:xfrm>
            <a:prstGeom prst="line">
              <a:avLst/>
            </a:prstGeom>
            <a:noFill/>
            <a:ln w="25400">
              <a:solidFill>
                <a:srgbClr val="000000"/>
              </a:solidFill>
              <a:round/>
              <a:headEnd type="none" w="sm" len="sm"/>
              <a:tailEnd type="none" w="sm" len="sm"/>
            </a:ln>
            <a:effectLst/>
          </p:spPr>
          <p:txBody>
            <a:bodyPr/>
            <a:lstStyle/>
            <a:p>
              <a:endParaRPr lang="bg-BG" dirty="0"/>
            </a:p>
          </p:txBody>
        </p:sp>
        <p:sp>
          <p:nvSpPr>
            <p:cNvPr id="492615" name="Text Box 71"/>
            <p:cNvSpPr txBox="1">
              <a:spLocks noChangeArrowheads="1"/>
            </p:cNvSpPr>
            <p:nvPr/>
          </p:nvSpPr>
          <p:spPr bwMode="auto">
            <a:xfrm>
              <a:off x="1281112" y="1219201"/>
              <a:ext cx="4469878" cy="1015663"/>
            </a:xfrm>
            <a:prstGeom prst="rect">
              <a:avLst/>
            </a:prstGeom>
            <a:noFill/>
            <a:ln w="9525">
              <a:noFill/>
              <a:miter lim="800000"/>
              <a:headEnd/>
              <a:tailEnd/>
            </a:ln>
            <a:effectLst/>
          </p:spPr>
          <p:txBody>
            <a:bodyPr wrap="none">
              <a:spAutoFit/>
            </a:bodyPr>
            <a:lstStyle/>
            <a:p>
              <a:pPr>
                <a:lnSpc>
                  <a:spcPct val="100000"/>
                </a:lnSpc>
              </a:pPr>
              <a:r>
                <a:rPr lang="en-US" sz="3200" b="1" dirty="0"/>
                <a:t>Projection</a:t>
              </a:r>
              <a:endParaRPr lang="en-US" sz="2800" b="1" dirty="0"/>
            </a:p>
            <a:p>
              <a:pPr>
                <a:lnSpc>
                  <a:spcPct val="100000"/>
                </a:lnSpc>
              </a:pPr>
              <a:r>
                <a:rPr lang="en-US" sz="2800" b="1" dirty="0"/>
                <a:t>Take a subset of the columns</a:t>
              </a:r>
            </a:p>
          </p:txBody>
        </p:sp>
      </p:grpSp>
      <p:grpSp>
        <p:nvGrpSpPr>
          <p:cNvPr id="12" name="Group 11"/>
          <p:cNvGrpSpPr/>
          <p:nvPr/>
        </p:nvGrpSpPr>
        <p:grpSpPr>
          <a:xfrm>
            <a:off x="1128713" y="4482209"/>
            <a:ext cx="9963263" cy="2141791"/>
            <a:chOff x="1127124" y="4335209"/>
            <a:chExt cx="9963263" cy="2141791"/>
          </a:xfrm>
        </p:grpSpPr>
        <p:sp>
          <p:nvSpPr>
            <p:cNvPr id="77" name="Rounded Rectangle 76"/>
            <p:cNvSpPr/>
            <p:nvPr/>
          </p:nvSpPr>
          <p:spPr>
            <a:xfrm>
              <a:off x="1127124" y="4335209"/>
              <a:ext cx="9963263" cy="2141791"/>
            </a:xfrm>
            <a:prstGeom prst="roundRect">
              <a:avLst>
                <a:gd name="adj" fmla="val 3505"/>
              </a:avLst>
            </a:prstGeom>
            <a:solidFill>
              <a:srgbClr val="D9D5C7">
                <a:alpha val="20000"/>
              </a:srgb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8" name="Group 7"/>
            <p:cNvGrpSpPr/>
            <p:nvPr/>
          </p:nvGrpSpPr>
          <p:grpSpPr>
            <a:xfrm>
              <a:off x="5103812" y="4565808"/>
              <a:ext cx="1866900" cy="1377951"/>
              <a:chOff x="5103812" y="4565808"/>
              <a:chExt cx="1866900" cy="1377951"/>
            </a:xfrm>
          </p:grpSpPr>
          <p:sp>
            <p:nvSpPr>
              <p:cNvPr id="492548" name="Rectangle 4"/>
              <p:cNvSpPr>
                <a:spLocks noChangeArrowheads="1"/>
              </p:cNvSpPr>
              <p:nvPr/>
            </p:nvSpPr>
            <p:spPr bwMode="blackWhite">
              <a:xfrm>
                <a:off x="5116512" y="4580095"/>
                <a:ext cx="1841500" cy="1346200"/>
              </a:xfrm>
              <a:prstGeom prst="rect">
                <a:avLst/>
              </a:prstGeom>
              <a:solidFill>
                <a:srgbClr val="FFFFCC"/>
              </a:solidFill>
              <a:ln w="25400">
                <a:solidFill>
                  <a:schemeClr val="tx1"/>
                </a:solidFill>
                <a:miter lim="800000"/>
                <a:headEnd/>
                <a:tailEnd/>
              </a:ln>
              <a:effectLst>
                <a:outerShdw dist="89803" dir="2700000" algn="ctr" rotWithShape="0">
                  <a:srgbClr val="000000"/>
                </a:outerShdw>
              </a:effectLst>
            </p:spPr>
            <p:txBody>
              <a:bodyPr wrap="none" anchor="ctr"/>
              <a:lstStyle/>
              <a:p>
                <a:endParaRPr lang="bg-BG" dirty="0"/>
              </a:p>
            </p:txBody>
          </p:sp>
          <p:sp>
            <p:nvSpPr>
              <p:cNvPr id="492570" name="Rectangle 26"/>
              <p:cNvSpPr>
                <a:spLocks noChangeArrowheads="1"/>
              </p:cNvSpPr>
              <p:nvPr/>
            </p:nvSpPr>
            <p:spPr bwMode="ltGray">
              <a:xfrm>
                <a:off x="6684962" y="4588033"/>
                <a:ext cx="261938" cy="1325562"/>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sp>
            <p:nvSpPr>
              <p:cNvPr id="492572" name="Line 28"/>
              <p:cNvSpPr>
                <a:spLocks noChangeShapeType="1"/>
              </p:cNvSpPr>
              <p:nvPr/>
            </p:nvSpPr>
            <p:spPr bwMode="auto">
              <a:xfrm>
                <a:off x="6084887" y="4567396"/>
                <a:ext cx="0" cy="1376363"/>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73" name="Line 29"/>
              <p:cNvSpPr>
                <a:spLocks noChangeShapeType="1"/>
              </p:cNvSpPr>
              <p:nvPr/>
            </p:nvSpPr>
            <p:spPr bwMode="auto">
              <a:xfrm>
                <a:off x="5389562" y="4567396"/>
                <a:ext cx="0" cy="1376363"/>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74" name="Line 30"/>
              <p:cNvSpPr>
                <a:spLocks noChangeShapeType="1"/>
              </p:cNvSpPr>
              <p:nvPr/>
            </p:nvSpPr>
            <p:spPr bwMode="auto">
              <a:xfrm>
                <a:off x="5103812" y="4738845"/>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75" name="Line 31"/>
              <p:cNvSpPr>
                <a:spLocks noChangeShapeType="1"/>
              </p:cNvSpPr>
              <p:nvPr/>
            </p:nvSpPr>
            <p:spPr bwMode="auto">
              <a:xfrm>
                <a:off x="5103812" y="4891245"/>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76" name="Line 32"/>
              <p:cNvSpPr>
                <a:spLocks noChangeShapeType="1"/>
              </p:cNvSpPr>
              <p:nvPr/>
            </p:nvSpPr>
            <p:spPr bwMode="auto">
              <a:xfrm>
                <a:off x="5103812" y="5043645"/>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77" name="Line 33"/>
              <p:cNvSpPr>
                <a:spLocks noChangeShapeType="1"/>
              </p:cNvSpPr>
              <p:nvPr/>
            </p:nvSpPr>
            <p:spPr bwMode="auto">
              <a:xfrm>
                <a:off x="5103812" y="5196045"/>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78" name="Line 34"/>
              <p:cNvSpPr>
                <a:spLocks noChangeShapeType="1"/>
              </p:cNvSpPr>
              <p:nvPr/>
            </p:nvSpPr>
            <p:spPr bwMode="auto">
              <a:xfrm>
                <a:off x="5103812" y="5348445"/>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79" name="Line 35"/>
              <p:cNvSpPr>
                <a:spLocks noChangeShapeType="1"/>
              </p:cNvSpPr>
              <p:nvPr/>
            </p:nvSpPr>
            <p:spPr bwMode="auto">
              <a:xfrm>
                <a:off x="5103812" y="5500845"/>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80" name="Line 36"/>
              <p:cNvSpPr>
                <a:spLocks noChangeShapeType="1"/>
              </p:cNvSpPr>
              <p:nvPr/>
            </p:nvSpPr>
            <p:spPr bwMode="auto">
              <a:xfrm>
                <a:off x="5103812" y="5653245"/>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81" name="Line 37"/>
              <p:cNvSpPr>
                <a:spLocks noChangeShapeType="1"/>
              </p:cNvSpPr>
              <p:nvPr/>
            </p:nvSpPr>
            <p:spPr bwMode="auto">
              <a:xfrm>
                <a:off x="5103812" y="5805645"/>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82" name="Line 38"/>
              <p:cNvSpPr>
                <a:spLocks noChangeShapeType="1"/>
              </p:cNvSpPr>
              <p:nvPr/>
            </p:nvSpPr>
            <p:spPr bwMode="auto">
              <a:xfrm>
                <a:off x="6356350" y="4567396"/>
                <a:ext cx="0" cy="1376363"/>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83" name="Line 39"/>
              <p:cNvSpPr>
                <a:spLocks noChangeShapeType="1"/>
              </p:cNvSpPr>
              <p:nvPr/>
            </p:nvSpPr>
            <p:spPr bwMode="auto">
              <a:xfrm>
                <a:off x="6681787" y="4565808"/>
                <a:ext cx="0" cy="1376362"/>
              </a:xfrm>
              <a:prstGeom prst="line">
                <a:avLst/>
              </a:prstGeom>
              <a:noFill/>
              <a:ln w="25400">
                <a:solidFill>
                  <a:schemeClr val="tx1"/>
                </a:solidFill>
                <a:round/>
                <a:headEnd type="none" w="sm" len="sm"/>
                <a:tailEnd type="none" w="sm" len="sm"/>
              </a:ln>
              <a:effectLst/>
            </p:spPr>
            <p:txBody>
              <a:bodyPr/>
              <a:lstStyle/>
              <a:p>
                <a:endParaRPr lang="bg-BG" dirty="0"/>
              </a:p>
            </p:txBody>
          </p:sp>
        </p:grpSp>
        <p:grpSp>
          <p:nvGrpSpPr>
            <p:cNvPr id="9" name="Group 8"/>
            <p:cNvGrpSpPr/>
            <p:nvPr/>
          </p:nvGrpSpPr>
          <p:grpSpPr>
            <a:xfrm>
              <a:off x="8032750" y="4564221"/>
              <a:ext cx="1866900" cy="1393824"/>
              <a:chOff x="8032750" y="4564221"/>
              <a:chExt cx="1866900" cy="1393824"/>
            </a:xfrm>
          </p:grpSpPr>
          <p:sp>
            <p:nvSpPr>
              <p:cNvPr id="492569" name="Rectangle 25"/>
              <p:cNvSpPr>
                <a:spLocks noChangeArrowheads="1"/>
              </p:cNvSpPr>
              <p:nvPr/>
            </p:nvSpPr>
            <p:spPr bwMode="blackWhite">
              <a:xfrm>
                <a:off x="8045450" y="4581683"/>
                <a:ext cx="1841500" cy="1346200"/>
              </a:xfrm>
              <a:prstGeom prst="rect">
                <a:avLst/>
              </a:prstGeom>
              <a:solidFill>
                <a:srgbClr val="FFFFCC"/>
              </a:solidFill>
              <a:ln w="25400">
                <a:solidFill>
                  <a:schemeClr val="tx1"/>
                </a:solidFill>
                <a:miter lim="800000"/>
                <a:headEnd/>
                <a:tailEnd/>
              </a:ln>
              <a:effectLst>
                <a:outerShdw dist="89803" dir="2700000" algn="ctr" rotWithShape="0">
                  <a:srgbClr val="000000"/>
                </a:outerShdw>
              </a:effectLst>
            </p:spPr>
            <p:txBody>
              <a:bodyPr wrap="none" anchor="ctr"/>
              <a:lstStyle/>
              <a:p>
                <a:endParaRPr lang="bg-BG" dirty="0"/>
              </a:p>
            </p:txBody>
          </p:sp>
          <p:sp>
            <p:nvSpPr>
              <p:cNvPr id="492571" name="Rectangle 27"/>
              <p:cNvSpPr>
                <a:spLocks noChangeArrowheads="1"/>
              </p:cNvSpPr>
              <p:nvPr/>
            </p:nvSpPr>
            <p:spPr bwMode="ltGray">
              <a:xfrm>
                <a:off x="8056562" y="4592796"/>
                <a:ext cx="261938" cy="1325563"/>
              </a:xfrm>
              <a:prstGeom prst="rect">
                <a:avLst/>
              </a:prstGeom>
              <a:solidFill>
                <a:schemeClr val="accent1"/>
              </a:solidFill>
              <a:ln w="9525">
                <a:solidFill>
                  <a:schemeClr val="tx1"/>
                </a:solidFill>
                <a:miter lim="800000"/>
                <a:headEnd/>
                <a:tailEnd/>
              </a:ln>
              <a:effectLst/>
            </p:spPr>
            <p:txBody>
              <a:bodyPr wrap="none" anchor="ctr"/>
              <a:lstStyle/>
              <a:p>
                <a:endParaRPr lang="bg-BG" dirty="0"/>
              </a:p>
            </p:txBody>
          </p:sp>
          <p:sp>
            <p:nvSpPr>
              <p:cNvPr id="492584" name="Line 40"/>
              <p:cNvSpPr>
                <a:spLocks noChangeShapeType="1"/>
              </p:cNvSpPr>
              <p:nvPr/>
            </p:nvSpPr>
            <p:spPr bwMode="auto">
              <a:xfrm>
                <a:off x="8745537" y="4581683"/>
                <a:ext cx="0" cy="1376362"/>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85" name="Line 41"/>
              <p:cNvSpPr>
                <a:spLocks noChangeShapeType="1"/>
              </p:cNvSpPr>
              <p:nvPr/>
            </p:nvSpPr>
            <p:spPr bwMode="auto">
              <a:xfrm>
                <a:off x="8318500" y="4568983"/>
                <a:ext cx="0" cy="1376362"/>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86" name="Line 42"/>
              <p:cNvSpPr>
                <a:spLocks noChangeShapeType="1"/>
              </p:cNvSpPr>
              <p:nvPr/>
            </p:nvSpPr>
            <p:spPr bwMode="auto">
              <a:xfrm>
                <a:off x="8032750" y="4740433"/>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87" name="Line 43"/>
              <p:cNvSpPr>
                <a:spLocks noChangeShapeType="1"/>
              </p:cNvSpPr>
              <p:nvPr/>
            </p:nvSpPr>
            <p:spPr bwMode="auto">
              <a:xfrm>
                <a:off x="8032750" y="4892833"/>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88" name="Line 44"/>
              <p:cNvSpPr>
                <a:spLocks noChangeShapeType="1"/>
              </p:cNvSpPr>
              <p:nvPr/>
            </p:nvSpPr>
            <p:spPr bwMode="auto">
              <a:xfrm>
                <a:off x="8032750" y="5045233"/>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89" name="Line 45"/>
              <p:cNvSpPr>
                <a:spLocks noChangeShapeType="1"/>
              </p:cNvSpPr>
              <p:nvPr/>
            </p:nvSpPr>
            <p:spPr bwMode="auto">
              <a:xfrm>
                <a:off x="8032750" y="5197633"/>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90" name="Line 46"/>
              <p:cNvSpPr>
                <a:spLocks noChangeShapeType="1"/>
              </p:cNvSpPr>
              <p:nvPr/>
            </p:nvSpPr>
            <p:spPr bwMode="auto">
              <a:xfrm>
                <a:off x="8032750" y="5350033"/>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91" name="Line 47"/>
              <p:cNvSpPr>
                <a:spLocks noChangeShapeType="1"/>
              </p:cNvSpPr>
              <p:nvPr/>
            </p:nvSpPr>
            <p:spPr bwMode="auto">
              <a:xfrm>
                <a:off x="8032750" y="5502433"/>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92" name="Line 48"/>
              <p:cNvSpPr>
                <a:spLocks noChangeShapeType="1"/>
              </p:cNvSpPr>
              <p:nvPr/>
            </p:nvSpPr>
            <p:spPr bwMode="auto">
              <a:xfrm>
                <a:off x="8032750" y="5654833"/>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93" name="Line 49"/>
              <p:cNvSpPr>
                <a:spLocks noChangeShapeType="1"/>
              </p:cNvSpPr>
              <p:nvPr/>
            </p:nvSpPr>
            <p:spPr bwMode="auto">
              <a:xfrm>
                <a:off x="8032750" y="5807233"/>
                <a:ext cx="1866900" cy="0"/>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94" name="Line 50"/>
              <p:cNvSpPr>
                <a:spLocks noChangeShapeType="1"/>
              </p:cNvSpPr>
              <p:nvPr/>
            </p:nvSpPr>
            <p:spPr bwMode="auto">
              <a:xfrm>
                <a:off x="9285287" y="4568983"/>
                <a:ext cx="0" cy="1376362"/>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95" name="Line 51"/>
              <p:cNvSpPr>
                <a:spLocks noChangeShapeType="1"/>
              </p:cNvSpPr>
              <p:nvPr/>
            </p:nvSpPr>
            <p:spPr bwMode="auto">
              <a:xfrm>
                <a:off x="9610725" y="4567396"/>
                <a:ext cx="0" cy="1376363"/>
              </a:xfrm>
              <a:prstGeom prst="line">
                <a:avLst/>
              </a:prstGeom>
              <a:noFill/>
              <a:ln w="25400">
                <a:solidFill>
                  <a:schemeClr val="tx1"/>
                </a:solidFill>
                <a:round/>
                <a:headEnd type="none" w="sm" len="sm"/>
                <a:tailEnd type="none" w="sm" len="sm"/>
              </a:ln>
              <a:effectLst/>
            </p:spPr>
            <p:txBody>
              <a:bodyPr/>
              <a:lstStyle/>
              <a:p>
                <a:endParaRPr lang="bg-BG" dirty="0"/>
              </a:p>
            </p:txBody>
          </p:sp>
          <p:sp>
            <p:nvSpPr>
              <p:cNvPr id="492596" name="Line 52"/>
              <p:cNvSpPr>
                <a:spLocks noChangeShapeType="1"/>
              </p:cNvSpPr>
              <p:nvPr/>
            </p:nvSpPr>
            <p:spPr bwMode="auto">
              <a:xfrm>
                <a:off x="9037637" y="4564221"/>
                <a:ext cx="0" cy="1376363"/>
              </a:xfrm>
              <a:prstGeom prst="line">
                <a:avLst/>
              </a:prstGeom>
              <a:noFill/>
              <a:ln w="25400">
                <a:solidFill>
                  <a:schemeClr val="tx1"/>
                </a:solidFill>
                <a:round/>
                <a:headEnd type="none" w="sm" len="sm"/>
                <a:tailEnd type="none" w="sm" len="sm"/>
              </a:ln>
              <a:effectLst/>
            </p:spPr>
            <p:txBody>
              <a:bodyPr/>
              <a:lstStyle/>
              <a:p>
                <a:endParaRPr lang="bg-BG" dirty="0"/>
              </a:p>
            </p:txBody>
          </p:sp>
        </p:grpSp>
        <p:sp>
          <p:nvSpPr>
            <p:cNvPr id="492609" name="Line 65"/>
            <p:cNvSpPr>
              <a:spLocks noChangeShapeType="1"/>
            </p:cNvSpPr>
            <p:nvPr/>
          </p:nvSpPr>
          <p:spPr bwMode="auto">
            <a:xfrm flipV="1">
              <a:off x="7070726" y="5269071"/>
              <a:ext cx="884237" cy="3175"/>
            </a:xfrm>
            <a:prstGeom prst="line">
              <a:avLst/>
            </a:prstGeom>
            <a:noFill/>
            <a:ln w="50800">
              <a:solidFill>
                <a:schemeClr val="tx1"/>
              </a:solidFill>
              <a:round/>
              <a:headEnd type="stealth" w="med" len="lg"/>
              <a:tailEnd type="stealth" w="med" len="lg"/>
            </a:ln>
            <a:effectLst/>
          </p:spPr>
          <p:txBody>
            <a:bodyPr/>
            <a:lstStyle/>
            <a:p>
              <a:endParaRPr lang="bg-BG" dirty="0"/>
            </a:p>
          </p:txBody>
        </p:sp>
        <p:sp>
          <p:nvSpPr>
            <p:cNvPr id="492610" name="Text Box 66"/>
            <p:cNvSpPr txBox="1">
              <a:spLocks noChangeArrowheads="1"/>
            </p:cNvSpPr>
            <p:nvPr/>
          </p:nvSpPr>
          <p:spPr bwMode="auto">
            <a:xfrm>
              <a:off x="5135050" y="6002023"/>
              <a:ext cx="1811850" cy="400110"/>
            </a:xfrm>
            <a:prstGeom prst="rect">
              <a:avLst/>
            </a:prstGeom>
            <a:noFill/>
            <a:ln w="9525">
              <a:noFill/>
              <a:miter lim="800000"/>
              <a:headEnd/>
              <a:tailEnd/>
            </a:ln>
            <a:effectLst/>
          </p:spPr>
          <p:txBody>
            <a:bodyPr wrap="square">
              <a:spAutoFit/>
            </a:bodyPr>
            <a:lstStyle/>
            <a:p>
              <a:pPr algn="ctr">
                <a:lnSpc>
                  <a:spcPct val="100000"/>
                </a:lnSpc>
              </a:pPr>
              <a:r>
                <a:rPr lang="en-US" sz="2000" b="1" dirty="0"/>
                <a:t>Table 1</a:t>
              </a:r>
            </a:p>
          </p:txBody>
        </p:sp>
        <p:sp>
          <p:nvSpPr>
            <p:cNvPr id="492611" name="Text Box 67"/>
            <p:cNvSpPr txBox="1">
              <a:spLocks noChangeArrowheads="1"/>
            </p:cNvSpPr>
            <p:nvPr/>
          </p:nvSpPr>
          <p:spPr bwMode="auto">
            <a:xfrm>
              <a:off x="8056562" y="6021133"/>
              <a:ext cx="1830388" cy="396875"/>
            </a:xfrm>
            <a:prstGeom prst="rect">
              <a:avLst/>
            </a:prstGeom>
            <a:noFill/>
            <a:ln w="9525">
              <a:noFill/>
              <a:miter lim="800000"/>
              <a:headEnd/>
              <a:tailEnd/>
            </a:ln>
            <a:effectLst/>
          </p:spPr>
          <p:txBody>
            <a:bodyPr wrap="square">
              <a:spAutoFit/>
            </a:bodyPr>
            <a:lstStyle/>
            <a:p>
              <a:pPr algn="ctr">
                <a:lnSpc>
                  <a:spcPct val="100000"/>
                </a:lnSpc>
              </a:pPr>
              <a:r>
                <a:rPr lang="en-US" sz="2000" b="1" dirty="0"/>
                <a:t>Table 2</a:t>
              </a:r>
            </a:p>
          </p:txBody>
        </p:sp>
        <p:sp>
          <p:nvSpPr>
            <p:cNvPr id="492616" name="Text Box 72"/>
            <p:cNvSpPr txBox="1">
              <a:spLocks noChangeArrowheads="1"/>
            </p:cNvSpPr>
            <p:nvPr/>
          </p:nvSpPr>
          <p:spPr bwMode="auto">
            <a:xfrm>
              <a:off x="1293812" y="4488021"/>
              <a:ext cx="3013076" cy="1446550"/>
            </a:xfrm>
            <a:prstGeom prst="rect">
              <a:avLst/>
            </a:prstGeom>
            <a:noFill/>
            <a:ln w="9525">
              <a:noFill/>
              <a:miter lim="800000"/>
              <a:headEnd/>
              <a:tailEnd/>
            </a:ln>
            <a:effectLst/>
          </p:spPr>
          <p:txBody>
            <a:bodyPr wrap="square">
              <a:spAutoFit/>
            </a:bodyPr>
            <a:lstStyle/>
            <a:p>
              <a:pPr>
                <a:lnSpc>
                  <a:spcPct val="100000"/>
                </a:lnSpc>
              </a:pPr>
              <a:r>
                <a:rPr lang="en-US" sz="3200" b="1" dirty="0"/>
                <a:t>Join</a:t>
              </a:r>
            </a:p>
            <a:p>
              <a:pPr>
                <a:lnSpc>
                  <a:spcPct val="100000"/>
                </a:lnSpc>
              </a:pPr>
              <a:r>
                <a:rPr lang="en-US" sz="2800" b="1" dirty="0"/>
                <a:t>Combine tables by</a:t>
              </a:r>
            </a:p>
            <a:p>
              <a:pPr>
                <a:lnSpc>
                  <a:spcPct val="100000"/>
                </a:lnSpc>
              </a:pPr>
              <a:r>
                <a:rPr lang="en-US" sz="2800" b="1" dirty="0"/>
                <a:t>some column</a:t>
              </a:r>
            </a:p>
          </p:txBody>
        </p:sp>
      </p:grpSp>
      <p:sp>
        <p:nvSpPr>
          <p:cNvPr id="81" name="Slide Number">
            <a:extLst>
              <a:ext uri="{FF2B5EF4-FFF2-40B4-BE49-F238E27FC236}">
                <a16:creationId xmlns:a16="http://schemas.microsoft.com/office/drawing/2014/main" id="{44685CC7-5B30-4AB8-BD60-FA98A38B945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a:t>
            </a:fld>
            <a:endParaRPr lang="en-US" noProof="0" dirty="0"/>
          </a:p>
        </p:txBody>
      </p:sp>
    </p:spTree>
    <p:extLst>
      <p:ext uri="{BB962C8B-B14F-4D97-AF65-F5344CB8AC3E}">
        <p14:creationId xmlns:p14="http://schemas.microsoft.com/office/powerpoint/2010/main" val="357218401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normAutofit/>
          </a:bodyPr>
          <a:lstStyle/>
          <a:p>
            <a:pPr>
              <a:lnSpc>
                <a:spcPct val="100000"/>
              </a:lnSpc>
            </a:pPr>
            <a:r>
              <a:rPr lang="en-US" sz="3400" dirty="0"/>
              <a:t>Selecting </a:t>
            </a:r>
            <a:r>
              <a:rPr lang="en-US" sz="3400" b="1" dirty="0">
                <a:solidFill>
                  <a:schemeClr val="bg1"/>
                </a:solidFill>
              </a:rPr>
              <a:t>all </a:t>
            </a:r>
            <a:r>
              <a:rPr lang="en-US" sz="3400" dirty="0"/>
              <a:t>columns</a:t>
            </a:r>
            <a:r>
              <a:rPr lang="en-US" sz="3400" b="1" dirty="0">
                <a:solidFill>
                  <a:schemeClr val="bg1"/>
                </a:solidFill>
              </a:rPr>
              <a:t> </a:t>
            </a:r>
            <a:r>
              <a:rPr lang="en-US" sz="3400" dirty="0"/>
              <a:t>from the "</a:t>
            </a:r>
            <a:r>
              <a:rPr lang="en-US" sz="3400" dirty="0">
                <a:latin typeface="Consolas" panose="020B0609020204030204" pitchFamily="49" charset="0"/>
              </a:rPr>
              <a:t>Departments</a:t>
            </a:r>
            <a:r>
              <a:rPr lang="en-US" sz="3400" dirty="0"/>
              <a:t>" table</a:t>
            </a:r>
            <a:endParaRPr lang="bg-BG" sz="3400" dirty="0"/>
          </a:p>
          <a:p>
            <a:pPr>
              <a:lnSpc>
                <a:spcPct val="100000"/>
              </a:lnSpc>
            </a:pPr>
            <a:endParaRPr lang="bg-BG" sz="3400" dirty="0"/>
          </a:p>
          <a:p>
            <a:pPr>
              <a:lnSpc>
                <a:spcPct val="100000"/>
              </a:lnSpc>
            </a:pPr>
            <a:endParaRPr lang="bg-BG" sz="3400" dirty="0"/>
          </a:p>
          <a:p>
            <a:pPr marL="0" indent="0">
              <a:lnSpc>
                <a:spcPct val="100000"/>
              </a:lnSpc>
              <a:buNone/>
            </a:pPr>
            <a:br>
              <a:rPr lang="bg-BG" sz="3400" dirty="0"/>
            </a:br>
            <a:endParaRPr lang="en-US" sz="3400" dirty="0"/>
          </a:p>
          <a:p>
            <a:pPr>
              <a:lnSpc>
                <a:spcPct val="100000"/>
              </a:lnSpc>
              <a:spcBef>
                <a:spcPts val="1800"/>
              </a:spcBef>
            </a:pPr>
            <a:r>
              <a:rPr lang="en-US" sz="3400" dirty="0"/>
              <a:t>Selecting </a:t>
            </a:r>
            <a:r>
              <a:rPr lang="en-US" sz="3400" b="1" dirty="0">
                <a:solidFill>
                  <a:schemeClr val="bg1"/>
                </a:solidFill>
              </a:rPr>
              <a:t>specific</a:t>
            </a:r>
            <a:r>
              <a:rPr lang="en-US" sz="3400" dirty="0"/>
              <a:t> columns</a:t>
            </a:r>
          </a:p>
        </p:txBody>
      </p:sp>
      <p:sp>
        <p:nvSpPr>
          <p:cNvPr id="496642" name="Rectangle 2"/>
          <p:cNvSpPr>
            <a:spLocks noGrp="1" noChangeArrowheads="1"/>
          </p:cNvSpPr>
          <p:nvPr>
            <p:ph type="title"/>
          </p:nvPr>
        </p:nvSpPr>
        <p:spPr/>
        <p:txBody>
          <a:bodyPr/>
          <a:lstStyle/>
          <a:p>
            <a:r>
              <a:rPr lang="en-US" dirty="0"/>
              <a:t>SELECT – Example</a:t>
            </a:r>
          </a:p>
        </p:txBody>
      </p:sp>
      <p:sp>
        <p:nvSpPr>
          <p:cNvPr id="496644" name="Rectangle 4"/>
          <p:cNvSpPr>
            <a:spLocks noChangeArrowheads="1"/>
          </p:cNvSpPr>
          <p:nvPr/>
        </p:nvSpPr>
        <p:spPr bwMode="auto">
          <a:xfrm>
            <a:off x="2362200" y="1800665"/>
            <a:ext cx="7405688" cy="492443"/>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SELECT </a:t>
            </a:r>
            <a:r>
              <a:rPr lang="en-US" sz="2600" b="1" noProof="1">
                <a:latin typeface="Consolas" pitchFamily="49" charset="0"/>
                <a:cs typeface="Consolas" pitchFamily="49" charset="0"/>
              </a:rPr>
              <a:t>*</a:t>
            </a:r>
            <a:r>
              <a:rPr lang="en-US" sz="2600" b="1" noProof="1">
                <a:solidFill>
                  <a:schemeClr val="bg1"/>
                </a:solidFill>
                <a:latin typeface="Consolas" pitchFamily="49" charset="0"/>
                <a:cs typeface="Consolas" pitchFamily="49" charset="0"/>
              </a:rPr>
              <a:t> FROM </a:t>
            </a:r>
            <a:r>
              <a:rPr lang="en-US" sz="2600" b="1" noProof="1">
                <a:latin typeface="Consolas" pitchFamily="49" charset="0"/>
                <a:cs typeface="Consolas" pitchFamily="49" charset="0"/>
              </a:rPr>
              <a:t>Departments</a:t>
            </a:r>
          </a:p>
        </p:txBody>
      </p:sp>
      <p:sp>
        <p:nvSpPr>
          <p:cNvPr id="496645" name="Rectangle 5"/>
          <p:cNvSpPr>
            <a:spLocks noChangeArrowheads="1"/>
          </p:cNvSpPr>
          <p:nvPr/>
        </p:nvSpPr>
        <p:spPr bwMode="auto">
          <a:xfrm>
            <a:off x="1371600" y="5176130"/>
            <a:ext cx="4800600" cy="892552"/>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bg1"/>
                </a:solidFill>
                <a:latin typeface="Consolas" pitchFamily="49" charset="0"/>
              </a:rPr>
              <a:t>SELECT </a:t>
            </a:r>
            <a:r>
              <a:rPr lang="en-US" sz="2600" b="1" noProof="1">
                <a:latin typeface="Consolas" pitchFamily="49" charset="0"/>
              </a:rPr>
              <a:t>DepartmentId, Name</a:t>
            </a:r>
          </a:p>
          <a:p>
            <a:pPr eaLnBrk="0" hangingPunct="0">
              <a:buClr>
                <a:schemeClr val="accent5">
                  <a:lumMod val="40000"/>
                  <a:lumOff val="60000"/>
                </a:schemeClr>
              </a:buClr>
              <a:buSzPct val="70000"/>
            </a:pPr>
            <a:r>
              <a:rPr lang="en-US" sz="2600" b="1" noProof="1">
                <a:solidFill>
                  <a:schemeClr val="bg1"/>
                </a:solidFill>
                <a:latin typeface="Consolas" pitchFamily="49" charset="0"/>
              </a:rPr>
              <a:t>  FROM </a:t>
            </a:r>
            <a:r>
              <a:rPr lang="en-US" sz="2600" b="1" noProof="1">
                <a:latin typeface="Consolas" pitchFamily="49" charset="0"/>
              </a:rPr>
              <a:t>Departments</a:t>
            </a:r>
          </a:p>
        </p:txBody>
      </p:sp>
      <p:graphicFrame>
        <p:nvGraphicFramePr>
          <p:cNvPr id="496646" name="Group 6"/>
          <p:cNvGraphicFramePr>
            <a:graphicFrameLocks noGrp="1"/>
          </p:cNvGraphicFramePr>
          <p:nvPr>
            <p:extLst>
              <p:ext uri="{D42A27DB-BD31-4B8C-83A1-F6EECF244321}">
                <p14:modId xmlns:p14="http://schemas.microsoft.com/office/powerpoint/2010/main" val="422775304"/>
              </p:ext>
            </p:extLst>
          </p:nvPr>
        </p:nvGraphicFramePr>
        <p:xfrm>
          <a:off x="2362200" y="2514600"/>
          <a:ext cx="7405688" cy="1789176"/>
        </p:xfrm>
        <a:graphic>
          <a:graphicData uri="http://schemas.openxmlformats.org/drawingml/2006/table">
            <a:tbl>
              <a:tblPr/>
              <a:tblGrid>
                <a:gridCol w="1862138">
                  <a:extLst>
                    <a:ext uri="{9D8B030D-6E8A-4147-A177-3AD203B41FA5}">
                      <a16:colId xmlns:a16="http://schemas.microsoft.com/office/drawing/2014/main" val="20000"/>
                    </a:ext>
                  </a:extLst>
                </a:gridCol>
                <a:gridCol w="3959225">
                  <a:extLst>
                    <a:ext uri="{9D8B030D-6E8A-4147-A177-3AD203B41FA5}">
                      <a16:colId xmlns:a16="http://schemas.microsoft.com/office/drawing/2014/main" val="20001"/>
                    </a:ext>
                  </a:extLst>
                </a:gridCol>
                <a:gridCol w="1584325">
                  <a:extLst>
                    <a:ext uri="{9D8B030D-6E8A-4147-A177-3AD203B41FA5}">
                      <a16:colId xmlns:a16="http://schemas.microsoft.com/office/drawing/2014/main" val="20002"/>
                    </a:ext>
                  </a:extLst>
                </a:gridCol>
              </a:tblGrid>
              <a:tr h="381000">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noProof="1">
                          <a:ln>
                            <a:noFill/>
                          </a:ln>
                          <a:solidFill>
                            <a:schemeClr val="tx1"/>
                          </a:solidFill>
                          <a:effectLst/>
                          <a:latin typeface="+mn-lt"/>
                        </a:rPr>
                        <a:t>DepartmentID</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noProof="1">
                          <a:ln>
                            <a:noFill/>
                          </a:ln>
                          <a:solidFill>
                            <a:schemeClr val="tx1"/>
                          </a:solidFill>
                          <a:effectLst/>
                          <a:latin typeface="+mn-lt"/>
                        </a:rPr>
                        <a:t>Name</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noProof="1">
                          <a:ln>
                            <a:noFill/>
                          </a:ln>
                          <a:solidFill>
                            <a:schemeClr val="tx1"/>
                          </a:solidFill>
                          <a:effectLst/>
                          <a:latin typeface="+mn-lt"/>
                        </a:rPr>
                        <a:t>ManagerID</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extLst>
                  <a:ext uri="{0D108BD9-81ED-4DB2-BD59-A6C34878D82A}">
                    <a16:rowId xmlns:a16="http://schemas.microsoft.com/office/drawing/2014/main" val="10000"/>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1</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b="1" i="0" u="none" strike="noStrike" cap="none" normalizeH="0" baseline="0" noProof="1">
                          <a:ln>
                            <a:noFill/>
                          </a:ln>
                          <a:solidFill>
                            <a:schemeClr val="tx1"/>
                          </a:solidFill>
                          <a:effectLst/>
                          <a:latin typeface="+mn-lt"/>
                        </a:rPr>
                        <a:t>Engineering</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12</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2</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b="1" i="0" u="none" strike="noStrike" cap="none" normalizeH="0" baseline="0" noProof="1">
                          <a:ln>
                            <a:noFill/>
                          </a:ln>
                          <a:solidFill>
                            <a:schemeClr val="tx1"/>
                          </a:solidFill>
                          <a:effectLst/>
                          <a:latin typeface="+mn-lt"/>
                        </a:rPr>
                        <a:t>Tool design</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4</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3</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b="1" i="0" u="none" strike="noStrike" cap="none" normalizeH="0" baseline="0" noProof="1">
                          <a:ln>
                            <a:noFill/>
                          </a:ln>
                          <a:solidFill>
                            <a:schemeClr val="tx1"/>
                          </a:solidFill>
                          <a:effectLst/>
                          <a:latin typeface="+mn-lt"/>
                        </a:rPr>
                        <a:t>Sales</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273</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496672" name="Group 32"/>
          <p:cNvGraphicFramePr>
            <a:graphicFrameLocks noGrp="1"/>
          </p:cNvGraphicFramePr>
          <p:nvPr>
            <p:extLst>
              <p:ext uri="{D42A27DB-BD31-4B8C-83A1-F6EECF244321}">
                <p14:modId xmlns:p14="http://schemas.microsoft.com/office/powerpoint/2010/main" val="1227928952"/>
              </p:ext>
            </p:extLst>
          </p:nvPr>
        </p:nvGraphicFramePr>
        <p:xfrm>
          <a:off x="7024248" y="4682196"/>
          <a:ext cx="3796152" cy="1789176"/>
        </p:xfrm>
        <a:graphic>
          <a:graphicData uri="http://schemas.openxmlformats.org/drawingml/2006/table">
            <a:tbl>
              <a:tblPr/>
              <a:tblGrid>
                <a:gridCol w="1817724">
                  <a:extLst>
                    <a:ext uri="{9D8B030D-6E8A-4147-A177-3AD203B41FA5}">
                      <a16:colId xmlns:a16="http://schemas.microsoft.com/office/drawing/2014/main" val="20000"/>
                    </a:ext>
                  </a:extLst>
                </a:gridCol>
                <a:gridCol w="1978428">
                  <a:extLst>
                    <a:ext uri="{9D8B030D-6E8A-4147-A177-3AD203B41FA5}">
                      <a16:colId xmlns:a16="http://schemas.microsoft.com/office/drawing/2014/main" val="20001"/>
                    </a:ext>
                  </a:extLst>
                </a:gridCol>
              </a:tblGrid>
              <a:tr h="381000">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noProof="1">
                          <a:ln>
                            <a:noFill/>
                          </a:ln>
                          <a:solidFill>
                            <a:schemeClr val="tx1"/>
                          </a:solidFill>
                          <a:effectLst/>
                          <a:latin typeface="+mn-lt"/>
                        </a:rPr>
                        <a:t>DepartmentID</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noProof="1">
                          <a:ln>
                            <a:noFill/>
                          </a:ln>
                          <a:solidFill>
                            <a:schemeClr val="tx1"/>
                          </a:solidFill>
                          <a:effectLst/>
                          <a:latin typeface="+mn-lt"/>
                        </a:rPr>
                        <a:t>Name</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extLst>
                  <a:ext uri="{0D108BD9-81ED-4DB2-BD59-A6C34878D82A}">
                    <a16:rowId xmlns:a16="http://schemas.microsoft.com/office/drawing/2014/main" val="10000"/>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1</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b="1" i="0" u="none" strike="noStrike" cap="none" normalizeH="0" baseline="0" noProof="1">
                          <a:ln>
                            <a:noFill/>
                          </a:ln>
                          <a:solidFill>
                            <a:schemeClr val="tx1"/>
                          </a:solidFill>
                          <a:effectLst/>
                          <a:latin typeface="+mn-lt"/>
                        </a:rPr>
                        <a:t>Engineering</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2</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b="1" i="0" u="none" strike="noStrike" cap="none" normalizeH="0" baseline="0" noProof="1">
                          <a:ln>
                            <a:noFill/>
                          </a:ln>
                          <a:solidFill>
                            <a:schemeClr val="tx1"/>
                          </a:solidFill>
                          <a:effectLst/>
                          <a:latin typeface="+mn-lt"/>
                        </a:rPr>
                        <a:t>Tool design</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1800" b="1" i="0" u="none" strike="noStrike" cap="none" normalizeH="0" baseline="0" noProof="1">
                          <a:ln>
                            <a:noFill/>
                          </a:ln>
                          <a:solidFill>
                            <a:schemeClr val="tx1"/>
                          </a:solidFill>
                          <a:effectLst/>
                          <a:latin typeface="+mn-lt"/>
                        </a:rPr>
                        <a:t>3</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b="1" i="0" u="none" strike="noStrike" cap="none" normalizeH="0" baseline="0" noProof="1">
                          <a:ln>
                            <a:noFill/>
                          </a:ln>
                          <a:solidFill>
                            <a:schemeClr val="tx1"/>
                          </a:solidFill>
                          <a:effectLst/>
                          <a:latin typeface="+mn-lt"/>
                        </a:rPr>
                        <a:t>Sales</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2044">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b="1" i="0" u="none" strike="noStrike" cap="none" normalizeH="0" baseline="0" noProof="1">
                          <a:ln>
                            <a:noFill/>
                          </a:ln>
                          <a:solidFill>
                            <a:schemeClr val="tx1"/>
                          </a:solidFill>
                          <a:effectLst/>
                          <a:latin typeface="+mn-lt"/>
                        </a:rPr>
                        <a:t>…</a:t>
                      </a:r>
                      <a:endParaRPr kumimoji="1" lang="bg-BG" sz="1800" b="1" i="0" u="none" strike="noStrike" cap="none" normalizeH="0" baseline="0" noProof="1">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1800" b="1" i="0" u="none" strike="noStrike" cap="none" normalizeH="0" baseline="0" noProof="1">
                          <a:ln>
                            <a:noFill/>
                          </a:ln>
                          <a:solidFill>
                            <a:schemeClr val="tx1"/>
                          </a:solidFill>
                          <a:effectLst/>
                          <a:latin typeface="+mn-lt"/>
                        </a:rPr>
                        <a:t>…</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 name="Arrow: Right 2"/>
          <p:cNvSpPr/>
          <p:nvPr/>
        </p:nvSpPr>
        <p:spPr>
          <a:xfrm>
            <a:off x="6383276" y="5441245"/>
            <a:ext cx="457200" cy="362322"/>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0" name="Slide Number">
            <a:extLst>
              <a:ext uri="{FF2B5EF4-FFF2-40B4-BE49-F238E27FC236}">
                <a16:creationId xmlns:a16="http://schemas.microsoft.com/office/drawing/2014/main" id="{E4D873FA-2332-4843-B369-6BC74F060E5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8</a:t>
            </a:fld>
            <a:endParaRPr lang="en-US" noProof="0" dirty="0"/>
          </a:p>
        </p:txBody>
      </p:sp>
    </p:spTree>
    <p:extLst>
      <p:ext uri="{BB962C8B-B14F-4D97-AF65-F5344CB8AC3E}">
        <p14:creationId xmlns:p14="http://schemas.microsoft.com/office/powerpoint/2010/main" val="181264126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966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6645"/>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966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5"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nSpc>
                <a:spcPct val="100000"/>
              </a:lnSpc>
              <a:buClr>
                <a:schemeClr val="tx1"/>
              </a:buClr>
            </a:pPr>
            <a:r>
              <a:rPr lang="en-US" sz="3600" b="1" dirty="0">
                <a:solidFill>
                  <a:schemeClr val="bg1"/>
                </a:solidFill>
              </a:rPr>
              <a:t>Aliases</a:t>
            </a:r>
            <a:r>
              <a:rPr lang="en-US" sz="3600" dirty="0"/>
              <a:t> rename a table or a column heading</a:t>
            </a:r>
          </a:p>
          <a:p>
            <a:pPr>
              <a:lnSpc>
                <a:spcPct val="100000"/>
              </a:lnSpc>
            </a:pPr>
            <a:endParaRPr lang="en-US" sz="3600" dirty="0"/>
          </a:p>
          <a:p>
            <a:pPr>
              <a:lnSpc>
                <a:spcPct val="100000"/>
              </a:lnSpc>
            </a:pPr>
            <a:endParaRPr lang="en-US" sz="3600" dirty="0"/>
          </a:p>
          <a:p>
            <a:pPr marL="0" indent="0">
              <a:lnSpc>
                <a:spcPct val="100000"/>
              </a:lnSpc>
              <a:buNone/>
            </a:pPr>
            <a:endParaRPr lang="en-US" sz="3600" dirty="0"/>
          </a:p>
          <a:p>
            <a:pPr>
              <a:lnSpc>
                <a:spcPct val="100000"/>
              </a:lnSpc>
              <a:spcBef>
                <a:spcPts val="1800"/>
              </a:spcBef>
            </a:pPr>
            <a:r>
              <a:rPr lang="en-US" sz="3600" dirty="0"/>
              <a:t>You can shorten fields or clarify abbreviations</a:t>
            </a:r>
          </a:p>
          <a:p>
            <a:endParaRPr lang="bg-BG" dirty="0"/>
          </a:p>
        </p:txBody>
      </p:sp>
      <p:sp>
        <p:nvSpPr>
          <p:cNvPr id="502786" name="Rectangle 2"/>
          <p:cNvSpPr>
            <a:spLocks noGrp="1" noChangeArrowheads="1"/>
          </p:cNvSpPr>
          <p:nvPr>
            <p:ph type="title"/>
          </p:nvPr>
        </p:nvSpPr>
        <p:spPr/>
        <p:txBody>
          <a:bodyPr/>
          <a:lstStyle/>
          <a:p>
            <a:r>
              <a:rPr lang="en-US" dirty="0"/>
              <a:t>Column Aliases</a:t>
            </a:r>
          </a:p>
        </p:txBody>
      </p:sp>
      <p:sp>
        <p:nvSpPr>
          <p:cNvPr id="502788" name="Rectangle 4"/>
          <p:cNvSpPr>
            <a:spLocks noChangeArrowheads="1"/>
          </p:cNvSpPr>
          <p:nvPr/>
        </p:nvSpPr>
        <p:spPr bwMode="auto">
          <a:xfrm>
            <a:off x="609600" y="2521866"/>
            <a:ext cx="4572000" cy="1569660"/>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400" b="1" noProof="1">
                <a:latin typeface="Consolas" pitchFamily="49" charset="0"/>
                <a:cs typeface="Consolas" pitchFamily="49" charset="0"/>
              </a:rPr>
              <a:t>SELECT EmployeeID </a:t>
            </a:r>
            <a:r>
              <a:rPr lang="en-US" sz="2400" b="1" noProof="1">
                <a:solidFill>
                  <a:schemeClr val="bg1"/>
                </a:solidFill>
                <a:latin typeface="Consolas" pitchFamily="49" charset="0"/>
                <a:cs typeface="Consolas" pitchFamily="49" charset="0"/>
              </a:rPr>
              <a:t>AS</a:t>
            </a:r>
            <a:r>
              <a:rPr lang="en-US" sz="2400" b="1" noProof="1">
                <a:latin typeface="Consolas" pitchFamily="49" charset="0"/>
                <a:cs typeface="Consolas" pitchFamily="49" charset="0"/>
              </a:rPr>
              <a:t> ID,</a:t>
            </a:r>
          </a:p>
          <a:p>
            <a:pPr eaLnBrk="0" hangingPunct="0">
              <a:buClr>
                <a:schemeClr val="accent5">
                  <a:lumMod val="40000"/>
                  <a:lumOff val="60000"/>
                </a:schemeClr>
              </a:buClr>
              <a:buSzPct val="70000"/>
            </a:pPr>
            <a:r>
              <a:rPr lang="en-US" sz="2400" b="1" noProof="1">
                <a:latin typeface="Consolas" pitchFamily="49" charset="0"/>
                <a:cs typeface="Consolas" pitchFamily="49" charset="0"/>
              </a:rPr>
              <a:t>       FirstName,</a:t>
            </a:r>
          </a:p>
          <a:p>
            <a:pPr eaLnBrk="0" hangingPunct="0">
              <a:buClr>
                <a:schemeClr val="accent5">
                  <a:lumMod val="40000"/>
                  <a:lumOff val="60000"/>
                </a:schemeClr>
              </a:buClr>
              <a:buSzPct val="70000"/>
            </a:pPr>
            <a:r>
              <a:rPr lang="en-US" sz="2400" b="1" noProof="1">
                <a:latin typeface="Consolas" pitchFamily="49" charset="0"/>
                <a:cs typeface="Consolas" pitchFamily="49" charset="0"/>
              </a:rPr>
              <a:t>       LastName</a:t>
            </a:r>
          </a:p>
          <a:p>
            <a:pPr eaLnBrk="0" hangingPunct="0">
              <a:buClr>
                <a:schemeClr val="accent5">
                  <a:lumMod val="40000"/>
                  <a:lumOff val="60000"/>
                </a:schemeClr>
              </a:buClr>
              <a:buSzPct val="70000"/>
            </a:pPr>
            <a:r>
              <a:rPr lang="en-US" sz="2400" b="1" noProof="1">
                <a:latin typeface="Consolas" pitchFamily="49" charset="0"/>
                <a:cs typeface="Consolas" pitchFamily="49" charset="0"/>
              </a:rPr>
              <a:t>  FROM Employees</a:t>
            </a:r>
          </a:p>
        </p:txBody>
      </p:sp>
      <p:graphicFrame>
        <p:nvGraphicFramePr>
          <p:cNvPr id="502789" name="Group 5"/>
          <p:cNvGraphicFramePr>
            <a:graphicFrameLocks noGrp="1"/>
          </p:cNvGraphicFramePr>
          <p:nvPr>
            <p:extLst>
              <p:ext uri="{D42A27DB-BD31-4B8C-83A1-F6EECF244321}">
                <p14:modId xmlns:p14="http://schemas.microsoft.com/office/powerpoint/2010/main" val="2608110633"/>
              </p:ext>
            </p:extLst>
          </p:nvPr>
        </p:nvGraphicFramePr>
        <p:xfrm>
          <a:off x="6248402" y="2411024"/>
          <a:ext cx="5413371" cy="1692772"/>
        </p:xfrm>
        <a:graphic>
          <a:graphicData uri="http://schemas.openxmlformats.org/drawingml/2006/table">
            <a:tbl>
              <a:tblPr/>
              <a:tblGrid>
                <a:gridCol w="1780900">
                  <a:extLst>
                    <a:ext uri="{9D8B030D-6E8A-4147-A177-3AD203B41FA5}">
                      <a16:colId xmlns:a16="http://schemas.microsoft.com/office/drawing/2014/main" val="1163929117"/>
                    </a:ext>
                  </a:extLst>
                </a:gridCol>
                <a:gridCol w="1780900">
                  <a:extLst>
                    <a:ext uri="{9D8B030D-6E8A-4147-A177-3AD203B41FA5}">
                      <a16:colId xmlns:a16="http://schemas.microsoft.com/office/drawing/2014/main" val="20000"/>
                    </a:ext>
                  </a:extLst>
                </a:gridCol>
                <a:gridCol w="1851571">
                  <a:extLst>
                    <a:ext uri="{9D8B030D-6E8A-4147-A177-3AD203B41FA5}">
                      <a16:colId xmlns:a16="http://schemas.microsoft.com/office/drawing/2014/main" val="20001"/>
                    </a:ext>
                  </a:extLst>
                </a:gridCol>
              </a:tblGrid>
              <a:tr h="445222">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400" b="1" i="0" u="none" strike="noStrike" cap="none" normalizeH="0" baseline="0" noProof="1">
                          <a:ln>
                            <a:noFill/>
                          </a:ln>
                          <a:solidFill>
                            <a:schemeClr val="tx1"/>
                          </a:solidFill>
                          <a:effectLst/>
                          <a:latin typeface="+mn-lt"/>
                        </a:rPr>
                        <a:t>ID</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400" b="1" i="0" u="none" strike="noStrike" cap="none" normalizeH="0" baseline="0" noProof="1">
                          <a:ln>
                            <a:noFill/>
                          </a:ln>
                          <a:solidFill>
                            <a:schemeClr val="tx1"/>
                          </a:solidFill>
                          <a:effectLst/>
                          <a:latin typeface="+mn-lt"/>
                        </a:rPr>
                        <a:t>FirstName</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400" b="1" i="0" u="none" strike="noStrike" cap="none" normalizeH="0" baseline="0" noProof="1">
                          <a:ln>
                            <a:noFill/>
                          </a:ln>
                          <a:solidFill>
                            <a:schemeClr val="tx1"/>
                          </a:solidFill>
                          <a:effectLst/>
                          <a:latin typeface="+mn-lt"/>
                        </a:rPr>
                        <a:t>LastName</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extLst>
                  <a:ext uri="{0D108BD9-81ED-4DB2-BD59-A6C34878D82A}">
                    <a16:rowId xmlns:a16="http://schemas.microsoft.com/office/drawing/2014/main" val="10000"/>
                  </a:ext>
                </a:extLst>
              </a:tr>
              <a:tr h="41585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b="1" i="0" u="none" strike="noStrike" cap="none" normalizeH="0" baseline="0" noProof="1">
                          <a:ln>
                            <a:noFill/>
                          </a:ln>
                          <a:solidFill>
                            <a:schemeClr val="tx1"/>
                          </a:solidFill>
                          <a:effectLst/>
                          <a:latin typeface="+mn-lt"/>
                        </a:rPr>
                        <a:t>1</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b="1" i="0" u="none" strike="noStrike" cap="none" normalizeH="0" baseline="0" noProof="1">
                          <a:ln>
                            <a:noFill/>
                          </a:ln>
                          <a:solidFill>
                            <a:schemeClr val="tx1"/>
                          </a:solidFill>
                          <a:effectLst/>
                          <a:latin typeface="+mn-lt"/>
                        </a:rPr>
                        <a:t>Guy</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b="1" i="0" u="none" strike="noStrike" cap="none" normalizeH="0" baseline="0" noProof="1">
                          <a:ln>
                            <a:noFill/>
                          </a:ln>
                          <a:solidFill>
                            <a:schemeClr val="tx1"/>
                          </a:solidFill>
                          <a:effectLst/>
                          <a:latin typeface="+mn-lt"/>
                        </a:rPr>
                        <a:t>Gilbert</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85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b="1" i="0" u="none" strike="noStrike" cap="none" normalizeH="0" baseline="0" noProof="1">
                          <a:ln>
                            <a:noFill/>
                          </a:ln>
                          <a:solidFill>
                            <a:schemeClr val="tx1"/>
                          </a:solidFill>
                          <a:effectLst/>
                          <a:latin typeface="+mn-lt"/>
                        </a:rPr>
                        <a:t>2</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b="1" i="0" u="none" strike="noStrike" cap="none" normalizeH="0" baseline="0" noProof="1">
                          <a:ln>
                            <a:noFill/>
                          </a:ln>
                          <a:solidFill>
                            <a:schemeClr val="tx1"/>
                          </a:solidFill>
                          <a:effectLst/>
                          <a:latin typeface="+mn-lt"/>
                        </a:rPr>
                        <a:t>Kevin</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b="1" i="0" u="none" strike="noStrike" cap="none" normalizeH="0" baseline="0" noProof="1">
                          <a:ln>
                            <a:noFill/>
                          </a:ln>
                          <a:solidFill>
                            <a:schemeClr val="tx1"/>
                          </a:solidFill>
                          <a:effectLst/>
                          <a:latin typeface="+mn-lt"/>
                        </a:rPr>
                        <a:t>Brown</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85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b="1" i="0" u="none" strike="noStrike" cap="none" normalizeH="0" baseline="0" noProof="1">
                          <a:ln>
                            <a:noFill/>
                          </a:ln>
                          <a:solidFill>
                            <a:schemeClr val="tx1"/>
                          </a:solidFill>
                          <a:effectLst/>
                          <a:latin typeface="+mn-lt"/>
                        </a:rPr>
                        <a:t>…</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b="1" i="0" u="none" strike="noStrike" cap="none" normalizeH="0" baseline="0" noProof="1">
                          <a:ln>
                            <a:noFill/>
                          </a:ln>
                          <a:solidFill>
                            <a:schemeClr val="tx1"/>
                          </a:solidFill>
                          <a:effectLst/>
                          <a:latin typeface="+mn-lt"/>
                        </a:rPr>
                        <a:t>…</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200" b="1" i="0" u="none" strike="noStrike" cap="none" normalizeH="0" baseline="0" noProof="1">
                          <a:ln>
                            <a:noFill/>
                          </a:ln>
                          <a:solidFill>
                            <a:schemeClr val="tx1"/>
                          </a:solidFill>
                          <a:effectLst/>
                          <a:latin typeface="+mn-lt"/>
                        </a:rPr>
                        <a:t>…</a:t>
                      </a:r>
                    </a:p>
                  </a:txBody>
                  <a:tcPr anchor="ct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 name="Rectangle 9"/>
          <p:cNvSpPr>
            <a:spLocks noChangeArrowheads="1"/>
          </p:cNvSpPr>
          <p:nvPr/>
        </p:nvSpPr>
        <p:spPr bwMode="auto">
          <a:xfrm>
            <a:off x="609600" y="4923358"/>
            <a:ext cx="7287491" cy="1326105"/>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sz="2400" b="1" dirty="0">
                <a:latin typeface="Consolas" panose="020B0609020204030204" pitchFamily="49" charset="0"/>
              </a:rPr>
              <a:t>SELECT </a:t>
            </a:r>
            <a:r>
              <a:rPr lang="en-US" sz="2400" b="1" noProof="1">
                <a:solidFill>
                  <a:schemeClr val="bg1"/>
                </a:solidFill>
                <a:latin typeface="Consolas" panose="020B0609020204030204" pitchFamily="49" charset="0"/>
              </a:rPr>
              <a:t>c</a:t>
            </a:r>
            <a:r>
              <a:rPr lang="en-US" sz="2400" b="1" noProof="1">
                <a:latin typeface="Consolas" panose="020B0609020204030204" pitchFamily="49" charset="0"/>
              </a:rPr>
              <a:t>.Duration</a:t>
            </a:r>
            <a:r>
              <a:rPr lang="en-US" sz="2400" b="1" dirty="0">
                <a:latin typeface="Consolas" panose="020B0609020204030204" pitchFamily="49" charset="0"/>
              </a:rPr>
              <a:t>,</a:t>
            </a:r>
          </a:p>
          <a:p>
            <a:r>
              <a:rPr lang="en-US" sz="2400" b="1" dirty="0">
                <a:latin typeface="Consolas" panose="020B0609020204030204" pitchFamily="49" charset="0"/>
              </a:rPr>
              <a:t>       </a:t>
            </a:r>
            <a:r>
              <a:rPr lang="en-US" sz="2400" b="1" noProof="1">
                <a:solidFill>
                  <a:schemeClr val="bg1"/>
                </a:solidFill>
                <a:latin typeface="Consolas" panose="020B0609020204030204" pitchFamily="49" charset="0"/>
              </a:rPr>
              <a:t>c</a:t>
            </a:r>
            <a:r>
              <a:rPr lang="en-US" sz="2400" b="1" noProof="1">
                <a:latin typeface="Consolas" panose="020B0609020204030204" pitchFamily="49" charset="0"/>
              </a:rPr>
              <a:t>.ACG </a:t>
            </a:r>
            <a:r>
              <a:rPr lang="en-US" sz="2400" b="1" dirty="0">
                <a:solidFill>
                  <a:schemeClr val="bg1"/>
                </a:solidFill>
                <a:latin typeface="Consolas" panose="020B0609020204030204" pitchFamily="49" charset="0"/>
              </a:rPr>
              <a:t>AS</a:t>
            </a:r>
            <a:r>
              <a:rPr lang="en-US" sz="2400" b="1" dirty="0">
                <a:latin typeface="Consolas" panose="020B0609020204030204" pitchFamily="49" charset="0"/>
              </a:rPr>
              <a:t> </a:t>
            </a:r>
            <a:r>
              <a:rPr lang="en-US" sz="2400" b="1" dirty="0">
                <a:solidFill>
                  <a:schemeClr val="bg1"/>
                </a:solidFill>
                <a:latin typeface="Consolas" panose="020B0609020204030204" pitchFamily="49" charset="0"/>
              </a:rPr>
              <a:t>'Access Control Gateway'</a:t>
            </a:r>
          </a:p>
          <a:p>
            <a:r>
              <a:rPr lang="en-GB" sz="2400" b="1" dirty="0">
                <a:latin typeface="Consolas" panose="020B0609020204030204" pitchFamily="49" charset="0"/>
              </a:rPr>
              <a:t>FROM Calls AS </a:t>
            </a:r>
            <a:r>
              <a:rPr lang="en-GB" sz="2400" b="1" dirty="0">
                <a:solidFill>
                  <a:schemeClr val="bg1"/>
                </a:solidFill>
                <a:latin typeface="Consolas" panose="020B0609020204030204" pitchFamily="49" charset="0"/>
              </a:rPr>
              <a:t>c</a:t>
            </a:r>
          </a:p>
        </p:txBody>
      </p:sp>
      <p:sp>
        <p:nvSpPr>
          <p:cNvPr id="10" name="AutoShape 5"/>
          <p:cNvSpPr>
            <a:spLocks noChangeArrowheads="1"/>
          </p:cNvSpPr>
          <p:nvPr/>
        </p:nvSpPr>
        <p:spPr bwMode="auto">
          <a:xfrm>
            <a:off x="2136000" y="1941857"/>
            <a:ext cx="2011200" cy="478617"/>
          </a:xfrm>
          <a:prstGeom prst="wedgeRoundRectCallout">
            <a:avLst>
              <a:gd name="adj1" fmla="val 58678"/>
              <a:gd name="adj2" fmla="val 37809"/>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Display Name</a:t>
            </a:r>
          </a:p>
        </p:txBody>
      </p:sp>
      <p:sp>
        <p:nvSpPr>
          <p:cNvPr id="11" name="Arrow: Right 10"/>
          <p:cNvSpPr/>
          <p:nvPr/>
        </p:nvSpPr>
        <p:spPr>
          <a:xfrm>
            <a:off x="5381215" y="3037675"/>
            <a:ext cx="667572" cy="591927"/>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2" name="Slide Number">
            <a:extLst>
              <a:ext uri="{FF2B5EF4-FFF2-40B4-BE49-F238E27FC236}">
                <a16:creationId xmlns:a16="http://schemas.microsoft.com/office/drawing/2014/main" id="{1A27BB88-42A6-4E77-B2F2-02D417ADE3E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9</a:t>
            </a:fld>
            <a:endParaRPr lang="en-US" noProof="0" dirty="0"/>
          </a:p>
        </p:txBody>
      </p:sp>
    </p:spTree>
    <p:extLst>
      <p:ext uri="{BB962C8B-B14F-4D97-AF65-F5344CB8AC3E}">
        <p14:creationId xmlns:p14="http://schemas.microsoft.com/office/powerpoint/2010/main" val="56682989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278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nSpc>
                <a:spcPct val="100000"/>
              </a:lnSpc>
            </a:pPr>
            <a:r>
              <a:rPr lang="en-US" sz="3600" dirty="0"/>
              <a:t>You can </a:t>
            </a:r>
            <a:r>
              <a:rPr lang="en-US" sz="3600" b="1" dirty="0">
                <a:solidFill>
                  <a:schemeClr val="bg1"/>
                </a:solidFill>
              </a:rPr>
              <a:t>concatenate</a:t>
            </a:r>
            <a:r>
              <a:rPr lang="en-US" sz="3600" dirty="0"/>
              <a:t> column names using the </a:t>
            </a:r>
            <a:r>
              <a:rPr lang="en-US" sz="3600" b="1" dirty="0">
                <a:solidFill>
                  <a:schemeClr val="bg1"/>
                </a:solidFill>
                <a:effectLst>
                  <a:outerShdw blurRad="38100" dist="38100" dir="2700000" algn="tl">
                    <a:srgbClr val="000000">
                      <a:alpha val="43137"/>
                    </a:srgbClr>
                  </a:outerShdw>
                </a:effectLst>
                <a:latin typeface="Consolas" panose="020B0609020204030204" pitchFamily="49" charset="0"/>
              </a:rPr>
              <a:t>+</a:t>
            </a:r>
            <a:r>
              <a:rPr lang="en-US" sz="3600" dirty="0">
                <a:solidFill>
                  <a:schemeClr val="bg1"/>
                </a:solidFill>
              </a:rPr>
              <a:t> </a:t>
            </a:r>
            <a:r>
              <a:rPr lang="en-US" sz="3600" dirty="0"/>
              <a:t>operator</a:t>
            </a:r>
          </a:p>
          <a:p>
            <a:pPr lvl="1">
              <a:lnSpc>
                <a:spcPct val="100000"/>
              </a:lnSpc>
              <a:buClr>
                <a:schemeClr val="tx1"/>
              </a:buClr>
            </a:pPr>
            <a:r>
              <a:rPr lang="en-US" sz="3400" b="1" dirty="0">
                <a:solidFill>
                  <a:schemeClr val="bg1"/>
                </a:solidFill>
              </a:rPr>
              <a:t>String literals </a:t>
            </a:r>
            <a:r>
              <a:rPr lang="en-US" sz="3400" dirty="0"/>
              <a:t>are enclosed in </a:t>
            </a:r>
            <a:r>
              <a:rPr lang="en-US" sz="3400" b="1" dirty="0">
                <a:solidFill>
                  <a:schemeClr val="bg1"/>
                </a:solidFill>
              </a:rPr>
              <a:t>single quotes</a:t>
            </a:r>
          </a:p>
          <a:p>
            <a:pPr lvl="1">
              <a:lnSpc>
                <a:spcPct val="100000"/>
              </a:lnSpc>
            </a:pPr>
            <a:r>
              <a:rPr lang="en-US" sz="3400" dirty="0"/>
              <a:t>Column names containing </a:t>
            </a:r>
            <a:r>
              <a:rPr lang="en-US" sz="3400" b="1" dirty="0">
                <a:solidFill>
                  <a:schemeClr val="bg1"/>
                </a:solidFill>
              </a:rPr>
              <a:t>special symbols </a:t>
            </a:r>
            <a:r>
              <a:rPr lang="en-US" sz="3400" dirty="0"/>
              <a:t>use </a:t>
            </a:r>
            <a:r>
              <a:rPr lang="en-US" sz="3400" b="1" dirty="0">
                <a:solidFill>
                  <a:schemeClr val="bg1"/>
                </a:solidFill>
              </a:rPr>
              <a:t>brackets</a:t>
            </a:r>
          </a:p>
          <a:p>
            <a:endParaRPr lang="bg-BG" dirty="0"/>
          </a:p>
        </p:txBody>
      </p:sp>
      <p:sp>
        <p:nvSpPr>
          <p:cNvPr id="504834" name="Rectangle 2"/>
          <p:cNvSpPr>
            <a:spLocks noGrp="1" noChangeArrowheads="1"/>
          </p:cNvSpPr>
          <p:nvPr>
            <p:ph type="title"/>
          </p:nvPr>
        </p:nvSpPr>
        <p:spPr/>
        <p:txBody>
          <a:bodyPr/>
          <a:lstStyle/>
          <a:p>
            <a:r>
              <a:rPr lang="en-US" dirty="0"/>
              <a:t>Concatenation Operator</a:t>
            </a:r>
          </a:p>
        </p:txBody>
      </p:sp>
      <p:graphicFrame>
        <p:nvGraphicFramePr>
          <p:cNvPr id="504837" name="Group 5"/>
          <p:cNvGraphicFramePr>
            <a:graphicFrameLocks noGrp="1"/>
          </p:cNvGraphicFramePr>
          <p:nvPr>
            <p:extLst>
              <p:ext uri="{D42A27DB-BD31-4B8C-83A1-F6EECF244321}">
                <p14:modId xmlns:p14="http://schemas.microsoft.com/office/powerpoint/2010/main" val="1628699913"/>
              </p:ext>
            </p:extLst>
          </p:nvPr>
        </p:nvGraphicFramePr>
        <p:xfrm>
          <a:off x="3200400" y="4769573"/>
          <a:ext cx="5791200" cy="1784604"/>
        </p:xfrm>
        <a:graphic>
          <a:graphicData uri="http://schemas.openxmlformats.org/drawingml/2006/table">
            <a:tbl>
              <a:tblPr/>
              <a:tblGrid>
                <a:gridCol w="3201988">
                  <a:extLst>
                    <a:ext uri="{9D8B030D-6E8A-4147-A177-3AD203B41FA5}">
                      <a16:colId xmlns:a16="http://schemas.microsoft.com/office/drawing/2014/main" val="20000"/>
                    </a:ext>
                  </a:extLst>
                </a:gridCol>
                <a:gridCol w="2589212">
                  <a:extLst>
                    <a:ext uri="{9D8B030D-6E8A-4147-A177-3AD203B41FA5}">
                      <a16:colId xmlns:a16="http://schemas.microsoft.com/office/drawing/2014/main" val="20001"/>
                    </a:ext>
                  </a:extLst>
                </a:gridCol>
              </a:tblGrid>
              <a:tr h="467868">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600" b="1" i="0" u="none" strike="noStrike" cap="none" normalizeH="0" baseline="0" noProof="1">
                          <a:ln>
                            <a:noFill/>
                          </a:ln>
                          <a:solidFill>
                            <a:schemeClr val="tx1"/>
                          </a:solidFill>
                          <a:effectLst/>
                          <a:latin typeface="+mn-lt"/>
                        </a:rPr>
                        <a:t>Full</a:t>
                      </a:r>
                      <a:r>
                        <a:rPr kumimoji="1" lang="en-US" sz="2600" b="1" i="0" u="none" strike="noStrike" cap="none" normalizeH="0" baseline="0" dirty="0">
                          <a:ln>
                            <a:noFill/>
                          </a:ln>
                          <a:solidFill>
                            <a:schemeClr val="tx1"/>
                          </a:solidFill>
                          <a:effectLst/>
                          <a:latin typeface="+mn-lt"/>
                        </a:rPr>
                        <a:t> </a:t>
                      </a:r>
                      <a:r>
                        <a:rPr kumimoji="1" lang="en-US" sz="2600" b="1" i="0" u="none" strike="noStrike" cap="none" normalizeH="0" baseline="0" noProof="1">
                          <a:ln>
                            <a:noFill/>
                          </a:ln>
                          <a:solidFill>
                            <a:schemeClr val="tx1"/>
                          </a:solidFill>
                          <a:effectLst/>
                          <a:latin typeface="+mn-lt"/>
                        </a:rPr>
                        <a:t>Name</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600" b="1" i="0" u="none" strike="noStrike" cap="none" normalizeH="0" baseline="0" dirty="0">
                          <a:ln>
                            <a:noFill/>
                          </a:ln>
                          <a:solidFill>
                            <a:schemeClr val="tx1"/>
                          </a:solidFill>
                          <a:effectLst/>
                          <a:latin typeface="+mn-lt"/>
                        </a:rPr>
                        <a:t>No.</a:t>
                      </a:r>
                      <a:endParaRPr kumimoji="1" lang="en-US" sz="2600" b="1" i="0" u="none" strike="noStrike" cap="none" normalizeH="0" baseline="0" noProof="1">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extLst>
                  <a:ext uri="{0D108BD9-81ED-4DB2-BD59-A6C34878D82A}">
                    <a16:rowId xmlns:a16="http://schemas.microsoft.com/office/drawing/2014/main" val="10000"/>
                  </a:ext>
                </a:extLst>
              </a:tr>
              <a:tr h="438912">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b="1" i="0" u="none" strike="noStrike" cap="none" normalizeH="0" baseline="0" dirty="0">
                          <a:ln>
                            <a:noFill/>
                          </a:ln>
                          <a:solidFill>
                            <a:schemeClr val="tx1"/>
                          </a:solidFill>
                          <a:effectLst/>
                          <a:latin typeface="+mn-lt"/>
                        </a:rPr>
                        <a:t>Guy Gilbert</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2400" b="1" i="0" u="none" strike="noStrike" cap="none" normalizeH="0" baseline="0">
                          <a:ln>
                            <a:noFill/>
                          </a:ln>
                          <a:solidFill>
                            <a:schemeClr val="tx1"/>
                          </a:solidFill>
                          <a:effectLst/>
                          <a:latin typeface="+mn-lt"/>
                        </a:rPr>
                        <a:t>1</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912">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b="1" i="0" u="none" strike="noStrike" cap="none" normalizeH="0" baseline="0">
                          <a:ln>
                            <a:noFill/>
                          </a:ln>
                          <a:solidFill>
                            <a:schemeClr val="tx1"/>
                          </a:solidFill>
                          <a:effectLst/>
                          <a:latin typeface="+mn-lt"/>
                        </a:rPr>
                        <a:t>Kevin Brown</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2400" b="1" i="0" u="none" strike="noStrike" cap="none" normalizeH="0" baseline="0">
                          <a:ln>
                            <a:noFill/>
                          </a:ln>
                          <a:solidFill>
                            <a:schemeClr val="tx1"/>
                          </a:solidFill>
                          <a:effectLst/>
                          <a:latin typeface="+mn-lt"/>
                        </a:rPr>
                        <a:t>2</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8912">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b="1" i="0" u="none" strike="noStrike" cap="none" normalizeH="0" baseline="0" noProof="1">
                          <a:ln>
                            <a:noFill/>
                          </a:ln>
                          <a:solidFill>
                            <a:schemeClr val="tx1"/>
                          </a:solidFill>
                          <a:effectLst/>
                          <a:latin typeface="+mn-lt"/>
                        </a:rPr>
                        <a:t>…</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400" b="1" i="0" u="none" strike="noStrike" cap="none" normalizeH="0" baseline="0" dirty="0">
                          <a:ln>
                            <a:noFill/>
                          </a:ln>
                          <a:solidFill>
                            <a:schemeClr val="tx1"/>
                          </a:solidFill>
                          <a:effectLst/>
                          <a:latin typeface="+mn-lt"/>
                        </a:rPr>
                        <a:t>…</a:t>
                      </a:r>
                      <a:endParaRPr kumimoji="1" lang="bg-BG" sz="24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Slide Number">
            <a:extLst>
              <a:ext uri="{FF2B5EF4-FFF2-40B4-BE49-F238E27FC236}">
                <a16:creationId xmlns:a16="http://schemas.microsoft.com/office/drawing/2014/main" id="{57A0CC7A-F5D0-45AA-9B05-7AD6F8222F9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10</a:t>
            </a:fld>
            <a:endParaRPr lang="en-US" noProof="0" dirty="0"/>
          </a:p>
        </p:txBody>
      </p:sp>
      <p:sp>
        <p:nvSpPr>
          <p:cNvPr id="2" name="Rectangle 4">
            <a:extLst>
              <a:ext uri="{FF2B5EF4-FFF2-40B4-BE49-F238E27FC236}">
                <a16:creationId xmlns:a16="http://schemas.microsoft.com/office/drawing/2014/main" id="{545DD765-206B-2303-1D99-C683B05524D0}"/>
              </a:ext>
            </a:extLst>
          </p:cNvPr>
          <p:cNvSpPr>
            <a:spLocks noChangeArrowheads="1"/>
          </p:cNvSpPr>
          <p:nvPr/>
        </p:nvSpPr>
        <p:spPr bwMode="auto">
          <a:xfrm>
            <a:off x="1838301" y="3350868"/>
            <a:ext cx="8515398" cy="1200329"/>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400" b="1" noProof="1">
                <a:latin typeface="Consolas" pitchFamily="49" charset="0"/>
                <a:cs typeface="Consolas" pitchFamily="49" charset="0"/>
              </a:rPr>
              <a:t>SELECT FirstName </a:t>
            </a:r>
            <a:r>
              <a:rPr lang="en-US" sz="2400" b="1" noProof="1">
                <a:solidFill>
                  <a:schemeClr val="bg1"/>
                </a:solidFill>
                <a:latin typeface="Consolas" pitchFamily="49" charset="0"/>
                <a:cs typeface="Consolas" pitchFamily="49" charset="0"/>
              </a:rPr>
              <a:t>+</a:t>
            </a:r>
            <a:r>
              <a:rPr lang="en-US" sz="2400" b="1" noProof="1">
                <a:latin typeface="Consolas" pitchFamily="49" charset="0"/>
                <a:cs typeface="Consolas" pitchFamily="49" charset="0"/>
              </a:rPr>
              <a:t> ' ' </a:t>
            </a:r>
            <a:r>
              <a:rPr lang="en-US" sz="2400" b="1" noProof="1">
                <a:solidFill>
                  <a:schemeClr val="bg1"/>
                </a:solidFill>
                <a:latin typeface="Consolas" pitchFamily="49" charset="0"/>
                <a:cs typeface="Consolas" pitchFamily="49" charset="0"/>
              </a:rPr>
              <a:t>+</a:t>
            </a:r>
            <a:r>
              <a:rPr lang="en-US" sz="2400" b="1" noProof="1">
                <a:latin typeface="Consolas" pitchFamily="49" charset="0"/>
                <a:cs typeface="Consolas" pitchFamily="49" charset="0"/>
              </a:rPr>
              <a:t> LastName AS </a:t>
            </a:r>
            <a:r>
              <a:rPr lang="en-US" sz="2400" b="1" noProof="1">
                <a:solidFill>
                  <a:schemeClr val="bg1"/>
                </a:solidFill>
                <a:latin typeface="Consolas" pitchFamily="49" charset="0"/>
                <a:cs typeface="Consolas" pitchFamily="49" charset="0"/>
              </a:rPr>
              <a:t>[</a:t>
            </a:r>
            <a:r>
              <a:rPr lang="en-US" sz="2400" b="1" noProof="1">
                <a:latin typeface="Consolas" pitchFamily="49" charset="0"/>
                <a:cs typeface="Consolas" pitchFamily="49" charset="0"/>
              </a:rPr>
              <a:t>Full Name</a:t>
            </a:r>
            <a:r>
              <a:rPr lang="en-US" sz="2400" b="1" noProof="1">
                <a:solidFill>
                  <a:schemeClr val="bg1"/>
                </a:solidFill>
                <a:latin typeface="Consolas" pitchFamily="49" charset="0"/>
                <a:cs typeface="Consolas" pitchFamily="49" charset="0"/>
              </a:rPr>
              <a:t>]</a:t>
            </a:r>
            <a:r>
              <a:rPr lang="en-US" sz="2400" b="1" noProof="1">
                <a:latin typeface="Consolas" pitchFamily="49" charset="0"/>
                <a:cs typeface="Consolas" pitchFamily="49" charset="0"/>
              </a:rPr>
              <a:t>,</a:t>
            </a:r>
          </a:p>
          <a:p>
            <a:pPr eaLnBrk="0" hangingPunct="0">
              <a:buClr>
                <a:schemeClr val="accent5">
                  <a:lumMod val="40000"/>
                  <a:lumOff val="60000"/>
                </a:schemeClr>
              </a:buClr>
              <a:buSzPct val="70000"/>
            </a:pPr>
            <a:r>
              <a:rPr lang="en-US" sz="2400" b="1" noProof="1">
                <a:latin typeface="Consolas" pitchFamily="49" charset="0"/>
                <a:cs typeface="Consolas" pitchFamily="49" charset="0"/>
              </a:rPr>
              <a:t>       EmployeeID AS </a:t>
            </a:r>
            <a:r>
              <a:rPr lang="en-US" sz="2400" b="1" noProof="1">
                <a:solidFill>
                  <a:schemeClr val="bg1"/>
                </a:solidFill>
                <a:latin typeface="Consolas" pitchFamily="49" charset="0"/>
                <a:cs typeface="Consolas" pitchFamily="49" charset="0"/>
              </a:rPr>
              <a:t>[</a:t>
            </a:r>
            <a:r>
              <a:rPr lang="en-US" sz="2400" b="1" noProof="1">
                <a:latin typeface="Consolas" pitchFamily="49" charset="0"/>
                <a:cs typeface="Consolas" pitchFamily="49" charset="0"/>
              </a:rPr>
              <a:t>No.</a:t>
            </a:r>
            <a:r>
              <a:rPr lang="en-US" sz="2400" b="1" noProof="1">
                <a:solidFill>
                  <a:schemeClr val="bg1"/>
                </a:solidFill>
                <a:latin typeface="Consolas" pitchFamily="49" charset="0"/>
                <a:cs typeface="Consolas" pitchFamily="49" charset="0"/>
              </a:rPr>
              <a:t>]</a:t>
            </a:r>
          </a:p>
          <a:p>
            <a:pPr eaLnBrk="0" hangingPunct="0">
              <a:buClr>
                <a:schemeClr val="accent5">
                  <a:lumMod val="40000"/>
                  <a:lumOff val="60000"/>
                </a:schemeClr>
              </a:buClr>
              <a:buSzPct val="70000"/>
            </a:pPr>
            <a:r>
              <a:rPr lang="en-US" sz="2400" b="1" noProof="1">
                <a:latin typeface="Consolas" pitchFamily="49" charset="0"/>
                <a:cs typeface="Consolas" pitchFamily="49" charset="0"/>
              </a:rPr>
              <a:t>  FROM Employees</a:t>
            </a:r>
          </a:p>
        </p:txBody>
      </p:sp>
    </p:spTree>
    <p:extLst>
      <p:ext uri="{BB962C8B-B14F-4D97-AF65-F5344CB8AC3E}">
        <p14:creationId xmlns:p14="http://schemas.microsoft.com/office/powerpoint/2010/main" val="311350366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048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normAutofit/>
          </a:bodyPr>
          <a:lstStyle/>
          <a:p>
            <a:r>
              <a:rPr lang="en-US" dirty="0"/>
              <a:t>Find information about all employees, listing their </a:t>
            </a:r>
            <a:r>
              <a:rPr lang="en-US" b="1" dirty="0">
                <a:solidFill>
                  <a:schemeClr val="bg1"/>
                </a:solidFill>
              </a:rPr>
              <a:t>full name</a:t>
            </a:r>
            <a:r>
              <a:rPr lang="en-US" dirty="0"/>
              <a:t>, </a:t>
            </a:r>
            <a:br>
              <a:rPr lang="en-US" dirty="0"/>
            </a:br>
            <a:r>
              <a:rPr lang="en-US" b="1" dirty="0">
                <a:solidFill>
                  <a:schemeClr val="bg1"/>
                </a:solidFill>
              </a:rPr>
              <a:t>job</a:t>
            </a:r>
            <a:r>
              <a:rPr lang="en-US" dirty="0">
                <a:solidFill>
                  <a:schemeClr val="accent1"/>
                </a:solidFill>
              </a:rPr>
              <a:t> </a:t>
            </a:r>
            <a:r>
              <a:rPr lang="en-US" b="1" dirty="0">
                <a:solidFill>
                  <a:schemeClr val="bg1"/>
                </a:solidFill>
              </a:rPr>
              <a:t>title</a:t>
            </a:r>
            <a:r>
              <a:rPr lang="en-US" dirty="0"/>
              <a:t> and </a:t>
            </a:r>
            <a:r>
              <a:rPr lang="en-US" b="1" dirty="0">
                <a:solidFill>
                  <a:schemeClr val="bg1"/>
                </a:solidFill>
              </a:rPr>
              <a:t>salary</a:t>
            </a:r>
          </a:p>
          <a:p>
            <a:pPr lvl="1"/>
            <a:r>
              <a:rPr lang="en-US" dirty="0"/>
              <a:t>Use </a:t>
            </a:r>
            <a:r>
              <a:rPr lang="en-US" b="1" dirty="0">
                <a:solidFill>
                  <a:schemeClr val="bg1"/>
                </a:solidFill>
              </a:rPr>
              <a:t>concatenation</a:t>
            </a:r>
            <a:r>
              <a:rPr lang="en-US" dirty="0"/>
              <a:t> to display first and last names as </a:t>
            </a:r>
            <a:r>
              <a:rPr lang="en-US" b="1" dirty="0">
                <a:solidFill>
                  <a:schemeClr val="bg1"/>
                </a:solidFill>
              </a:rPr>
              <a:t>one field</a:t>
            </a:r>
          </a:p>
          <a:p>
            <a:endParaRPr lang="en-US" dirty="0">
              <a:solidFill>
                <a:schemeClr val="accent1"/>
              </a:solidFill>
            </a:endParaRPr>
          </a:p>
          <a:p>
            <a:endParaRPr lang="en-US" dirty="0">
              <a:solidFill>
                <a:schemeClr val="accent1"/>
              </a:solidFill>
            </a:endParaRPr>
          </a:p>
          <a:p>
            <a:endParaRPr lang="en-US" dirty="0">
              <a:solidFill>
                <a:schemeClr val="accent1"/>
              </a:solidFill>
            </a:endParaRPr>
          </a:p>
          <a:p>
            <a:endParaRPr lang="en-US" dirty="0">
              <a:solidFill>
                <a:schemeClr val="accent1"/>
              </a:solidFill>
            </a:endParaRPr>
          </a:p>
          <a:p>
            <a:pPr lvl="1">
              <a:spcBef>
                <a:spcPts val="1200"/>
              </a:spcBef>
            </a:pPr>
            <a:r>
              <a:rPr lang="en-US" dirty="0"/>
              <a:t>Note: Query </a:t>
            </a:r>
            <a:r>
              <a:rPr lang="en-US" b="1" noProof="1">
                <a:solidFill>
                  <a:schemeClr val="bg1"/>
                </a:solidFill>
                <a:latin typeface="Consolas" panose="020B0609020204030204" pitchFamily="49" charset="0"/>
              </a:rPr>
              <a:t>SoftUni</a:t>
            </a:r>
            <a:r>
              <a:rPr lang="en-US" dirty="0"/>
              <a:t> database</a:t>
            </a:r>
          </a:p>
        </p:txBody>
      </p:sp>
      <p:sp>
        <p:nvSpPr>
          <p:cNvPr id="4" name="Title 3"/>
          <p:cNvSpPr>
            <a:spLocks noGrp="1"/>
          </p:cNvSpPr>
          <p:nvPr>
            <p:ph type="title"/>
          </p:nvPr>
        </p:nvSpPr>
        <p:spPr/>
        <p:txBody>
          <a:bodyPr/>
          <a:lstStyle/>
          <a:p>
            <a:r>
              <a:rPr lang="en-US" dirty="0"/>
              <a:t>Problem: Employee Summary</a:t>
            </a:r>
          </a:p>
        </p:txBody>
      </p:sp>
      <p:sp>
        <p:nvSpPr>
          <p:cNvPr id="7" name="Slide Number">
            <a:extLst>
              <a:ext uri="{FF2B5EF4-FFF2-40B4-BE49-F238E27FC236}">
                <a16:creationId xmlns:a16="http://schemas.microsoft.com/office/drawing/2014/main" id="{0E4A01DC-4E57-459E-BAB4-AD0C52CB6B9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11</a:t>
            </a:fld>
            <a:endParaRPr lang="en-US" noProof="0" dirty="0"/>
          </a:p>
        </p:txBody>
      </p:sp>
      <p:pic>
        <p:nvPicPr>
          <p:cNvPr id="3" name="Picture 2">
            <a:extLst>
              <a:ext uri="{FF2B5EF4-FFF2-40B4-BE49-F238E27FC236}">
                <a16:creationId xmlns:a16="http://schemas.microsoft.com/office/drawing/2014/main" id="{0E31EF2C-0F94-43B6-9275-32C3C3931F6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6000" y="3204000"/>
            <a:ext cx="4150388" cy="2298385"/>
          </a:xfrm>
          <a:prstGeom prst="rect">
            <a:avLst/>
          </a:prstGeom>
        </p:spPr>
      </p:pic>
    </p:spTree>
    <p:extLst>
      <p:ext uri="{BB962C8B-B14F-4D97-AF65-F5344CB8AC3E}">
        <p14:creationId xmlns:p14="http://schemas.microsoft.com/office/powerpoint/2010/main" val="244939951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C6AD6B5-8BC6-0521-38FD-D79CB2EADEE5}"/>
              </a:ext>
            </a:extLst>
          </p:cNvPr>
          <p:cNvSpPr>
            <a:spLocks noChangeArrowheads="1"/>
          </p:cNvSpPr>
          <p:nvPr/>
        </p:nvSpPr>
        <p:spPr bwMode="auto">
          <a:xfrm>
            <a:off x="2068500" y="2754000"/>
            <a:ext cx="8055000" cy="2554545"/>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3200" b="1" noProof="1">
                <a:latin typeface="Consolas" pitchFamily="49" charset="0"/>
                <a:cs typeface="Consolas" pitchFamily="49" charset="0"/>
              </a:rPr>
              <a:t>SELECT</a:t>
            </a:r>
            <a:r>
              <a:rPr lang="en-US" sz="3200" b="1" noProof="1">
                <a:solidFill>
                  <a:schemeClr val="bg1"/>
                </a:solidFill>
                <a:latin typeface="Consolas" pitchFamily="49" charset="0"/>
                <a:cs typeface="Consolas" pitchFamily="49" charset="0"/>
              </a:rPr>
              <a:t> FirstName + ' ' + LastName</a:t>
            </a:r>
          </a:p>
          <a:p>
            <a:pPr eaLnBrk="0" hangingPunct="0">
              <a:buClr>
                <a:schemeClr val="accent5">
                  <a:lumMod val="40000"/>
                  <a:lumOff val="60000"/>
                </a:schemeClr>
              </a:buClr>
              <a:buSzPct val="70000"/>
            </a:pPr>
            <a:r>
              <a:rPr lang="en-US" sz="3200" b="1" noProof="1">
                <a:solidFill>
                  <a:srgbClr val="FBEEDC"/>
                </a:solidFill>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AS</a:t>
            </a:r>
            <a:r>
              <a:rPr lang="en-US" sz="3200" b="1" noProof="1">
                <a:solidFill>
                  <a:srgbClr val="FBEEDC"/>
                </a:solidFill>
                <a:latin typeface="Consolas" pitchFamily="49" charset="0"/>
                <a:cs typeface="Consolas" pitchFamily="49" charset="0"/>
              </a:rPr>
              <a:t> </a:t>
            </a:r>
            <a:r>
              <a:rPr lang="en-US" sz="3200" b="1" noProof="1">
                <a:latin typeface="Consolas" pitchFamily="49" charset="0"/>
                <a:cs typeface="Consolas" pitchFamily="49" charset="0"/>
              </a:rPr>
              <a:t>[</a:t>
            </a:r>
            <a:r>
              <a:rPr lang="en-US" sz="3200" b="1" noProof="1">
                <a:solidFill>
                  <a:schemeClr val="bg1"/>
                </a:solidFill>
                <a:latin typeface="Consolas" pitchFamily="49" charset="0"/>
                <a:cs typeface="Consolas" pitchFamily="49" charset="0"/>
              </a:rPr>
              <a:t>Full Name</a:t>
            </a:r>
            <a:r>
              <a:rPr lang="en-US" sz="3200" b="1" noProof="1">
                <a:latin typeface="Consolas" pitchFamily="49" charset="0"/>
                <a:cs typeface="Consolas" pitchFamily="49" charset="0"/>
              </a:rPr>
              <a:t>],</a:t>
            </a:r>
          </a:p>
          <a:p>
            <a:pPr eaLnBrk="0" hangingPunct="0">
              <a:buClr>
                <a:schemeClr val="accent5">
                  <a:lumMod val="40000"/>
                  <a:lumOff val="60000"/>
                </a:schemeClr>
              </a:buClr>
              <a:buSzPct val="70000"/>
            </a:pPr>
            <a:r>
              <a:rPr lang="en-US" sz="3200" b="1" noProof="1">
                <a:latin typeface="Consolas" pitchFamily="49" charset="0"/>
                <a:cs typeface="Consolas" pitchFamily="49" charset="0"/>
              </a:rPr>
              <a:t>       JobTitle,</a:t>
            </a:r>
          </a:p>
          <a:p>
            <a:pPr eaLnBrk="0" hangingPunct="0">
              <a:buClr>
                <a:schemeClr val="accent5">
                  <a:lumMod val="40000"/>
                  <a:lumOff val="60000"/>
                </a:schemeClr>
              </a:buClr>
              <a:buSzPct val="70000"/>
            </a:pPr>
            <a:r>
              <a:rPr lang="en-US" sz="3200" b="1" noProof="1">
                <a:latin typeface="Consolas" pitchFamily="49" charset="0"/>
                <a:cs typeface="Consolas" pitchFamily="49" charset="0"/>
              </a:rPr>
              <a:t>       Salary</a:t>
            </a:r>
          </a:p>
          <a:p>
            <a:pPr eaLnBrk="0" hangingPunct="0">
              <a:buClr>
                <a:schemeClr val="accent5">
                  <a:lumMod val="40000"/>
                  <a:lumOff val="60000"/>
                </a:schemeClr>
              </a:buClr>
              <a:buSzPct val="70000"/>
            </a:pPr>
            <a:r>
              <a:rPr lang="en-US" sz="3200" b="1" noProof="1">
                <a:latin typeface="Consolas" pitchFamily="49" charset="0"/>
                <a:cs typeface="Consolas" pitchFamily="49" charset="0"/>
              </a:rPr>
              <a:t>  FROM Employees</a:t>
            </a:r>
          </a:p>
        </p:txBody>
      </p:sp>
      <p:sp>
        <p:nvSpPr>
          <p:cNvPr id="4" name="Title 3"/>
          <p:cNvSpPr>
            <a:spLocks noGrp="1"/>
          </p:cNvSpPr>
          <p:nvPr>
            <p:ph type="title"/>
          </p:nvPr>
        </p:nvSpPr>
        <p:spPr/>
        <p:txBody>
          <a:bodyPr/>
          <a:lstStyle/>
          <a:p>
            <a:r>
              <a:rPr lang="en-US" dirty="0"/>
              <a:t>Solution: Employee Summary</a:t>
            </a:r>
          </a:p>
        </p:txBody>
      </p:sp>
      <p:sp>
        <p:nvSpPr>
          <p:cNvPr id="8" name="AutoShape 5"/>
          <p:cNvSpPr>
            <a:spLocks noChangeArrowheads="1"/>
          </p:cNvSpPr>
          <p:nvPr/>
        </p:nvSpPr>
        <p:spPr bwMode="auto">
          <a:xfrm>
            <a:off x="4026000" y="1989000"/>
            <a:ext cx="2348345" cy="636149"/>
          </a:xfrm>
          <a:prstGeom prst="wedgeRoundRectCallout">
            <a:avLst>
              <a:gd name="adj1" fmla="val 61851"/>
              <a:gd name="adj2" fmla="val 46309"/>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Concatenation</a:t>
            </a:r>
          </a:p>
        </p:txBody>
      </p:sp>
      <p:sp>
        <p:nvSpPr>
          <p:cNvPr id="9" name="AutoShape 5"/>
          <p:cNvSpPr>
            <a:spLocks noChangeArrowheads="1"/>
          </p:cNvSpPr>
          <p:nvPr/>
        </p:nvSpPr>
        <p:spPr bwMode="auto">
          <a:xfrm>
            <a:off x="6456000" y="3834000"/>
            <a:ext cx="2279073" cy="616526"/>
          </a:xfrm>
          <a:prstGeom prst="wedgeRoundRectCallout">
            <a:avLst>
              <a:gd name="adj1" fmla="val -58770"/>
              <a:gd name="adj2" fmla="val -35383"/>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Column Alias</a:t>
            </a:r>
          </a:p>
        </p:txBody>
      </p:sp>
      <p:sp>
        <p:nvSpPr>
          <p:cNvPr id="10" name="Slide Number">
            <a:extLst>
              <a:ext uri="{FF2B5EF4-FFF2-40B4-BE49-F238E27FC236}">
                <a16:creationId xmlns:a16="http://schemas.microsoft.com/office/drawing/2014/main" id="{43A42900-EEA9-4716-B0E7-A5D64DC4FE45}"/>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12</a:t>
            </a:fld>
            <a:endParaRPr lang="en-US" noProof="0" dirty="0"/>
          </a:p>
        </p:txBody>
      </p:sp>
    </p:spTree>
    <p:extLst>
      <p:ext uri="{BB962C8B-B14F-4D97-AF65-F5344CB8AC3E}">
        <p14:creationId xmlns:p14="http://schemas.microsoft.com/office/powerpoint/2010/main" val="250974047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nSpc>
                <a:spcPct val="125000"/>
              </a:lnSpc>
            </a:pPr>
            <a:r>
              <a:rPr lang="en-US" sz="3200" dirty="0"/>
              <a:t>Use </a:t>
            </a:r>
            <a:r>
              <a:rPr lang="en-US" sz="3200" b="1" dirty="0">
                <a:solidFill>
                  <a:schemeClr val="bg1"/>
                </a:solidFill>
                <a:latin typeface="Consolas" panose="020B0609020204030204" pitchFamily="49" charset="0"/>
              </a:rPr>
              <a:t>DISTINCT</a:t>
            </a:r>
            <a:r>
              <a:rPr lang="en-US" sz="3200" dirty="0"/>
              <a:t> to eliminate </a:t>
            </a:r>
            <a:r>
              <a:rPr lang="en-US" sz="3200" b="1" dirty="0">
                <a:solidFill>
                  <a:schemeClr val="bg1"/>
                </a:solidFill>
              </a:rPr>
              <a:t>duplicate</a:t>
            </a:r>
            <a:r>
              <a:rPr lang="en-US" sz="3200" dirty="0"/>
              <a:t> results</a:t>
            </a:r>
          </a:p>
          <a:p>
            <a:pPr>
              <a:lnSpc>
                <a:spcPct val="125000"/>
              </a:lnSpc>
            </a:pPr>
            <a:endParaRPr lang="en-US" dirty="0"/>
          </a:p>
          <a:p>
            <a:pPr>
              <a:lnSpc>
                <a:spcPct val="125000"/>
              </a:lnSpc>
            </a:pPr>
            <a:r>
              <a:rPr lang="en-US" sz="3200" dirty="0"/>
              <a:t>Filter rows by specific </a:t>
            </a:r>
            <a:r>
              <a:rPr lang="en-US" sz="3200" b="1" dirty="0">
                <a:solidFill>
                  <a:schemeClr val="bg1"/>
                </a:solidFill>
              </a:rPr>
              <a:t>conditions</a:t>
            </a:r>
            <a:r>
              <a:rPr lang="en-US" sz="3200" dirty="0"/>
              <a:t> using the </a:t>
            </a:r>
            <a:r>
              <a:rPr lang="en-US" sz="3200" b="1" dirty="0">
                <a:solidFill>
                  <a:schemeClr val="bg1"/>
                </a:solidFill>
                <a:latin typeface="Consolas" pitchFamily="49" charset="0"/>
              </a:rPr>
              <a:t>WHERE</a:t>
            </a:r>
            <a:r>
              <a:rPr lang="en-US" sz="3200" dirty="0"/>
              <a:t> clause</a:t>
            </a:r>
          </a:p>
          <a:p>
            <a:pPr>
              <a:lnSpc>
                <a:spcPct val="125000"/>
              </a:lnSpc>
            </a:pPr>
            <a:endParaRPr lang="en-US" dirty="0"/>
          </a:p>
          <a:p>
            <a:pPr>
              <a:lnSpc>
                <a:spcPct val="100000"/>
              </a:lnSpc>
              <a:spcBef>
                <a:spcPts val="0"/>
              </a:spcBef>
              <a:spcAft>
                <a:spcPts val="0"/>
              </a:spcAft>
            </a:pPr>
            <a:endParaRPr lang="en-US" dirty="0"/>
          </a:p>
          <a:p>
            <a:pPr>
              <a:lnSpc>
                <a:spcPct val="125000"/>
              </a:lnSpc>
              <a:spcBef>
                <a:spcPts val="0"/>
              </a:spcBef>
            </a:pPr>
            <a:r>
              <a:rPr lang="en-US" sz="3200" dirty="0"/>
              <a:t>Other </a:t>
            </a:r>
            <a:r>
              <a:rPr lang="en-US" sz="3200" b="1" dirty="0">
                <a:solidFill>
                  <a:schemeClr val="bg1"/>
                </a:solidFill>
              </a:rPr>
              <a:t>logical operators </a:t>
            </a:r>
            <a:r>
              <a:rPr lang="en-US" sz="3200" dirty="0"/>
              <a:t>can be used for greater control</a:t>
            </a:r>
          </a:p>
        </p:txBody>
      </p:sp>
      <p:sp>
        <p:nvSpPr>
          <p:cNvPr id="510978" name="Rectangle 2"/>
          <p:cNvSpPr>
            <a:spLocks noGrp="1" noChangeArrowheads="1"/>
          </p:cNvSpPr>
          <p:nvPr>
            <p:ph type="title"/>
          </p:nvPr>
        </p:nvSpPr>
        <p:spPr/>
        <p:txBody>
          <a:bodyPr/>
          <a:lstStyle/>
          <a:p>
            <a:r>
              <a:rPr lang="en-US" dirty="0"/>
              <a:t>Filtering the Selected Rows</a:t>
            </a:r>
          </a:p>
        </p:txBody>
      </p:sp>
      <p:sp>
        <p:nvSpPr>
          <p:cNvPr id="510980" name="Rectangle 4"/>
          <p:cNvSpPr>
            <a:spLocks noChangeArrowheads="1"/>
          </p:cNvSpPr>
          <p:nvPr/>
        </p:nvSpPr>
        <p:spPr bwMode="auto">
          <a:xfrm>
            <a:off x="726002" y="3429000"/>
            <a:ext cx="7620000" cy="1384995"/>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latin typeface="Consolas" pitchFamily="49" charset="0"/>
              </a:rPr>
              <a:t>SELECT LastName, DepartmentID </a:t>
            </a:r>
          </a:p>
          <a:p>
            <a:pPr eaLnBrk="0" hangingPunct="0">
              <a:buClr>
                <a:schemeClr val="accent5">
                  <a:lumMod val="40000"/>
                  <a:lumOff val="60000"/>
                </a:schemeClr>
              </a:buClr>
              <a:buSzPct val="70000"/>
            </a:pPr>
            <a:r>
              <a:rPr lang="en-US" sz="2800" b="1" noProof="1">
                <a:latin typeface="Consolas" pitchFamily="49" charset="0"/>
              </a:rPr>
              <a:t>  FROM Employees </a:t>
            </a:r>
          </a:p>
          <a:p>
            <a:pPr eaLnBrk="0" hangingPunct="0">
              <a:buClr>
                <a:schemeClr val="accent5">
                  <a:lumMod val="40000"/>
                  <a:lumOff val="60000"/>
                </a:schemeClr>
              </a:buClr>
              <a:buSzPct val="70000"/>
            </a:pPr>
            <a:r>
              <a:rPr lang="en-US" sz="2800" b="1" noProof="1">
                <a:latin typeface="Consolas" pitchFamily="49" charset="0"/>
              </a:rPr>
              <a:t> </a:t>
            </a:r>
            <a:r>
              <a:rPr lang="en-US" sz="2800" b="1" noProof="1">
                <a:solidFill>
                  <a:schemeClr val="bg1"/>
                </a:solidFill>
                <a:latin typeface="Consolas" pitchFamily="49" charset="0"/>
              </a:rPr>
              <a:t>WHERE</a:t>
            </a:r>
            <a:r>
              <a:rPr lang="en-US" sz="2800" b="1" noProof="1">
                <a:latin typeface="Consolas" pitchFamily="49" charset="0"/>
              </a:rPr>
              <a:t> DepartmentID = 1</a:t>
            </a:r>
          </a:p>
        </p:txBody>
      </p:sp>
      <p:sp>
        <p:nvSpPr>
          <p:cNvPr id="511004" name="Rectangle 28"/>
          <p:cNvSpPr>
            <a:spLocks noChangeArrowheads="1"/>
          </p:cNvSpPr>
          <p:nvPr/>
        </p:nvSpPr>
        <p:spPr bwMode="auto">
          <a:xfrm>
            <a:off x="726000" y="5454361"/>
            <a:ext cx="7620000" cy="954107"/>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latin typeface="Consolas" pitchFamily="49" charset="0"/>
              </a:rPr>
              <a:t>SELECT LastName, Salary FROM Employees</a:t>
            </a:r>
          </a:p>
          <a:p>
            <a:pPr eaLnBrk="0" hangingPunct="0">
              <a:buClr>
                <a:schemeClr val="accent5">
                  <a:lumMod val="40000"/>
                  <a:lumOff val="60000"/>
                </a:schemeClr>
              </a:buClr>
              <a:buSzPct val="70000"/>
            </a:pPr>
            <a:r>
              <a:rPr lang="en-US" sz="2800" b="1" noProof="1">
                <a:latin typeface="Consolas" pitchFamily="49" charset="0"/>
              </a:rPr>
              <a:t> WHERE Salary </a:t>
            </a:r>
            <a:r>
              <a:rPr lang="en-US" sz="2800" b="1" noProof="1">
                <a:solidFill>
                  <a:schemeClr val="bg1"/>
                </a:solidFill>
                <a:latin typeface="Consolas" pitchFamily="49" charset="0"/>
              </a:rPr>
              <a:t>&lt;=</a:t>
            </a:r>
            <a:r>
              <a:rPr lang="en-US" sz="2800" b="1" noProof="1">
                <a:latin typeface="Consolas" pitchFamily="49" charset="0"/>
              </a:rPr>
              <a:t> 20000</a:t>
            </a:r>
          </a:p>
        </p:txBody>
      </p:sp>
      <p:sp>
        <p:nvSpPr>
          <p:cNvPr id="9" name="Rectangle 19"/>
          <p:cNvSpPr>
            <a:spLocks noChangeArrowheads="1"/>
          </p:cNvSpPr>
          <p:nvPr/>
        </p:nvSpPr>
        <p:spPr bwMode="auto">
          <a:xfrm>
            <a:off x="726002" y="1854000"/>
            <a:ext cx="7619998" cy="954107"/>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latin typeface="Consolas" pitchFamily="49" charset="0"/>
              </a:rPr>
              <a:t>SELECT </a:t>
            </a:r>
            <a:r>
              <a:rPr lang="en-US" sz="2800" b="1" noProof="1">
                <a:solidFill>
                  <a:schemeClr val="bg1"/>
                </a:solidFill>
                <a:latin typeface="Consolas" pitchFamily="49" charset="0"/>
              </a:rPr>
              <a:t>DISTINCT</a:t>
            </a:r>
            <a:r>
              <a:rPr lang="en-US" sz="2800" b="1" noProof="1">
                <a:latin typeface="Consolas" pitchFamily="49" charset="0"/>
              </a:rPr>
              <a:t> DepartmentID</a:t>
            </a:r>
          </a:p>
          <a:p>
            <a:pPr eaLnBrk="0" hangingPunct="0">
              <a:buClr>
                <a:schemeClr val="accent5">
                  <a:lumMod val="40000"/>
                  <a:lumOff val="60000"/>
                </a:schemeClr>
              </a:buClr>
              <a:buSzPct val="70000"/>
            </a:pPr>
            <a:r>
              <a:rPr lang="en-US" sz="2800" b="1" noProof="1">
                <a:latin typeface="Consolas" pitchFamily="49" charset="0"/>
              </a:rPr>
              <a:t>  FROM Employees</a:t>
            </a:r>
          </a:p>
        </p:txBody>
      </p:sp>
      <p:sp>
        <p:nvSpPr>
          <p:cNvPr id="8" name="Slide Number">
            <a:extLst>
              <a:ext uri="{FF2B5EF4-FFF2-40B4-BE49-F238E27FC236}">
                <a16:creationId xmlns:a16="http://schemas.microsoft.com/office/drawing/2014/main" id="{B619F7DB-C4C5-4A61-B3D3-7DAC2B5B112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13</a:t>
            </a:fld>
            <a:endParaRPr lang="en-US" noProof="0" dirty="0"/>
          </a:p>
        </p:txBody>
      </p:sp>
    </p:spTree>
    <p:extLst>
      <p:ext uri="{BB962C8B-B14F-4D97-AF65-F5344CB8AC3E}">
        <p14:creationId xmlns:p14="http://schemas.microsoft.com/office/powerpoint/2010/main" val="240201633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098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1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80" grpId="0" animBg="1"/>
      <p:bldP spid="51100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US" sz="3200" dirty="0"/>
              <a:t>Combine conditions using </a:t>
            </a:r>
            <a:r>
              <a:rPr lang="en-US" sz="3200" b="1" dirty="0">
                <a:solidFill>
                  <a:schemeClr val="bg1"/>
                </a:solidFill>
                <a:latin typeface="Consolas" pitchFamily="49" charset="0"/>
                <a:cs typeface="Consolas" pitchFamily="49" charset="0"/>
              </a:rPr>
              <a:t>NOT</a:t>
            </a:r>
            <a:r>
              <a:rPr lang="en-US" sz="3200" dirty="0"/>
              <a:t>, </a:t>
            </a:r>
            <a:r>
              <a:rPr lang="en-US" sz="3200" b="1" dirty="0">
                <a:solidFill>
                  <a:schemeClr val="bg1"/>
                </a:solidFill>
                <a:latin typeface="Consolas" pitchFamily="49" charset="0"/>
              </a:rPr>
              <a:t>OR</a:t>
            </a:r>
            <a:r>
              <a:rPr lang="en-US" sz="3200" dirty="0"/>
              <a:t>, </a:t>
            </a:r>
            <a:r>
              <a:rPr lang="en-US" sz="3200" b="1" noProof="1">
                <a:solidFill>
                  <a:schemeClr val="bg1"/>
                </a:solidFill>
                <a:latin typeface="Consolas" pitchFamily="49" charset="0"/>
              </a:rPr>
              <a:t>AND</a:t>
            </a:r>
            <a:r>
              <a:rPr lang="en-US" sz="3200" dirty="0">
                <a:solidFill>
                  <a:schemeClr val="tx2">
                    <a:lumMod val="75000"/>
                  </a:schemeClr>
                </a:solidFill>
              </a:rPr>
              <a:t> </a:t>
            </a:r>
            <a:r>
              <a:rPr lang="en-US" sz="3200" dirty="0"/>
              <a:t>and </a:t>
            </a:r>
            <a:r>
              <a:rPr lang="en-US" sz="3200" b="1" dirty="0">
                <a:solidFill>
                  <a:schemeClr val="bg1"/>
                </a:solidFill>
              </a:rPr>
              <a:t>brackets</a:t>
            </a:r>
          </a:p>
          <a:p>
            <a:pPr>
              <a:spcBef>
                <a:spcPts val="8400"/>
              </a:spcBef>
            </a:pPr>
            <a:r>
              <a:rPr lang="en-US" sz="3200" dirty="0"/>
              <a:t>Using </a:t>
            </a:r>
            <a:r>
              <a:rPr lang="en-US" sz="3200" b="1" dirty="0">
                <a:solidFill>
                  <a:schemeClr val="bg1"/>
                </a:solidFill>
                <a:latin typeface="Consolas" pitchFamily="49" charset="0"/>
              </a:rPr>
              <a:t>BETWEEN</a:t>
            </a:r>
            <a:r>
              <a:rPr lang="en-US" sz="3200" dirty="0">
                <a:solidFill>
                  <a:schemeClr val="tx2">
                    <a:lumMod val="75000"/>
                  </a:schemeClr>
                </a:solidFill>
              </a:rPr>
              <a:t> </a:t>
            </a:r>
            <a:r>
              <a:rPr lang="en-US" sz="3200" dirty="0"/>
              <a:t>operator to </a:t>
            </a:r>
            <a:r>
              <a:rPr lang="en-US" sz="3200" b="1" dirty="0">
                <a:solidFill>
                  <a:schemeClr val="bg1"/>
                </a:solidFill>
              </a:rPr>
              <a:t>specify a range</a:t>
            </a:r>
            <a:endParaRPr lang="en-US" dirty="0"/>
          </a:p>
          <a:p>
            <a:pPr>
              <a:spcBef>
                <a:spcPts val="8400"/>
              </a:spcBef>
            </a:pPr>
            <a:r>
              <a:rPr lang="en-US" sz="3200" dirty="0"/>
              <a:t>Using </a:t>
            </a:r>
            <a:r>
              <a:rPr lang="en-US" sz="3200" b="1" dirty="0">
                <a:solidFill>
                  <a:schemeClr val="bg1"/>
                </a:solidFill>
                <a:latin typeface="Consolas" pitchFamily="49" charset="0"/>
              </a:rPr>
              <a:t>IN</a:t>
            </a:r>
            <a:r>
              <a:rPr lang="en-US" sz="3200" b="1" dirty="0">
                <a:solidFill>
                  <a:schemeClr val="bg1"/>
                </a:solidFill>
              </a:rPr>
              <a:t> </a:t>
            </a:r>
            <a:r>
              <a:rPr lang="en-US" sz="3200" b="1" dirty="0">
                <a:latin typeface="Consolas" pitchFamily="49" charset="0"/>
              </a:rPr>
              <a:t>/</a:t>
            </a:r>
            <a:r>
              <a:rPr lang="en-US" sz="3200" b="1" dirty="0">
                <a:solidFill>
                  <a:schemeClr val="bg1"/>
                </a:solidFill>
              </a:rPr>
              <a:t> </a:t>
            </a:r>
            <a:r>
              <a:rPr lang="en-US" sz="3200" b="1" dirty="0">
                <a:solidFill>
                  <a:schemeClr val="bg1"/>
                </a:solidFill>
                <a:latin typeface="Consolas" pitchFamily="49" charset="0"/>
              </a:rPr>
              <a:t>NOT</a:t>
            </a:r>
            <a:r>
              <a:rPr lang="en-US" sz="3200" b="1" dirty="0">
                <a:solidFill>
                  <a:schemeClr val="bg1"/>
                </a:solidFill>
              </a:rPr>
              <a:t> </a:t>
            </a:r>
            <a:r>
              <a:rPr lang="en-US" sz="3200" b="1" dirty="0">
                <a:solidFill>
                  <a:schemeClr val="bg1"/>
                </a:solidFill>
                <a:latin typeface="Consolas" pitchFamily="49" charset="0"/>
              </a:rPr>
              <a:t>IN </a:t>
            </a:r>
            <a:r>
              <a:rPr lang="en-US" sz="3200" dirty="0"/>
              <a:t>to specify </a:t>
            </a:r>
            <a:r>
              <a:rPr lang="en-US" sz="3200" b="1" dirty="0">
                <a:solidFill>
                  <a:schemeClr val="bg1"/>
                </a:solidFill>
              </a:rPr>
              <a:t>a set of values</a:t>
            </a:r>
            <a:endParaRPr lang="en-US" sz="3200" dirty="0"/>
          </a:p>
          <a:p>
            <a:endParaRPr lang="bg-BG" b="1" dirty="0"/>
          </a:p>
        </p:txBody>
      </p:sp>
      <p:sp>
        <p:nvSpPr>
          <p:cNvPr id="513027" name="Rectangle 3"/>
          <p:cNvSpPr>
            <a:spLocks noGrp="1" noChangeArrowheads="1"/>
          </p:cNvSpPr>
          <p:nvPr>
            <p:ph type="title"/>
          </p:nvPr>
        </p:nvSpPr>
        <p:spPr/>
        <p:txBody>
          <a:bodyPr/>
          <a:lstStyle/>
          <a:p>
            <a:r>
              <a:rPr lang="en-US" dirty="0"/>
              <a:t>Other Comparison Conditions</a:t>
            </a:r>
          </a:p>
        </p:txBody>
      </p:sp>
      <p:sp>
        <p:nvSpPr>
          <p:cNvPr id="513028" name="Rectangle 4"/>
          <p:cNvSpPr>
            <a:spLocks noChangeArrowheads="1"/>
          </p:cNvSpPr>
          <p:nvPr/>
        </p:nvSpPr>
        <p:spPr bwMode="auto">
          <a:xfrm>
            <a:off x="694872" y="3439937"/>
            <a:ext cx="8395855" cy="954107"/>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latin typeface="Consolas" pitchFamily="49" charset="0"/>
              </a:rPr>
              <a:t>SELECT LastName, Salary FROM Employees</a:t>
            </a:r>
          </a:p>
          <a:p>
            <a:pPr eaLnBrk="0" hangingPunct="0">
              <a:buClr>
                <a:schemeClr val="accent5">
                  <a:lumMod val="40000"/>
                  <a:lumOff val="60000"/>
                </a:schemeClr>
              </a:buClr>
              <a:buSzPct val="70000"/>
            </a:pPr>
            <a:r>
              <a:rPr lang="en-US" sz="2800" b="1" noProof="1">
                <a:latin typeface="Consolas" pitchFamily="49" charset="0"/>
              </a:rPr>
              <a:t> WHERE Salary </a:t>
            </a:r>
            <a:r>
              <a:rPr lang="en-US" sz="2800" b="1" noProof="1">
                <a:solidFill>
                  <a:schemeClr val="bg1"/>
                </a:solidFill>
                <a:latin typeface="Consolas" pitchFamily="49" charset="0"/>
              </a:rPr>
              <a:t>BETWEEN</a:t>
            </a:r>
            <a:r>
              <a:rPr lang="en-US" sz="2800" b="1" noProof="1">
                <a:latin typeface="Consolas" pitchFamily="49" charset="0"/>
              </a:rPr>
              <a:t> 20000 </a:t>
            </a:r>
            <a:r>
              <a:rPr lang="en-US" sz="2800" b="1" noProof="1">
                <a:solidFill>
                  <a:schemeClr val="bg1"/>
                </a:solidFill>
                <a:latin typeface="Consolas" pitchFamily="49" charset="0"/>
              </a:rPr>
              <a:t>AND</a:t>
            </a:r>
            <a:r>
              <a:rPr lang="en-US" sz="2800" b="1" noProof="1">
                <a:latin typeface="Consolas" pitchFamily="49" charset="0"/>
              </a:rPr>
              <a:t> 22000</a:t>
            </a:r>
          </a:p>
        </p:txBody>
      </p:sp>
      <p:sp>
        <p:nvSpPr>
          <p:cNvPr id="513029" name="Rectangle 5"/>
          <p:cNvSpPr>
            <a:spLocks noChangeArrowheads="1"/>
          </p:cNvSpPr>
          <p:nvPr/>
        </p:nvSpPr>
        <p:spPr bwMode="auto">
          <a:xfrm>
            <a:off x="696000" y="5122005"/>
            <a:ext cx="8395855" cy="1384995"/>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latin typeface="Consolas" pitchFamily="49" charset="0"/>
              </a:rPr>
              <a:t>SELECT FirstName, LastName, ManagerID</a:t>
            </a:r>
          </a:p>
          <a:p>
            <a:pPr eaLnBrk="0" hangingPunct="0">
              <a:buClr>
                <a:schemeClr val="accent5">
                  <a:lumMod val="40000"/>
                  <a:lumOff val="60000"/>
                </a:schemeClr>
              </a:buClr>
              <a:buSzPct val="70000"/>
            </a:pPr>
            <a:r>
              <a:rPr lang="en-US" sz="2800" b="1" noProof="1">
                <a:latin typeface="Consolas" pitchFamily="49" charset="0"/>
              </a:rPr>
              <a:t>  FROM Employees</a:t>
            </a:r>
          </a:p>
          <a:p>
            <a:pPr eaLnBrk="0" hangingPunct="0">
              <a:buClr>
                <a:schemeClr val="accent5">
                  <a:lumMod val="40000"/>
                  <a:lumOff val="60000"/>
                </a:schemeClr>
              </a:buClr>
              <a:buSzPct val="70000"/>
            </a:pPr>
            <a:r>
              <a:rPr lang="en-US" sz="2800" b="1" noProof="1">
                <a:latin typeface="Consolas" pitchFamily="49" charset="0"/>
              </a:rPr>
              <a:t> WHERE ManagerID </a:t>
            </a:r>
            <a:r>
              <a:rPr lang="en-US" sz="2800" b="1" noProof="1">
                <a:solidFill>
                  <a:schemeClr val="bg1"/>
                </a:solidFill>
                <a:latin typeface="Consolas" pitchFamily="49" charset="0"/>
              </a:rPr>
              <a:t>IN</a:t>
            </a:r>
            <a:r>
              <a:rPr lang="en-US" sz="2800" b="1" noProof="1">
                <a:latin typeface="Consolas" pitchFamily="49" charset="0"/>
              </a:rPr>
              <a:t> (109, 3, 16) </a:t>
            </a:r>
          </a:p>
        </p:txBody>
      </p:sp>
      <p:sp>
        <p:nvSpPr>
          <p:cNvPr id="8" name="Rectangle 6"/>
          <p:cNvSpPr>
            <a:spLocks noChangeArrowheads="1"/>
          </p:cNvSpPr>
          <p:nvPr/>
        </p:nvSpPr>
        <p:spPr bwMode="auto">
          <a:xfrm>
            <a:off x="694872" y="1734590"/>
            <a:ext cx="8395855" cy="954107"/>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latin typeface="Consolas" pitchFamily="49" charset="0"/>
              </a:rPr>
              <a:t>SELECT LastName FROM Employees</a:t>
            </a:r>
          </a:p>
          <a:p>
            <a:pPr eaLnBrk="0" hangingPunct="0">
              <a:buClr>
                <a:schemeClr val="accent5">
                  <a:lumMod val="40000"/>
                  <a:lumOff val="60000"/>
                </a:schemeClr>
              </a:buClr>
              <a:buSzPct val="70000"/>
            </a:pPr>
            <a:r>
              <a:rPr lang="en-US" sz="2800" b="1" noProof="1">
                <a:latin typeface="Consolas" pitchFamily="49" charset="0"/>
              </a:rPr>
              <a:t>WHERE </a:t>
            </a:r>
            <a:r>
              <a:rPr lang="en-US" sz="2800" b="1" noProof="1">
                <a:solidFill>
                  <a:schemeClr val="bg1"/>
                </a:solidFill>
                <a:latin typeface="Consolas" pitchFamily="49" charset="0"/>
              </a:rPr>
              <a:t>NOT (</a:t>
            </a:r>
            <a:r>
              <a:rPr lang="en-US" sz="2800" b="1" noProof="1">
                <a:latin typeface="Consolas" pitchFamily="49" charset="0"/>
              </a:rPr>
              <a:t>ManagerID = 3 </a:t>
            </a:r>
            <a:r>
              <a:rPr lang="en-US" sz="2800" b="1" noProof="1">
                <a:solidFill>
                  <a:schemeClr val="bg1"/>
                </a:solidFill>
                <a:latin typeface="Consolas" pitchFamily="49" charset="0"/>
              </a:rPr>
              <a:t>OR</a:t>
            </a:r>
            <a:r>
              <a:rPr lang="en-US" sz="2800" b="1" noProof="1">
                <a:latin typeface="Consolas" pitchFamily="49" charset="0"/>
              </a:rPr>
              <a:t> ManagerID = 4</a:t>
            </a:r>
            <a:r>
              <a:rPr lang="en-US" sz="2800" b="1" noProof="1">
                <a:solidFill>
                  <a:schemeClr val="bg1"/>
                </a:solidFill>
                <a:latin typeface="Consolas" pitchFamily="49" charset="0"/>
              </a:rPr>
              <a:t>)</a:t>
            </a:r>
          </a:p>
        </p:txBody>
      </p:sp>
      <p:sp>
        <p:nvSpPr>
          <p:cNvPr id="9" name="Slide Number">
            <a:extLst>
              <a:ext uri="{FF2B5EF4-FFF2-40B4-BE49-F238E27FC236}">
                <a16:creationId xmlns:a16="http://schemas.microsoft.com/office/drawing/2014/main" id="{13CCCF82-B1B0-43DE-8C7C-4B167128C00F}"/>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14</a:t>
            </a:fld>
            <a:endParaRPr lang="en-US" noProof="0" dirty="0"/>
          </a:p>
        </p:txBody>
      </p:sp>
    </p:spTree>
    <p:extLst>
      <p:ext uri="{BB962C8B-B14F-4D97-AF65-F5344CB8AC3E}">
        <p14:creationId xmlns:p14="http://schemas.microsoft.com/office/powerpoint/2010/main" val="21075447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30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3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8" grpId="0" animBg="1"/>
      <p:bldP spid="5130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9072786" y="1323291"/>
            <a:ext cx="2709626" cy="151731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 Placeholder 3"/>
          <p:cNvSpPr>
            <a:spLocks noGrp="1"/>
          </p:cNvSpPr>
          <p:nvPr>
            <p:ph type="body" sz="quarter" idx="10"/>
          </p:nvPr>
        </p:nvSpPr>
        <p:spPr>
          <a:xfrm>
            <a:off x="190406" y="1179000"/>
            <a:ext cx="11818096" cy="5625000"/>
          </a:xfrm>
        </p:spPr>
        <p:txBody>
          <a:bodyPr/>
          <a:lstStyle/>
          <a:p>
            <a:pPr>
              <a:lnSpc>
                <a:spcPct val="100000"/>
              </a:lnSpc>
              <a:buClr>
                <a:schemeClr val="tx1"/>
              </a:buClr>
            </a:pPr>
            <a:r>
              <a:rPr lang="en-US" sz="3200" b="1" dirty="0">
                <a:solidFill>
                  <a:schemeClr val="bg1"/>
                </a:solidFill>
                <a:latin typeface="Consolas" pitchFamily="49" charset="0"/>
              </a:rPr>
              <a:t>NULL</a:t>
            </a:r>
            <a:r>
              <a:rPr lang="en-US" sz="3200" dirty="0"/>
              <a:t> is a special value that means missing value</a:t>
            </a:r>
          </a:p>
          <a:p>
            <a:pPr lvl="1">
              <a:lnSpc>
                <a:spcPct val="100000"/>
              </a:lnSpc>
            </a:pPr>
            <a:r>
              <a:rPr lang="en-US" sz="3000" dirty="0"/>
              <a:t>Not the same as </a:t>
            </a:r>
            <a:r>
              <a:rPr lang="en-US" sz="3000" b="1" dirty="0">
                <a:solidFill>
                  <a:schemeClr val="bg1"/>
                </a:solidFill>
                <a:latin typeface="Consolas" panose="020B0609020204030204" pitchFamily="49" charset="0"/>
                <a:cs typeface="Consolas" panose="020B0609020204030204" pitchFamily="49" charset="0"/>
              </a:rPr>
              <a:t>0</a:t>
            </a:r>
            <a:r>
              <a:rPr lang="en-US" sz="3000" dirty="0"/>
              <a:t> or a </a:t>
            </a:r>
            <a:r>
              <a:rPr lang="en-US" sz="3000" b="1" dirty="0">
                <a:solidFill>
                  <a:schemeClr val="bg1"/>
                </a:solidFill>
              </a:rPr>
              <a:t>blank space</a:t>
            </a:r>
          </a:p>
          <a:p>
            <a:pPr>
              <a:lnSpc>
                <a:spcPct val="100000"/>
              </a:lnSpc>
            </a:pPr>
            <a:r>
              <a:rPr lang="en-US" sz="3200" dirty="0"/>
              <a:t>Checking for </a:t>
            </a:r>
            <a:r>
              <a:rPr lang="en-US" sz="3200" b="1" dirty="0">
                <a:solidFill>
                  <a:schemeClr val="bg1"/>
                </a:solidFill>
                <a:latin typeface="Consolas" pitchFamily="49" charset="0"/>
                <a:cs typeface="Consolas" pitchFamily="49" charset="0"/>
              </a:rPr>
              <a:t>NULL</a:t>
            </a:r>
            <a:r>
              <a:rPr lang="en-US" sz="3200" dirty="0">
                <a:solidFill>
                  <a:schemeClr val="tx2">
                    <a:lumMod val="75000"/>
                  </a:schemeClr>
                </a:solidFill>
              </a:rPr>
              <a:t> </a:t>
            </a:r>
            <a:r>
              <a:rPr lang="en-US" sz="3200" dirty="0"/>
              <a:t>values</a:t>
            </a:r>
            <a:endParaRPr lang="en-US" sz="3200" b="1" dirty="0">
              <a:solidFill>
                <a:schemeClr val="tx2">
                  <a:lumMod val="75000"/>
                </a:schemeClr>
              </a:solidFill>
              <a:latin typeface="Consolas" pitchFamily="49" charset="0"/>
            </a:endParaRPr>
          </a:p>
          <a:p>
            <a:endParaRPr lang="bg-BG" dirty="0"/>
          </a:p>
        </p:txBody>
      </p:sp>
      <p:sp>
        <p:nvSpPr>
          <p:cNvPr id="500738" name="Rectangle 2"/>
          <p:cNvSpPr>
            <a:spLocks noGrp="1" noChangeArrowheads="1"/>
          </p:cNvSpPr>
          <p:nvPr>
            <p:ph type="title"/>
          </p:nvPr>
        </p:nvSpPr>
        <p:spPr/>
        <p:txBody>
          <a:bodyPr/>
          <a:lstStyle/>
          <a:p>
            <a:r>
              <a:rPr lang="en-US" dirty="0"/>
              <a:t>Comparing with </a:t>
            </a:r>
            <a:r>
              <a:rPr lang="en-US" dirty="0">
                <a:latin typeface="Consolas" pitchFamily="49" charset="0"/>
                <a:cs typeface="Consolas" pitchFamily="49" charset="0"/>
              </a:rPr>
              <a:t>NULL</a:t>
            </a:r>
            <a:endParaRPr lang="en-US" dirty="0"/>
          </a:p>
        </p:txBody>
      </p:sp>
      <p:sp>
        <p:nvSpPr>
          <p:cNvPr id="8" name="Rectangle 4"/>
          <p:cNvSpPr>
            <a:spLocks noChangeArrowheads="1"/>
          </p:cNvSpPr>
          <p:nvPr/>
        </p:nvSpPr>
        <p:spPr bwMode="auto">
          <a:xfrm>
            <a:off x="741000" y="4258328"/>
            <a:ext cx="9521824" cy="954107"/>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latin typeface="Consolas" pitchFamily="49" charset="0"/>
                <a:cs typeface="Consolas" pitchFamily="49" charset="0"/>
              </a:rPr>
              <a:t>SELECT LastName, ManagerId FROM Employees</a:t>
            </a:r>
          </a:p>
          <a:p>
            <a:pPr eaLnBrk="0" hangingPunct="0">
              <a:buClr>
                <a:schemeClr val="accent5">
                  <a:lumMod val="40000"/>
                  <a:lumOff val="60000"/>
                </a:schemeClr>
              </a:buClr>
              <a:buSzPct val="70000"/>
            </a:pPr>
            <a:r>
              <a:rPr lang="en-US" sz="2800" b="1" noProof="1">
                <a:latin typeface="Consolas" pitchFamily="49" charset="0"/>
                <a:cs typeface="Consolas" pitchFamily="49" charset="0"/>
              </a:rPr>
              <a:t> WHERE ManagerId </a:t>
            </a:r>
            <a:r>
              <a:rPr lang="en-US" sz="2800" b="1" noProof="1">
                <a:solidFill>
                  <a:schemeClr val="bg1"/>
                </a:solidFill>
                <a:latin typeface="Consolas" pitchFamily="49" charset="0"/>
                <a:cs typeface="Consolas" pitchFamily="49" charset="0"/>
              </a:rPr>
              <a:t>IS NULL</a:t>
            </a:r>
          </a:p>
        </p:txBody>
      </p:sp>
      <p:sp>
        <p:nvSpPr>
          <p:cNvPr id="9" name="Rectangle 7"/>
          <p:cNvSpPr>
            <a:spLocks noChangeArrowheads="1"/>
          </p:cNvSpPr>
          <p:nvPr/>
        </p:nvSpPr>
        <p:spPr bwMode="auto">
          <a:xfrm>
            <a:off x="741000" y="5544981"/>
            <a:ext cx="9521824" cy="954107"/>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latin typeface="Consolas" pitchFamily="49" charset="0"/>
                <a:cs typeface="Consolas" pitchFamily="49" charset="0"/>
              </a:rPr>
              <a:t>SELECT LastName, ManagerId FROM Employees</a:t>
            </a:r>
          </a:p>
          <a:p>
            <a:pPr eaLnBrk="0" hangingPunct="0">
              <a:buClr>
                <a:schemeClr val="accent5">
                  <a:lumMod val="40000"/>
                  <a:lumOff val="60000"/>
                </a:schemeClr>
              </a:buClr>
              <a:buSzPct val="70000"/>
            </a:pPr>
            <a:r>
              <a:rPr lang="en-US" sz="2800" b="1" noProof="1">
                <a:latin typeface="Consolas" pitchFamily="49" charset="0"/>
                <a:cs typeface="Consolas" pitchFamily="49" charset="0"/>
              </a:rPr>
              <a:t> WHERE ManagerId </a:t>
            </a:r>
            <a:r>
              <a:rPr lang="en-US" sz="2800" b="1" noProof="1">
                <a:solidFill>
                  <a:schemeClr val="bg1"/>
                </a:solidFill>
                <a:latin typeface="Consolas" pitchFamily="49" charset="0"/>
                <a:cs typeface="Consolas" pitchFamily="49" charset="0"/>
              </a:rPr>
              <a:t>IS NOT NULL</a:t>
            </a:r>
          </a:p>
        </p:txBody>
      </p:sp>
      <p:sp>
        <p:nvSpPr>
          <p:cNvPr id="10" name="Rectangle 8"/>
          <p:cNvSpPr>
            <a:spLocks noChangeArrowheads="1"/>
          </p:cNvSpPr>
          <p:nvPr/>
        </p:nvSpPr>
        <p:spPr bwMode="auto">
          <a:xfrm>
            <a:off x="741000" y="3063293"/>
            <a:ext cx="9521824" cy="954107"/>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latin typeface="Consolas" pitchFamily="49" charset="0"/>
                <a:cs typeface="Consolas" pitchFamily="49" charset="0"/>
              </a:rPr>
              <a:t>SELECT LastName, ManagerId FROM Employees</a:t>
            </a:r>
          </a:p>
          <a:p>
            <a:pPr eaLnBrk="0" hangingPunct="0">
              <a:buClr>
                <a:schemeClr val="accent5">
                  <a:lumMod val="40000"/>
                  <a:lumOff val="60000"/>
                </a:schemeClr>
              </a:buClr>
              <a:buSzPct val="70000"/>
            </a:pPr>
            <a:r>
              <a:rPr lang="en-US" sz="2800" b="1" noProof="1">
                <a:latin typeface="Consolas" pitchFamily="49" charset="0"/>
                <a:cs typeface="Consolas" pitchFamily="49" charset="0"/>
              </a:rPr>
              <a:t> WHERE ManagerId = </a:t>
            </a:r>
            <a:r>
              <a:rPr lang="en-US" sz="2800" b="1" noProof="1">
                <a:solidFill>
                  <a:schemeClr val="bg1"/>
                </a:solidFill>
                <a:latin typeface="Consolas" pitchFamily="49" charset="0"/>
                <a:cs typeface="Consolas" pitchFamily="49" charset="0"/>
              </a:rPr>
              <a:t>NULL</a:t>
            </a:r>
          </a:p>
        </p:txBody>
      </p:sp>
      <p:sp>
        <p:nvSpPr>
          <p:cNvPr id="12" name="AutoShape 5"/>
          <p:cNvSpPr>
            <a:spLocks noChangeArrowheads="1"/>
          </p:cNvSpPr>
          <p:nvPr/>
        </p:nvSpPr>
        <p:spPr bwMode="auto">
          <a:xfrm>
            <a:off x="5781000" y="3609979"/>
            <a:ext cx="3447011" cy="482076"/>
          </a:xfrm>
          <a:prstGeom prst="wedgeRoundRectCallout">
            <a:avLst>
              <a:gd name="adj1" fmla="val -57231"/>
              <a:gd name="adj2" fmla="val -37885"/>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This is always </a:t>
            </a:r>
            <a:r>
              <a:rPr lang="en-US" sz="2400" b="1" dirty="0">
                <a:solidFill>
                  <a:schemeClr val="bg1"/>
                </a:solidFill>
                <a:effectLst>
                  <a:outerShdw blurRad="38100" dist="38100" dir="2700000" algn="tl">
                    <a:srgbClr val="000000">
                      <a:alpha val="43137"/>
                    </a:srgbClr>
                  </a:outerShdw>
                </a:effectLst>
              </a:rPr>
              <a:t>false</a:t>
            </a:r>
            <a:r>
              <a:rPr lang="en-US" sz="2400" b="1" dirty="0">
                <a:solidFill>
                  <a:srgbClr val="FFFFFF"/>
                </a:solidFill>
                <a:effectLst>
                  <a:outerShdw blurRad="38100" dist="38100" dir="2700000" algn="tl">
                    <a:srgbClr val="000000">
                      <a:alpha val="43137"/>
                    </a:srgbClr>
                  </a:outerShdw>
                </a:effectLst>
              </a:rPr>
              <a:t>!</a:t>
            </a:r>
          </a:p>
        </p:txBody>
      </p:sp>
      <p:sp>
        <p:nvSpPr>
          <p:cNvPr id="11" name="Slide Number">
            <a:extLst>
              <a:ext uri="{FF2B5EF4-FFF2-40B4-BE49-F238E27FC236}">
                <a16:creationId xmlns:a16="http://schemas.microsoft.com/office/drawing/2014/main" id="{961A2122-9EC1-42CC-B1EA-6E42483FBF5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15</a:t>
            </a:fld>
            <a:endParaRPr lang="en-US" noProof="0" dirty="0"/>
          </a:p>
        </p:txBody>
      </p:sp>
    </p:spTree>
    <p:extLst>
      <p:ext uri="{BB962C8B-B14F-4D97-AF65-F5344CB8AC3E}">
        <p14:creationId xmlns:p14="http://schemas.microsoft.com/office/powerpoint/2010/main" val="370662672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nSpc>
                <a:spcPct val="100000"/>
              </a:lnSpc>
            </a:pPr>
            <a:r>
              <a:rPr lang="en-US" dirty="0"/>
              <a:t>Sort rows with the </a:t>
            </a:r>
            <a:r>
              <a:rPr lang="en-US" sz="3200" b="1" dirty="0">
                <a:solidFill>
                  <a:schemeClr val="bg1"/>
                </a:solidFill>
                <a:latin typeface="Consolas" panose="020B0609020204030204" pitchFamily="49" charset="0"/>
                <a:cs typeface="Consolas" panose="020B0609020204030204" pitchFamily="49" charset="0"/>
              </a:rPr>
              <a:t>ORDER</a:t>
            </a:r>
            <a:r>
              <a:rPr lang="en-US" sz="3200" b="1" dirty="0">
                <a:solidFill>
                  <a:schemeClr val="tx2">
                    <a:lumMod val="75000"/>
                  </a:schemeClr>
                </a:solidFill>
                <a:cs typeface="Consolas" panose="020B0609020204030204" pitchFamily="49" charset="0"/>
              </a:rPr>
              <a:t> </a:t>
            </a:r>
            <a:r>
              <a:rPr lang="en-US" sz="3200" b="1" dirty="0">
                <a:solidFill>
                  <a:schemeClr val="bg1"/>
                </a:solidFill>
                <a:latin typeface="Consolas" panose="020B0609020204030204" pitchFamily="49" charset="0"/>
                <a:cs typeface="Consolas" panose="020B0609020204030204" pitchFamily="49" charset="0"/>
              </a:rPr>
              <a:t>BY</a:t>
            </a:r>
            <a:r>
              <a:rPr lang="en-US" sz="3200" b="1" dirty="0">
                <a:solidFill>
                  <a:schemeClr val="tx2">
                    <a:lumMod val="75000"/>
                  </a:schemeClr>
                </a:solidFill>
                <a:cs typeface="Consolas" panose="020B0609020204030204" pitchFamily="49" charset="0"/>
              </a:rPr>
              <a:t> </a:t>
            </a:r>
            <a:r>
              <a:rPr lang="en-US" dirty="0"/>
              <a:t>clause</a:t>
            </a:r>
          </a:p>
          <a:p>
            <a:pPr lvl="1">
              <a:lnSpc>
                <a:spcPct val="100000"/>
              </a:lnSpc>
              <a:buClr>
                <a:schemeClr val="tx1"/>
              </a:buClr>
            </a:pPr>
            <a:r>
              <a:rPr lang="en-US" sz="2800" b="1" dirty="0">
                <a:solidFill>
                  <a:schemeClr val="bg1"/>
                </a:solidFill>
                <a:latin typeface="Consolas" panose="020B0609020204030204" pitchFamily="49" charset="0"/>
                <a:cs typeface="Consolas" panose="020B0609020204030204" pitchFamily="49" charset="0"/>
              </a:rPr>
              <a:t>ASC</a:t>
            </a:r>
            <a:r>
              <a:rPr lang="en-US" dirty="0"/>
              <a:t>: </a:t>
            </a:r>
            <a:r>
              <a:rPr lang="en-US" dirty="0">
                <a:solidFill>
                  <a:schemeClr val="tx2">
                    <a:lumMod val="75000"/>
                  </a:schemeClr>
                </a:solidFill>
              </a:rPr>
              <a:t>ascending</a:t>
            </a:r>
            <a:r>
              <a:rPr lang="en-US" dirty="0"/>
              <a:t> order, default</a:t>
            </a:r>
          </a:p>
          <a:p>
            <a:pPr lvl="1">
              <a:lnSpc>
                <a:spcPct val="100000"/>
              </a:lnSpc>
              <a:buClr>
                <a:schemeClr val="tx1"/>
              </a:buClr>
            </a:pPr>
            <a:r>
              <a:rPr lang="en-US" sz="2800" b="1" dirty="0">
                <a:solidFill>
                  <a:schemeClr val="bg1"/>
                </a:solidFill>
                <a:latin typeface="Consolas" panose="020B0609020204030204" pitchFamily="49" charset="0"/>
                <a:cs typeface="Consolas" panose="020B0609020204030204" pitchFamily="49" charset="0"/>
              </a:rPr>
              <a:t>DESC</a:t>
            </a:r>
            <a:r>
              <a:rPr lang="en-US" dirty="0"/>
              <a:t>: </a:t>
            </a:r>
            <a:r>
              <a:rPr lang="en-US" dirty="0">
                <a:solidFill>
                  <a:schemeClr val="tx2">
                    <a:lumMod val="75000"/>
                  </a:schemeClr>
                </a:solidFill>
              </a:rPr>
              <a:t>descending</a:t>
            </a:r>
            <a:r>
              <a:rPr lang="en-US" dirty="0"/>
              <a:t> order</a:t>
            </a:r>
          </a:p>
        </p:txBody>
      </p:sp>
      <p:sp>
        <p:nvSpPr>
          <p:cNvPr id="517122" name="Rectangle 2"/>
          <p:cNvSpPr>
            <a:spLocks noGrp="1" noChangeArrowheads="1"/>
          </p:cNvSpPr>
          <p:nvPr>
            <p:ph type="title"/>
          </p:nvPr>
        </p:nvSpPr>
        <p:spPr/>
        <p:txBody>
          <a:bodyPr/>
          <a:lstStyle/>
          <a:p>
            <a:r>
              <a:rPr lang="en-US" dirty="0"/>
              <a:t>Sorting Result Sets</a:t>
            </a:r>
          </a:p>
        </p:txBody>
      </p:sp>
      <p:sp>
        <p:nvSpPr>
          <p:cNvPr id="517124" name="Rectangle 4"/>
          <p:cNvSpPr>
            <a:spLocks noChangeArrowheads="1"/>
          </p:cNvSpPr>
          <p:nvPr/>
        </p:nvSpPr>
        <p:spPr bwMode="auto">
          <a:xfrm>
            <a:off x="1066800" y="3210729"/>
            <a:ext cx="5029200" cy="1200329"/>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400" b="1" noProof="1">
                <a:latin typeface="Consolas" pitchFamily="49" charset="0"/>
                <a:cs typeface="Consolas" pitchFamily="49" charset="0"/>
              </a:rPr>
              <a:t>  SELECT LastName, HireDate</a:t>
            </a:r>
          </a:p>
          <a:p>
            <a:pPr eaLnBrk="0" hangingPunct="0">
              <a:buClr>
                <a:schemeClr val="accent5">
                  <a:lumMod val="40000"/>
                  <a:lumOff val="60000"/>
                </a:schemeClr>
              </a:buClr>
              <a:buSzPct val="70000"/>
            </a:pPr>
            <a:r>
              <a:rPr lang="en-US" sz="2400" b="1" noProof="1">
                <a:latin typeface="Consolas" pitchFamily="49" charset="0"/>
                <a:cs typeface="Consolas" pitchFamily="49" charset="0"/>
              </a:rPr>
              <a:t>    FROM Employees</a:t>
            </a:r>
          </a:p>
          <a:p>
            <a:pPr eaLnBrk="0" hangingPunct="0">
              <a:buClr>
                <a:schemeClr val="accent5">
                  <a:lumMod val="40000"/>
                  <a:lumOff val="60000"/>
                </a:schemeClr>
              </a:buClr>
              <a:buSzPct val="70000"/>
            </a:pPr>
            <a:r>
              <a:rPr lang="en-US" sz="2400" b="1" noProof="1">
                <a:solidFill>
                  <a:schemeClr val="bg1"/>
                </a:solidFill>
                <a:latin typeface="Consolas" pitchFamily="49" charset="0"/>
                <a:cs typeface="Consolas" pitchFamily="49" charset="0"/>
              </a:rPr>
              <a:t>ORDER BY </a:t>
            </a:r>
            <a:r>
              <a:rPr lang="en-US" sz="2400" b="1" noProof="1">
                <a:latin typeface="Consolas" pitchFamily="49" charset="0"/>
                <a:cs typeface="Consolas" pitchFamily="49" charset="0"/>
              </a:rPr>
              <a:t>HireDate</a:t>
            </a:r>
          </a:p>
        </p:txBody>
      </p:sp>
      <p:graphicFrame>
        <p:nvGraphicFramePr>
          <p:cNvPr id="517125" name="Group 5"/>
          <p:cNvGraphicFramePr>
            <a:graphicFrameLocks noGrp="1"/>
          </p:cNvGraphicFramePr>
          <p:nvPr>
            <p:extLst>
              <p:ext uri="{D42A27DB-BD31-4B8C-83A1-F6EECF244321}">
                <p14:modId xmlns:p14="http://schemas.microsoft.com/office/powerpoint/2010/main" val="2317520925"/>
              </p:ext>
            </p:extLst>
          </p:nvPr>
        </p:nvGraphicFramePr>
        <p:xfrm>
          <a:off x="7616826" y="2189872"/>
          <a:ext cx="3203575" cy="1962912"/>
        </p:xfrm>
        <a:graphic>
          <a:graphicData uri="http://schemas.openxmlformats.org/drawingml/2006/table">
            <a:tbl>
              <a:tblPr/>
              <a:tblGrid>
                <a:gridCol w="1581150">
                  <a:extLst>
                    <a:ext uri="{9D8B030D-6E8A-4147-A177-3AD203B41FA5}">
                      <a16:colId xmlns:a16="http://schemas.microsoft.com/office/drawing/2014/main" val="20000"/>
                    </a:ext>
                  </a:extLst>
                </a:gridCol>
                <a:gridCol w="1622425">
                  <a:extLst>
                    <a:ext uri="{9D8B030D-6E8A-4147-A177-3AD203B41FA5}">
                      <a16:colId xmlns:a16="http://schemas.microsoft.com/office/drawing/2014/main" val="20001"/>
                    </a:ext>
                  </a:extLst>
                </a:gridCol>
              </a:tblGrid>
              <a:tr h="438912">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400" b="1" i="0" u="none" strike="noStrike" cap="none" normalizeH="0" baseline="0" noProof="1">
                          <a:ln>
                            <a:noFill/>
                          </a:ln>
                          <a:solidFill>
                            <a:schemeClr val="tx1"/>
                          </a:solidFill>
                          <a:effectLst/>
                          <a:latin typeface="+mn-lt"/>
                        </a:rPr>
                        <a:t>LastName</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400" b="1" i="0" u="none" strike="noStrike" cap="none" normalizeH="0" baseline="0" noProof="1">
                          <a:ln>
                            <a:noFill/>
                          </a:ln>
                          <a:solidFill>
                            <a:schemeClr val="tx1"/>
                          </a:solidFill>
                          <a:effectLst/>
                          <a:latin typeface="+mn-lt"/>
                        </a:rPr>
                        <a:t>HireDate</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extLst>
                  <a:ext uri="{0D108BD9-81ED-4DB2-BD59-A6C34878D82A}">
                    <a16:rowId xmlns:a16="http://schemas.microsoft.com/office/drawing/2014/main" val="10000"/>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dirty="0">
                          <a:ln>
                            <a:noFill/>
                          </a:ln>
                          <a:solidFill>
                            <a:schemeClr val="tx1"/>
                          </a:solidFill>
                          <a:effectLst/>
                          <a:latin typeface="+mn-lt"/>
                        </a:rPr>
                        <a:t>Gilbert</a:t>
                      </a:r>
                      <a:endParaRPr kumimoji="1" lang="bg-BG" sz="20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dirty="0">
                          <a:ln>
                            <a:noFill/>
                          </a:ln>
                          <a:solidFill>
                            <a:schemeClr val="tx1"/>
                          </a:solidFill>
                          <a:effectLst/>
                          <a:latin typeface="+mn-lt"/>
                        </a:rPr>
                        <a:t>1998-07-31</a:t>
                      </a:r>
                      <a:endParaRPr kumimoji="1" lang="bg-BG" sz="20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dirty="0">
                          <a:ln>
                            <a:noFill/>
                          </a:ln>
                          <a:solidFill>
                            <a:schemeClr val="tx1"/>
                          </a:solidFill>
                          <a:effectLst/>
                          <a:latin typeface="+mn-lt"/>
                        </a:rPr>
                        <a:t>Brown</a:t>
                      </a:r>
                      <a:endParaRPr kumimoji="1" lang="bg-BG" sz="20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dirty="0">
                          <a:ln>
                            <a:noFill/>
                          </a:ln>
                          <a:solidFill>
                            <a:schemeClr val="tx1"/>
                          </a:solidFill>
                          <a:effectLst/>
                          <a:latin typeface="+mn-lt"/>
                        </a:rPr>
                        <a:t>1999-02-26</a:t>
                      </a:r>
                      <a:endParaRPr kumimoji="1" lang="bg-BG" sz="20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dirty="0">
                          <a:ln>
                            <a:noFill/>
                          </a:ln>
                          <a:solidFill>
                            <a:schemeClr val="tx1"/>
                          </a:solidFill>
                          <a:effectLst/>
                          <a:latin typeface="+mn-lt"/>
                        </a:rPr>
                        <a:t>Tamburello</a:t>
                      </a:r>
                      <a:endParaRPr kumimoji="1" lang="bg-BG" sz="20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dirty="0">
                          <a:ln>
                            <a:noFill/>
                          </a:ln>
                          <a:solidFill>
                            <a:schemeClr val="tx1"/>
                          </a:solidFill>
                          <a:effectLst/>
                          <a:latin typeface="+mn-lt"/>
                        </a:rPr>
                        <a:t>1999-12-12</a:t>
                      </a:r>
                      <a:endParaRPr kumimoji="1" lang="bg-BG" sz="20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dirty="0">
                          <a:ln>
                            <a:noFill/>
                          </a:ln>
                          <a:solidFill>
                            <a:schemeClr val="tx1"/>
                          </a:solidFill>
                          <a:effectLst/>
                          <a:latin typeface="+mn-lt"/>
                        </a:rPr>
                        <a:t>…</a:t>
                      </a:r>
                      <a:endParaRPr kumimoji="1" lang="bg-BG" sz="20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dirty="0">
                          <a:ln>
                            <a:noFill/>
                          </a:ln>
                          <a:solidFill>
                            <a:schemeClr val="tx1"/>
                          </a:solidFill>
                          <a:effectLst/>
                          <a:latin typeface="+mn-lt"/>
                        </a:rPr>
                        <a:t>…</a:t>
                      </a:r>
                      <a:endParaRPr kumimoji="1" lang="bg-BG" sz="20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17145" name="Rectangle 25"/>
          <p:cNvSpPr>
            <a:spLocks noChangeArrowheads="1"/>
          </p:cNvSpPr>
          <p:nvPr/>
        </p:nvSpPr>
        <p:spPr bwMode="auto">
          <a:xfrm>
            <a:off x="1066800" y="4779654"/>
            <a:ext cx="5029200" cy="1200329"/>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400" b="1" noProof="1">
                <a:latin typeface="Consolas" pitchFamily="49" charset="0"/>
                <a:cs typeface="Consolas" pitchFamily="49" charset="0"/>
              </a:rPr>
              <a:t>  SELECT LastName, HireDate</a:t>
            </a:r>
          </a:p>
          <a:p>
            <a:pPr eaLnBrk="0" hangingPunct="0">
              <a:buClr>
                <a:schemeClr val="accent5">
                  <a:lumMod val="40000"/>
                  <a:lumOff val="60000"/>
                </a:schemeClr>
              </a:buClr>
              <a:buSzPct val="70000"/>
            </a:pPr>
            <a:r>
              <a:rPr lang="en-US" sz="2400" b="1" noProof="1">
                <a:latin typeface="Consolas" pitchFamily="49" charset="0"/>
                <a:cs typeface="Consolas" pitchFamily="49" charset="0"/>
              </a:rPr>
              <a:t>    FROM Employees</a:t>
            </a:r>
          </a:p>
          <a:p>
            <a:pPr eaLnBrk="0" hangingPunct="0">
              <a:buClr>
                <a:schemeClr val="accent5">
                  <a:lumMod val="40000"/>
                  <a:lumOff val="60000"/>
                </a:schemeClr>
              </a:buClr>
              <a:buSzPct val="70000"/>
            </a:pPr>
            <a:r>
              <a:rPr lang="en-US" sz="2400" b="1" noProof="1">
                <a:solidFill>
                  <a:schemeClr val="bg1"/>
                </a:solidFill>
                <a:latin typeface="Consolas" pitchFamily="49" charset="0"/>
                <a:cs typeface="Consolas" pitchFamily="49" charset="0"/>
              </a:rPr>
              <a:t>ORDER BY</a:t>
            </a:r>
            <a:r>
              <a:rPr lang="en-US" sz="2400" b="1" noProof="1">
                <a:latin typeface="Consolas" pitchFamily="49" charset="0"/>
                <a:cs typeface="Consolas" pitchFamily="49" charset="0"/>
              </a:rPr>
              <a:t> HireDate DESC</a:t>
            </a:r>
          </a:p>
        </p:txBody>
      </p:sp>
      <p:graphicFrame>
        <p:nvGraphicFramePr>
          <p:cNvPr id="517146" name="Group 26"/>
          <p:cNvGraphicFramePr>
            <a:graphicFrameLocks noGrp="1"/>
          </p:cNvGraphicFramePr>
          <p:nvPr>
            <p:extLst>
              <p:ext uri="{D42A27DB-BD31-4B8C-83A1-F6EECF244321}">
                <p14:modId xmlns:p14="http://schemas.microsoft.com/office/powerpoint/2010/main" val="1870327911"/>
              </p:ext>
            </p:extLst>
          </p:nvPr>
        </p:nvGraphicFramePr>
        <p:xfrm>
          <a:off x="7616826" y="4495800"/>
          <a:ext cx="3203575" cy="1962912"/>
        </p:xfrm>
        <a:graphic>
          <a:graphicData uri="http://schemas.openxmlformats.org/drawingml/2006/table">
            <a:tbl>
              <a:tblPr/>
              <a:tblGrid>
                <a:gridCol w="1581150">
                  <a:extLst>
                    <a:ext uri="{9D8B030D-6E8A-4147-A177-3AD203B41FA5}">
                      <a16:colId xmlns:a16="http://schemas.microsoft.com/office/drawing/2014/main" val="20000"/>
                    </a:ext>
                  </a:extLst>
                </a:gridCol>
                <a:gridCol w="1622425">
                  <a:extLst>
                    <a:ext uri="{9D8B030D-6E8A-4147-A177-3AD203B41FA5}">
                      <a16:colId xmlns:a16="http://schemas.microsoft.com/office/drawing/2014/main" val="20001"/>
                    </a:ext>
                  </a:extLst>
                </a:gridCol>
              </a:tblGrid>
              <a:tr h="438912">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400" b="1" i="0" u="none" strike="noStrike" cap="none" normalizeH="0" baseline="0" noProof="1">
                          <a:ln>
                            <a:noFill/>
                          </a:ln>
                          <a:solidFill>
                            <a:schemeClr val="tx1"/>
                          </a:solidFill>
                          <a:effectLst/>
                          <a:latin typeface="+mn-lt"/>
                        </a:rPr>
                        <a:t>LastName</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400" b="1" i="0" u="none" strike="noStrike" cap="none" normalizeH="0" baseline="0" noProof="1">
                          <a:ln>
                            <a:noFill/>
                          </a:ln>
                          <a:solidFill>
                            <a:schemeClr val="tx1"/>
                          </a:solidFill>
                          <a:effectLst/>
                          <a:latin typeface="+mn-lt"/>
                        </a:rPr>
                        <a:t>HireDate</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extLst>
                  <a:ext uri="{0D108BD9-81ED-4DB2-BD59-A6C34878D82A}">
                    <a16:rowId xmlns:a16="http://schemas.microsoft.com/office/drawing/2014/main" val="10000"/>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noProof="1">
                          <a:ln>
                            <a:noFill/>
                          </a:ln>
                          <a:solidFill>
                            <a:schemeClr val="tx1"/>
                          </a:solidFill>
                          <a:effectLst/>
                          <a:latin typeface="+mn-lt"/>
                        </a:rPr>
                        <a:t>Valdez</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2000" b="1" i="0" u="none" strike="noStrike" cap="none" normalizeH="0" baseline="0">
                          <a:ln>
                            <a:noFill/>
                          </a:ln>
                          <a:solidFill>
                            <a:schemeClr val="tx1"/>
                          </a:solidFill>
                          <a:effectLst/>
                          <a:latin typeface="+mn-lt"/>
                        </a:rPr>
                        <a:t>2005-07-01</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noProof="1">
                          <a:ln>
                            <a:noFill/>
                          </a:ln>
                          <a:solidFill>
                            <a:schemeClr val="tx1"/>
                          </a:solidFill>
                          <a:effectLst/>
                          <a:latin typeface="+mn-lt"/>
                        </a:rPr>
                        <a:t>Tsoflias</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2000" b="1" i="0" u="none" strike="noStrike" cap="none" normalizeH="0" baseline="0">
                          <a:ln>
                            <a:noFill/>
                          </a:ln>
                          <a:solidFill>
                            <a:schemeClr val="tx1"/>
                          </a:solidFill>
                          <a:effectLst/>
                          <a:latin typeface="+mn-lt"/>
                        </a:rPr>
                        <a:t>2005-07-01</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noProof="1">
                          <a:ln>
                            <a:noFill/>
                          </a:ln>
                          <a:solidFill>
                            <a:schemeClr val="tx1"/>
                          </a:solidFill>
                          <a:effectLst/>
                          <a:latin typeface="+mn-lt"/>
                        </a:rPr>
                        <a:t>Abbas</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bg-BG" sz="2000" b="1" i="0" u="none" strike="noStrike" cap="none" normalizeH="0" baseline="0" dirty="0">
                          <a:ln>
                            <a:noFill/>
                          </a:ln>
                          <a:solidFill>
                            <a:schemeClr val="tx1"/>
                          </a:solidFill>
                          <a:effectLst/>
                          <a:latin typeface="+mn-lt"/>
                        </a:rPr>
                        <a:t>2005-04-15</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noProof="1">
                          <a:ln>
                            <a:noFill/>
                          </a:ln>
                          <a:solidFill>
                            <a:schemeClr val="tx1"/>
                          </a:solidFill>
                          <a:effectLst/>
                          <a:latin typeface="+mn-lt"/>
                        </a:rPr>
                        <a:t>…</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000" b="1" i="0" u="none" strike="noStrike" cap="none" normalizeH="0" baseline="0" dirty="0">
                          <a:ln>
                            <a:noFill/>
                          </a:ln>
                          <a:solidFill>
                            <a:schemeClr val="tx1"/>
                          </a:solidFill>
                          <a:effectLst/>
                          <a:latin typeface="+mn-lt"/>
                        </a:rPr>
                        <a:t>…</a:t>
                      </a:r>
                      <a:endParaRPr kumimoji="1" lang="bg-BG" sz="20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4" name="Picture 3"/>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548240" y="932187"/>
            <a:ext cx="1332647" cy="1332647"/>
          </a:xfrm>
          <a:prstGeom prst="rect">
            <a:avLst/>
          </a:prstGeom>
        </p:spPr>
      </p:pic>
      <p:sp>
        <p:nvSpPr>
          <p:cNvPr id="10" name="Slide Number">
            <a:extLst>
              <a:ext uri="{FF2B5EF4-FFF2-40B4-BE49-F238E27FC236}">
                <a16:creationId xmlns:a16="http://schemas.microsoft.com/office/drawing/2014/main" id="{9D23CA8C-3965-4309-B026-E567525867F9}"/>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16</a:t>
            </a:fld>
            <a:endParaRPr lang="en-US" noProof="0" dirty="0"/>
          </a:p>
        </p:txBody>
      </p:sp>
    </p:spTree>
    <p:extLst>
      <p:ext uri="{BB962C8B-B14F-4D97-AF65-F5344CB8AC3E}">
        <p14:creationId xmlns:p14="http://schemas.microsoft.com/office/powerpoint/2010/main" val="277719301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71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71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71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7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4" grpId="0" animBg="1"/>
      <p:bldP spid="51714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en-US" dirty="0"/>
              <a:t>Views are </a:t>
            </a:r>
            <a:r>
              <a:rPr lang="en-US" b="1" dirty="0">
                <a:solidFill>
                  <a:schemeClr val="bg1"/>
                </a:solidFill>
              </a:rPr>
              <a:t>named</a:t>
            </a:r>
            <a:r>
              <a:rPr lang="en-US" dirty="0"/>
              <a:t> (</a:t>
            </a:r>
            <a:r>
              <a:rPr lang="en-US" b="1" dirty="0">
                <a:solidFill>
                  <a:schemeClr val="bg1"/>
                </a:solidFill>
              </a:rPr>
              <a:t>saved</a:t>
            </a:r>
            <a:r>
              <a:rPr lang="en-US" dirty="0"/>
              <a:t>) </a:t>
            </a:r>
            <a:r>
              <a:rPr lang="en-US" b="1" dirty="0">
                <a:solidFill>
                  <a:schemeClr val="bg1"/>
                </a:solidFill>
              </a:rPr>
              <a:t>queries</a:t>
            </a:r>
          </a:p>
          <a:p>
            <a:pPr lvl="1">
              <a:buClr>
                <a:schemeClr val="tx1"/>
              </a:buClr>
            </a:pPr>
            <a:r>
              <a:rPr lang="en-US" b="1" dirty="0">
                <a:solidFill>
                  <a:schemeClr val="bg1"/>
                </a:solidFill>
              </a:rPr>
              <a:t>Simplify</a:t>
            </a:r>
            <a:r>
              <a:rPr lang="en-US" dirty="0">
                <a:solidFill>
                  <a:schemeClr val="tx2">
                    <a:lumMod val="75000"/>
                  </a:schemeClr>
                </a:solidFill>
              </a:rPr>
              <a:t> </a:t>
            </a:r>
            <a:r>
              <a:rPr lang="en-US" dirty="0"/>
              <a:t>complex queries</a:t>
            </a:r>
          </a:p>
          <a:p>
            <a:pPr lvl="1">
              <a:buClr>
                <a:schemeClr val="tx1"/>
              </a:buClr>
            </a:pPr>
            <a:r>
              <a:rPr lang="en-US" b="1" dirty="0">
                <a:solidFill>
                  <a:schemeClr val="bg1"/>
                </a:solidFill>
              </a:rPr>
              <a:t>Limit access </a:t>
            </a:r>
            <a:r>
              <a:rPr lang="en-US" dirty="0"/>
              <a:t>to data for certain users</a:t>
            </a:r>
          </a:p>
          <a:p>
            <a:pPr>
              <a:buClr>
                <a:schemeClr val="tx1"/>
              </a:buClr>
            </a:pPr>
            <a:r>
              <a:rPr lang="en-US" dirty="0"/>
              <a:t>Example: Get employee </a:t>
            </a:r>
            <a:r>
              <a:rPr lang="en-US" b="1" dirty="0">
                <a:solidFill>
                  <a:schemeClr val="bg1"/>
                </a:solidFill>
              </a:rPr>
              <a:t>names</a:t>
            </a:r>
            <a:r>
              <a:rPr lang="en-US" dirty="0"/>
              <a:t> and </a:t>
            </a:r>
            <a:r>
              <a:rPr lang="en-US" b="1" dirty="0">
                <a:solidFill>
                  <a:schemeClr val="bg1"/>
                </a:solidFill>
              </a:rPr>
              <a:t>salaries</a:t>
            </a:r>
            <a:r>
              <a:rPr lang="en-US" dirty="0"/>
              <a:t>, by </a:t>
            </a:r>
            <a:r>
              <a:rPr lang="en-US" dirty="0">
                <a:solidFill>
                  <a:schemeClr val="tx2">
                    <a:lumMod val="75000"/>
                  </a:schemeClr>
                </a:solidFill>
              </a:rPr>
              <a:t>department</a:t>
            </a:r>
          </a:p>
        </p:txBody>
      </p:sp>
      <p:sp>
        <p:nvSpPr>
          <p:cNvPr id="4" name="Title 3"/>
          <p:cNvSpPr>
            <a:spLocks noGrp="1"/>
          </p:cNvSpPr>
          <p:nvPr>
            <p:ph type="title"/>
          </p:nvPr>
        </p:nvSpPr>
        <p:spPr/>
        <p:txBody>
          <a:bodyPr/>
          <a:lstStyle/>
          <a:p>
            <a:r>
              <a:rPr lang="en-US" dirty="0"/>
              <a:t>Views</a:t>
            </a:r>
          </a:p>
        </p:txBody>
      </p:sp>
      <p:sp>
        <p:nvSpPr>
          <p:cNvPr id="5" name="Rectangle 4"/>
          <p:cNvSpPr>
            <a:spLocks noChangeArrowheads="1"/>
          </p:cNvSpPr>
          <p:nvPr/>
        </p:nvSpPr>
        <p:spPr bwMode="auto">
          <a:xfrm>
            <a:off x="715328" y="3900738"/>
            <a:ext cx="9868800" cy="1846659"/>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solidFill>
                  <a:schemeClr val="bg1"/>
                </a:solidFill>
                <a:latin typeface="Consolas" pitchFamily="49" charset="0"/>
                <a:cs typeface="Consolas" pitchFamily="49" charset="0"/>
              </a:rPr>
              <a:t>CREATE VIEW </a:t>
            </a:r>
            <a:r>
              <a:rPr lang="en-US" sz="2800" b="1" noProof="1">
                <a:latin typeface="Consolas" pitchFamily="49" charset="0"/>
                <a:cs typeface="Consolas" pitchFamily="49" charset="0"/>
              </a:rPr>
              <a:t>v_EmployeesByDepartment </a:t>
            </a:r>
            <a:r>
              <a:rPr lang="en-US" sz="2800" b="1" noProof="1">
                <a:solidFill>
                  <a:schemeClr val="bg1"/>
                </a:solidFill>
                <a:latin typeface="Consolas" pitchFamily="49" charset="0"/>
                <a:cs typeface="Consolas" pitchFamily="49" charset="0"/>
              </a:rPr>
              <a:t>AS</a:t>
            </a:r>
          </a:p>
          <a:p>
            <a:pPr eaLnBrk="0" hangingPunct="0">
              <a:buClr>
                <a:schemeClr val="accent5">
                  <a:lumMod val="40000"/>
                  <a:lumOff val="60000"/>
                </a:schemeClr>
              </a:buClr>
              <a:buSzPct val="70000"/>
            </a:pPr>
            <a:r>
              <a:rPr lang="en-US" sz="2800" b="1" noProof="1">
                <a:latin typeface="Consolas" pitchFamily="49" charset="0"/>
                <a:cs typeface="Consolas" pitchFamily="49" charset="0"/>
              </a:rPr>
              <a:t>SELECT FirstName + ' ' + LastName AS [Full Name],</a:t>
            </a:r>
          </a:p>
          <a:p>
            <a:pPr eaLnBrk="0" hangingPunct="0">
              <a:buClr>
                <a:schemeClr val="accent5">
                  <a:lumMod val="40000"/>
                  <a:lumOff val="60000"/>
                </a:schemeClr>
              </a:buClr>
              <a:buSzPct val="70000"/>
            </a:pPr>
            <a:r>
              <a:rPr lang="en-US" sz="2800" b="1" noProof="1">
                <a:latin typeface="Consolas" pitchFamily="49" charset="0"/>
                <a:cs typeface="Consolas" pitchFamily="49" charset="0"/>
              </a:rPr>
              <a:t>       Salary</a:t>
            </a:r>
          </a:p>
          <a:p>
            <a:pPr eaLnBrk="0" hangingPunct="0">
              <a:buClr>
                <a:schemeClr val="accent5">
                  <a:lumMod val="40000"/>
                  <a:lumOff val="60000"/>
                </a:schemeClr>
              </a:buClr>
              <a:buSzPct val="70000"/>
            </a:pPr>
            <a:r>
              <a:rPr lang="en-US" sz="2800" b="1" noProof="1">
                <a:latin typeface="Consolas" pitchFamily="49" charset="0"/>
                <a:cs typeface="Consolas" pitchFamily="49" charset="0"/>
              </a:rPr>
              <a:t>  FROM Employees</a:t>
            </a:r>
          </a:p>
        </p:txBody>
      </p:sp>
      <p:sp>
        <p:nvSpPr>
          <p:cNvPr id="6" name="Rectangle 5"/>
          <p:cNvSpPr>
            <a:spLocks noChangeArrowheads="1"/>
          </p:cNvSpPr>
          <p:nvPr/>
        </p:nvSpPr>
        <p:spPr bwMode="auto">
          <a:xfrm>
            <a:off x="715328" y="5839977"/>
            <a:ext cx="9868800" cy="523220"/>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latin typeface="Consolas" pitchFamily="49" charset="0"/>
                <a:cs typeface="Consolas" pitchFamily="49" charset="0"/>
              </a:rPr>
              <a:t>SELECT * FROM </a:t>
            </a:r>
            <a:r>
              <a:rPr lang="en-US" sz="2800" b="1" noProof="1">
                <a:solidFill>
                  <a:schemeClr val="bg1"/>
                </a:solidFill>
                <a:latin typeface="Consolas" pitchFamily="49" charset="0"/>
                <a:cs typeface="Consolas" pitchFamily="49" charset="0"/>
              </a:rPr>
              <a:t>v_EmployeesByDepartment</a:t>
            </a:r>
          </a:p>
        </p:txBody>
      </p:sp>
      <p:sp>
        <p:nvSpPr>
          <p:cNvPr id="10" name="Rectangle: Rounded Corners 9"/>
          <p:cNvSpPr/>
          <p:nvPr/>
        </p:nvSpPr>
        <p:spPr>
          <a:xfrm>
            <a:off x="722456" y="4364180"/>
            <a:ext cx="9726672" cy="1351280"/>
          </a:xfrm>
          <a:prstGeom prst="roundRect">
            <a:avLst>
              <a:gd name="adj" fmla="val 6141"/>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8" name="AutoShape 5"/>
          <p:cNvSpPr>
            <a:spLocks noChangeArrowheads="1"/>
          </p:cNvSpPr>
          <p:nvPr/>
        </p:nvSpPr>
        <p:spPr bwMode="auto">
          <a:xfrm>
            <a:off x="8742255" y="5583215"/>
            <a:ext cx="2843745" cy="626184"/>
          </a:xfrm>
          <a:prstGeom prst="wedgeRoundRectCallout">
            <a:avLst>
              <a:gd name="adj1" fmla="val -59606"/>
              <a:gd name="adj2" fmla="val 21665"/>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Executes query</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7801" y="1092454"/>
            <a:ext cx="2149648" cy="2149648"/>
          </a:xfrm>
          <a:prstGeom prst="rect">
            <a:avLst/>
          </a:prstGeom>
          <a:ln>
            <a:noFill/>
          </a:ln>
          <a:effectLst>
            <a:outerShdw blurRad="292100" dist="139700" dir="2700000" algn="tl" rotWithShape="0">
              <a:srgbClr val="333333">
                <a:alpha val="65000"/>
              </a:srgbClr>
            </a:outerShdw>
          </a:effectLst>
        </p:spPr>
      </p:pic>
      <p:sp>
        <p:nvSpPr>
          <p:cNvPr id="11" name="Slide Number">
            <a:extLst>
              <a:ext uri="{FF2B5EF4-FFF2-40B4-BE49-F238E27FC236}">
                <a16:creationId xmlns:a16="http://schemas.microsoft.com/office/drawing/2014/main" id="{C8E75EC4-732B-4B74-9A9D-FB3FE1D2567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17</a:t>
            </a:fld>
            <a:endParaRPr lang="en-US" noProof="0" dirty="0"/>
          </a:p>
        </p:txBody>
      </p:sp>
    </p:spTree>
    <p:extLst>
      <p:ext uri="{BB962C8B-B14F-4D97-AF65-F5344CB8AC3E}">
        <p14:creationId xmlns:p14="http://schemas.microsoft.com/office/powerpoint/2010/main" val="190984769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p:txBody>
          <a:bodyPr>
            <a:normAutofit/>
          </a:bodyPr>
          <a:lstStyle/>
          <a:p>
            <a:r>
              <a:rPr lang="en-US" dirty="0"/>
              <a:t>Create a </a:t>
            </a:r>
            <a:r>
              <a:rPr lang="en-US" b="1" dirty="0">
                <a:solidFill>
                  <a:schemeClr val="bg1"/>
                </a:solidFill>
              </a:rPr>
              <a:t>view</a:t>
            </a:r>
            <a:r>
              <a:rPr lang="en-US" dirty="0"/>
              <a:t> that selects all information about the</a:t>
            </a:r>
            <a:br>
              <a:rPr lang="bg-BG" dirty="0"/>
            </a:br>
            <a:r>
              <a:rPr lang="en-US" b="1" dirty="0">
                <a:solidFill>
                  <a:schemeClr val="bg1"/>
                </a:solidFill>
              </a:rPr>
              <a:t>highest</a:t>
            </a:r>
            <a:r>
              <a:rPr lang="en-US" dirty="0">
                <a:solidFill>
                  <a:schemeClr val="accent1"/>
                </a:solidFill>
              </a:rPr>
              <a:t> </a:t>
            </a:r>
            <a:r>
              <a:rPr lang="en-US" b="1" dirty="0">
                <a:solidFill>
                  <a:schemeClr val="bg1"/>
                </a:solidFill>
              </a:rPr>
              <a:t>peak</a:t>
            </a:r>
          </a:p>
          <a:p>
            <a:pPr lvl="1"/>
            <a:r>
              <a:rPr lang="en-US" dirty="0"/>
              <a:t>Name the view </a:t>
            </a:r>
            <a:r>
              <a:rPr lang="en-US" b="1" noProof="1">
                <a:solidFill>
                  <a:schemeClr val="bg1"/>
                </a:solidFill>
                <a:latin typeface="Consolas" panose="020B0609020204030204" pitchFamily="49" charset="0"/>
              </a:rPr>
              <a:t>v_HighestPeak</a:t>
            </a:r>
            <a:endParaRPr lang="bg-BG" b="1" noProof="1">
              <a:solidFill>
                <a:schemeClr val="bg1"/>
              </a:solidFill>
              <a:latin typeface="Consolas" panose="020B0609020204030204" pitchFamily="49" charset="0"/>
            </a:endParaRPr>
          </a:p>
          <a:p>
            <a:pPr lvl="1"/>
            <a:endParaRPr lang="bg-BG" b="1" noProof="1">
              <a:solidFill>
                <a:schemeClr val="bg1"/>
              </a:solidFill>
              <a:latin typeface="Consolas" panose="020B0609020204030204" pitchFamily="49" charset="0"/>
            </a:endParaRPr>
          </a:p>
          <a:p>
            <a:pPr lvl="1"/>
            <a:endParaRPr lang="bg-BG" b="1" noProof="1">
              <a:solidFill>
                <a:schemeClr val="bg1"/>
              </a:solidFill>
              <a:latin typeface="Consolas" panose="020B0609020204030204" pitchFamily="49" charset="0"/>
            </a:endParaRPr>
          </a:p>
          <a:p>
            <a:pPr lvl="1"/>
            <a:endParaRPr lang="bg-BG" b="1" noProof="1">
              <a:solidFill>
                <a:schemeClr val="bg1"/>
              </a:solidFill>
              <a:latin typeface="Consolas" panose="020B0609020204030204" pitchFamily="49" charset="0"/>
            </a:endParaRPr>
          </a:p>
          <a:p>
            <a:pPr lvl="1"/>
            <a:endParaRPr lang="bg-BG" b="1" noProof="1">
              <a:solidFill>
                <a:schemeClr val="bg1"/>
              </a:solidFill>
              <a:latin typeface="Consolas" panose="020B0609020204030204" pitchFamily="49" charset="0"/>
            </a:endParaRPr>
          </a:p>
          <a:p>
            <a:pPr lvl="1"/>
            <a:r>
              <a:rPr lang="en-US" dirty="0"/>
              <a:t>Note: Query </a:t>
            </a:r>
            <a:r>
              <a:rPr lang="en-US" b="1" dirty="0">
                <a:solidFill>
                  <a:schemeClr val="bg1"/>
                </a:solidFill>
                <a:latin typeface="Consolas" panose="020B0609020204030204" pitchFamily="49" charset="0"/>
              </a:rPr>
              <a:t>Geography</a:t>
            </a:r>
            <a:r>
              <a:rPr lang="en-US" dirty="0"/>
              <a:t> database</a:t>
            </a:r>
            <a:endParaRPr lang="en-US" b="1" noProof="1">
              <a:solidFill>
                <a:schemeClr val="accent1"/>
              </a:solidFill>
              <a:effectLst>
                <a:outerShdw blurRad="38100" dist="38100" dir="2700000" algn="tl">
                  <a:srgbClr val="000000">
                    <a:alpha val="43137"/>
                  </a:srgbClr>
                </a:outerShdw>
              </a:effectLst>
              <a:latin typeface="Consolas" panose="020B0609020204030204" pitchFamily="49" charset="0"/>
            </a:endParaRPr>
          </a:p>
        </p:txBody>
      </p:sp>
      <p:sp>
        <p:nvSpPr>
          <p:cNvPr id="4" name="Title 3"/>
          <p:cNvSpPr>
            <a:spLocks noGrp="1"/>
          </p:cNvSpPr>
          <p:nvPr>
            <p:ph type="title"/>
          </p:nvPr>
        </p:nvSpPr>
        <p:spPr/>
        <p:txBody>
          <a:bodyPr/>
          <a:lstStyle/>
          <a:p>
            <a:r>
              <a:rPr lang="en-US" dirty="0"/>
              <a:t>Problem: Highest Peak</a:t>
            </a:r>
          </a:p>
        </p:txBody>
      </p:sp>
      <p:sp>
        <p:nvSpPr>
          <p:cNvPr id="5" name="Rectangle 4"/>
          <p:cNvSpPr>
            <a:spLocks noChangeArrowheads="1"/>
          </p:cNvSpPr>
          <p:nvPr/>
        </p:nvSpPr>
        <p:spPr bwMode="auto">
          <a:xfrm>
            <a:off x="1162111" y="3129979"/>
            <a:ext cx="5517000" cy="523220"/>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solidFill>
                  <a:schemeClr val="tx2"/>
                </a:solidFill>
                <a:latin typeface="Consolas" pitchFamily="49" charset="0"/>
                <a:cs typeface="Consolas" pitchFamily="49" charset="0"/>
              </a:rPr>
              <a:t>SELECT </a:t>
            </a:r>
            <a:r>
              <a:rPr lang="en-US" sz="2800" b="1" noProof="1">
                <a:solidFill>
                  <a:schemeClr val="bg1"/>
                </a:solidFill>
                <a:latin typeface="Consolas" pitchFamily="49" charset="0"/>
                <a:cs typeface="Consolas" pitchFamily="49" charset="0"/>
              </a:rPr>
              <a:t>*</a:t>
            </a:r>
            <a:r>
              <a:rPr lang="en-US" sz="2800" b="1" noProof="1">
                <a:solidFill>
                  <a:schemeClr val="tx2"/>
                </a:solidFill>
                <a:latin typeface="Consolas" pitchFamily="49" charset="0"/>
                <a:cs typeface="Consolas" pitchFamily="49" charset="0"/>
              </a:rPr>
              <a:t> FROM </a:t>
            </a:r>
            <a:r>
              <a:rPr lang="en-US" sz="2800" b="1" noProof="1">
                <a:solidFill>
                  <a:schemeClr val="bg1"/>
                </a:solidFill>
                <a:latin typeface="Consolas" pitchFamily="49" charset="0"/>
                <a:cs typeface="Consolas" pitchFamily="49" charset="0"/>
              </a:rPr>
              <a:t>v_HighestPeak</a:t>
            </a:r>
          </a:p>
        </p:txBody>
      </p:sp>
      <p:sp>
        <p:nvSpPr>
          <p:cNvPr id="7" name="Arrow: Down 6"/>
          <p:cNvSpPr/>
          <p:nvPr/>
        </p:nvSpPr>
        <p:spPr>
          <a:xfrm>
            <a:off x="3642420" y="3997858"/>
            <a:ext cx="556383" cy="545598"/>
          </a:xfrm>
          <a:prstGeom prst="downArrow">
            <a:avLst>
              <a:gd name="adj1" fmla="val 35455"/>
              <a:gd name="adj2" fmla="val 423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9" name="Slide Number">
            <a:extLst>
              <a:ext uri="{FF2B5EF4-FFF2-40B4-BE49-F238E27FC236}">
                <a16:creationId xmlns:a16="http://schemas.microsoft.com/office/drawing/2014/main" id="{8B1B0F02-9000-41D0-9697-2CE1916D2BD5}"/>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18</a:t>
            </a:fld>
            <a:endParaRPr lang="en-US" noProof="0" dirty="0"/>
          </a:p>
        </p:txBody>
      </p:sp>
      <p:pic>
        <p:nvPicPr>
          <p:cNvPr id="3" name="Picture 2">
            <a:extLst>
              <a:ext uri="{FF2B5EF4-FFF2-40B4-BE49-F238E27FC236}">
                <a16:creationId xmlns:a16="http://schemas.microsoft.com/office/drawing/2014/main" id="{EF6D0C65-BDF8-480F-81BF-F08534CBA93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45225" y="4895151"/>
            <a:ext cx="4350775" cy="645515"/>
          </a:xfrm>
          <a:prstGeom prst="rect">
            <a:avLst/>
          </a:prstGeom>
        </p:spPr>
      </p:pic>
    </p:spTree>
    <p:extLst>
      <p:ext uri="{BB962C8B-B14F-4D97-AF65-F5344CB8AC3E}">
        <p14:creationId xmlns:p14="http://schemas.microsoft.com/office/powerpoint/2010/main" val="370179368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buClr>
                <a:schemeClr val="tx1"/>
              </a:buClr>
            </a:pPr>
            <a:r>
              <a:rPr lang="en-US" b="1" dirty="0">
                <a:solidFill>
                  <a:schemeClr val="bg1"/>
                </a:solidFill>
                <a:latin typeface="Consolas" panose="020B0609020204030204" pitchFamily="49" charset="0"/>
              </a:rPr>
              <a:t>TOP(x)</a:t>
            </a:r>
            <a:r>
              <a:rPr lang="en-US" dirty="0"/>
              <a:t> selects the first </a:t>
            </a:r>
            <a:r>
              <a:rPr lang="en-US" dirty="0">
                <a:solidFill>
                  <a:schemeClr val="tx2">
                    <a:lumMod val="75000"/>
                  </a:schemeClr>
                </a:solidFill>
              </a:rPr>
              <a:t>x</a:t>
            </a:r>
            <a:r>
              <a:rPr lang="en-US" dirty="0"/>
              <a:t> values</a:t>
            </a:r>
          </a:p>
        </p:txBody>
      </p:sp>
      <p:sp>
        <p:nvSpPr>
          <p:cNvPr id="4" name="Title 3"/>
          <p:cNvSpPr>
            <a:spLocks noGrp="1"/>
          </p:cNvSpPr>
          <p:nvPr>
            <p:ph type="title"/>
          </p:nvPr>
        </p:nvSpPr>
        <p:spPr/>
        <p:txBody>
          <a:bodyPr/>
          <a:lstStyle/>
          <a:p>
            <a:r>
              <a:rPr lang="en-US"/>
              <a:t>Solution: Highest Peak</a:t>
            </a:r>
            <a:endParaRPr lang="en-US" dirty="0"/>
          </a:p>
        </p:txBody>
      </p:sp>
      <p:sp>
        <p:nvSpPr>
          <p:cNvPr id="5" name="Rectangle 4"/>
          <p:cNvSpPr>
            <a:spLocks noChangeArrowheads="1"/>
          </p:cNvSpPr>
          <p:nvPr/>
        </p:nvSpPr>
        <p:spPr bwMode="auto">
          <a:xfrm>
            <a:off x="2209800" y="2261902"/>
            <a:ext cx="7772400" cy="2554545"/>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3200" b="1" noProof="1">
                <a:solidFill>
                  <a:schemeClr val="bg1"/>
                </a:solidFill>
                <a:latin typeface="Consolas" pitchFamily="49" charset="0"/>
                <a:cs typeface="Consolas" pitchFamily="49" charset="0"/>
              </a:rPr>
              <a:t>CREATE VIEW </a:t>
            </a:r>
            <a:r>
              <a:rPr lang="en-US" sz="3200" b="1" noProof="1">
                <a:solidFill>
                  <a:schemeClr val="tx2"/>
                </a:solidFill>
                <a:latin typeface="Consolas" pitchFamily="49" charset="0"/>
                <a:cs typeface="Consolas" pitchFamily="49" charset="0"/>
              </a:rPr>
              <a:t>v_HighestPeak</a:t>
            </a:r>
          </a:p>
          <a:p>
            <a:pPr eaLnBrk="0" hangingPunct="0">
              <a:buClr>
                <a:schemeClr val="accent5">
                  <a:lumMod val="40000"/>
                  <a:lumOff val="60000"/>
                </a:schemeClr>
              </a:buClr>
              <a:buSzPct val="70000"/>
            </a:pPr>
            <a:r>
              <a:rPr lang="en-US" sz="3200" b="1" noProof="1">
                <a:solidFill>
                  <a:schemeClr val="bg1"/>
                </a:solidFill>
                <a:latin typeface="Consolas" pitchFamily="49" charset="0"/>
                <a:cs typeface="Consolas" pitchFamily="49" charset="0"/>
              </a:rPr>
              <a:t>	     AS</a:t>
            </a:r>
          </a:p>
          <a:p>
            <a:pPr eaLnBrk="0" hangingPunct="0">
              <a:buClr>
                <a:schemeClr val="accent5">
                  <a:lumMod val="40000"/>
                  <a:lumOff val="60000"/>
                </a:schemeClr>
              </a:buClr>
              <a:buSzPct val="70000"/>
            </a:pPr>
            <a:r>
              <a:rPr lang="en-US" sz="3200" b="1" noProof="1">
                <a:latin typeface="Consolas" pitchFamily="49" charset="0"/>
                <a:cs typeface="Consolas" pitchFamily="49" charset="0"/>
              </a:rPr>
              <a:t>     SELECT</a:t>
            </a:r>
            <a:r>
              <a:rPr lang="en-US" sz="3200" b="1" noProof="1">
                <a:solidFill>
                  <a:schemeClr val="bg1"/>
                </a:solidFill>
                <a:latin typeface="Consolas" pitchFamily="49" charset="0"/>
                <a:cs typeface="Consolas" pitchFamily="49" charset="0"/>
              </a:rPr>
              <a:t> TOP (1)</a:t>
            </a:r>
            <a:r>
              <a:rPr lang="en-US" sz="3200" b="1" noProof="1">
                <a:solidFill>
                  <a:schemeClr val="tx2"/>
                </a:solidFill>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a:t>
            </a:r>
          </a:p>
          <a:p>
            <a:pPr eaLnBrk="0" hangingPunct="0">
              <a:buClr>
                <a:schemeClr val="accent5">
                  <a:lumMod val="40000"/>
                  <a:lumOff val="60000"/>
                </a:schemeClr>
              </a:buClr>
              <a:buSzPct val="70000"/>
            </a:pPr>
            <a:r>
              <a:rPr lang="en-US" sz="3200" b="1" noProof="1">
                <a:latin typeface="Consolas" pitchFamily="49" charset="0"/>
                <a:cs typeface="Consolas" pitchFamily="49" charset="0"/>
              </a:rPr>
              <a:t>       FROM</a:t>
            </a:r>
            <a:r>
              <a:rPr lang="en-US" sz="3200" b="1" noProof="1">
                <a:solidFill>
                  <a:schemeClr val="tx2"/>
                </a:solidFill>
                <a:latin typeface="Consolas" pitchFamily="49" charset="0"/>
                <a:cs typeface="Consolas" pitchFamily="49" charset="0"/>
              </a:rPr>
              <a:t> Peaks</a:t>
            </a:r>
          </a:p>
          <a:p>
            <a:pPr eaLnBrk="0" hangingPunct="0">
              <a:buClr>
                <a:schemeClr val="accent5">
                  <a:lumMod val="40000"/>
                  <a:lumOff val="60000"/>
                </a:schemeClr>
              </a:buClr>
              <a:buSzPct val="70000"/>
            </a:pPr>
            <a:r>
              <a:rPr lang="en-US" sz="3200" b="1" noProof="1">
                <a:solidFill>
                  <a:schemeClr val="bg1"/>
                </a:solidFill>
                <a:latin typeface="Consolas" pitchFamily="49" charset="0"/>
                <a:cs typeface="Consolas" pitchFamily="49" charset="0"/>
              </a:rPr>
              <a:t>   ORDER BY </a:t>
            </a:r>
            <a:r>
              <a:rPr lang="en-US" sz="3200" b="1" noProof="1">
                <a:solidFill>
                  <a:schemeClr val="tx2"/>
                </a:solidFill>
                <a:latin typeface="Consolas" pitchFamily="49" charset="0"/>
                <a:cs typeface="Consolas" pitchFamily="49" charset="0"/>
              </a:rPr>
              <a:t>Elevation </a:t>
            </a:r>
            <a:r>
              <a:rPr lang="en-US" sz="3200" b="1" noProof="1">
                <a:solidFill>
                  <a:schemeClr val="bg1"/>
                </a:solidFill>
                <a:latin typeface="Consolas" pitchFamily="49" charset="0"/>
                <a:cs typeface="Consolas" pitchFamily="49" charset="0"/>
              </a:rPr>
              <a:t>DESC</a:t>
            </a:r>
            <a:endParaRPr lang="en-US" sz="2800" b="1" noProof="1">
              <a:solidFill>
                <a:schemeClr val="bg1"/>
              </a:solidFill>
              <a:latin typeface="Consolas" pitchFamily="49" charset="0"/>
              <a:cs typeface="Consolas" pitchFamily="49" charset="0"/>
            </a:endParaRPr>
          </a:p>
        </p:txBody>
      </p:sp>
      <p:sp>
        <p:nvSpPr>
          <p:cNvPr id="8" name="AutoShape 5"/>
          <p:cNvSpPr>
            <a:spLocks noChangeArrowheads="1"/>
          </p:cNvSpPr>
          <p:nvPr/>
        </p:nvSpPr>
        <p:spPr bwMode="auto">
          <a:xfrm>
            <a:off x="7280569" y="4762689"/>
            <a:ext cx="2784764" cy="532955"/>
          </a:xfrm>
          <a:prstGeom prst="wedgeRoundRectCallout">
            <a:avLst>
              <a:gd name="adj1" fmla="val -56852"/>
              <a:gd name="adj2" fmla="val -32412"/>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Greatest value first</a:t>
            </a:r>
          </a:p>
        </p:txBody>
      </p:sp>
      <p:sp>
        <p:nvSpPr>
          <p:cNvPr id="9" name="AutoShape 5"/>
          <p:cNvSpPr>
            <a:spLocks noChangeArrowheads="1"/>
          </p:cNvSpPr>
          <p:nvPr/>
        </p:nvSpPr>
        <p:spPr bwMode="auto">
          <a:xfrm>
            <a:off x="426000" y="4762690"/>
            <a:ext cx="2860963" cy="532955"/>
          </a:xfrm>
          <a:prstGeom prst="wedgeRoundRectCallout">
            <a:avLst>
              <a:gd name="adj1" fmla="val 57019"/>
              <a:gd name="adj2" fmla="val -43238"/>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Sorting column</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2951" y="1515302"/>
            <a:ext cx="2424545" cy="2424545"/>
          </a:xfrm>
          <a:prstGeom prst="rect">
            <a:avLst/>
          </a:prstGeom>
        </p:spPr>
      </p:pic>
      <p:sp>
        <p:nvSpPr>
          <p:cNvPr id="10" name="Slide Number">
            <a:extLst>
              <a:ext uri="{FF2B5EF4-FFF2-40B4-BE49-F238E27FC236}">
                <a16:creationId xmlns:a16="http://schemas.microsoft.com/office/drawing/2014/main" id="{68BDED64-12A8-4055-9644-942A6618F387}"/>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19</a:t>
            </a:fld>
            <a:endParaRPr lang="en-US" noProof="0" dirty="0"/>
          </a:p>
        </p:txBody>
      </p:sp>
    </p:spTree>
    <p:extLst>
      <p:ext uri="{BB962C8B-B14F-4D97-AF65-F5344CB8AC3E}">
        <p14:creationId xmlns:p14="http://schemas.microsoft.com/office/powerpoint/2010/main" val="51181874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497B7999-EA61-4D04-8284-BD5C256E4E1B}"/>
              </a:ext>
            </a:extLst>
          </p:cNvPr>
          <p:cNvSpPr>
            <a:spLocks noGrp="1"/>
          </p:cNvSpPr>
          <p:nvPr>
            <p:ph type="subTitle" sz="quarter" idx="11"/>
          </p:nvPr>
        </p:nvSpPr>
        <p:spPr/>
        <p:txBody>
          <a:bodyPr/>
          <a:lstStyle/>
          <a:p>
            <a:r>
              <a:rPr lang="en-US"/>
              <a:t>Using SQL INSERT</a:t>
            </a:r>
            <a:endParaRPr lang="en-US" dirty="0"/>
          </a:p>
        </p:txBody>
      </p:sp>
      <p:sp>
        <p:nvSpPr>
          <p:cNvPr id="2" name="Title 1">
            <a:extLst>
              <a:ext uri="{FF2B5EF4-FFF2-40B4-BE49-F238E27FC236}">
                <a16:creationId xmlns:a16="http://schemas.microsoft.com/office/drawing/2014/main" id="{453EE3E7-276B-42AA-9604-0E0D3E1786B6}"/>
              </a:ext>
            </a:extLst>
          </p:cNvPr>
          <p:cNvSpPr>
            <a:spLocks noGrp="1"/>
          </p:cNvSpPr>
          <p:nvPr>
            <p:ph type="title" sz="quarter" idx="10"/>
          </p:nvPr>
        </p:nvSpPr>
        <p:spPr/>
        <p:txBody>
          <a:bodyPr/>
          <a:lstStyle/>
          <a:p>
            <a:r>
              <a:rPr lang="en-US" dirty="0"/>
              <a:t>Writing Data in Tables</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4487" y="1525866"/>
            <a:ext cx="2151803" cy="2241462"/>
          </a:xfrm>
          <a:prstGeom prst="rect">
            <a:avLst/>
          </a:prstGeom>
        </p:spPr>
      </p:pic>
    </p:spTree>
    <p:extLst>
      <p:ext uri="{BB962C8B-B14F-4D97-AF65-F5344CB8AC3E}">
        <p14:creationId xmlns:p14="http://schemas.microsoft.com/office/powerpoint/2010/main" val="10330157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996766" y="1212411"/>
            <a:ext cx="10129234" cy="5546589"/>
          </a:xfrm>
        </p:spPr>
        <p:txBody>
          <a:bodyPr>
            <a:normAutofit/>
          </a:bodyPr>
          <a:lstStyle/>
          <a:p>
            <a:pPr marL="357188" indent="-357188">
              <a:lnSpc>
                <a:spcPct val="100000"/>
              </a:lnSpc>
            </a:pPr>
            <a:r>
              <a:rPr lang="en-US" sz="3400" dirty="0"/>
              <a:t>The SQL </a:t>
            </a:r>
            <a:r>
              <a:rPr lang="en-US" sz="3400" b="1" dirty="0">
                <a:solidFill>
                  <a:schemeClr val="bg1"/>
                </a:solidFill>
                <a:latin typeface="Consolas" pitchFamily="49" charset="0"/>
              </a:rPr>
              <a:t>INSERT</a:t>
            </a:r>
            <a:r>
              <a:rPr lang="en-US" sz="3400" dirty="0"/>
              <a:t> command</a:t>
            </a:r>
            <a:endParaRPr lang="bg-BG" sz="3400" dirty="0"/>
          </a:p>
          <a:p>
            <a:pPr marL="357188" indent="-357188">
              <a:lnSpc>
                <a:spcPct val="100000"/>
              </a:lnSpc>
            </a:pPr>
            <a:endParaRPr lang="bg-BG" sz="3400" b="1" dirty="0">
              <a:solidFill>
                <a:schemeClr val="bg1"/>
              </a:solidFill>
            </a:endParaRPr>
          </a:p>
          <a:p>
            <a:pPr marL="357188" indent="-357188">
              <a:lnSpc>
                <a:spcPct val="100000"/>
              </a:lnSpc>
            </a:pPr>
            <a:endParaRPr lang="bg-BG" sz="3400" b="1" dirty="0">
              <a:solidFill>
                <a:schemeClr val="bg1"/>
              </a:solidFill>
            </a:endParaRPr>
          </a:p>
          <a:p>
            <a:pPr marL="357188" indent="-357188">
              <a:lnSpc>
                <a:spcPct val="100000"/>
              </a:lnSpc>
              <a:spcBef>
                <a:spcPts val="3000"/>
              </a:spcBef>
              <a:buClr>
                <a:schemeClr val="tx1"/>
              </a:buClr>
            </a:pPr>
            <a:r>
              <a:rPr lang="en-US" sz="3400" b="1" dirty="0">
                <a:solidFill>
                  <a:schemeClr val="bg1"/>
                </a:solidFill>
              </a:rPr>
              <a:t>Bulk data </a:t>
            </a:r>
            <a:r>
              <a:rPr lang="en-US" sz="3400" dirty="0"/>
              <a:t>can be recorded in a single query, </a:t>
            </a:r>
            <a:br>
              <a:rPr lang="en-US" sz="3400" dirty="0"/>
            </a:br>
            <a:r>
              <a:rPr lang="en-US" sz="3400" dirty="0"/>
              <a:t>separated by comma</a:t>
            </a:r>
          </a:p>
        </p:txBody>
      </p:sp>
      <p:sp>
        <p:nvSpPr>
          <p:cNvPr id="559106" name="Rectangle 2"/>
          <p:cNvSpPr>
            <a:spLocks noGrp="1" noChangeArrowheads="1"/>
          </p:cNvSpPr>
          <p:nvPr>
            <p:ph type="title"/>
          </p:nvPr>
        </p:nvSpPr>
        <p:spPr/>
        <p:txBody>
          <a:bodyPr/>
          <a:lstStyle/>
          <a:p>
            <a:r>
              <a:rPr lang="en-US" dirty="0"/>
              <a:t>Inserting Data</a:t>
            </a:r>
            <a:endParaRPr lang="bg-BG" dirty="0"/>
          </a:p>
        </p:txBody>
      </p:sp>
      <p:sp>
        <p:nvSpPr>
          <p:cNvPr id="6" name="Rectangle 4"/>
          <p:cNvSpPr>
            <a:spLocks noChangeArrowheads="1"/>
          </p:cNvSpPr>
          <p:nvPr/>
        </p:nvSpPr>
        <p:spPr bwMode="auto">
          <a:xfrm>
            <a:off x="2496001" y="1885900"/>
            <a:ext cx="8210227" cy="492443"/>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INSERT</a:t>
            </a:r>
            <a:r>
              <a:rPr lang="en-US" sz="2600" b="1" noProof="1">
                <a:latin typeface="Consolas" pitchFamily="49" charset="0"/>
                <a:cs typeface="Consolas" pitchFamily="49" charset="0"/>
              </a:rPr>
              <a:t> INTO Towns VALUES (33, 'Paris')</a:t>
            </a:r>
          </a:p>
        </p:txBody>
      </p:sp>
      <p:sp>
        <p:nvSpPr>
          <p:cNvPr id="9" name="Rectangle 8"/>
          <p:cNvSpPr>
            <a:spLocks noChangeArrowheads="1"/>
          </p:cNvSpPr>
          <p:nvPr/>
        </p:nvSpPr>
        <p:spPr bwMode="auto">
          <a:xfrm>
            <a:off x="2498891" y="4799203"/>
            <a:ext cx="5507089" cy="1692771"/>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INSERT</a:t>
            </a:r>
            <a:r>
              <a:rPr lang="en-US" sz="2600" b="1" noProof="1">
                <a:latin typeface="Consolas" pitchFamily="49" charset="0"/>
                <a:cs typeface="Consolas" pitchFamily="49" charset="0"/>
              </a:rPr>
              <a:t> INTO EmployeesProjects</a:t>
            </a:r>
          </a:p>
          <a:p>
            <a:pPr eaLnBrk="0" hangingPunct="0">
              <a:buClr>
                <a:schemeClr val="accent5">
                  <a:lumMod val="40000"/>
                  <a:lumOff val="60000"/>
                </a:schemeClr>
              </a:buClr>
              <a:buSzPct val="70000"/>
            </a:pPr>
            <a:r>
              <a:rPr lang="en-US" sz="2600" b="1" noProof="1">
                <a:latin typeface="Consolas" pitchFamily="49" charset="0"/>
                <a:cs typeface="Consolas" pitchFamily="49" charset="0"/>
              </a:rPr>
              <a:t>     VALUES (229, 1),</a:t>
            </a:r>
          </a:p>
          <a:p>
            <a:pPr eaLnBrk="0" hangingPunct="0">
              <a:buClr>
                <a:schemeClr val="accent5">
                  <a:lumMod val="40000"/>
                  <a:lumOff val="60000"/>
                </a:schemeClr>
              </a:buClr>
              <a:buSzPct val="70000"/>
            </a:pPr>
            <a:r>
              <a:rPr lang="en-US" sz="2600" b="1" noProof="1">
                <a:latin typeface="Consolas" pitchFamily="49" charset="0"/>
                <a:cs typeface="Consolas" pitchFamily="49" charset="0"/>
              </a:rPr>
              <a:t>            (2</a:t>
            </a:r>
            <a:r>
              <a:rPr lang="bg-BG" sz="2600" b="1" noProof="1">
                <a:latin typeface="Consolas" pitchFamily="49" charset="0"/>
                <a:cs typeface="Consolas" pitchFamily="49" charset="0"/>
              </a:rPr>
              <a:t>29</a:t>
            </a:r>
            <a:r>
              <a:rPr lang="en-US" sz="2600" b="1" noProof="1">
                <a:latin typeface="Consolas" pitchFamily="49" charset="0"/>
                <a:cs typeface="Consolas" pitchFamily="49" charset="0"/>
              </a:rPr>
              <a:t>, 2),</a:t>
            </a:r>
          </a:p>
          <a:p>
            <a:pPr eaLnBrk="0" hangingPunct="0">
              <a:buClr>
                <a:schemeClr val="accent5">
                  <a:lumMod val="40000"/>
                  <a:lumOff val="60000"/>
                </a:schemeClr>
              </a:buClr>
              <a:buSzPct val="70000"/>
            </a:pPr>
            <a:r>
              <a:rPr lang="en-US" sz="2600" b="1" noProof="1">
                <a:latin typeface="Consolas" pitchFamily="49" charset="0"/>
                <a:cs typeface="Consolas" pitchFamily="49" charset="0"/>
              </a:rPr>
              <a:t>            (2</a:t>
            </a:r>
            <a:r>
              <a:rPr lang="bg-BG" sz="2600" b="1" noProof="1">
                <a:latin typeface="Consolas" pitchFamily="49" charset="0"/>
                <a:cs typeface="Consolas" pitchFamily="49" charset="0"/>
              </a:rPr>
              <a:t>29</a:t>
            </a:r>
            <a:r>
              <a:rPr lang="en-US" sz="2600" b="1" noProof="1">
                <a:latin typeface="Consolas" pitchFamily="49" charset="0"/>
                <a:cs typeface="Consolas" pitchFamily="49" charset="0"/>
              </a:rPr>
              <a:t>, 3), …</a:t>
            </a:r>
          </a:p>
        </p:txBody>
      </p:sp>
      <p:sp>
        <p:nvSpPr>
          <p:cNvPr id="10" name="Rectangle 4"/>
          <p:cNvSpPr>
            <a:spLocks noChangeArrowheads="1"/>
          </p:cNvSpPr>
          <p:nvPr/>
        </p:nvSpPr>
        <p:spPr bwMode="auto">
          <a:xfrm>
            <a:off x="2496000" y="2536448"/>
            <a:ext cx="8210227" cy="892552"/>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600" b="1" noProof="1">
                <a:solidFill>
                  <a:schemeClr val="bg1"/>
                </a:solidFill>
                <a:latin typeface="Consolas" pitchFamily="49" charset="0"/>
                <a:cs typeface="Consolas" pitchFamily="49" charset="0"/>
              </a:rPr>
              <a:t>INSERT</a:t>
            </a:r>
            <a:r>
              <a:rPr lang="en-US" sz="2600" b="1" noProof="1">
                <a:latin typeface="Consolas" pitchFamily="49" charset="0"/>
                <a:cs typeface="Consolas" pitchFamily="49" charset="0"/>
              </a:rPr>
              <a:t> INTO Projects (Name, StartDate)</a:t>
            </a:r>
          </a:p>
          <a:p>
            <a:pPr eaLnBrk="0" hangingPunct="0">
              <a:buClr>
                <a:schemeClr val="accent5">
                  <a:lumMod val="40000"/>
                  <a:lumOff val="60000"/>
                </a:schemeClr>
              </a:buClr>
              <a:buSzPct val="70000"/>
            </a:pPr>
            <a:r>
              <a:rPr lang="en-US" sz="2600" b="1" noProof="1">
                <a:latin typeface="Consolas" pitchFamily="49" charset="0"/>
                <a:cs typeface="Consolas" pitchFamily="49" charset="0"/>
              </a:rPr>
              <a:t>     VALUES ('Reflective Jacket', GETDATE())</a:t>
            </a:r>
          </a:p>
        </p:txBody>
      </p:sp>
      <p:pic>
        <p:nvPicPr>
          <p:cNvPr id="4" name="Picture 3"/>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392666" y="4749170"/>
            <a:ext cx="2028628" cy="1825969"/>
          </a:xfrm>
          <a:prstGeom prst="rect">
            <a:avLst/>
          </a:prstGeom>
        </p:spPr>
      </p:pic>
      <p:sp>
        <p:nvSpPr>
          <p:cNvPr id="11" name="Slide Number">
            <a:extLst>
              <a:ext uri="{FF2B5EF4-FFF2-40B4-BE49-F238E27FC236}">
                <a16:creationId xmlns:a16="http://schemas.microsoft.com/office/drawing/2014/main" id="{5315B799-C2C9-4AB6-8235-2AFAA2CACFB0}"/>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21</a:t>
            </a:fld>
            <a:endParaRPr lang="en-US" dirty="0"/>
          </a:p>
        </p:txBody>
      </p:sp>
    </p:spTree>
    <p:extLst>
      <p:ext uri="{BB962C8B-B14F-4D97-AF65-F5344CB8AC3E}">
        <p14:creationId xmlns:p14="http://schemas.microsoft.com/office/powerpoint/2010/main" val="7173192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marL="357188" indent="-357188">
              <a:lnSpc>
                <a:spcPct val="100000"/>
              </a:lnSpc>
            </a:pPr>
            <a:r>
              <a:rPr lang="en-US" sz="3600" dirty="0"/>
              <a:t>Inserting rows into existing table:</a:t>
            </a:r>
          </a:p>
          <a:p>
            <a:pPr marL="357188" indent="-357188">
              <a:lnSpc>
                <a:spcPct val="100000"/>
              </a:lnSpc>
            </a:pPr>
            <a:endParaRPr lang="en-US" sz="3600" dirty="0"/>
          </a:p>
          <a:p>
            <a:pPr marL="357188" indent="-357188">
              <a:lnSpc>
                <a:spcPct val="100000"/>
              </a:lnSpc>
            </a:pPr>
            <a:endParaRPr lang="en-US" sz="3600" dirty="0"/>
          </a:p>
          <a:p>
            <a:pPr marL="357188" indent="-357188">
              <a:lnSpc>
                <a:spcPct val="100000"/>
              </a:lnSpc>
            </a:pPr>
            <a:endParaRPr lang="en-US" sz="3600" dirty="0"/>
          </a:p>
          <a:p>
            <a:pPr marL="357188" indent="-357188">
              <a:lnSpc>
                <a:spcPct val="100000"/>
              </a:lnSpc>
            </a:pPr>
            <a:r>
              <a:rPr lang="en-US" sz="3600" dirty="0"/>
              <a:t>Using existing records to create a </a:t>
            </a:r>
            <a:r>
              <a:rPr lang="en-US" sz="3600" b="1" dirty="0">
                <a:solidFill>
                  <a:schemeClr val="bg1"/>
                </a:solidFill>
              </a:rPr>
              <a:t>new table</a:t>
            </a:r>
            <a:r>
              <a:rPr lang="en-US" sz="3600" dirty="0"/>
              <a:t>:</a:t>
            </a:r>
          </a:p>
          <a:p>
            <a:endParaRPr lang="bg-BG" dirty="0"/>
          </a:p>
        </p:txBody>
      </p:sp>
      <p:sp>
        <p:nvSpPr>
          <p:cNvPr id="559106" name="Rectangle 2"/>
          <p:cNvSpPr>
            <a:spLocks noGrp="1" noChangeArrowheads="1"/>
          </p:cNvSpPr>
          <p:nvPr>
            <p:ph type="title"/>
          </p:nvPr>
        </p:nvSpPr>
        <p:spPr/>
        <p:txBody>
          <a:bodyPr/>
          <a:lstStyle/>
          <a:p>
            <a:r>
              <a:rPr lang="en-US" dirty="0"/>
              <a:t>Inserting Data</a:t>
            </a:r>
            <a:endParaRPr lang="bg-BG" dirty="0"/>
          </a:p>
        </p:txBody>
      </p:sp>
      <p:sp>
        <p:nvSpPr>
          <p:cNvPr id="559108" name="Rectangle 4"/>
          <p:cNvSpPr>
            <a:spLocks noChangeArrowheads="1"/>
          </p:cNvSpPr>
          <p:nvPr/>
        </p:nvSpPr>
        <p:spPr bwMode="auto">
          <a:xfrm>
            <a:off x="696000" y="2441181"/>
            <a:ext cx="9296400" cy="1384995"/>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spcBef>
                <a:spcPts val="1200"/>
              </a:spcBef>
              <a:buClr>
                <a:schemeClr val="accent5">
                  <a:lumMod val="40000"/>
                  <a:lumOff val="60000"/>
                </a:schemeClr>
              </a:buClr>
              <a:buSzPct val="70000"/>
            </a:pPr>
            <a:r>
              <a:rPr lang="en-US" sz="2800" b="1" noProof="1">
                <a:solidFill>
                  <a:schemeClr val="bg1"/>
                </a:solidFill>
                <a:latin typeface="Consolas" pitchFamily="49" charset="0"/>
                <a:cs typeface="Consolas" pitchFamily="49" charset="0"/>
              </a:rPr>
              <a:t>INSERT INTO </a:t>
            </a:r>
            <a:r>
              <a:rPr lang="en-US" sz="2800" b="1" noProof="1">
                <a:latin typeface="Consolas" pitchFamily="49" charset="0"/>
                <a:cs typeface="Consolas" pitchFamily="49" charset="0"/>
              </a:rPr>
              <a:t>Projects (Name, StartDate)</a:t>
            </a:r>
          </a:p>
          <a:p>
            <a:pPr eaLnBrk="0" hangingPunct="0">
              <a:buClr>
                <a:schemeClr val="accent5">
                  <a:lumMod val="40000"/>
                  <a:lumOff val="60000"/>
                </a:schemeClr>
              </a:buClr>
              <a:buSzPct val="70000"/>
            </a:pPr>
            <a:r>
              <a:rPr lang="en-US" sz="2800" b="1" noProof="1">
                <a:latin typeface="Consolas" pitchFamily="49" charset="0"/>
                <a:cs typeface="Consolas" pitchFamily="49" charset="0"/>
              </a:rPr>
              <a:t>     SELECT Name + ' Restructuring', GETDATE()</a:t>
            </a:r>
          </a:p>
          <a:p>
            <a:pPr eaLnBrk="0" hangingPunct="0">
              <a:buClr>
                <a:schemeClr val="accent5">
                  <a:lumMod val="40000"/>
                  <a:lumOff val="60000"/>
                </a:schemeClr>
              </a:buClr>
              <a:buSzPct val="70000"/>
            </a:pPr>
            <a:r>
              <a:rPr lang="en-US" sz="2800" b="1" noProof="1">
                <a:latin typeface="Consolas" pitchFamily="49" charset="0"/>
                <a:cs typeface="Consolas" pitchFamily="49" charset="0"/>
              </a:rPr>
              <a:t>       FROM Departments</a:t>
            </a:r>
          </a:p>
        </p:txBody>
      </p:sp>
      <p:sp>
        <p:nvSpPr>
          <p:cNvPr id="9" name="Rectangle 4"/>
          <p:cNvSpPr>
            <a:spLocks noChangeArrowheads="1"/>
          </p:cNvSpPr>
          <p:nvPr/>
        </p:nvSpPr>
        <p:spPr bwMode="auto">
          <a:xfrm>
            <a:off x="696000" y="4772973"/>
            <a:ext cx="9296400" cy="1384995"/>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latin typeface="Consolas" pitchFamily="49" charset="0"/>
                <a:cs typeface="Consolas" pitchFamily="49" charset="0"/>
              </a:rPr>
              <a:t>SELECT CustomerID, FirstName, Email, Phone</a:t>
            </a:r>
          </a:p>
          <a:p>
            <a:pPr eaLnBrk="0" hangingPunct="0">
              <a:buClr>
                <a:schemeClr val="accent5">
                  <a:lumMod val="40000"/>
                  <a:lumOff val="60000"/>
                </a:schemeClr>
              </a:buClr>
              <a:buSzPct val="70000"/>
            </a:pPr>
            <a:r>
              <a:rPr lang="en-US" sz="2800" b="1" noProof="1">
                <a:latin typeface="Consolas" pitchFamily="49" charset="0"/>
                <a:cs typeface="Consolas" pitchFamily="49" charset="0"/>
              </a:rPr>
              <a:t>  INTO </a:t>
            </a:r>
            <a:r>
              <a:rPr lang="en-US" sz="2800" b="1" noProof="1">
                <a:solidFill>
                  <a:schemeClr val="bg1"/>
                </a:solidFill>
                <a:latin typeface="Consolas" pitchFamily="49" charset="0"/>
                <a:cs typeface="Consolas" pitchFamily="49" charset="0"/>
              </a:rPr>
              <a:t>CustomerContacts</a:t>
            </a:r>
          </a:p>
          <a:p>
            <a:pPr eaLnBrk="0" hangingPunct="0">
              <a:buClr>
                <a:schemeClr val="accent5">
                  <a:lumMod val="40000"/>
                  <a:lumOff val="60000"/>
                </a:schemeClr>
              </a:buClr>
              <a:buSzPct val="70000"/>
            </a:pPr>
            <a:r>
              <a:rPr lang="en-US" sz="2800" b="1" noProof="1">
                <a:latin typeface="Consolas" pitchFamily="49" charset="0"/>
                <a:cs typeface="Consolas" pitchFamily="49" charset="0"/>
              </a:rPr>
              <a:t>  FROM </a:t>
            </a:r>
            <a:r>
              <a:rPr lang="en-US" sz="2800" b="1" noProof="1">
                <a:solidFill>
                  <a:schemeClr val="bg1"/>
                </a:solidFill>
                <a:latin typeface="Consolas" pitchFamily="49" charset="0"/>
                <a:cs typeface="Consolas" pitchFamily="49" charset="0"/>
              </a:rPr>
              <a:t>Customers</a:t>
            </a:r>
          </a:p>
        </p:txBody>
      </p:sp>
      <p:sp>
        <p:nvSpPr>
          <p:cNvPr id="13" name="AutoShape 5"/>
          <p:cNvSpPr>
            <a:spLocks noChangeArrowheads="1"/>
          </p:cNvSpPr>
          <p:nvPr/>
        </p:nvSpPr>
        <p:spPr bwMode="auto">
          <a:xfrm>
            <a:off x="5524199" y="5405707"/>
            <a:ext cx="2767815" cy="584855"/>
          </a:xfrm>
          <a:prstGeom prst="wedgeRoundRectCallout">
            <a:avLst>
              <a:gd name="adj1" fmla="val -55528"/>
              <a:gd name="adj2" fmla="val -27224"/>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New table name</a:t>
            </a:r>
          </a:p>
        </p:txBody>
      </p:sp>
      <p:sp>
        <p:nvSpPr>
          <p:cNvPr id="14" name="AutoShape 5"/>
          <p:cNvSpPr>
            <a:spLocks noChangeArrowheads="1"/>
          </p:cNvSpPr>
          <p:nvPr/>
        </p:nvSpPr>
        <p:spPr bwMode="auto">
          <a:xfrm>
            <a:off x="4110522" y="6128648"/>
            <a:ext cx="2467354" cy="602716"/>
          </a:xfrm>
          <a:prstGeom prst="wedgeRoundRectCallout">
            <a:avLst>
              <a:gd name="adj1" fmla="val -54285"/>
              <a:gd name="adj2" fmla="val -39583"/>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Existing source</a:t>
            </a:r>
          </a:p>
        </p:txBody>
      </p:sp>
      <p:sp>
        <p:nvSpPr>
          <p:cNvPr id="15" name="AutoShape 5"/>
          <p:cNvSpPr>
            <a:spLocks noChangeArrowheads="1"/>
          </p:cNvSpPr>
          <p:nvPr/>
        </p:nvSpPr>
        <p:spPr bwMode="auto">
          <a:xfrm>
            <a:off x="6591000" y="1765364"/>
            <a:ext cx="2728672" cy="584855"/>
          </a:xfrm>
          <a:prstGeom prst="wedgeRoundRectCallout">
            <a:avLst>
              <a:gd name="adj1" fmla="val -55957"/>
              <a:gd name="adj2" fmla="val 33830"/>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List of columns</a:t>
            </a:r>
          </a:p>
        </p:txBody>
      </p:sp>
      <p:sp>
        <p:nvSpPr>
          <p:cNvPr id="10" name="Slide Number">
            <a:extLst>
              <a:ext uri="{FF2B5EF4-FFF2-40B4-BE49-F238E27FC236}">
                <a16:creationId xmlns:a16="http://schemas.microsoft.com/office/drawing/2014/main" id="{BEADC6AC-1AB2-4DF7-9A7F-D287B543992C}"/>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22</a:t>
            </a:fld>
            <a:endParaRPr lang="en-US" noProof="0" dirty="0"/>
          </a:p>
        </p:txBody>
      </p:sp>
    </p:spTree>
    <p:extLst>
      <p:ext uri="{BB962C8B-B14F-4D97-AF65-F5344CB8AC3E}">
        <p14:creationId xmlns:p14="http://schemas.microsoft.com/office/powerpoint/2010/main" val="35875200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4" grpId="0" animBg="1"/>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buClr>
                <a:schemeClr val="tx1"/>
              </a:buClr>
            </a:pPr>
            <a:r>
              <a:rPr lang="en-US" b="1" dirty="0">
                <a:solidFill>
                  <a:schemeClr val="bg1"/>
                </a:solidFill>
              </a:rPr>
              <a:t>Sequences</a:t>
            </a:r>
            <a:r>
              <a:rPr lang="en-US" dirty="0"/>
              <a:t> are </a:t>
            </a:r>
            <a:r>
              <a:rPr lang="en-US" b="1" dirty="0">
                <a:solidFill>
                  <a:schemeClr val="bg1"/>
                </a:solidFill>
              </a:rPr>
              <a:t>special object</a:t>
            </a:r>
            <a:r>
              <a:rPr lang="en-US" dirty="0"/>
              <a:t> in SQL Server</a:t>
            </a:r>
          </a:p>
          <a:p>
            <a:pPr lvl="1"/>
            <a:r>
              <a:rPr lang="en-US" dirty="0"/>
              <a:t>Similar to </a:t>
            </a:r>
            <a:r>
              <a:rPr lang="en-US" b="1" dirty="0">
                <a:solidFill>
                  <a:schemeClr val="bg1"/>
                </a:solidFill>
                <a:latin typeface="Consolas" panose="020B0609020204030204" pitchFamily="49" charset="0"/>
              </a:rPr>
              <a:t>IDENTITY</a:t>
            </a:r>
            <a:r>
              <a:rPr lang="en-US" dirty="0"/>
              <a:t> fields</a:t>
            </a:r>
          </a:p>
          <a:p>
            <a:r>
              <a:rPr lang="en-US" dirty="0"/>
              <a:t>Returns an </a:t>
            </a:r>
            <a:r>
              <a:rPr lang="en-US" b="1" dirty="0">
                <a:solidFill>
                  <a:schemeClr val="bg1"/>
                </a:solidFill>
              </a:rPr>
              <a:t>incrementing value </a:t>
            </a:r>
            <a:r>
              <a:rPr lang="en-US" dirty="0"/>
              <a:t>every time it's used</a:t>
            </a:r>
          </a:p>
        </p:txBody>
      </p:sp>
      <p:sp>
        <p:nvSpPr>
          <p:cNvPr id="4" name="Title 3"/>
          <p:cNvSpPr>
            <a:spLocks noGrp="1"/>
          </p:cNvSpPr>
          <p:nvPr>
            <p:ph type="title"/>
          </p:nvPr>
        </p:nvSpPr>
        <p:spPr/>
        <p:txBody>
          <a:bodyPr/>
          <a:lstStyle/>
          <a:p>
            <a:r>
              <a:rPr lang="en-US" dirty="0"/>
              <a:t>Sequences</a:t>
            </a:r>
          </a:p>
        </p:txBody>
      </p:sp>
      <p:sp>
        <p:nvSpPr>
          <p:cNvPr id="14" name="Rectangle 4"/>
          <p:cNvSpPr>
            <a:spLocks noChangeArrowheads="1"/>
          </p:cNvSpPr>
          <p:nvPr/>
        </p:nvSpPr>
        <p:spPr bwMode="auto">
          <a:xfrm>
            <a:off x="651000" y="3298175"/>
            <a:ext cx="10515600" cy="2062103"/>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3200" b="1" noProof="1">
                <a:solidFill>
                  <a:schemeClr val="bg1"/>
                </a:solidFill>
                <a:latin typeface="Consolas" pitchFamily="49" charset="0"/>
                <a:cs typeface="Consolas" pitchFamily="49" charset="0"/>
              </a:rPr>
              <a:t>CREATE SEQUENCE </a:t>
            </a:r>
            <a:r>
              <a:rPr lang="en-US" sz="3200" b="1" noProof="1">
                <a:latin typeface="Consolas" pitchFamily="49" charset="0"/>
                <a:cs typeface="Consolas" pitchFamily="49" charset="0"/>
              </a:rPr>
              <a:t>seq_Customers_CustomerID </a:t>
            </a:r>
          </a:p>
          <a:p>
            <a:pPr eaLnBrk="0" hangingPunct="0">
              <a:buClr>
                <a:schemeClr val="accent5">
                  <a:lumMod val="40000"/>
                  <a:lumOff val="60000"/>
                </a:schemeClr>
              </a:buClr>
              <a:buSzPct val="70000"/>
            </a:pPr>
            <a:r>
              <a:rPr lang="en-US" sz="3200" b="1" noProof="1">
                <a:solidFill>
                  <a:schemeClr val="bg1"/>
                </a:solidFill>
                <a:latin typeface="Consolas" pitchFamily="49" charset="0"/>
                <a:cs typeface="Consolas" pitchFamily="49" charset="0"/>
              </a:rPr>
              <a:t>             AS</a:t>
            </a:r>
            <a:r>
              <a:rPr lang="en-US" sz="3200" b="1" noProof="1">
                <a:latin typeface="Consolas" pitchFamily="49" charset="0"/>
                <a:cs typeface="Consolas" pitchFamily="49" charset="0"/>
              </a:rPr>
              <a:t> INT</a:t>
            </a:r>
          </a:p>
          <a:p>
            <a:pPr eaLnBrk="0" hangingPunct="0">
              <a:buClr>
                <a:schemeClr val="accent5">
                  <a:lumMod val="40000"/>
                  <a:lumOff val="60000"/>
                </a:schemeClr>
              </a:buClr>
              <a:buSzPct val="70000"/>
            </a:pPr>
            <a:r>
              <a:rPr lang="en-US" sz="3200" b="1" noProof="1">
                <a:solidFill>
                  <a:schemeClr val="bg1"/>
                </a:solidFill>
                <a:latin typeface="Consolas" pitchFamily="49" charset="0"/>
                <a:cs typeface="Consolas" pitchFamily="49" charset="0"/>
              </a:rPr>
              <a:t>     START WITH </a:t>
            </a:r>
            <a:r>
              <a:rPr lang="en-US" sz="3200" b="1" noProof="1">
                <a:latin typeface="Consolas" pitchFamily="49" charset="0"/>
                <a:cs typeface="Consolas" pitchFamily="49" charset="0"/>
              </a:rPr>
              <a:t>1</a:t>
            </a:r>
          </a:p>
          <a:p>
            <a:pPr eaLnBrk="0" hangingPunct="0">
              <a:buClr>
                <a:schemeClr val="accent5">
                  <a:lumMod val="40000"/>
                  <a:lumOff val="60000"/>
                </a:schemeClr>
              </a:buClr>
              <a:buSzPct val="70000"/>
            </a:pPr>
            <a:r>
              <a:rPr lang="en-US" sz="3200" b="1" noProof="1">
                <a:solidFill>
                  <a:schemeClr val="bg1"/>
                </a:solidFill>
                <a:latin typeface="Consolas" pitchFamily="49" charset="0"/>
                <a:cs typeface="Consolas" pitchFamily="49" charset="0"/>
              </a:rPr>
              <a:t>   INCREMENT BY </a:t>
            </a:r>
            <a:r>
              <a:rPr lang="en-US" sz="3200" b="1" noProof="1">
                <a:latin typeface="Consolas" pitchFamily="49" charset="0"/>
                <a:cs typeface="Consolas" pitchFamily="49" charset="0"/>
              </a:rPr>
              <a:t>1</a:t>
            </a:r>
          </a:p>
        </p:txBody>
      </p:sp>
      <p:sp>
        <p:nvSpPr>
          <p:cNvPr id="7" name="Rectangle 4"/>
          <p:cNvSpPr>
            <a:spLocks noChangeArrowheads="1"/>
          </p:cNvSpPr>
          <p:nvPr/>
        </p:nvSpPr>
        <p:spPr bwMode="auto">
          <a:xfrm>
            <a:off x="651000" y="5499000"/>
            <a:ext cx="10515600" cy="584775"/>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3200" b="1" noProof="1">
                <a:solidFill>
                  <a:schemeClr val="tx2"/>
                </a:solidFill>
                <a:latin typeface="Consolas" pitchFamily="49" charset="0"/>
                <a:cs typeface="Consolas" pitchFamily="49" charset="0"/>
              </a:rPr>
              <a:t>SELECT </a:t>
            </a:r>
            <a:r>
              <a:rPr lang="en-US" sz="3200" b="1" noProof="1">
                <a:solidFill>
                  <a:schemeClr val="bg1"/>
                </a:solidFill>
                <a:latin typeface="Consolas" pitchFamily="49" charset="0"/>
                <a:cs typeface="Consolas" pitchFamily="49" charset="0"/>
              </a:rPr>
              <a:t>NEXT VALUE FOR </a:t>
            </a:r>
            <a:r>
              <a:rPr lang="en-US" sz="3200" b="1" noProof="1">
                <a:solidFill>
                  <a:schemeClr val="tx2"/>
                </a:solidFill>
                <a:latin typeface="Consolas" pitchFamily="49" charset="0"/>
                <a:cs typeface="Consolas" pitchFamily="49" charset="0"/>
              </a:rPr>
              <a:t>seq_Customers_CustomerID </a:t>
            </a:r>
          </a:p>
        </p:txBody>
      </p:sp>
      <p:sp>
        <p:nvSpPr>
          <p:cNvPr id="8" name="Slide Number">
            <a:extLst>
              <a:ext uri="{FF2B5EF4-FFF2-40B4-BE49-F238E27FC236}">
                <a16:creationId xmlns:a16="http://schemas.microsoft.com/office/drawing/2014/main" id="{8CC03A60-BE4A-4899-87E4-B82E1626C70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23</a:t>
            </a:fld>
            <a:endParaRPr lang="en-US" noProof="0" dirty="0"/>
          </a:p>
        </p:txBody>
      </p:sp>
    </p:spTree>
    <p:extLst>
      <p:ext uri="{BB962C8B-B14F-4D97-AF65-F5344CB8AC3E}">
        <p14:creationId xmlns:p14="http://schemas.microsoft.com/office/powerpoint/2010/main" val="7204755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CF27A3A7-CAAB-4CE4-93AB-C9C3161E2189}"/>
              </a:ext>
            </a:extLst>
          </p:cNvPr>
          <p:cNvSpPr>
            <a:spLocks noGrp="1"/>
          </p:cNvSpPr>
          <p:nvPr>
            <p:ph type="subTitle" sz="quarter" idx="11"/>
          </p:nvPr>
        </p:nvSpPr>
        <p:spPr/>
        <p:txBody>
          <a:bodyPr/>
          <a:lstStyle/>
          <a:p>
            <a:r>
              <a:rPr lang="en-US"/>
              <a:t>Using SQL UPDATE and DELETE</a:t>
            </a:r>
            <a:endParaRPr lang="en-US" dirty="0"/>
          </a:p>
        </p:txBody>
      </p:sp>
      <p:sp>
        <p:nvSpPr>
          <p:cNvPr id="5" name="Title 4">
            <a:extLst>
              <a:ext uri="{FF2B5EF4-FFF2-40B4-BE49-F238E27FC236}">
                <a16:creationId xmlns:a16="http://schemas.microsoft.com/office/drawing/2014/main" id="{E15249D2-846B-4BE8-9C09-5032F076AAC4}"/>
              </a:ext>
            </a:extLst>
          </p:cNvPr>
          <p:cNvSpPr>
            <a:spLocks noGrp="1"/>
          </p:cNvSpPr>
          <p:nvPr>
            <p:ph type="title" sz="quarter" idx="10"/>
          </p:nvPr>
        </p:nvSpPr>
        <p:spPr/>
        <p:txBody>
          <a:bodyPr/>
          <a:lstStyle/>
          <a:p>
            <a:r>
              <a:rPr lang="en-US" dirty="0"/>
              <a:t>Modifying Existing Records</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8304" y="1155192"/>
            <a:ext cx="2761488" cy="2761488"/>
          </a:xfrm>
          <a:prstGeom prst="rect">
            <a:avLst/>
          </a:prstGeom>
        </p:spPr>
      </p:pic>
    </p:spTree>
    <p:extLst>
      <p:ext uri="{BB962C8B-B14F-4D97-AF65-F5344CB8AC3E}">
        <p14:creationId xmlns:p14="http://schemas.microsoft.com/office/powerpoint/2010/main" val="211666268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2041766" y="1212411"/>
            <a:ext cx="10129234" cy="5546589"/>
          </a:xfrm>
        </p:spPr>
        <p:txBody>
          <a:bodyPr/>
          <a:lstStyle/>
          <a:p>
            <a:pPr>
              <a:lnSpc>
                <a:spcPct val="100000"/>
              </a:lnSpc>
            </a:pPr>
            <a:r>
              <a:rPr lang="en-US" dirty="0"/>
              <a:t>Deleting specific rows from a table</a:t>
            </a:r>
          </a:p>
          <a:p>
            <a:pPr lvl="1">
              <a:lnSpc>
                <a:spcPct val="100000"/>
              </a:lnSpc>
              <a:spcBef>
                <a:spcPts val="9600"/>
              </a:spcBef>
            </a:pPr>
            <a:r>
              <a:rPr lang="en-US" dirty="0"/>
              <a:t>Note: Don't forget the </a:t>
            </a:r>
            <a:r>
              <a:rPr lang="en-US" b="1" dirty="0">
                <a:solidFill>
                  <a:schemeClr val="bg1"/>
                </a:solidFill>
                <a:latin typeface="Consolas" pitchFamily="49" charset="0"/>
              </a:rPr>
              <a:t>WHERE</a:t>
            </a:r>
            <a:r>
              <a:rPr lang="en-US" dirty="0"/>
              <a:t> clause!</a:t>
            </a:r>
          </a:p>
          <a:p>
            <a:pPr>
              <a:lnSpc>
                <a:spcPct val="100000"/>
              </a:lnSpc>
            </a:pPr>
            <a:r>
              <a:rPr lang="en-US" dirty="0"/>
              <a:t>Delete all rows from a table (works faster </a:t>
            </a:r>
            <a:br>
              <a:rPr lang="bg-BG" dirty="0"/>
            </a:br>
            <a:r>
              <a:rPr lang="en-US" dirty="0"/>
              <a:t>than </a:t>
            </a:r>
            <a:r>
              <a:rPr lang="bg-BG" dirty="0"/>
              <a:t> </a:t>
            </a:r>
            <a:r>
              <a:rPr lang="en-US" b="1" dirty="0">
                <a:solidFill>
                  <a:schemeClr val="bg1"/>
                </a:solidFill>
              </a:rPr>
              <a:t>DELETE</a:t>
            </a:r>
            <a:r>
              <a:rPr lang="en-US" dirty="0"/>
              <a:t>):</a:t>
            </a:r>
          </a:p>
        </p:txBody>
      </p:sp>
      <p:sp>
        <p:nvSpPr>
          <p:cNvPr id="566274" name="Rectangle 2"/>
          <p:cNvSpPr>
            <a:spLocks noGrp="1" noChangeArrowheads="1"/>
          </p:cNvSpPr>
          <p:nvPr>
            <p:ph type="title"/>
          </p:nvPr>
        </p:nvSpPr>
        <p:spPr/>
        <p:txBody>
          <a:bodyPr/>
          <a:lstStyle/>
          <a:p>
            <a:r>
              <a:rPr lang="en-US" dirty="0"/>
              <a:t>Deleting Data</a:t>
            </a:r>
            <a:endParaRPr lang="bg-BG" dirty="0"/>
          </a:p>
        </p:txBody>
      </p:sp>
      <p:sp>
        <p:nvSpPr>
          <p:cNvPr id="566276" name="Rectangle 4"/>
          <p:cNvSpPr>
            <a:spLocks noChangeArrowheads="1"/>
          </p:cNvSpPr>
          <p:nvPr/>
        </p:nvSpPr>
        <p:spPr bwMode="auto">
          <a:xfrm>
            <a:off x="2366848" y="1951922"/>
            <a:ext cx="9628386" cy="58477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3200" b="1" noProof="1">
                <a:solidFill>
                  <a:schemeClr val="bg1"/>
                </a:solidFill>
                <a:latin typeface="Consolas" pitchFamily="49" charset="0"/>
                <a:cs typeface="Consolas" pitchFamily="49" charset="0"/>
              </a:rPr>
              <a:t>DELETE</a:t>
            </a:r>
            <a:r>
              <a:rPr lang="en-US" sz="3200" b="1" noProof="1">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FROM</a:t>
            </a:r>
            <a:r>
              <a:rPr lang="en-US" sz="3200" b="1" noProof="1">
                <a:latin typeface="Consolas" pitchFamily="49" charset="0"/>
                <a:cs typeface="Consolas" pitchFamily="49" charset="0"/>
              </a:rPr>
              <a:t> Employees WHERE EmployeeID = 1</a:t>
            </a:r>
          </a:p>
        </p:txBody>
      </p:sp>
      <p:sp>
        <p:nvSpPr>
          <p:cNvPr id="566277" name="Rectangle 5"/>
          <p:cNvSpPr>
            <a:spLocks noChangeArrowheads="1"/>
          </p:cNvSpPr>
          <p:nvPr/>
        </p:nvSpPr>
        <p:spPr bwMode="auto">
          <a:xfrm>
            <a:off x="2541000" y="5060814"/>
            <a:ext cx="4816789" cy="58477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3200" b="1" noProof="1">
                <a:solidFill>
                  <a:schemeClr val="bg1"/>
                </a:solidFill>
                <a:latin typeface="Consolas" pitchFamily="49" charset="0"/>
                <a:cs typeface="Consolas" pitchFamily="49" charset="0"/>
              </a:rPr>
              <a:t>TRUNCATE</a:t>
            </a:r>
            <a:r>
              <a:rPr lang="en-US" sz="3200" b="1" noProof="1">
                <a:solidFill>
                  <a:srgbClr val="FBEEDC"/>
                </a:solidFill>
                <a:effectLst>
                  <a:outerShdw blurRad="38100" dist="38100" dir="2700000" algn="tl">
                    <a:srgbClr val="000000">
                      <a:alpha val="43137"/>
                    </a:srgbClr>
                  </a:outerShdw>
                </a:effectLst>
                <a:latin typeface="Consolas" pitchFamily="49" charset="0"/>
                <a:cs typeface="Consolas" pitchFamily="49" charset="0"/>
              </a:rPr>
              <a:t> </a:t>
            </a:r>
            <a:r>
              <a:rPr lang="en-US" sz="3200" b="1" noProof="1">
                <a:latin typeface="Consolas" pitchFamily="49" charset="0"/>
                <a:cs typeface="Consolas" pitchFamily="49" charset="0"/>
              </a:rPr>
              <a:t>TABLE Users</a:t>
            </a:r>
          </a:p>
        </p:txBody>
      </p:sp>
      <p:sp>
        <p:nvSpPr>
          <p:cNvPr id="8" name="AutoShape 5"/>
          <p:cNvSpPr>
            <a:spLocks noChangeArrowheads="1"/>
          </p:cNvSpPr>
          <p:nvPr/>
        </p:nvSpPr>
        <p:spPr bwMode="auto">
          <a:xfrm>
            <a:off x="8751000" y="2548629"/>
            <a:ext cx="2133600" cy="584776"/>
          </a:xfrm>
          <a:prstGeom prst="wedgeRoundRectCallout">
            <a:avLst>
              <a:gd name="adj1" fmla="val -65352"/>
              <a:gd name="adj2" fmla="val -38286"/>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Condition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5427" y="4464000"/>
            <a:ext cx="1445808" cy="1445808"/>
          </a:xfrm>
          <a:prstGeom prst="rect">
            <a:avLst/>
          </a:prstGeom>
          <a:ln>
            <a:noFill/>
          </a:ln>
          <a:effectLst>
            <a:outerShdw blurRad="292100" dist="139700" dir="2700000" algn="tl" rotWithShape="0">
              <a:srgbClr val="333333">
                <a:alpha val="65000"/>
              </a:srgbClr>
            </a:outerShdw>
          </a:effectLst>
        </p:spPr>
      </p:pic>
      <p:sp>
        <p:nvSpPr>
          <p:cNvPr id="9" name="Slide Number">
            <a:extLst>
              <a:ext uri="{FF2B5EF4-FFF2-40B4-BE49-F238E27FC236}">
                <a16:creationId xmlns:a16="http://schemas.microsoft.com/office/drawing/2014/main" id="{848FBF28-5B9C-4418-BF9B-BED32F84669B}"/>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25</a:t>
            </a:fld>
            <a:endParaRPr lang="en-US" dirty="0"/>
          </a:p>
        </p:txBody>
      </p:sp>
    </p:spTree>
    <p:extLst>
      <p:ext uri="{BB962C8B-B14F-4D97-AF65-F5344CB8AC3E}">
        <p14:creationId xmlns:p14="http://schemas.microsoft.com/office/powerpoint/2010/main" val="3906511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627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7" grpId="0" animBg="1"/>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9" name="Rectangle 3"/>
          <p:cNvSpPr>
            <a:spLocks noGrp="1" noChangeArrowheads="1"/>
          </p:cNvSpPr>
          <p:nvPr>
            <p:ph type="body" sz="quarter" idx="10"/>
          </p:nvPr>
        </p:nvSpPr>
        <p:spPr/>
        <p:txBody>
          <a:bodyPr>
            <a:normAutofit/>
          </a:bodyPr>
          <a:lstStyle/>
          <a:p>
            <a:r>
              <a:rPr lang="en-US" dirty="0"/>
              <a:t>The SQL </a:t>
            </a:r>
            <a:r>
              <a:rPr lang="en-US" b="1" dirty="0">
                <a:solidFill>
                  <a:schemeClr val="bg1"/>
                </a:solidFill>
                <a:latin typeface="Consolas" panose="020B0609020204030204" pitchFamily="49" charset="0"/>
              </a:rPr>
              <a:t>UPDATE</a:t>
            </a:r>
            <a:r>
              <a:rPr lang="en-US" dirty="0"/>
              <a:t> command</a:t>
            </a:r>
          </a:p>
          <a:p>
            <a:endParaRPr lang="en-US" dirty="0"/>
          </a:p>
          <a:p>
            <a:endParaRPr lang="en-US" dirty="0"/>
          </a:p>
          <a:p>
            <a:endParaRPr lang="en-US" dirty="0"/>
          </a:p>
          <a:p>
            <a:endParaRPr lang="en-US" dirty="0"/>
          </a:p>
          <a:p>
            <a:endParaRPr lang="en-US" dirty="0"/>
          </a:p>
          <a:p>
            <a:endParaRPr lang="en-US" dirty="0"/>
          </a:p>
          <a:p>
            <a:r>
              <a:rPr lang="en-US" dirty="0"/>
              <a:t>Note: Don</a:t>
            </a:r>
            <a:r>
              <a:rPr lang="bg-BG" dirty="0"/>
              <a:t>'</a:t>
            </a:r>
            <a:r>
              <a:rPr lang="en-US" dirty="0"/>
              <a:t>t forget the </a:t>
            </a:r>
            <a:r>
              <a:rPr lang="en-US" sz="3200" b="1" dirty="0">
                <a:solidFill>
                  <a:schemeClr val="bg1"/>
                </a:solidFill>
                <a:latin typeface="Consolas" panose="020B0609020204030204" pitchFamily="49" charset="0"/>
              </a:rPr>
              <a:t>WHERE</a:t>
            </a:r>
            <a:r>
              <a:rPr lang="en-US" dirty="0"/>
              <a:t> clause!</a:t>
            </a:r>
          </a:p>
        </p:txBody>
      </p:sp>
      <p:sp>
        <p:nvSpPr>
          <p:cNvPr id="562178" name="Rectangle 2"/>
          <p:cNvSpPr>
            <a:spLocks noGrp="1" noChangeArrowheads="1"/>
          </p:cNvSpPr>
          <p:nvPr>
            <p:ph type="title"/>
          </p:nvPr>
        </p:nvSpPr>
        <p:spPr/>
        <p:txBody>
          <a:bodyPr/>
          <a:lstStyle/>
          <a:p>
            <a:r>
              <a:rPr lang="en-US"/>
              <a:t>Updating Data</a:t>
            </a:r>
            <a:endParaRPr lang="bg-BG" dirty="0"/>
          </a:p>
        </p:txBody>
      </p:sp>
      <p:sp>
        <p:nvSpPr>
          <p:cNvPr id="562180" name="Rectangle 4"/>
          <p:cNvSpPr>
            <a:spLocks noChangeArrowheads="1"/>
          </p:cNvSpPr>
          <p:nvPr/>
        </p:nvSpPr>
        <p:spPr bwMode="auto">
          <a:xfrm>
            <a:off x="2273708" y="1851146"/>
            <a:ext cx="8845396" cy="156966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3200" b="1" noProof="1">
                <a:solidFill>
                  <a:schemeClr val="bg1"/>
                </a:solidFill>
                <a:latin typeface="Consolas" pitchFamily="49" charset="0"/>
                <a:cs typeface="Consolas" pitchFamily="49" charset="0"/>
              </a:rPr>
              <a:t>UPDATE</a:t>
            </a:r>
            <a:r>
              <a:rPr lang="en-US" sz="3200" b="1" noProof="1">
                <a:latin typeface="Consolas" pitchFamily="49" charset="0"/>
                <a:cs typeface="Consolas" pitchFamily="49" charset="0"/>
              </a:rPr>
              <a:t> Employees</a:t>
            </a:r>
          </a:p>
          <a:p>
            <a:pPr eaLnBrk="0" hangingPunct="0">
              <a:buClr>
                <a:schemeClr val="accent5">
                  <a:lumMod val="40000"/>
                  <a:lumOff val="60000"/>
                </a:schemeClr>
              </a:buClr>
              <a:buSzPct val="70000"/>
            </a:pPr>
            <a:r>
              <a:rPr lang="en-US" sz="3200" b="1" noProof="1">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SET</a:t>
            </a:r>
            <a:r>
              <a:rPr lang="en-US" sz="3200" b="1" noProof="1">
                <a:latin typeface="Consolas" pitchFamily="49" charset="0"/>
                <a:cs typeface="Consolas" pitchFamily="49" charset="0"/>
              </a:rPr>
              <a:t> LastName = 'Brown'</a:t>
            </a:r>
          </a:p>
          <a:p>
            <a:pPr eaLnBrk="0" hangingPunct="0">
              <a:buClr>
                <a:schemeClr val="accent5">
                  <a:lumMod val="40000"/>
                  <a:lumOff val="60000"/>
                </a:schemeClr>
              </a:buClr>
              <a:buSzPct val="70000"/>
            </a:pPr>
            <a:r>
              <a:rPr lang="en-US" sz="3200" b="1" noProof="1">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WHERE</a:t>
            </a:r>
            <a:r>
              <a:rPr lang="en-US" sz="3200" b="1" noProof="1">
                <a:latin typeface="Consolas" pitchFamily="49" charset="0"/>
                <a:cs typeface="Consolas" pitchFamily="49" charset="0"/>
              </a:rPr>
              <a:t> EmployeeID = 1</a:t>
            </a:r>
          </a:p>
        </p:txBody>
      </p:sp>
      <p:sp>
        <p:nvSpPr>
          <p:cNvPr id="6" name="Rectangle 4"/>
          <p:cNvSpPr>
            <a:spLocks noChangeArrowheads="1"/>
          </p:cNvSpPr>
          <p:nvPr/>
        </p:nvSpPr>
        <p:spPr bwMode="auto">
          <a:xfrm>
            <a:off x="2291996" y="3571897"/>
            <a:ext cx="8845396" cy="2062103"/>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spcBef>
                <a:spcPts val="1800"/>
              </a:spcBef>
              <a:buClr>
                <a:schemeClr val="accent5">
                  <a:lumMod val="40000"/>
                  <a:lumOff val="60000"/>
                </a:schemeClr>
              </a:buClr>
              <a:buSzPct val="70000"/>
            </a:pPr>
            <a:r>
              <a:rPr lang="en-US" sz="3200" b="1" noProof="1">
                <a:solidFill>
                  <a:schemeClr val="bg1"/>
                </a:solidFill>
                <a:latin typeface="Consolas" pitchFamily="49" charset="0"/>
                <a:cs typeface="Consolas" pitchFamily="49" charset="0"/>
              </a:rPr>
              <a:t>UPDATE</a:t>
            </a:r>
            <a:r>
              <a:rPr lang="en-US" sz="3200" b="1" noProof="1">
                <a:latin typeface="Consolas" pitchFamily="49" charset="0"/>
                <a:cs typeface="Consolas" pitchFamily="49" charset="0"/>
              </a:rPr>
              <a:t> Employees</a:t>
            </a:r>
          </a:p>
          <a:p>
            <a:pPr eaLnBrk="0" hangingPunct="0">
              <a:buClr>
                <a:schemeClr val="accent5">
                  <a:lumMod val="40000"/>
                  <a:lumOff val="60000"/>
                </a:schemeClr>
              </a:buClr>
              <a:buSzPct val="70000"/>
            </a:pPr>
            <a:r>
              <a:rPr lang="en-US" sz="3200" b="1" noProof="1">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SET</a:t>
            </a:r>
            <a:r>
              <a:rPr lang="en-US" sz="3200" b="1" noProof="1">
                <a:latin typeface="Consolas" pitchFamily="49" charset="0"/>
                <a:cs typeface="Consolas" pitchFamily="49" charset="0"/>
              </a:rPr>
              <a:t> Salary = Salary * 1.10,</a:t>
            </a:r>
          </a:p>
          <a:p>
            <a:pPr eaLnBrk="0" hangingPunct="0">
              <a:buClr>
                <a:schemeClr val="accent5">
                  <a:lumMod val="40000"/>
                  <a:lumOff val="60000"/>
                </a:schemeClr>
              </a:buClr>
              <a:buSzPct val="70000"/>
            </a:pPr>
            <a:r>
              <a:rPr lang="en-US" sz="3200" b="1" noProof="1">
                <a:latin typeface="Consolas" pitchFamily="49" charset="0"/>
                <a:cs typeface="Consolas" pitchFamily="49" charset="0"/>
              </a:rPr>
              <a:t>       JobTitle = 'Senior' + JobTitle</a:t>
            </a:r>
          </a:p>
          <a:p>
            <a:pPr eaLnBrk="0" hangingPunct="0">
              <a:buClr>
                <a:schemeClr val="accent5">
                  <a:lumMod val="40000"/>
                  <a:lumOff val="60000"/>
                </a:schemeClr>
              </a:buClr>
              <a:buSzPct val="70000"/>
            </a:pPr>
            <a:r>
              <a:rPr lang="en-US" sz="3200" b="1" noProof="1">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WHERE</a:t>
            </a:r>
            <a:r>
              <a:rPr lang="en-US" sz="3200" b="1" noProof="1">
                <a:latin typeface="Consolas" pitchFamily="49" charset="0"/>
                <a:cs typeface="Consolas" pitchFamily="49" charset="0"/>
              </a:rPr>
              <a:t> DepartmentID = 3</a:t>
            </a:r>
          </a:p>
        </p:txBody>
      </p:sp>
      <p:sp>
        <p:nvSpPr>
          <p:cNvPr id="8" name="AutoShape 5"/>
          <p:cNvSpPr>
            <a:spLocks noChangeArrowheads="1"/>
          </p:cNvSpPr>
          <p:nvPr/>
        </p:nvSpPr>
        <p:spPr bwMode="auto">
          <a:xfrm>
            <a:off x="7716000" y="1810374"/>
            <a:ext cx="1925040" cy="515198"/>
          </a:xfrm>
          <a:prstGeom prst="wedgeRoundRectCallout">
            <a:avLst>
              <a:gd name="adj1" fmla="val -57923"/>
              <a:gd name="adj2" fmla="val 48243"/>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dirty="0">
                <a:solidFill>
                  <a:srgbClr val="FFFFFF"/>
                </a:solidFill>
                <a:effectLst>
                  <a:outerShdw blurRad="38100" dist="38100" dir="2700000" algn="tl">
                    <a:srgbClr val="000000">
                      <a:alpha val="43137"/>
                    </a:srgbClr>
                  </a:outerShdw>
                </a:effectLst>
              </a:rPr>
              <a:t>New values</a:t>
            </a: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151" y="2382013"/>
            <a:ext cx="2245182" cy="2245182"/>
          </a:xfrm>
          <a:prstGeom prst="rect">
            <a:avLst/>
          </a:prstGeom>
          <a:ln>
            <a:noFill/>
          </a:ln>
          <a:effectLst>
            <a:outerShdw blurRad="292100" dist="139700" dir="2700000" algn="tl" rotWithShape="0">
              <a:srgbClr val="333333">
                <a:alpha val="65000"/>
              </a:srgbClr>
            </a:outerShdw>
          </a:effectLst>
        </p:spPr>
      </p:pic>
      <p:sp>
        <p:nvSpPr>
          <p:cNvPr id="9" name="Slide Number">
            <a:extLst>
              <a:ext uri="{FF2B5EF4-FFF2-40B4-BE49-F238E27FC236}">
                <a16:creationId xmlns:a16="http://schemas.microsoft.com/office/drawing/2014/main" id="{F7EB7814-9152-4A55-A256-4BCF2FBAB590}"/>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26</a:t>
            </a:fld>
            <a:endParaRPr lang="en-US" dirty="0"/>
          </a:p>
        </p:txBody>
      </p:sp>
    </p:spTree>
    <p:extLst>
      <p:ext uri="{BB962C8B-B14F-4D97-AF65-F5344CB8AC3E}">
        <p14:creationId xmlns:p14="http://schemas.microsoft.com/office/powerpoint/2010/main" val="27900252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21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US" dirty="0"/>
              <a:t>Mark </a:t>
            </a:r>
            <a:r>
              <a:rPr lang="en-US" b="1" dirty="0">
                <a:solidFill>
                  <a:schemeClr val="bg1"/>
                </a:solidFill>
              </a:rPr>
              <a:t>all unfinished </a:t>
            </a:r>
            <a:r>
              <a:rPr lang="en-US" dirty="0"/>
              <a:t>Projects as being </a:t>
            </a:r>
            <a:r>
              <a:rPr lang="en-US" b="1" dirty="0">
                <a:solidFill>
                  <a:schemeClr val="bg1"/>
                </a:solidFill>
              </a:rPr>
              <a:t>completed today</a:t>
            </a:r>
          </a:p>
          <a:p>
            <a:pPr lvl="1"/>
            <a:r>
              <a:rPr lang="en-US" dirty="0"/>
              <a:t>Hint: Unfinished projects have their </a:t>
            </a:r>
            <a:r>
              <a:rPr lang="en-US" b="1" noProof="1">
                <a:latin typeface="Consolas" panose="020B0609020204030204" pitchFamily="49" charset="0"/>
              </a:rPr>
              <a:t>EndDate</a:t>
            </a:r>
            <a:r>
              <a:rPr lang="en-US" dirty="0"/>
              <a:t> set to </a:t>
            </a:r>
            <a:r>
              <a:rPr lang="en-US" b="1" dirty="0">
                <a:solidFill>
                  <a:schemeClr val="bg1"/>
                </a:solidFill>
              </a:rPr>
              <a:t>NULL</a:t>
            </a:r>
          </a:p>
          <a:p>
            <a:pPr>
              <a:spcBef>
                <a:spcPts val="23400"/>
              </a:spcBef>
            </a:pPr>
            <a:r>
              <a:rPr lang="en-US" dirty="0"/>
              <a:t>Note: Query </a:t>
            </a:r>
            <a:r>
              <a:rPr lang="en-US" b="1" noProof="1">
                <a:solidFill>
                  <a:schemeClr val="bg1"/>
                </a:solidFill>
                <a:latin typeface="Consolas" panose="020B0609020204030204" pitchFamily="49" charset="0"/>
              </a:rPr>
              <a:t>SoftUni</a:t>
            </a:r>
            <a:r>
              <a:rPr lang="en-US" dirty="0"/>
              <a:t> database</a:t>
            </a:r>
          </a:p>
        </p:txBody>
      </p:sp>
      <p:sp>
        <p:nvSpPr>
          <p:cNvPr id="4" name="Title 3"/>
          <p:cNvSpPr>
            <a:spLocks noGrp="1"/>
          </p:cNvSpPr>
          <p:nvPr>
            <p:ph type="title"/>
          </p:nvPr>
        </p:nvSpPr>
        <p:spPr/>
        <p:txBody>
          <a:bodyPr/>
          <a:lstStyle/>
          <a:p>
            <a:r>
              <a:rPr lang="en-US" dirty="0"/>
              <a:t>Problem: Update Projects</a:t>
            </a:r>
          </a:p>
        </p:txBody>
      </p:sp>
      <p:graphicFrame>
        <p:nvGraphicFramePr>
          <p:cNvPr id="8" name="Group 5"/>
          <p:cNvGraphicFramePr>
            <a:graphicFrameLocks noGrp="1"/>
          </p:cNvGraphicFramePr>
          <p:nvPr>
            <p:extLst>
              <p:ext uri="{D42A27DB-BD31-4B8C-83A1-F6EECF244321}">
                <p14:modId xmlns:p14="http://schemas.microsoft.com/office/powerpoint/2010/main" val="3474989437"/>
              </p:ext>
            </p:extLst>
          </p:nvPr>
        </p:nvGraphicFramePr>
        <p:xfrm>
          <a:off x="762000" y="2743199"/>
          <a:ext cx="4611802" cy="2542032"/>
        </p:xfrm>
        <a:graphic>
          <a:graphicData uri="http://schemas.openxmlformats.org/drawingml/2006/table">
            <a:tbl>
              <a:tblPr/>
              <a:tblGrid>
                <a:gridCol w="2866796">
                  <a:extLst>
                    <a:ext uri="{9D8B030D-6E8A-4147-A177-3AD203B41FA5}">
                      <a16:colId xmlns:a16="http://schemas.microsoft.com/office/drawing/2014/main" val="20000"/>
                    </a:ext>
                  </a:extLst>
                </a:gridCol>
                <a:gridCol w="1745006">
                  <a:extLst>
                    <a:ext uri="{9D8B030D-6E8A-4147-A177-3AD203B41FA5}">
                      <a16:colId xmlns:a16="http://schemas.microsoft.com/office/drawing/2014/main" val="20001"/>
                    </a:ext>
                  </a:extLst>
                </a:gridCol>
              </a:tblGrid>
              <a:tr h="506188">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noProof="1">
                          <a:ln>
                            <a:noFill/>
                          </a:ln>
                          <a:solidFill>
                            <a:schemeClr val="tx1"/>
                          </a:solidFill>
                          <a:effectLst/>
                          <a:latin typeface="+mn-lt"/>
                        </a:rPr>
                        <a:t>Name</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noProof="1">
                          <a:ln>
                            <a:noFill/>
                          </a:ln>
                          <a:solidFill>
                            <a:schemeClr val="tx1"/>
                          </a:solidFill>
                          <a:effectLst/>
                          <a:latin typeface="+mn-lt"/>
                        </a:rPr>
                        <a:t>EndDate</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extLst>
                  <a:ext uri="{0D108BD9-81ED-4DB2-BD59-A6C34878D82A}">
                    <a16:rowId xmlns:a16="http://schemas.microsoft.com/office/drawing/2014/main" val="10000"/>
                  </a:ext>
                </a:extLst>
              </a:tr>
              <a:tr h="508961">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Classic Vest</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NULL</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961">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HL Touring Frame</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NULL</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961">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LL Touring Frame</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NULL</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961">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9" name="Group 5"/>
          <p:cNvGraphicFramePr>
            <a:graphicFrameLocks noGrp="1"/>
          </p:cNvGraphicFramePr>
          <p:nvPr>
            <p:extLst>
              <p:ext uri="{D42A27DB-BD31-4B8C-83A1-F6EECF244321}">
                <p14:modId xmlns:p14="http://schemas.microsoft.com/office/powerpoint/2010/main" val="3435870786"/>
              </p:ext>
            </p:extLst>
          </p:nvPr>
        </p:nvGraphicFramePr>
        <p:xfrm>
          <a:off x="6181405" y="2743200"/>
          <a:ext cx="5336976" cy="2528803"/>
        </p:xfrm>
        <a:graphic>
          <a:graphicData uri="http://schemas.openxmlformats.org/drawingml/2006/table">
            <a:tbl>
              <a:tblPr/>
              <a:tblGrid>
                <a:gridCol w="3317580">
                  <a:extLst>
                    <a:ext uri="{9D8B030D-6E8A-4147-A177-3AD203B41FA5}">
                      <a16:colId xmlns:a16="http://schemas.microsoft.com/office/drawing/2014/main" val="20000"/>
                    </a:ext>
                  </a:extLst>
                </a:gridCol>
                <a:gridCol w="2019396">
                  <a:extLst>
                    <a:ext uri="{9D8B030D-6E8A-4147-A177-3AD203B41FA5}">
                      <a16:colId xmlns:a16="http://schemas.microsoft.com/office/drawing/2014/main" val="20001"/>
                    </a:ext>
                  </a:extLst>
                </a:gridCol>
              </a:tblGrid>
              <a:tr h="541507">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noProof="1">
                          <a:ln>
                            <a:noFill/>
                          </a:ln>
                          <a:solidFill>
                            <a:schemeClr val="tx1"/>
                          </a:solidFill>
                          <a:effectLst/>
                          <a:latin typeface="+mn-lt"/>
                        </a:rPr>
                        <a:t>Name</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tc>
                  <a:txBody>
                    <a:bodyPr/>
                    <a:lstStyle/>
                    <a:p>
                      <a:pPr marL="0" marR="0" lvl="0" indent="0" algn="ctr"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noProof="1">
                          <a:ln>
                            <a:noFill/>
                          </a:ln>
                          <a:solidFill>
                            <a:schemeClr val="tx1"/>
                          </a:solidFill>
                          <a:effectLst/>
                          <a:latin typeface="+mn-lt"/>
                        </a:rPr>
                        <a:t>EndDate</a:t>
                      </a: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solidFill>
                      <a:schemeClr val="accent5">
                        <a:lumMod val="60000"/>
                        <a:lumOff val="40000"/>
                        <a:alpha val="50000"/>
                      </a:schemeClr>
                    </a:solidFill>
                  </a:tcPr>
                </a:tc>
                <a:extLst>
                  <a:ext uri="{0D108BD9-81ED-4DB2-BD59-A6C34878D82A}">
                    <a16:rowId xmlns:a16="http://schemas.microsoft.com/office/drawing/2014/main" val="10000"/>
                  </a:ext>
                </a:extLst>
              </a:tr>
              <a:tr h="484976">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Classic Vest</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2017-01-23</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4976">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HL Touring Frame</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defRPr/>
                      </a:pPr>
                      <a:r>
                        <a:rPr kumimoji="1" lang="en-US" sz="2800" b="1" i="0" u="none" strike="noStrike" cap="none" normalizeH="0" baseline="0" dirty="0">
                          <a:ln>
                            <a:noFill/>
                          </a:ln>
                          <a:solidFill>
                            <a:schemeClr val="tx1"/>
                          </a:solidFill>
                          <a:effectLst/>
                          <a:latin typeface="+mn-lt"/>
                        </a:rPr>
                        <a:t>2017-01-23</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4976">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LL Touring Frame</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defRPr/>
                      </a:pPr>
                      <a:r>
                        <a:rPr kumimoji="1" lang="en-US" sz="2800" b="1" i="0" u="none" strike="noStrike" cap="none" normalizeH="0" baseline="0" dirty="0">
                          <a:ln>
                            <a:noFill/>
                          </a:ln>
                          <a:solidFill>
                            <a:schemeClr val="tx1"/>
                          </a:solidFill>
                          <a:effectLst/>
                          <a:latin typeface="+mn-lt"/>
                        </a:rPr>
                        <a:t>2017-01-23</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4976">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5000"/>
                        </a:lnSpc>
                        <a:spcBef>
                          <a:spcPct val="40000"/>
                        </a:spcBef>
                        <a:spcAft>
                          <a:spcPct val="0"/>
                        </a:spcAft>
                        <a:buClr>
                          <a:schemeClr val="tx1"/>
                        </a:buClr>
                        <a:buSzTx/>
                        <a:buFontTx/>
                        <a:buNone/>
                        <a:tabLst/>
                      </a:pPr>
                      <a:r>
                        <a:rPr kumimoji="1" lang="en-US" sz="2800" b="1" i="0" u="none" strike="noStrike" cap="none" normalizeH="0" baseline="0" dirty="0">
                          <a:ln>
                            <a:noFill/>
                          </a:ln>
                          <a:solidFill>
                            <a:schemeClr val="tx1"/>
                          </a:solidFill>
                          <a:effectLst/>
                          <a:latin typeface="+mn-lt"/>
                        </a:rPr>
                        <a:t>…</a:t>
                      </a:r>
                      <a:endParaRPr kumimoji="1" lang="bg-BG" sz="2800" b="1" i="0" u="none" strike="noStrike" cap="none" normalizeH="0" baseline="0" dirty="0">
                        <a:ln>
                          <a:noFill/>
                        </a:ln>
                        <a:solidFill>
                          <a:schemeClr val="tx1"/>
                        </a:solidFill>
                        <a:effectLst/>
                        <a:latin typeface="+mn-lt"/>
                      </a:endParaRPr>
                    </a:p>
                  </a:txBody>
                  <a:tcPr horzOverflow="overflow">
                    <a:lnL w="28575" cap="flat" cmpd="sng" algn="ctr">
                      <a:solidFill>
                        <a:schemeClr val="accent5">
                          <a:lumMod val="20000"/>
                          <a:lumOff val="80000"/>
                        </a:schemeClr>
                      </a:solidFill>
                      <a:prstDash val="solid"/>
                      <a:round/>
                      <a:headEnd type="none" w="med" len="med"/>
                      <a:tailEnd type="none" w="med" len="med"/>
                    </a:lnL>
                    <a:lnR w="28575" cap="flat" cmpd="sng" algn="ctr">
                      <a:solidFill>
                        <a:schemeClr val="accent5">
                          <a:lumMod val="20000"/>
                          <a:lumOff val="80000"/>
                        </a:schemeClr>
                      </a:solidFill>
                      <a:prstDash val="solid"/>
                      <a:round/>
                      <a:headEnd type="none" w="med" len="med"/>
                      <a:tailEnd type="none" w="med" len="med"/>
                    </a:lnR>
                    <a:lnT w="28575" cap="flat" cmpd="sng" algn="ctr">
                      <a:solidFill>
                        <a:schemeClr val="accent5">
                          <a:lumMod val="20000"/>
                          <a:lumOff val="80000"/>
                        </a:schemeClr>
                      </a:solidFill>
                      <a:prstDash val="solid"/>
                      <a:round/>
                      <a:headEnd type="none" w="med" len="med"/>
                      <a:tailEnd type="none" w="med" len="med"/>
                    </a:lnT>
                    <a:lnB w="28575" cap="flat" cmpd="sng" algn="ctr">
                      <a:solidFill>
                        <a:schemeClr val="accent5">
                          <a:lumMod val="20000"/>
                          <a:lumOff val="8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 name="Arrow: Right 9"/>
          <p:cNvSpPr/>
          <p:nvPr/>
        </p:nvSpPr>
        <p:spPr>
          <a:xfrm>
            <a:off x="5512962" y="3727860"/>
            <a:ext cx="570000" cy="588108"/>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1" name="Slide Number">
            <a:extLst>
              <a:ext uri="{FF2B5EF4-FFF2-40B4-BE49-F238E27FC236}">
                <a16:creationId xmlns:a16="http://schemas.microsoft.com/office/drawing/2014/main" id="{4417EA76-8C61-48C2-ADAC-1621E9BE962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27</a:t>
            </a:fld>
            <a:endParaRPr lang="en-US" noProof="0" dirty="0"/>
          </a:p>
        </p:txBody>
      </p:sp>
    </p:spTree>
    <p:extLst>
      <p:ext uri="{BB962C8B-B14F-4D97-AF65-F5344CB8AC3E}">
        <p14:creationId xmlns:p14="http://schemas.microsoft.com/office/powerpoint/2010/main" val="278117762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BED5352-2A36-4F28-AB8D-6335517E5493}"/>
              </a:ext>
            </a:extLst>
          </p:cNvPr>
          <p:cNvSpPr>
            <a:spLocks noGrp="1" noChangeArrowheads="1"/>
          </p:cNvSpPr>
          <p:nvPr>
            <p:ph type="body" sz="quarter" idx="10"/>
          </p:nvPr>
        </p:nvSpPr>
        <p:spPr bwMode="auto">
          <a:xfrm>
            <a:off x="2985701" y="2799000"/>
            <a:ext cx="6220598" cy="1907949"/>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marL="0" indent="0" eaLnBrk="0" hangingPunct="0">
              <a:spcBef>
                <a:spcPts val="600"/>
              </a:spcBef>
              <a:buClr>
                <a:schemeClr val="accent5">
                  <a:lumMod val="40000"/>
                  <a:lumOff val="60000"/>
                </a:schemeClr>
              </a:buClr>
              <a:buSzPct val="70000"/>
              <a:buNone/>
            </a:pPr>
            <a:r>
              <a:rPr lang="en-US" sz="3200" b="1" noProof="1">
                <a:solidFill>
                  <a:schemeClr val="bg1"/>
                </a:solidFill>
                <a:latin typeface="Consolas" pitchFamily="49" charset="0"/>
                <a:cs typeface="Consolas" pitchFamily="49" charset="0"/>
              </a:rPr>
              <a:t>UPDATE</a:t>
            </a:r>
            <a:r>
              <a:rPr lang="en-US" sz="3200" b="1" noProof="1">
                <a:solidFill>
                  <a:schemeClr val="tx2"/>
                </a:solidFill>
                <a:latin typeface="Consolas" pitchFamily="49" charset="0"/>
                <a:cs typeface="Consolas" pitchFamily="49" charset="0"/>
              </a:rPr>
              <a:t> Projects</a:t>
            </a:r>
          </a:p>
          <a:p>
            <a:pPr marL="0" indent="0" eaLnBrk="0" hangingPunct="0">
              <a:spcBef>
                <a:spcPts val="600"/>
              </a:spcBef>
              <a:buClr>
                <a:schemeClr val="accent5">
                  <a:lumMod val="40000"/>
                  <a:lumOff val="60000"/>
                </a:schemeClr>
              </a:buClr>
              <a:buSzPct val="70000"/>
              <a:buNone/>
            </a:pPr>
            <a:r>
              <a:rPr lang="en-US" sz="3200" b="1" noProof="1">
                <a:solidFill>
                  <a:schemeClr val="tx2"/>
                </a:solidFill>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SET</a:t>
            </a:r>
            <a:r>
              <a:rPr lang="en-US" sz="3200" b="1" noProof="1">
                <a:solidFill>
                  <a:schemeClr val="tx2"/>
                </a:solidFill>
                <a:latin typeface="Consolas" pitchFamily="49" charset="0"/>
                <a:cs typeface="Consolas" pitchFamily="49" charset="0"/>
              </a:rPr>
              <a:t> EndDate = GETDATE()</a:t>
            </a:r>
          </a:p>
          <a:p>
            <a:pPr marL="0" indent="0" eaLnBrk="0" hangingPunct="0">
              <a:spcBef>
                <a:spcPts val="600"/>
              </a:spcBef>
              <a:buClr>
                <a:schemeClr val="accent5">
                  <a:lumMod val="40000"/>
                  <a:lumOff val="60000"/>
                </a:schemeClr>
              </a:buClr>
              <a:buSzPct val="70000"/>
              <a:buNone/>
            </a:pPr>
            <a:r>
              <a:rPr lang="en-US" sz="3200" b="1" noProof="1">
                <a:solidFill>
                  <a:schemeClr val="tx2"/>
                </a:solidFill>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WHERE</a:t>
            </a:r>
            <a:r>
              <a:rPr lang="en-US" sz="3200" b="1" noProof="1">
                <a:solidFill>
                  <a:schemeClr val="tx2"/>
                </a:solidFill>
                <a:latin typeface="Consolas" pitchFamily="49" charset="0"/>
                <a:cs typeface="Consolas" pitchFamily="49" charset="0"/>
              </a:rPr>
              <a:t> EndDate </a:t>
            </a:r>
            <a:r>
              <a:rPr lang="en-US" sz="3200" b="1" noProof="1">
                <a:solidFill>
                  <a:schemeClr val="bg1"/>
                </a:solidFill>
                <a:latin typeface="Consolas" pitchFamily="49" charset="0"/>
                <a:cs typeface="Consolas" pitchFamily="49" charset="0"/>
              </a:rPr>
              <a:t>IS</a:t>
            </a:r>
            <a:r>
              <a:rPr lang="en-US" sz="3200" b="1" noProof="1">
                <a:solidFill>
                  <a:schemeClr val="accent1"/>
                </a:solidFill>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NULL</a:t>
            </a:r>
          </a:p>
        </p:txBody>
      </p:sp>
      <p:sp>
        <p:nvSpPr>
          <p:cNvPr id="2" name="Title 1">
            <a:extLst>
              <a:ext uri="{FF2B5EF4-FFF2-40B4-BE49-F238E27FC236}">
                <a16:creationId xmlns:a16="http://schemas.microsoft.com/office/drawing/2014/main" id="{FCE72A34-2A9A-4728-A3C2-A0DBD846C488}"/>
              </a:ext>
            </a:extLst>
          </p:cNvPr>
          <p:cNvSpPr>
            <a:spLocks noGrp="1"/>
          </p:cNvSpPr>
          <p:nvPr>
            <p:ph type="title"/>
          </p:nvPr>
        </p:nvSpPr>
        <p:spPr/>
        <p:txBody>
          <a:bodyPr/>
          <a:lstStyle/>
          <a:p>
            <a:r>
              <a:rPr lang="en-US" dirty="0"/>
              <a:t>Solution: Update Projects</a:t>
            </a:r>
          </a:p>
        </p:txBody>
      </p:sp>
      <p:sp>
        <p:nvSpPr>
          <p:cNvPr id="6" name="AutoShape 5">
            <a:extLst>
              <a:ext uri="{FF2B5EF4-FFF2-40B4-BE49-F238E27FC236}">
                <a16:creationId xmlns:a16="http://schemas.microsoft.com/office/drawing/2014/main" id="{F571EDF2-BA8D-4C84-8360-12467530B87E}"/>
              </a:ext>
            </a:extLst>
          </p:cNvPr>
          <p:cNvSpPr>
            <a:spLocks noChangeArrowheads="1"/>
          </p:cNvSpPr>
          <p:nvPr/>
        </p:nvSpPr>
        <p:spPr bwMode="auto">
          <a:xfrm>
            <a:off x="8058854" y="4599000"/>
            <a:ext cx="3212146" cy="819911"/>
          </a:xfrm>
          <a:prstGeom prst="wedgeRoundRectCallout">
            <a:avLst>
              <a:gd name="adj1" fmla="val -55290"/>
              <a:gd name="adj2" fmla="val -37352"/>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Filter only records</a:t>
            </a:r>
          </a:p>
          <a:p>
            <a:pPr algn="ctr"/>
            <a:r>
              <a:rPr lang="en-US" sz="2800" b="1" noProof="1">
                <a:solidFill>
                  <a:srgbClr val="FFFFFF"/>
                </a:solidFill>
                <a:effectLst>
                  <a:outerShdw blurRad="38100" dist="38100" dir="2700000" algn="tl">
                    <a:srgbClr val="000000">
                      <a:alpha val="43137"/>
                    </a:srgbClr>
                  </a:outerShdw>
                </a:effectLst>
              </a:rPr>
              <a:t>with no value</a:t>
            </a:r>
            <a:endParaRPr lang="bg-BG" sz="2800" b="1" noProof="1">
              <a:solidFill>
                <a:srgbClr val="FFFFFF"/>
              </a:solidFill>
              <a:effectLst>
                <a:outerShdw blurRad="38100" dist="38100" dir="2700000" algn="tl">
                  <a:srgbClr val="000000">
                    <a:alpha val="43137"/>
                  </a:srgbClr>
                </a:outerShdw>
              </a:effectLst>
            </a:endParaRPr>
          </a:p>
        </p:txBody>
      </p:sp>
      <p:sp>
        <p:nvSpPr>
          <p:cNvPr id="7" name="Slide Number">
            <a:extLst>
              <a:ext uri="{FF2B5EF4-FFF2-40B4-BE49-F238E27FC236}">
                <a16:creationId xmlns:a16="http://schemas.microsoft.com/office/drawing/2014/main" id="{3CB7EE8A-206A-460D-8AE2-614C85631921}"/>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28</a:t>
            </a:fld>
            <a:endParaRPr lang="en-US" dirty="0"/>
          </a:p>
        </p:txBody>
      </p:sp>
    </p:spTree>
    <p:extLst>
      <p:ext uri="{BB962C8B-B14F-4D97-AF65-F5344CB8AC3E}">
        <p14:creationId xmlns:p14="http://schemas.microsoft.com/office/powerpoint/2010/main" val="250781001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
            <a:extLst>
              <a:ext uri="{FF2B5EF4-FFF2-40B4-BE49-F238E27FC236}">
                <a16:creationId xmlns:a16="http://schemas.microsoft.com/office/drawing/2014/main" id="{0E49D336-45B6-44D3-97C4-E28F8DEA2022}"/>
              </a:ext>
            </a:extLst>
          </p:cNvPr>
          <p:cNvSpPr>
            <a:spLocks noGrp="1"/>
          </p:cNvSpPr>
          <p:nvPr>
            <p:ph type="body" sz="quarter" idx="10"/>
          </p:nvPr>
        </p:nvSpPr>
        <p:spPr>
          <a:xfrm>
            <a:off x="869725" y="1656226"/>
            <a:ext cx="7581212" cy="4772369"/>
          </a:xfrm>
        </p:spPr>
        <p:txBody>
          <a:bodyPr/>
          <a:lstStyle>
            <a:lvl1pPr marL="514350" indent="-514350">
              <a:buFont typeface="Wingdings" panose="05000000000000000000" pitchFamily="2" charset="2"/>
              <a:buChar char="§"/>
              <a:defRPr>
                <a:solidFill>
                  <a:schemeClr val="bg2"/>
                </a:solidFill>
              </a:defRPr>
            </a:lvl1pPr>
            <a:lvl2pPr marL="1123935" indent="-514350">
              <a:buFont typeface="Wingdings" panose="05000000000000000000" pitchFamily="2" charset="2"/>
              <a:buChar char="§"/>
              <a:defRPr>
                <a:solidFill>
                  <a:schemeClr val="tx1"/>
                </a:solidFill>
              </a:defRPr>
            </a:lvl2pPr>
            <a:lvl3pPr marL="1733520" indent="-514350">
              <a:buFont typeface="Wingdings" panose="05000000000000000000" pitchFamily="2" charset="2"/>
              <a:buChar char="§"/>
              <a:defRPr>
                <a:solidFill>
                  <a:schemeClr val="tx1"/>
                </a:solidFill>
              </a:defRPr>
            </a:lvl3pPr>
            <a:lvl4pPr marL="2343105" indent="-514350">
              <a:buFont typeface="Wingdings" panose="05000000000000000000" pitchFamily="2" charset="2"/>
              <a:buChar char="§"/>
              <a:defRPr>
                <a:solidFill>
                  <a:schemeClr val="tx1"/>
                </a:solidFill>
              </a:defRPr>
            </a:lvl4pPr>
            <a:lvl5pPr marL="2952689" indent="-514350">
              <a:buFont typeface="Wingdings" panose="05000000000000000000" pitchFamily="2" charset="2"/>
              <a:buChar char="§"/>
              <a:defRPr>
                <a:solidFill>
                  <a:schemeClr val="tx1"/>
                </a:solidFill>
              </a:defRPr>
            </a:lvl5pPr>
          </a:lstStyle>
          <a:p>
            <a:pPr lvl="0"/>
            <a:r>
              <a:rPr lang="en-US" dirty="0"/>
              <a:t>…</a:t>
            </a:r>
          </a:p>
          <a:p>
            <a:pPr lvl="0"/>
            <a:r>
              <a:rPr lang="en-GB" dirty="0"/>
              <a:t>…</a:t>
            </a:r>
            <a:endParaRPr lang="en-US" dirty="0"/>
          </a:p>
          <a:p>
            <a:pPr lvl="0"/>
            <a:r>
              <a:rPr lang="en-GB" dirty="0"/>
              <a:t>…</a:t>
            </a:r>
            <a:endParaRPr lang="en-US" dirty="0"/>
          </a:p>
          <a:p>
            <a:pPr lvl="0"/>
            <a:endParaRPr lang="en-US" dirty="0"/>
          </a:p>
        </p:txBody>
      </p:sp>
      <p:sp>
        <p:nvSpPr>
          <p:cNvPr id="4" name="Title 3"/>
          <p:cNvSpPr>
            <a:spLocks noGrp="1"/>
          </p:cNvSpPr>
          <p:nvPr>
            <p:ph type="title"/>
          </p:nvPr>
        </p:nvSpPr>
        <p:spPr/>
        <p:txBody>
          <a:bodyPr>
            <a:normAutofit/>
          </a:bodyPr>
          <a:lstStyle/>
          <a:p>
            <a:r>
              <a:rPr lang="en-US" dirty="0"/>
              <a:t>Summary</a:t>
            </a:r>
          </a:p>
        </p:txBody>
      </p:sp>
      <p:grpSp>
        <p:nvGrpSpPr>
          <p:cNvPr id="9" name="Group 8">
            <a:extLst>
              <a:ext uri="{FF2B5EF4-FFF2-40B4-BE49-F238E27FC236}">
                <a16:creationId xmlns:a16="http://schemas.microsoft.com/office/drawing/2014/main" id="{EBAFE522-EB7D-4931-A015-9A7E8A98517D}"/>
              </a:ext>
            </a:extLst>
          </p:cNvPr>
          <p:cNvGrpSpPr/>
          <p:nvPr/>
        </p:nvGrpSpPr>
        <p:grpSpPr>
          <a:xfrm>
            <a:off x="191942" y="1419750"/>
            <a:ext cx="8632995" cy="5300339"/>
            <a:chOff x="472011" y="1508786"/>
            <a:chExt cx="3799787" cy="4865561"/>
          </a:xfrm>
        </p:grpSpPr>
        <p:sp>
          <p:nvSpPr>
            <p:cNvPr id="10" name="Rounded Rectangle 10">
              <a:extLst>
                <a:ext uri="{FF2B5EF4-FFF2-40B4-BE49-F238E27FC236}">
                  <a16:creationId xmlns:a16="http://schemas.microsoft.com/office/drawing/2014/main" id="{18F78F23-3D09-4B63-8DF9-D49CFBB145EE}"/>
                </a:ext>
              </a:extLst>
            </p:cNvPr>
            <p:cNvSpPr/>
            <p:nvPr userDrawn="1"/>
          </p:nvSpPr>
          <p:spPr>
            <a:xfrm>
              <a:off x="472011" y="1508786"/>
              <a:ext cx="3799787" cy="4865561"/>
            </a:xfrm>
            <a:prstGeom prst="roundRect">
              <a:avLst>
                <a:gd name="adj" fmla="val 396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399" b="0" i="0" u="none" strike="noStrike" kern="1200" cap="none" spc="0" normalizeH="0" baseline="0" noProof="0" dirty="0">
                <a:ln>
                  <a:noFill/>
                </a:ln>
                <a:solidFill>
                  <a:srgbClr val="FFA000"/>
                </a:solidFill>
                <a:effectLst/>
                <a:uLnTx/>
                <a:uFillTx/>
                <a:latin typeface="Calibri" panose="020F0502020204030204"/>
                <a:ea typeface="맑은 고딕" panose="020B0503020000020004" pitchFamily="34" charset="-127"/>
                <a:cs typeface="+mn-cs"/>
              </a:endParaRPr>
            </a:p>
          </p:txBody>
        </p:sp>
        <p:sp>
          <p:nvSpPr>
            <p:cNvPr id="11" name="Rounded Rectangle 16">
              <a:extLst>
                <a:ext uri="{FF2B5EF4-FFF2-40B4-BE49-F238E27FC236}">
                  <a16:creationId xmlns:a16="http://schemas.microsoft.com/office/drawing/2014/main" id="{F12C06CE-2BBE-46C2-B718-813794C58DF9}"/>
                </a:ext>
              </a:extLst>
            </p:cNvPr>
            <p:cNvSpPr/>
            <p:nvPr userDrawn="1"/>
          </p:nvSpPr>
          <p:spPr>
            <a:xfrm>
              <a:off x="540767" y="1781251"/>
              <a:ext cx="85794" cy="4320631"/>
            </a:xfrm>
            <a:prstGeom prst="roundRect">
              <a:avLst>
                <a:gd name="adj" fmla="val 50000"/>
              </a:avLst>
            </a:prstGeom>
            <a:solidFill>
              <a:schemeClr val="bg2">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399" b="0" i="0" u="none" strike="noStrike" kern="1200" cap="none" spc="0" normalizeH="0" baseline="0" noProof="0">
                <a:ln>
                  <a:noFill/>
                </a:ln>
                <a:solidFill>
                  <a:srgbClr val="FFA000"/>
                </a:solidFill>
                <a:effectLst/>
                <a:uLnTx/>
                <a:uFillTx/>
                <a:latin typeface="Calibri" panose="020F0502020204030204"/>
                <a:ea typeface="맑은 고딕" panose="020B0503020000020004" pitchFamily="34" charset="-127"/>
                <a:cs typeface="+mn-cs"/>
              </a:endParaRPr>
            </a:p>
          </p:txBody>
        </p:sp>
        <p:sp>
          <p:nvSpPr>
            <p:cNvPr id="12" name="Half Frame 11">
              <a:extLst>
                <a:ext uri="{FF2B5EF4-FFF2-40B4-BE49-F238E27FC236}">
                  <a16:creationId xmlns:a16="http://schemas.microsoft.com/office/drawing/2014/main" id="{66CDBB1E-AF3C-43FC-9F34-2DD691F81726}"/>
                </a:ext>
              </a:extLst>
            </p:cNvPr>
            <p:cNvSpPr/>
            <p:nvPr userDrawn="1"/>
          </p:nvSpPr>
          <p:spPr>
            <a:xfrm rot="5400000">
              <a:off x="3762569" y="1912372"/>
              <a:ext cx="669775" cy="238503"/>
            </a:xfrm>
            <a:prstGeom prst="halfFrame">
              <a:avLst>
                <a:gd name="adj1" fmla="val 23728"/>
                <a:gd name="adj2" fmla="val 24642"/>
              </a:avLst>
            </a:prstGeom>
            <a:solidFill>
              <a:schemeClr val="bg2">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399" b="0" i="0" u="none" strike="noStrike" kern="1200" cap="none" spc="0" normalizeH="0" baseline="0" noProof="0">
                <a:ln>
                  <a:noFill/>
                </a:ln>
                <a:solidFill>
                  <a:srgbClr val="234465"/>
                </a:solidFill>
                <a:effectLst/>
                <a:uLnTx/>
                <a:uFillTx/>
                <a:latin typeface="Calibri" panose="020F0502020204030204"/>
                <a:ea typeface="맑은 고딕" panose="020B0503020000020004" pitchFamily="34" charset="-127"/>
                <a:cs typeface="+mn-cs"/>
              </a:endParaRPr>
            </a:p>
          </p:txBody>
        </p:sp>
      </p:grpSp>
      <p:pic>
        <p:nvPicPr>
          <p:cNvPr id="13" name="Picture 12">
            <a:extLst>
              <a:ext uri="{FF2B5EF4-FFF2-40B4-BE49-F238E27FC236}">
                <a16:creationId xmlns:a16="http://schemas.microsoft.com/office/drawing/2014/main" id="{CCC3A316-993C-4741-8826-E104F27650A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flipH="1">
            <a:off x="8824937" y="3276641"/>
            <a:ext cx="2882677" cy="3119781"/>
          </a:xfrm>
          <a:prstGeom prst="rect">
            <a:avLst/>
          </a:prstGeom>
        </p:spPr>
      </p:pic>
      <p:sp>
        <p:nvSpPr>
          <p:cNvPr id="15" name="Content Placeholder 4">
            <a:extLst>
              <a:ext uri="{FF2B5EF4-FFF2-40B4-BE49-F238E27FC236}">
                <a16:creationId xmlns:a16="http://schemas.microsoft.com/office/drawing/2014/main" id="{B96A0DF8-27E7-4DC8-BBE3-7238AAAEB845}"/>
              </a:ext>
            </a:extLst>
          </p:cNvPr>
          <p:cNvSpPr txBox="1">
            <a:spLocks/>
          </p:cNvSpPr>
          <p:nvPr/>
        </p:nvSpPr>
        <p:spPr>
          <a:xfrm>
            <a:off x="445613" y="1664770"/>
            <a:ext cx="8379324" cy="4374230"/>
          </a:xfrm>
          <a:prstGeom prst="rect">
            <a:avLst/>
          </a:prstGeom>
        </p:spPr>
        <p:txBody>
          <a:bodyPr vert="horz" lIns="108000" tIns="36000" rIns="108000" bIns="36000" rtlCol="0">
            <a:normAutofit/>
          </a:bodyPr>
          <a:lstStyle>
            <a:lvl1pPr marL="456915" indent="-456915" algn="l" defTabSz="1218438" rtl="0" eaLnBrk="1" latinLnBrk="1"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989981" indent="-380762" algn="l" defTabSz="1218438" rtl="0" eaLnBrk="1" latinLnBrk="1"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523048" indent="-304610" algn="l" defTabSz="1218438" rtl="0" eaLnBrk="1" latinLnBrk="1"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2132267" indent="-304610" algn="l" defTabSz="1218438" rtl="0" eaLnBrk="1" latinLnBrk="1"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741485" indent="-304610" algn="l" defTabSz="1218438" rtl="0" eaLnBrk="1" latinLnBrk="1"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a:lstStyle>
          <a:p>
            <a:pPr>
              <a:lnSpc>
                <a:spcPct val="110000"/>
              </a:lnSpc>
              <a:buClr>
                <a:schemeClr val="bg2"/>
              </a:buClr>
            </a:pPr>
            <a:r>
              <a:rPr lang="en-US" sz="3200" b="1" dirty="0">
                <a:solidFill>
                  <a:schemeClr val="bg1"/>
                </a:solidFill>
              </a:rPr>
              <a:t>T-SQL</a:t>
            </a:r>
            <a:r>
              <a:rPr lang="en-US" sz="3200" b="1" dirty="0">
                <a:solidFill>
                  <a:schemeClr val="bg2"/>
                </a:solidFill>
              </a:rPr>
              <a:t> is the language of </a:t>
            </a:r>
            <a:r>
              <a:rPr lang="en-US" sz="3200" b="1" dirty="0">
                <a:solidFill>
                  <a:schemeClr val="bg1"/>
                </a:solidFill>
              </a:rPr>
              <a:t>SQL Server</a:t>
            </a:r>
          </a:p>
          <a:p>
            <a:pPr>
              <a:lnSpc>
                <a:spcPct val="110000"/>
              </a:lnSpc>
            </a:pPr>
            <a:endParaRPr lang="en-US" sz="3200" b="1" dirty="0">
              <a:solidFill>
                <a:schemeClr val="bg2"/>
              </a:solidFill>
            </a:endParaRPr>
          </a:p>
          <a:p>
            <a:pPr>
              <a:lnSpc>
                <a:spcPct val="110000"/>
              </a:lnSpc>
            </a:pPr>
            <a:endParaRPr lang="en-US" sz="3200" b="1" dirty="0">
              <a:solidFill>
                <a:schemeClr val="bg2"/>
              </a:solidFill>
            </a:endParaRPr>
          </a:p>
          <a:p>
            <a:pPr>
              <a:lnSpc>
                <a:spcPct val="110000"/>
              </a:lnSpc>
            </a:pPr>
            <a:r>
              <a:rPr lang="en-US" sz="3200" b="1" dirty="0">
                <a:solidFill>
                  <a:schemeClr val="bg2"/>
                </a:solidFill>
              </a:rPr>
              <a:t>Queries provide a </a:t>
            </a:r>
            <a:r>
              <a:rPr lang="en-US" sz="3200" b="1" dirty="0">
                <a:solidFill>
                  <a:schemeClr val="bg1"/>
                </a:solidFill>
              </a:rPr>
              <a:t>flexible</a:t>
            </a:r>
            <a:r>
              <a:rPr lang="en-US" sz="3200" b="1" dirty="0">
                <a:solidFill>
                  <a:schemeClr val="bg2"/>
                </a:solidFill>
              </a:rPr>
              <a:t> and </a:t>
            </a:r>
            <a:r>
              <a:rPr lang="en-US" sz="3200" b="1" dirty="0">
                <a:solidFill>
                  <a:schemeClr val="bg1"/>
                </a:solidFill>
              </a:rPr>
              <a:t>powerful</a:t>
            </a:r>
            <a:br>
              <a:rPr lang="en-US" sz="3200" b="1" dirty="0">
                <a:solidFill>
                  <a:schemeClr val="bg2"/>
                </a:solidFill>
              </a:rPr>
            </a:br>
            <a:r>
              <a:rPr lang="en-US" sz="3200" b="1" dirty="0">
                <a:solidFill>
                  <a:schemeClr val="bg1"/>
                </a:solidFill>
              </a:rPr>
              <a:t>method</a:t>
            </a:r>
            <a:r>
              <a:rPr lang="en-US" sz="3200" b="1" dirty="0">
                <a:solidFill>
                  <a:schemeClr val="bg2"/>
                </a:solidFill>
              </a:rPr>
              <a:t> to </a:t>
            </a:r>
            <a:r>
              <a:rPr lang="en-US" sz="3200" b="1" dirty="0">
                <a:solidFill>
                  <a:schemeClr val="bg1"/>
                </a:solidFill>
              </a:rPr>
              <a:t>manipulate</a:t>
            </a:r>
            <a:r>
              <a:rPr lang="en-US" sz="3200" b="1" dirty="0">
                <a:solidFill>
                  <a:schemeClr val="bg2"/>
                </a:solidFill>
              </a:rPr>
              <a:t> </a:t>
            </a:r>
            <a:r>
              <a:rPr lang="en-US" sz="3200" b="1" dirty="0">
                <a:solidFill>
                  <a:schemeClr val="bg1"/>
                </a:solidFill>
              </a:rPr>
              <a:t>records</a:t>
            </a:r>
          </a:p>
          <a:p>
            <a:pPr>
              <a:lnSpc>
                <a:spcPct val="110000"/>
              </a:lnSpc>
              <a:buClr>
                <a:schemeClr val="bg2"/>
              </a:buClr>
            </a:pPr>
            <a:r>
              <a:rPr lang="en-US" sz="3200" b="1" dirty="0">
                <a:solidFill>
                  <a:schemeClr val="bg1"/>
                </a:solidFill>
              </a:rPr>
              <a:t>Views</a:t>
            </a:r>
            <a:r>
              <a:rPr lang="en-US" sz="3200" b="1" dirty="0">
                <a:solidFill>
                  <a:schemeClr val="bg2"/>
                </a:solidFill>
              </a:rPr>
              <a:t> allow us to </a:t>
            </a:r>
            <a:r>
              <a:rPr lang="en-US" sz="3200" b="1" dirty="0">
                <a:solidFill>
                  <a:schemeClr val="bg1"/>
                </a:solidFill>
              </a:rPr>
              <a:t>store</a:t>
            </a:r>
            <a:r>
              <a:rPr lang="en-US" sz="3200" b="1" dirty="0">
                <a:solidFill>
                  <a:schemeClr val="bg1">
                    <a:lumMod val="60000"/>
                    <a:lumOff val="40000"/>
                  </a:schemeClr>
                </a:solidFill>
              </a:rPr>
              <a:t> </a:t>
            </a:r>
            <a:r>
              <a:rPr lang="en-US" sz="3200" b="1" dirty="0">
                <a:solidFill>
                  <a:schemeClr val="bg1"/>
                </a:solidFill>
              </a:rPr>
              <a:t>queries</a:t>
            </a:r>
            <a:r>
              <a:rPr lang="en-US" sz="3200" b="1" dirty="0">
                <a:solidFill>
                  <a:schemeClr val="bg1">
                    <a:lumMod val="60000"/>
                    <a:lumOff val="40000"/>
                  </a:schemeClr>
                </a:solidFill>
              </a:rPr>
              <a:t> </a:t>
            </a:r>
            <a:r>
              <a:rPr lang="en-US" sz="3200" b="1" dirty="0">
                <a:solidFill>
                  <a:schemeClr val="bg2"/>
                </a:solidFill>
              </a:rPr>
              <a:t>for easier use</a:t>
            </a:r>
          </a:p>
        </p:txBody>
      </p:sp>
      <p:sp>
        <p:nvSpPr>
          <p:cNvPr id="16" name="Rectangle 5"/>
          <p:cNvSpPr>
            <a:spLocks noChangeArrowheads="1"/>
          </p:cNvSpPr>
          <p:nvPr/>
        </p:nvSpPr>
        <p:spPr bwMode="auto">
          <a:xfrm>
            <a:off x="1033272" y="2289591"/>
            <a:ext cx="6349235" cy="138499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800" b="1" noProof="1">
                <a:solidFill>
                  <a:schemeClr val="bg1"/>
                </a:solidFill>
                <a:latin typeface="Consolas" pitchFamily="49" charset="0"/>
                <a:cs typeface="Consolas" pitchFamily="49" charset="0"/>
              </a:rPr>
              <a:t>SELECT</a:t>
            </a:r>
            <a:r>
              <a:rPr lang="en-US" sz="2800" b="1" noProof="1">
                <a:solidFill>
                  <a:srgbClr val="FBEEDC"/>
                </a:solidFill>
                <a:latin typeface="Consolas" pitchFamily="49" charset="0"/>
                <a:cs typeface="Consolas" pitchFamily="49" charset="0"/>
              </a:rPr>
              <a:t> </a:t>
            </a:r>
            <a:r>
              <a:rPr lang="en-US" sz="2800" b="1" noProof="1">
                <a:solidFill>
                  <a:schemeClr val="bg2"/>
                </a:solidFill>
                <a:latin typeface="Consolas" pitchFamily="49" charset="0"/>
                <a:cs typeface="Consolas" pitchFamily="49" charset="0"/>
              </a:rPr>
              <a:t>*</a:t>
            </a:r>
          </a:p>
          <a:p>
            <a:pPr eaLnBrk="0" hangingPunct="0">
              <a:buClr>
                <a:schemeClr val="accent5">
                  <a:lumMod val="40000"/>
                  <a:lumOff val="60000"/>
                </a:schemeClr>
              </a:buClr>
              <a:buSzPct val="70000"/>
            </a:pPr>
            <a:r>
              <a:rPr lang="en-US" sz="2800" b="1" noProof="1">
                <a:solidFill>
                  <a:srgbClr val="FBEEDC"/>
                </a:solidFill>
                <a:latin typeface="Consolas" pitchFamily="49" charset="0"/>
                <a:cs typeface="Consolas" pitchFamily="49" charset="0"/>
              </a:rPr>
              <a:t>  </a:t>
            </a:r>
            <a:r>
              <a:rPr lang="en-US" sz="2800" b="1" noProof="1">
                <a:solidFill>
                  <a:schemeClr val="bg1"/>
                </a:solidFill>
                <a:latin typeface="Consolas" pitchFamily="49" charset="0"/>
                <a:cs typeface="Consolas" pitchFamily="49" charset="0"/>
              </a:rPr>
              <a:t>FROM</a:t>
            </a:r>
            <a:r>
              <a:rPr lang="en-US" sz="2800" b="1" noProof="1">
                <a:solidFill>
                  <a:srgbClr val="FBEEDC"/>
                </a:solidFill>
                <a:latin typeface="Consolas" pitchFamily="49" charset="0"/>
                <a:cs typeface="Consolas" pitchFamily="49" charset="0"/>
              </a:rPr>
              <a:t> </a:t>
            </a:r>
            <a:r>
              <a:rPr lang="en-US" sz="2800" b="1" noProof="1">
                <a:solidFill>
                  <a:schemeClr val="bg2"/>
                </a:solidFill>
                <a:latin typeface="Consolas" pitchFamily="49" charset="0"/>
                <a:cs typeface="Consolas" pitchFamily="49" charset="0"/>
              </a:rPr>
              <a:t>Projects</a:t>
            </a:r>
          </a:p>
          <a:p>
            <a:pPr eaLnBrk="0" hangingPunct="0">
              <a:buClr>
                <a:schemeClr val="accent5">
                  <a:lumMod val="40000"/>
                  <a:lumOff val="60000"/>
                </a:schemeClr>
              </a:buClr>
              <a:buSzPct val="70000"/>
            </a:pPr>
            <a:r>
              <a:rPr lang="en-US" sz="2800" b="1" noProof="1">
                <a:solidFill>
                  <a:srgbClr val="FBEEDC"/>
                </a:solidFill>
                <a:latin typeface="Consolas" pitchFamily="49" charset="0"/>
                <a:cs typeface="Consolas" pitchFamily="49" charset="0"/>
              </a:rPr>
              <a:t> </a:t>
            </a:r>
            <a:r>
              <a:rPr lang="en-US" sz="2800" b="1" noProof="1">
                <a:solidFill>
                  <a:schemeClr val="bg1"/>
                </a:solidFill>
                <a:latin typeface="Consolas" pitchFamily="49" charset="0"/>
                <a:cs typeface="Consolas" pitchFamily="49" charset="0"/>
              </a:rPr>
              <a:t>WHERE</a:t>
            </a:r>
            <a:r>
              <a:rPr lang="en-US" sz="2800" b="1" noProof="1">
                <a:solidFill>
                  <a:srgbClr val="FBEEDC"/>
                </a:solidFill>
                <a:latin typeface="Consolas" pitchFamily="49" charset="0"/>
                <a:cs typeface="Consolas" pitchFamily="49" charset="0"/>
              </a:rPr>
              <a:t> </a:t>
            </a:r>
            <a:r>
              <a:rPr lang="en-US" sz="2800" b="1" noProof="1">
                <a:solidFill>
                  <a:schemeClr val="bg2"/>
                </a:solidFill>
                <a:latin typeface="Consolas" pitchFamily="49" charset="0"/>
                <a:cs typeface="Consolas" pitchFamily="49" charset="0"/>
              </a:rPr>
              <a:t>StartDate = '1/1/2006'</a:t>
            </a:r>
          </a:p>
        </p:txBody>
      </p:sp>
      <p:sp>
        <p:nvSpPr>
          <p:cNvPr id="17" name="Slide Number">
            <a:extLst>
              <a:ext uri="{FF2B5EF4-FFF2-40B4-BE49-F238E27FC236}">
                <a16:creationId xmlns:a16="http://schemas.microsoft.com/office/drawing/2014/main" id="{B8BADD76-72A1-467B-8969-50F35CBA0E76}"/>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29</a:t>
            </a:fld>
            <a:endParaRPr lang="en-US" noProof="0" dirty="0"/>
          </a:p>
        </p:txBody>
      </p:sp>
    </p:spTree>
    <p:extLst>
      <p:ext uri="{BB962C8B-B14F-4D97-AF65-F5344CB8AC3E}">
        <p14:creationId xmlns:p14="http://schemas.microsoft.com/office/powerpoint/2010/main" val="290067243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D085D2-301C-D855-6375-DC447ABCB9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
        <p:nvSpPr>
          <p:cNvPr id="5" name="Title 4">
            <a:extLst>
              <a:ext uri="{FF2B5EF4-FFF2-40B4-BE49-F238E27FC236}">
                <a16:creationId xmlns:a16="http://schemas.microsoft.com/office/drawing/2014/main" id="{8629804C-BF3D-66BA-9097-BE92BD4958A9}"/>
              </a:ext>
            </a:extLst>
          </p:cNvPr>
          <p:cNvSpPr>
            <a:spLocks noGrp="1"/>
          </p:cNvSpPr>
          <p:nvPr>
            <p:ph type="title"/>
          </p:nvPr>
        </p:nvSpPr>
        <p:spPr/>
        <p:txBody>
          <a:bodyPr/>
          <a:lstStyle/>
          <a:p>
            <a:r>
              <a:rPr lang="en-GB" b="1" dirty="0" err="1"/>
              <a:t>SoftUni</a:t>
            </a:r>
            <a:r>
              <a:rPr lang="en-GB" b="1" dirty="0"/>
              <a:t> Diamond Partners</a:t>
            </a:r>
            <a:endParaRPr lang="en-US" dirty="0"/>
          </a:p>
        </p:txBody>
      </p:sp>
      <p:pic>
        <p:nvPicPr>
          <p:cNvPr id="6" name="Picture 5" descr="A picture containing logo&#10;&#10;Description automatically generated">
            <a:hlinkClick r:id="rId2"/>
            <a:extLst>
              <a:ext uri="{FF2B5EF4-FFF2-40B4-BE49-F238E27FC236}">
                <a16:creationId xmlns:a16="http://schemas.microsoft.com/office/drawing/2014/main" id="{792C06A0-B1BF-1310-EB3F-B37FB454D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6832" y="1383837"/>
            <a:ext cx="2786198" cy="1620135"/>
          </a:xfrm>
          <a:prstGeom prst="rect">
            <a:avLst/>
          </a:prstGeom>
        </p:spPr>
      </p:pic>
      <p:pic>
        <p:nvPicPr>
          <p:cNvPr id="9" name="Picture 8" descr="A picture containing logo&#10;&#10;Description automatically generated">
            <a:hlinkClick r:id="rId4"/>
            <a:extLst>
              <a:ext uri="{FF2B5EF4-FFF2-40B4-BE49-F238E27FC236}">
                <a16:creationId xmlns:a16="http://schemas.microsoft.com/office/drawing/2014/main" id="{D5F7E69F-916E-E7FD-07B0-C84410BDE8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56663" y="4452317"/>
            <a:ext cx="3119573" cy="1444168"/>
          </a:xfrm>
          <a:prstGeom prst="rect">
            <a:avLst/>
          </a:prstGeom>
        </p:spPr>
      </p:pic>
      <p:pic>
        <p:nvPicPr>
          <p:cNvPr id="11" name="Picture 10" descr="Text&#10;&#10;Description automatically generated with low confidence">
            <a:hlinkClick r:id="rId6"/>
            <a:extLst>
              <a:ext uri="{FF2B5EF4-FFF2-40B4-BE49-F238E27FC236}">
                <a16:creationId xmlns:a16="http://schemas.microsoft.com/office/drawing/2014/main" id="{2C192C54-107A-E9CB-0B22-954F235E75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6717" y="5624346"/>
            <a:ext cx="3914056" cy="882654"/>
          </a:xfrm>
          <a:prstGeom prst="rect">
            <a:avLst/>
          </a:prstGeom>
        </p:spPr>
      </p:pic>
      <p:pic>
        <p:nvPicPr>
          <p:cNvPr id="15" name="Picture 14">
            <a:hlinkClick r:id="rId8"/>
            <a:extLst>
              <a:ext uri="{FF2B5EF4-FFF2-40B4-BE49-F238E27FC236}">
                <a16:creationId xmlns:a16="http://schemas.microsoft.com/office/drawing/2014/main" id="{45E3E7FC-2B32-01E7-FFCA-DACB5E28FAEC}"/>
              </a:ext>
            </a:extLst>
          </p:cNvPr>
          <p:cNvPicPr>
            <a:picLocks noChangeAspect="1"/>
          </p:cNvPicPr>
          <p:nvPr/>
        </p:nvPicPr>
        <p:blipFill rotWithShape="1">
          <a:blip r:embed="rId9">
            <a:extLst>
              <a:ext uri="{28A0092B-C50C-407E-A947-70E740481C1C}">
                <a14:useLocalDpi xmlns:a14="http://schemas.microsoft.com/office/drawing/2010/main" val="0"/>
              </a:ext>
            </a:extLst>
          </a:blip>
          <a:srcRect t="35405" b="33481"/>
          <a:stretch/>
        </p:blipFill>
        <p:spPr>
          <a:xfrm>
            <a:off x="7980566" y="5431126"/>
            <a:ext cx="4127549" cy="1284289"/>
          </a:xfrm>
          <a:prstGeom prst="rect">
            <a:avLst/>
          </a:prstGeom>
        </p:spPr>
      </p:pic>
      <p:pic>
        <p:nvPicPr>
          <p:cNvPr id="3" name="Picture 5" descr="A green and orange logo&#10;&#10;Description automatically generated">
            <a:hlinkClick r:id="rId10"/>
            <a:extLst>
              <a:ext uri="{FF2B5EF4-FFF2-40B4-BE49-F238E27FC236}">
                <a16:creationId xmlns:a16="http://schemas.microsoft.com/office/drawing/2014/main" id="{F1810EF9-5676-6FC8-AA7F-C2695A7435D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76436" y="3404405"/>
            <a:ext cx="3150159" cy="1973054"/>
          </a:xfrm>
          <a:prstGeom prst="rect">
            <a:avLst/>
          </a:prstGeom>
        </p:spPr>
      </p:pic>
      <p:pic>
        <p:nvPicPr>
          <p:cNvPr id="7" name="Picture 3">
            <a:hlinkClick r:id="rId12"/>
            <a:extLst>
              <a:ext uri="{FF2B5EF4-FFF2-40B4-BE49-F238E27FC236}">
                <a16:creationId xmlns:a16="http://schemas.microsoft.com/office/drawing/2014/main" id="{8B513D91-B017-2182-5AF4-63018913667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310877" y="1190635"/>
            <a:ext cx="3990123" cy="1379608"/>
          </a:xfrm>
          <a:prstGeom prst="rect">
            <a:avLst/>
          </a:prstGeom>
        </p:spPr>
      </p:pic>
      <p:pic>
        <p:nvPicPr>
          <p:cNvPr id="14" name="Картина 13" descr="Картина, която съдържа червен, Графика, Шрифт, дизайн">
            <a:hlinkClick r:id="rId14"/>
            <a:extLst>
              <a:ext uri="{FF2B5EF4-FFF2-40B4-BE49-F238E27FC236}">
                <a16:creationId xmlns:a16="http://schemas.microsoft.com/office/drawing/2014/main" id="{289FFBCA-F5A8-E200-5772-B8297CB4DA7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98523" y="1878014"/>
            <a:ext cx="3610444" cy="1023778"/>
          </a:xfrm>
          <a:prstGeom prst="rect">
            <a:avLst/>
          </a:prstGeom>
        </p:spPr>
      </p:pic>
      <p:pic>
        <p:nvPicPr>
          <p:cNvPr id="4" name="Картина 3" descr="Картина, която съдържа текст, Шрифт, екранна снимка, номер">
            <a:extLst>
              <a:ext uri="{FF2B5EF4-FFF2-40B4-BE49-F238E27FC236}">
                <a16:creationId xmlns:a16="http://schemas.microsoft.com/office/drawing/2014/main" id="{315CB780-F614-6AAB-62D3-20700692FBE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598276" y="2438753"/>
            <a:ext cx="2102030" cy="973287"/>
          </a:xfrm>
          <a:prstGeom prst="rect">
            <a:avLst/>
          </a:prstGeom>
        </p:spPr>
      </p:pic>
      <p:pic>
        <p:nvPicPr>
          <p:cNvPr id="10" name="Graphic 9">
            <a:hlinkClick r:id="rId17"/>
            <a:extLst>
              <a:ext uri="{FF2B5EF4-FFF2-40B4-BE49-F238E27FC236}">
                <a16:creationId xmlns:a16="http://schemas.microsoft.com/office/drawing/2014/main" id="{C903B251-B381-5CD5-1234-5DAF13628FFA}"/>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46717" y="3821811"/>
            <a:ext cx="4746000" cy="812223"/>
          </a:xfrm>
          <a:prstGeom prst="rect">
            <a:avLst/>
          </a:prstGeom>
        </p:spPr>
      </p:pic>
    </p:spTree>
    <p:extLst>
      <p:ext uri="{BB962C8B-B14F-4D97-AF65-F5344CB8AC3E}">
        <p14:creationId xmlns:p14="http://schemas.microsoft.com/office/powerpoint/2010/main" val="989166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Body"/>
          <p:cNvSpPr>
            <a:spLocks noGrp="1"/>
          </p:cNvSpPr>
          <p:nvPr>
            <p:ph idx="4294967295"/>
          </p:nvPr>
        </p:nvSpPr>
        <p:spPr>
          <a:xfrm>
            <a:off x="190404" y="1179000"/>
            <a:ext cx="8695596" cy="5490000"/>
          </a:xfrm>
        </p:spPr>
        <p:txBody>
          <a:bodyPr>
            <a:normAutofit/>
          </a:bodyPr>
          <a:lstStyle/>
          <a:p>
            <a:pPr>
              <a:lnSpc>
                <a:spcPct val="100000"/>
              </a:lnSpc>
            </a:pPr>
            <a:r>
              <a:rPr lang="en-US" sz="3200" dirty="0"/>
              <a:t>Software University – High-Quality Education, Profession and Job for Software Developers</a:t>
            </a:r>
          </a:p>
          <a:p>
            <a:pPr lvl="1"/>
            <a:r>
              <a:rPr lang="en-US" sz="3000" noProof="1">
                <a:hlinkClick r:id="rId3"/>
              </a:rPr>
              <a:t>softuni.bg</a:t>
            </a:r>
            <a:r>
              <a:rPr lang="en-US" sz="3000" noProof="1"/>
              <a:t>, </a:t>
            </a:r>
            <a:r>
              <a:rPr lang="en-US" sz="2800" dirty="0">
                <a:hlinkClick r:id="rId4"/>
              </a:rPr>
              <a:t>about.softuni.bg</a:t>
            </a:r>
            <a:endParaRPr lang="en-US" sz="3000" noProof="1"/>
          </a:p>
          <a:p>
            <a:pPr>
              <a:lnSpc>
                <a:spcPct val="100000"/>
              </a:lnSpc>
            </a:pPr>
            <a:r>
              <a:rPr lang="en-US" sz="3200" dirty="0"/>
              <a:t>Software University Foundation</a:t>
            </a:r>
            <a:endParaRPr lang="bg-BG" sz="3200" dirty="0"/>
          </a:p>
          <a:p>
            <a:pPr lvl="1"/>
            <a:r>
              <a:rPr lang="en-US" sz="3000" noProof="1">
                <a:hlinkClick r:id="rId5"/>
              </a:rPr>
              <a:t>softuni.foundation</a:t>
            </a:r>
            <a:endParaRPr lang="en-US" sz="3000" noProof="1"/>
          </a:p>
          <a:p>
            <a:pPr>
              <a:lnSpc>
                <a:spcPct val="100000"/>
              </a:lnSpc>
            </a:pPr>
            <a:r>
              <a:rPr lang="en-US" sz="3200" dirty="0"/>
              <a:t>Software University @ Facebook</a:t>
            </a:r>
          </a:p>
          <a:p>
            <a:pPr lvl="1"/>
            <a:r>
              <a:rPr lang="en-US" sz="3000" noProof="1">
                <a:hlinkClick r:id="rId6"/>
              </a:rPr>
              <a:t>facebook.com/SoftwareUniversity</a:t>
            </a:r>
            <a:endParaRPr lang="en-US" sz="3000" noProof="1"/>
          </a:p>
        </p:txBody>
      </p:sp>
      <p:sp>
        <p:nvSpPr>
          <p:cNvPr id="3" name="Slide Title"/>
          <p:cNvSpPr>
            <a:spLocks noGrp="1"/>
          </p:cNvSpPr>
          <p:nvPr>
            <p:ph type="title"/>
          </p:nvPr>
        </p:nvSpPr>
        <p:spPr/>
        <p:txBody>
          <a:bodyPr/>
          <a:lstStyle/>
          <a:p>
            <a:r>
              <a:rPr lang="en-US" dirty="0"/>
              <a:t>Trainings @ Software University</a:t>
            </a:r>
            <a:r>
              <a:rPr lang="bg-BG" dirty="0"/>
              <a:t> (</a:t>
            </a:r>
            <a:r>
              <a:rPr lang="en-US" dirty="0"/>
              <a:t>SoftUni)</a:t>
            </a:r>
          </a:p>
        </p:txBody>
      </p:sp>
      <p:sp>
        <p:nvSpPr>
          <p:cNvPr id="5" name="Slide Number">
            <a:extLst>
              <a:ext uri="{FF2B5EF4-FFF2-40B4-BE49-F238E27FC236}">
                <a16:creationId xmlns:a16="http://schemas.microsoft.com/office/drawing/2014/main" id="{F1687BEB-65BA-4A0B-AE1D-106DB12E5ADA}"/>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31</a:t>
            </a:fld>
            <a:endParaRPr lang="en-US" dirty="0"/>
          </a:p>
        </p:txBody>
      </p:sp>
    </p:spTree>
    <p:extLst>
      <p:ext uri="{BB962C8B-B14F-4D97-AF65-F5344CB8AC3E}">
        <p14:creationId xmlns:p14="http://schemas.microsoft.com/office/powerpoint/2010/main" val="124593621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Body">
            <a:extLst>
              <a:ext uri="{FF2B5EF4-FFF2-40B4-BE49-F238E27FC236}">
                <a16:creationId xmlns:a16="http://schemas.microsoft.com/office/drawing/2014/main" id="{980F49B1-E4BE-4389-A747-7AB9B71AD920}"/>
              </a:ext>
            </a:extLst>
          </p:cNvPr>
          <p:cNvSpPr>
            <a:spLocks noGrp="1"/>
          </p:cNvSpPr>
          <p:nvPr>
            <p:ph type="body" sz="quarter" idx="10"/>
          </p:nvPr>
        </p:nvSpPr>
        <p:spPr>
          <a:xfrm>
            <a:off x="190402" y="1269001"/>
            <a:ext cx="11818096" cy="5455890"/>
          </a:xfrm>
        </p:spPr>
        <p:txBody>
          <a:bodyPr/>
          <a:lstStyle/>
          <a:p>
            <a:pPr>
              <a:lnSpc>
                <a:spcPct val="120000"/>
              </a:lnSpc>
            </a:pPr>
            <a:r>
              <a:rPr lang="en-US" dirty="0"/>
              <a:t>This course (slides, examples, demos, exercises, homework, documents, videos and other assets) is </a:t>
            </a:r>
            <a:r>
              <a:rPr lang="en-US" b="1" dirty="0"/>
              <a:t>copyrighted content</a:t>
            </a:r>
            <a:endParaRPr lang="en-US" dirty="0"/>
          </a:p>
          <a:p>
            <a:pPr>
              <a:lnSpc>
                <a:spcPct val="120000"/>
              </a:lnSpc>
            </a:pPr>
            <a:r>
              <a:rPr lang="en-US" dirty="0"/>
              <a:t>Unauthorized copy, reproduction or use is illegal</a:t>
            </a:r>
          </a:p>
          <a:p>
            <a:pPr>
              <a:lnSpc>
                <a:spcPct val="120000"/>
              </a:lnSpc>
            </a:pPr>
            <a:r>
              <a:rPr lang="en-US" dirty="0"/>
              <a:t>© SoftUni – </a:t>
            </a:r>
            <a:r>
              <a:rPr lang="en-US" dirty="0">
                <a:hlinkClick r:id="rId3"/>
              </a:rPr>
              <a:t>https://about.softuni.bg</a:t>
            </a:r>
            <a:endParaRPr lang="en-US" dirty="0"/>
          </a:p>
          <a:p>
            <a:pPr>
              <a:lnSpc>
                <a:spcPct val="120000"/>
              </a:lnSpc>
            </a:pPr>
            <a:r>
              <a:rPr lang="en-US" dirty="0"/>
              <a:t>© Software University – </a:t>
            </a:r>
            <a:r>
              <a:rPr lang="en-US" dirty="0">
                <a:hlinkClick r:id="rId4"/>
              </a:rPr>
              <a:t>https://softuni.bg</a:t>
            </a:r>
            <a:endParaRPr lang="bg-BG" dirty="0"/>
          </a:p>
        </p:txBody>
      </p:sp>
      <p:pic>
        <p:nvPicPr>
          <p:cNvPr id="6" name="Picture License" descr="License">
            <a:extLst>
              <a:ext uri="{FF2B5EF4-FFF2-40B4-BE49-F238E27FC236}">
                <a16:creationId xmlns:a16="http://schemas.microsoft.com/office/drawing/2014/main" id="{A10A2585-858C-4B1E-8846-27CF1C15729E}"/>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745023" y="4445455"/>
            <a:ext cx="1930977" cy="2043545"/>
          </a:xfrm>
          <a:prstGeom prst="rect">
            <a:avLst/>
          </a:prstGeom>
        </p:spPr>
      </p:pic>
      <p:sp>
        <p:nvSpPr>
          <p:cNvPr id="3" name="Slide Title">
            <a:extLst>
              <a:ext uri="{FF2B5EF4-FFF2-40B4-BE49-F238E27FC236}">
                <a16:creationId xmlns:a16="http://schemas.microsoft.com/office/drawing/2014/main" id="{E5F1FB41-80C3-4816-BC47-CCC50632E6E8}"/>
              </a:ext>
            </a:extLst>
          </p:cNvPr>
          <p:cNvSpPr>
            <a:spLocks noGrp="1"/>
          </p:cNvSpPr>
          <p:nvPr>
            <p:ph type="title"/>
          </p:nvPr>
        </p:nvSpPr>
        <p:spPr/>
        <p:txBody>
          <a:bodyPr/>
          <a:lstStyle/>
          <a:p>
            <a:r>
              <a:rPr lang="en-US" dirty="0"/>
              <a:t>License</a:t>
            </a:r>
            <a:endParaRPr lang="bg-BG" dirty="0"/>
          </a:p>
        </p:txBody>
      </p:sp>
      <p:sp>
        <p:nvSpPr>
          <p:cNvPr id="7" name="Slide Number">
            <a:extLst>
              <a:ext uri="{FF2B5EF4-FFF2-40B4-BE49-F238E27FC236}">
                <a16:creationId xmlns:a16="http://schemas.microsoft.com/office/drawing/2014/main" id="{F44B0B10-63D8-461A-B30A-9E905790F30C}"/>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32</a:t>
            </a:fld>
            <a:endParaRPr lang="en-US" noProof="0" dirty="0"/>
          </a:p>
        </p:txBody>
      </p:sp>
    </p:spTree>
    <p:extLst>
      <p:ext uri="{BB962C8B-B14F-4D97-AF65-F5344CB8AC3E}">
        <p14:creationId xmlns:p14="http://schemas.microsoft.com/office/powerpoint/2010/main" val="40478808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theme/theme1.xml><?xml version="1.0" encoding="utf-8"?>
<a:theme xmlns:a="http://schemas.openxmlformats.org/drawingml/2006/main" name="SoftUni">
  <a:themeElements>
    <a:clrScheme name="SoftUni">
      <a:dk1>
        <a:srgbClr val="234465"/>
      </a:dk1>
      <a:lt1>
        <a:srgbClr val="FFA000"/>
      </a:lt1>
      <a:dk2>
        <a:srgbClr val="234465"/>
      </a:dk2>
      <a:lt2>
        <a:srgbClr val="FFFFFF"/>
      </a:lt2>
      <a:accent1>
        <a:srgbClr val="FFA000"/>
      </a:accent1>
      <a:accent2>
        <a:srgbClr val="00B050"/>
      </a:accent2>
      <a:accent3>
        <a:srgbClr val="44A9F8"/>
      </a:accent3>
      <a:accent4>
        <a:srgbClr val="7030A0"/>
      </a:accent4>
      <a:accent5>
        <a:srgbClr val="67748E"/>
      </a:accent5>
      <a:accent6>
        <a:srgbClr val="F4F5F7"/>
      </a:accent6>
      <a:hlink>
        <a:srgbClr val="F2AC44"/>
      </a:hlink>
      <a:folHlink>
        <a:srgbClr val="F6C781"/>
      </a:folHlink>
    </a:clrScheme>
    <a:fontScheme name="SoftUn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dk2">
            <a:alpha val="80000"/>
          </a:schemeClr>
        </a:solidFill>
        <a:ln w="19050">
          <a:solidFill>
            <a:schemeClr val="tx1">
              <a:lumMod val="75000"/>
              <a:alpha val="80000"/>
            </a:schemeClr>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b="1" dirty="0">
            <a:solidFill>
              <a:srgbClr val="FFFFFF"/>
            </a:solidFill>
            <a:effectLst>
              <a:outerShdw blurRad="38100" dist="38100" dir="2700000" algn="tl">
                <a:srgbClr val="000000">
                  <a:alpha val="43137"/>
                </a:srgbClr>
              </a:outerShdw>
            </a:effectLst>
          </a:defRPr>
        </a:defPPr>
      </a:lstStyle>
      <a:style>
        <a:lnRef idx="2">
          <a:schemeClr val="accent1">
            <a:shade val="50000"/>
          </a:schemeClr>
        </a:lnRef>
        <a:fillRef idx="1001">
          <a:schemeClr val="dk2"/>
        </a:fillRef>
        <a:effectRef idx="0">
          <a:schemeClr val="accent1"/>
        </a:effectRef>
        <a:fontRef idx="minor">
          <a:schemeClr val="lt1"/>
        </a:fontRef>
      </a:style>
    </a:spDef>
    <a:txDef>
      <a:spPr>
        <a:solidFill>
          <a:schemeClr val="accent6">
            <a:lumMod val="75000"/>
            <a:alpha val="15000"/>
          </a:schemeClr>
        </a:solidFill>
        <a:ln w="12700">
          <a:solidFill>
            <a:schemeClr val="tx1">
              <a:lumMod val="75000"/>
            </a:schemeClr>
          </a:solidFill>
        </a:ln>
      </a:spPr>
      <a:bodyPr vert="horz" wrap="square" lIns="144000" tIns="108000" rIns="144000" bIns="108000" rtlCol="0">
        <a:spAutoFit/>
      </a:bodyPr>
      <a:lstStyle>
        <a:defPPr algn="l" eaLnBrk="0" hangingPunct="0">
          <a:lnSpc>
            <a:spcPct val="110000"/>
          </a:lnSpc>
          <a:buClr>
            <a:schemeClr val="accent5">
              <a:lumMod val="40000"/>
              <a:lumOff val="60000"/>
            </a:schemeClr>
          </a:buClr>
          <a:buSzPct val="70000"/>
          <a:defRPr sz="2400" dirty="0"/>
        </a:defPPr>
      </a:lstStyle>
    </a:txDef>
  </a:objectDefaults>
  <a:extraClrSchemeLst/>
  <a:extLst>
    <a:ext uri="{05A4C25C-085E-4340-85A3-A5531E510DB2}">
      <thm15:themeFamily xmlns:thm15="http://schemas.microsoft.com/office/thememl/2012/main" name="SoftUni" id="{D61FAD9B-6E74-4E03-BFE4-B363D484F1DA}" vid="{7089C1A3-635B-4B03-A017-DAF10A3A39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5301</TotalTime>
  <Words>2733</Words>
  <Application>Microsoft Office PowerPoint</Application>
  <PresentationFormat>Widescreen</PresentationFormat>
  <Paragraphs>465</Paragraphs>
  <Slides>32</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Consolas</vt:lpstr>
      <vt:lpstr>Courier New</vt:lpstr>
      <vt:lpstr>Times</vt:lpstr>
      <vt:lpstr>Wingdings</vt:lpstr>
      <vt:lpstr>Wingdings 2</vt:lpstr>
      <vt:lpstr>SoftUni</vt:lpstr>
      <vt:lpstr>Basic CRUD in SQL Server</vt:lpstr>
      <vt:lpstr>Table of Contents</vt:lpstr>
      <vt:lpstr>Query Basics</vt:lpstr>
      <vt:lpstr>What Are SQL and T-SQL?</vt:lpstr>
      <vt:lpstr>SQL – Examples</vt:lpstr>
      <vt:lpstr>Retrieving Data</vt:lpstr>
      <vt:lpstr>Capabilities of SQL SELECT </vt:lpstr>
      <vt:lpstr>SELECT – Example</vt:lpstr>
      <vt:lpstr>Column Aliases</vt:lpstr>
      <vt:lpstr>Concatenation Operator</vt:lpstr>
      <vt:lpstr>Problem: Employee Summary</vt:lpstr>
      <vt:lpstr>Solution: Employee Summary</vt:lpstr>
      <vt:lpstr>Filtering the Selected Rows</vt:lpstr>
      <vt:lpstr>Other Comparison Conditions</vt:lpstr>
      <vt:lpstr>Comparing with NULL</vt:lpstr>
      <vt:lpstr>Sorting Result Sets</vt:lpstr>
      <vt:lpstr>Views</vt:lpstr>
      <vt:lpstr>Problem: Highest Peak</vt:lpstr>
      <vt:lpstr>Solution: Highest Peak</vt:lpstr>
      <vt:lpstr>Writing Data in Tables</vt:lpstr>
      <vt:lpstr>Inserting Data</vt:lpstr>
      <vt:lpstr>Inserting Data</vt:lpstr>
      <vt:lpstr>Sequences</vt:lpstr>
      <vt:lpstr>Modifying Existing Records</vt:lpstr>
      <vt:lpstr>Deleting Data</vt:lpstr>
      <vt:lpstr>Updating Data</vt:lpstr>
      <vt:lpstr>Problem: Update Projects</vt:lpstr>
      <vt:lpstr>Solution: Update Projects</vt:lpstr>
      <vt:lpstr>Summary</vt:lpstr>
      <vt:lpstr>SoftUni Diamond Partners</vt:lpstr>
      <vt:lpstr>Trainings @ Software University (SoftUni)</vt:lpstr>
      <vt:lpstr>License</vt:lpstr>
    </vt:vector>
  </TitlesOfParts>
  <Company>SoftUni – https://softuni.org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CRUD in SQL Server</dc:title>
  <dc:subject>Databases Basics - MS SQL Server -  Practical Trainer @ SoftUni</dc:subject>
  <dc:creator>Software University</dc:creator>
  <cp:keywords>Databases; SQL; programming; SoftUni; Software University; programming; software development; software engineering; course; database systems</cp:keywords>
  <dc:description>© SoftUni – https://softuni.org_x000d_
© Software University – https://softuni.bg_x000d_
_x000d_
Copyrighted document. Unauthorized copy, reproduction or use is not permitted.</dc:description>
  <cp:lastModifiedBy>Krasimir Tsanev</cp:lastModifiedBy>
  <cp:revision>86</cp:revision>
  <dcterms:created xsi:type="dcterms:W3CDTF">2018-05-23T13:08:44Z</dcterms:created>
  <dcterms:modified xsi:type="dcterms:W3CDTF">2025-08-26T07:51:02Z</dcterms:modified>
  <cp:category>db;databases;sql;programming;computer programming;software development</cp:category>
</cp:coreProperties>
</file>