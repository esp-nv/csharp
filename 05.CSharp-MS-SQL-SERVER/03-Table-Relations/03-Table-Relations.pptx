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5"/>
  </p:notesMasterIdLst>
  <p:handoutMasterIdLst>
    <p:handoutMasterId r:id="rId46"/>
  </p:handoutMasterIdLst>
  <p:sldIdLst>
    <p:sldId id="1220" r:id="rId2"/>
    <p:sldId id="1221" r:id="rId3"/>
    <p:sldId id="1223" r:id="rId4"/>
    <p:sldId id="1224" r:id="rId5"/>
    <p:sldId id="1225" r:id="rId6"/>
    <p:sldId id="1226" r:id="rId7"/>
    <p:sldId id="1227" r:id="rId8"/>
    <p:sldId id="1228" r:id="rId9"/>
    <p:sldId id="1263" r:id="rId10"/>
    <p:sldId id="1230" r:id="rId11"/>
    <p:sldId id="1258" r:id="rId12"/>
    <p:sldId id="1229" r:id="rId13"/>
    <p:sldId id="1257" r:id="rId14"/>
    <p:sldId id="1264" r:id="rId15"/>
    <p:sldId id="1231" r:id="rId16"/>
    <p:sldId id="1232" r:id="rId17"/>
    <p:sldId id="1233" r:id="rId18"/>
    <p:sldId id="1234" r:id="rId19"/>
    <p:sldId id="1235" r:id="rId20"/>
    <p:sldId id="1236" r:id="rId21"/>
    <p:sldId id="1237" r:id="rId22"/>
    <p:sldId id="1238" r:id="rId23"/>
    <p:sldId id="1239" r:id="rId24"/>
    <p:sldId id="1240" r:id="rId25"/>
    <p:sldId id="1241" r:id="rId26"/>
    <p:sldId id="1242" r:id="rId27"/>
    <p:sldId id="1243" r:id="rId28"/>
    <p:sldId id="1244" r:id="rId29"/>
    <p:sldId id="1245" r:id="rId30"/>
    <p:sldId id="1246" r:id="rId31"/>
    <p:sldId id="1247" r:id="rId32"/>
    <p:sldId id="1248" r:id="rId33"/>
    <p:sldId id="1249" r:id="rId34"/>
    <p:sldId id="1250" r:id="rId35"/>
    <p:sldId id="1251" r:id="rId36"/>
    <p:sldId id="1252" r:id="rId37"/>
    <p:sldId id="1253" r:id="rId38"/>
    <p:sldId id="1254" r:id="rId39"/>
    <p:sldId id="1256" r:id="rId40"/>
    <p:sldId id="1216" r:id="rId41"/>
    <p:sldId id="614" r:id="rId42"/>
    <p:sldId id="405" r:id="rId43"/>
    <p:sldId id="49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4651ECF-C9E4-4963-B4EE-9F2F2E1BD24C}">
          <p14:sldIdLst>
            <p14:sldId id="1220"/>
            <p14:sldId id="1221"/>
          </p14:sldIdLst>
        </p14:section>
        <p14:section name="Database Design" id="{A68DAC94-83FF-404B-89B5-A39F5A0FF139}">
          <p14:sldIdLst>
            <p14:sldId id="1223"/>
            <p14:sldId id="1224"/>
            <p14:sldId id="1225"/>
            <p14:sldId id="1226"/>
            <p14:sldId id="1227"/>
            <p14:sldId id="1228"/>
          </p14:sldIdLst>
        </p14:section>
        <p14:section name="Database Normalization" id="{1C27ADA4-F78B-41B7-8EED-B7BEB27C4EE3}">
          <p14:sldIdLst>
            <p14:sldId id="1263"/>
            <p14:sldId id="1230"/>
            <p14:sldId id="1258"/>
          </p14:sldIdLst>
        </p14:section>
        <p14:section name="Table Relations" id="{56790AA1-80A0-4EB9-80D5-0B7B263D55A0}">
          <p14:sldIdLst>
            <p14:sldId id="1229"/>
            <p14:sldId id="1257"/>
            <p14:sldId id="1264"/>
            <p14:sldId id="1231"/>
            <p14:sldId id="1232"/>
            <p14:sldId id="1233"/>
            <p14:sldId id="1234"/>
            <p14:sldId id="1235"/>
            <p14:sldId id="1236"/>
            <p14:sldId id="1237"/>
            <p14:sldId id="1238"/>
            <p14:sldId id="1239"/>
            <p14:sldId id="1240"/>
            <p14:sldId id="1241"/>
          </p14:sldIdLst>
        </p14:section>
        <p14:section name="Retrieving Related Data" id="{BC172462-E8CE-4DFC-89DF-B4D7EDD7E937}">
          <p14:sldIdLst>
            <p14:sldId id="1242"/>
            <p14:sldId id="1243"/>
            <p14:sldId id="1244"/>
            <p14:sldId id="1245"/>
          </p14:sldIdLst>
        </p14:section>
        <p14:section name="Cascade Operations" id="{CFF15C42-FD81-490E-8E0B-671ADF33F3E6}">
          <p14:sldIdLst>
            <p14:sldId id="1246"/>
            <p14:sldId id="1247"/>
            <p14:sldId id="1248"/>
            <p14:sldId id="1249"/>
            <p14:sldId id="1250"/>
            <p14:sldId id="1251"/>
          </p14:sldIdLst>
        </p14:section>
        <p14:section name="E/R Diagrams" id="{C9FDAFAE-640A-4B89-9DA1-4CC721247E98}">
          <p14:sldIdLst>
            <p14:sldId id="1252"/>
            <p14:sldId id="1253"/>
            <p14:sldId id="1254"/>
            <p14:sldId id="1256"/>
          </p14:sldIdLst>
        </p14:section>
        <p14:section name="Conclusion" id="{180A6579-62CD-4E6D-B9F4-F35A55C3A6CB}">
          <p14:sldIdLst>
            <p14:sldId id="1216"/>
            <p14:sldId id="614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78" autoAdjust="0"/>
    <p:restoredTop sz="58872" autoAdjust="0"/>
  </p:normalViewPr>
  <p:slideViewPr>
    <p:cSldViewPr showGuides="1">
      <p:cViewPr varScale="1">
        <p:scale>
          <a:sx n="101" d="100"/>
          <a:sy n="101" d="100"/>
        </p:scale>
        <p:origin x="88" y="41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26.8.2025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215CCA7F-9C97-48C8-98A7-DA5B131E1D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2344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99B639E-4984-4C39-82D8-4318033790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72158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One-to-Many</a:t>
            </a:r>
            <a:r>
              <a:rPr lang="en-US" b="1" baseline="0" dirty="0"/>
              <a:t> relationship </a:t>
            </a:r>
            <a:r>
              <a:rPr lang="en-US" baseline="0" dirty="0"/>
              <a:t>means that each row from a table is related zero, one or many rows in the referent table. In the case above, each mountain can have 0, 1 or many peaks. The example shows that the mountain Caucasus has two peaks - One-to-Many. If you look the other way around many peaks has exactly one mountain – </a:t>
            </a:r>
            <a:r>
              <a:rPr lang="en-US" b="1" baseline="0" dirty="0"/>
              <a:t>Many-to-One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D9FA679-BF9E-41F0-B3DB-32FCCAEE15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16053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8CFBFE4-97DE-48CC-A1FF-1F3882FB0CD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82461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50141AF-F44D-44C4-BD74-AF90C057A1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63434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noProof="1"/>
              <a:t>Many-to-Many</a:t>
            </a:r>
            <a:r>
              <a:rPr lang="en-US" b="1" baseline="0" noProof="1"/>
              <a:t> relationship </a:t>
            </a:r>
            <a:r>
              <a:rPr lang="en-US" baseline="0" noProof="1"/>
              <a:t>relates many rows from a table to many rows in another table. For example, </a:t>
            </a:r>
            <a:r>
              <a:rPr lang="en-US" b="1" baseline="0" noProof="1"/>
              <a:t>Employee.EmployeeID </a:t>
            </a:r>
            <a:r>
              <a:rPr lang="en-US" baseline="0" noProof="1"/>
              <a:t>has many projects. Many projects are assigned to many employees which is the other way around. Usually we have a mapping table that takes care of the relations.</a:t>
            </a:r>
            <a:endParaRPr lang="en-US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8C44AA9-615A-45B2-BBE3-676D44B77E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16980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D3B244E-9E13-4068-BA18-7CB0115050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59802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7641E40-EE83-4E62-92CA-755DF73A3A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98221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1"/>
              <a:t>In </a:t>
            </a:r>
            <a:r>
              <a:rPr lang="en-US" b="1" noProof="1"/>
              <a:t>One</a:t>
            </a:r>
            <a:r>
              <a:rPr lang="en-US" b="1" baseline="0" noProof="1"/>
              <a:t>-to-One relationship </a:t>
            </a:r>
            <a:r>
              <a:rPr lang="en-US" baseline="0" noProof="1"/>
              <a:t>each row of table </a:t>
            </a:r>
            <a:r>
              <a:rPr lang="en-US" b="1" baseline="0" noProof="1"/>
              <a:t>Cars</a:t>
            </a:r>
            <a:r>
              <a:rPr lang="en-US" baseline="0" noProof="1"/>
              <a:t> is related to exactly zero or one row in table </a:t>
            </a:r>
            <a:r>
              <a:rPr lang="en-US" b="1" baseline="0" noProof="1"/>
              <a:t>Drivers</a:t>
            </a:r>
            <a:r>
              <a:rPr lang="en-US" baseline="0" noProof="1"/>
              <a:t>. In table </a:t>
            </a:r>
            <a:r>
              <a:rPr lang="en-US" b="1" baseline="0" noProof="1"/>
              <a:t>Cars.DriverID </a:t>
            </a:r>
            <a:r>
              <a:rPr lang="en-US" baseline="0" noProof="1"/>
              <a:t>is a foreign key which means that there will be a relation to another table – </a:t>
            </a:r>
            <a:r>
              <a:rPr lang="en-US" b="1" baseline="0" noProof="1"/>
              <a:t>Drivers</a:t>
            </a:r>
            <a:r>
              <a:rPr lang="en-US" baseline="0" noProof="1"/>
              <a:t> in the case. Table </a:t>
            </a:r>
            <a:r>
              <a:rPr lang="en-US" b="1" baseline="0" noProof="1"/>
              <a:t>Drivers</a:t>
            </a:r>
            <a:r>
              <a:rPr lang="en-US" baseline="0" noProof="1"/>
              <a:t> has a column </a:t>
            </a:r>
            <a:r>
              <a:rPr lang="en-US" b="1" baseline="0" noProof="1"/>
              <a:t>DriverID</a:t>
            </a:r>
            <a:r>
              <a:rPr lang="en-US" baseline="0" noProof="1"/>
              <a:t> as well which is a primary key. The relation is always between a foreign key and a primary key. It means that all values in </a:t>
            </a:r>
            <a:r>
              <a:rPr lang="en-US" sz="1600" b="1" baseline="0" noProof="1"/>
              <a:t>Cars</a:t>
            </a:r>
            <a:r>
              <a:rPr lang="en-US" sz="1600" b="1" noProof="1"/>
              <a:t>.</a:t>
            </a:r>
            <a:r>
              <a:rPr lang="en-US" b="1" baseline="0" noProof="1"/>
              <a:t>DriverID </a:t>
            </a:r>
            <a:r>
              <a:rPr lang="en-US" baseline="0" noProof="1"/>
              <a:t>should be present in </a:t>
            </a:r>
            <a:r>
              <a:rPr lang="en-US" sz="1600" b="1" noProof="1"/>
              <a:t>Drivers</a:t>
            </a:r>
            <a:r>
              <a:rPr lang="en-US" sz="1600" noProof="1"/>
              <a:t>. </a:t>
            </a:r>
            <a:r>
              <a:rPr lang="en-US" sz="1600" b="1" noProof="1"/>
              <a:t>DriverID</a:t>
            </a:r>
            <a:r>
              <a:rPr lang="en-US" sz="1600" baseline="0" noProof="1"/>
              <a:t> except </a:t>
            </a:r>
            <a:r>
              <a:rPr lang="en-US" sz="1600" b="1" baseline="0" noProof="1"/>
              <a:t>NULL</a:t>
            </a:r>
            <a:r>
              <a:rPr lang="en-US" sz="1600" baseline="0" noProof="1"/>
              <a:t>. </a:t>
            </a:r>
            <a:r>
              <a:rPr lang="en-US" sz="1600" b="1" baseline="0" noProof="1"/>
              <a:t>Cars</a:t>
            </a:r>
            <a:r>
              <a:rPr lang="en-US" sz="1600" b="1" noProof="1"/>
              <a:t>.</a:t>
            </a:r>
            <a:r>
              <a:rPr lang="en-US" b="1" baseline="0" noProof="1"/>
              <a:t>DriverID </a:t>
            </a:r>
            <a:r>
              <a:rPr lang="en-US" baseline="0" noProof="1"/>
              <a:t>can be </a:t>
            </a:r>
            <a:r>
              <a:rPr lang="en-US" b="1" baseline="0" noProof="1"/>
              <a:t>NULL</a:t>
            </a:r>
            <a:r>
              <a:rPr lang="en-US" baseline="0" noProof="1"/>
              <a:t>, if it is not stated otherwise.</a:t>
            </a:r>
            <a:endParaRPr lang="en-US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3656899-4FA9-40B1-B616-4912EF269C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261508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F268E7C-B18C-4F1C-8139-736C0EF215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44997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3ABC379-A651-4970-9B35-C52963C5EA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193669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B7D8A49-49F8-4355-AAB9-FAFFF40F36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0351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B6D1CAB-950C-4029-8579-17C6184586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64661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F82EF79-2047-4248-AD7F-1D63FAB737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388992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DBBDC90-A85B-49B0-A209-FBF341988E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990623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E4752C5-3CFF-480C-A054-8C6472130A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483989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E/R diagrams </a:t>
            </a:r>
            <a:r>
              <a:rPr lang="en-US" dirty="0"/>
              <a:t>represent the tables which are called entities and the relationships between them.</a:t>
            </a:r>
            <a:r>
              <a:rPr lang="en-US" baseline="0" dirty="0"/>
              <a:t> They are used as a technical illustration of the database design.</a:t>
            </a:r>
          </a:p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/>
              <a:t>To Do</a:t>
            </a:r>
            <a:r>
              <a:rPr lang="en-US" baseline="0" dirty="0"/>
              <a:t>: show how to create an E/R diagram.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9B2B8EF-4DD6-4A4E-A2BE-07444909D8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4989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0E565C8-73E5-45C9-84C7-FE5DBC868D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920580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DBA15EA-8909-461A-BBC0-39C162B54A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398409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1EA35F9-90A4-453A-8E48-85C9F78003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445771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6E8FE718-6E80-4B31-BF46-3F7C187F16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27208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329000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urce Code Example">
  <p:cSld name="1_Source Code Exampl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rgbClr val="ACB4C3">
              <a:alpha val="14509"/>
            </a:srgbClr>
          </a:solidFill>
          <a:ln w="12700" cap="flat" cmpd="sng">
            <a:solidFill>
              <a:srgbClr val="112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108000" rIns="144000" bIns="108000" anchor="t" anchorCtr="0">
            <a:sp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8"/>
              <a:buNone/>
              <a:defRPr sz="2398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2"/>
          </p:nvPr>
        </p:nvSpPr>
        <p:spPr>
          <a:xfrm>
            <a:off x="190501" y="1196126"/>
            <a:ext cx="11811097" cy="556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98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8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8"/>
              <a:buFont typeface="Calibri"/>
              <a:buNone/>
            </a:pPr>
            <a:endParaRPr sz="2398" b="0" i="0" u="none" strike="noStrike" cap="none">
              <a:solidFill>
                <a:srgbClr val="F7C8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0" descr="Software University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67957" y="253936"/>
            <a:ext cx="1915704" cy="5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190406" y="100750"/>
            <a:ext cx="9715594" cy="88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98"/>
              <a:buFont typeface="Calibri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228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3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judge.softuni.org/Contests/Compete/Index/292#6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org/Contests/Compete/Index/292#6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ivacom.bg/bg/residential/za-nas/za-kompanijata/koi-sme-nie" TargetMode="External"/><Relationship Id="rId13" Type="http://schemas.openxmlformats.org/officeDocument/2006/relationships/image" Target="../media/image40.PNG"/><Relationship Id="rId18" Type="http://schemas.openxmlformats.org/officeDocument/2006/relationships/image" Target="../media/image43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12" Type="http://schemas.openxmlformats.org/officeDocument/2006/relationships/hyperlink" Target="https://www.postbank.bg/" TargetMode="External"/><Relationship Id="rId17" Type="http://schemas.openxmlformats.org/officeDocument/2006/relationships/hyperlink" Target="https://encorp.ai/" TargetMode="External"/><Relationship Id="rId2" Type="http://schemas.openxmlformats.org/officeDocument/2006/relationships/hyperlink" Target="https://en.superhosting.bg/" TargetMode="Externa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indeavr.com/careers/" TargetMode="External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5" Type="http://schemas.openxmlformats.org/officeDocument/2006/relationships/image" Target="../media/image41.png"/><Relationship Id="rId10" Type="http://schemas.openxmlformats.org/officeDocument/2006/relationships/hyperlink" Target="https://www.draftkings.com/" TargetMode="External"/><Relationship Id="rId19" Type="http://schemas.openxmlformats.org/officeDocument/2006/relationships/image" Target="../media/image44.svg"/><Relationship Id="rId4" Type="http://schemas.openxmlformats.org/officeDocument/2006/relationships/hyperlink" Target="https://createx.bg/" TargetMode="External"/><Relationship Id="rId9" Type="http://schemas.openxmlformats.org/officeDocument/2006/relationships/image" Target="../media/image38.png"/><Relationship Id="rId14" Type="http://schemas.openxmlformats.org/officeDocument/2006/relationships/hyperlink" Target="https://bg.coca-colahellenic.com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Database Design and Rules</a:t>
            </a:r>
          </a:p>
        </p:txBody>
      </p:sp>
      <p:sp>
        <p:nvSpPr>
          <p:cNvPr id="19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Relations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671147" y="4650873"/>
            <a:ext cx="2951518" cy="958651"/>
          </a:xfrm>
        </p:spPr>
        <p:txBody>
          <a:bodyPr/>
          <a:lstStyle/>
          <a:p>
            <a:r>
              <a:rPr lang="en-US" dirty="0"/>
              <a:t>SoftUni Team</a:t>
            </a:r>
          </a:p>
          <a:p>
            <a:endParaRPr lang="bg-B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0"/>
          </p:nvPr>
        </p:nvSpPr>
        <p:spPr>
          <a:xfrm>
            <a:off x="671147" y="5175130"/>
            <a:ext cx="2951518" cy="832014"/>
          </a:xfrm>
        </p:spPr>
        <p:txBody>
          <a:bodyPr/>
          <a:lstStyle/>
          <a:p>
            <a:r>
              <a:rPr lang="en-US" dirty="0"/>
              <a:t>Technical Trainers</a:t>
            </a:r>
          </a:p>
          <a:p>
            <a:endParaRPr lang="bg-BG" dirty="0"/>
          </a:p>
        </p:txBody>
      </p:sp>
      <p:pic>
        <p:nvPicPr>
          <p:cNvPr id="1026" name="Picture 2" descr="Ð ÐµÐ·ÑÐ»ÑÐ°Ñ Ñ Ð¸Ð·Ð¾Ð±ÑÐ°Ð¶ÐµÐ½Ð¸Ðµ Ð·Ð° excel tables png">
            <a:extLst>
              <a:ext uri="{FF2B5EF4-FFF2-40B4-BE49-F238E27FC236}">
                <a16:creationId xmlns:a16="http://schemas.microsoft.com/office/drawing/2014/main" id="{1F038B27-A65D-4305-BE64-2F26F7BBB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296" y="2317555"/>
            <a:ext cx="2638740" cy="2725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91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400" dirty="0"/>
              <a:t>Database Design 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400" dirty="0"/>
              <a:t>Database Normalization</a:t>
            </a:r>
          </a:p>
          <a:p>
            <a:pPr marL="444500" indent="-444500">
              <a:lnSpc>
                <a:spcPct val="100000"/>
              </a:lnSpc>
              <a:buFontTx/>
              <a:buAutoNum type="arabicPeriod"/>
            </a:pPr>
            <a:r>
              <a:rPr lang="en-US" sz="3400" dirty="0"/>
              <a:t>Table Relations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400" dirty="0"/>
              <a:t>Cascade Operations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3400" dirty="0"/>
              <a:t>E/R Diagrams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448FE1E-B280-4723-A177-76D0EDB9609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3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2C7316C0-9F45-4093-A3B2-527397FAE85D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Fundamental Concepts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809A38-A020-488F-B711-A425056517C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Database Design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485" y="1808735"/>
            <a:ext cx="4125262" cy="180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0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041766" y="1257411"/>
            <a:ext cx="10129234" cy="55465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Steps in the database design process:</a:t>
            </a:r>
          </a:p>
          <a:p>
            <a:pPr marL="871538" lvl="1" indent="-514350">
              <a:lnSpc>
                <a:spcPct val="100000"/>
              </a:lnSpc>
            </a:pPr>
            <a:r>
              <a:rPr lang="en-US" dirty="0"/>
              <a:t>Identify entities</a:t>
            </a:r>
          </a:p>
          <a:p>
            <a:pPr marL="871538" lvl="1" indent="-514350">
              <a:lnSpc>
                <a:spcPct val="100000"/>
              </a:lnSpc>
            </a:pPr>
            <a:r>
              <a:rPr lang="en-US" dirty="0"/>
              <a:t>Identify table columns</a:t>
            </a:r>
          </a:p>
          <a:p>
            <a:pPr marL="871538" lvl="1" indent="-514350">
              <a:lnSpc>
                <a:spcPct val="100000"/>
              </a:lnSpc>
            </a:pPr>
            <a:r>
              <a:rPr lang="en-US" dirty="0"/>
              <a:t>Define a</a:t>
            </a:r>
            <a:r>
              <a:rPr lang="bg-BG" dirty="0"/>
              <a:t> </a:t>
            </a:r>
            <a:r>
              <a:rPr lang="en-US" dirty="0"/>
              <a:t>primary key for each</a:t>
            </a:r>
            <a:r>
              <a:rPr lang="bg-BG" dirty="0"/>
              <a:t> </a:t>
            </a:r>
            <a:r>
              <a:rPr lang="en-US" dirty="0"/>
              <a:t>table</a:t>
            </a:r>
            <a:endParaRPr lang="bg-BG" dirty="0"/>
          </a:p>
          <a:p>
            <a:pPr marL="871538" lvl="1" indent="-514350">
              <a:lnSpc>
                <a:spcPct val="100000"/>
              </a:lnSpc>
            </a:pPr>
            <a:r>
              <a:rPr lang="en-US" dirty="0"/>
              <a:t>Identify and model relationships</a:t>
            </a:r>
            <a:endParaRPr lang="bg-BG" dirty="0"/>
          </a:p>
          <a:p>
            <a:pPr marL="871538" lvl="1" indent="-514350">
              <a:lnSpc>
                <a:spcPct val="100000"/>
              </a:lnSpc>
            </a:pPr>
            <a:r>
              <a:rPr lang="en-US" dirty="0"/>
              <a:t>Define other constraints</a:t>
            </a:r>
          </a:p>
          <a:p>
            <a:pPr marL="871538" lvl="1" indent="-514350">
              <a:lnSpc>
                <a:spcPct val="100000"/>
              </a:lnSpc>
            </a:pPr>
            <a:r>
              <a:rPr lang="en-US" dirty="0"/>
              <a:t>Fill tables with test data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</a:t>
            </a:r>
            <a:r>
              <a:rPr lang="bg-BG" dirty="0"/>
              <a:t> </a:t>
            </a:r>
            <a:r>
              <a:rPr lang="en-US" dirty="0"/>
              <a:t>Database</a:t>
            </a:r>
            <a:r>
              <a:rPr lang="bg-BG" dirty="0"/>
              <a:t> </a:t>
            </a:r>
            <a:r>
              <a:rPr lang="en-US" dirty="0"/>
              <a:t>Design</a:t>
            </a:r>
          </a:p>
        </p:txBody>
      </p:sp>
      <p:pic>
        <p:nvPicPr>
          <p:cNvPr id="2050" name="Picture 2" descr="Ð ÐµÐ·ÑÐ»ÑÐ°Ñ Ñ Ð¸Ð·Ð¾Ð±ÑÐ°Ð¶ÐµÐ½Ð¸Ðµ Ð·Ð° steps png">
            <a:extLst>
              <a:ext uri="{FF2B5EF4-FFF2-40B4-BE49-F238E27FC236}">
                <a16:creationId xmlns:a16="http://schemas.microsoft.com/office/drawing/2014/main" id="{64D88FA5-C7EA-4D7F-A448-68CC59EF7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000" y="3848118"/>
            <a:ext cx="3936000" cy="30098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8FAB2115-864C-4E39-B8F9-5C1765EF4E9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6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Entity tables represent objects from the real world</a:t>
            </a:r>
            <a:endParaRPr lang="bg-BG" dirty="0"/>
          </a:p>
          <a:p>
            <a:pPr lvl="1">
              <a:lnSpc>
                <a:spcPct val="100000"/>
              </a:lnSpc>
            </a:pPr>
            <a:r>
              <a:rPr lang="en-US" dirty="0"/>
              <a:t>Most often they are nouns in the specification</a:t>
            </a:r>
            <a:endParaRPr lang="bg-BG" dirty="0"/>
          </a:p>
          <a:p>
            <a:pPr lvl="1">
              <a:lnSpc>
                <a:spcPct val="100000"/>
              </a:lnSpc>
            </a:pPr>
            <a:r>
              <a:rPr lang="en-US" dirty="0"/>
              <a:t>For example</a:t>
            </a:r>
            <a:r>
              <a:rPr lang="bg-BG" dirty="0"/>
              <a:t>:</a:t>
            </a:r>
            <a:endParaRPr lang="en-US" dirty="0"/>
          </a:p>
          <a:p>
            <a:pPr lvl="1">
              <a:lnSpc>
                <a:spcPct val="100000"/>
              </a:lnSpc>
            </a:pPr>
            <a:endParaRPr lang="bg-BG" dirty="0"/>
          </a:p>
          <a:p>
            <a:pPr lvl="1">
              <a:lnSpc>
                <a:spcPct val="100000"/>
              </a:lnSpc>
            </a:pPr>
            <a:endParaRPr lang="bg-BG" dirty="0"/>
          </a:p>
          <a:p>
            <a:pPr lvl="1">
              <a:lnSpc>
                <a:spcPct val="100000"/>
              </a:lnSpc>
              <a:buFontTx/>
              <a:buNone/>
            </a:pPr>
            <a:endParaRPr lang="bg-BG" dirty="0"/>
          </a:p>
          <a:p>
            <a:pPr lvl="1">
              <a:lnSpc>
                <a:spcPct val="100000"/>
              </a:lnSpc>
            </a:pPr>
            <a:endParaRPr lang="bg-BG" dirty="0"/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en-US" dirty="0"/>
              <a:t>Entities</a:t>
            </a:r>
            <a:r>
              <a:rPr lang="bg-BG" dirty="0"/>
              <a:t>: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Student</a:t>
            </a:r>
            <a:r>
              <a:rPr lang="bg-BG" dirty="0"/>
              <a:t>,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Course</a:t>
            </a:r>
            <a:r>
              <a:rPr lang="bg-BG" dirty="0"/>
              <a:t>,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Town</a:t>
            </a:r>
            <a:endParaRPr lang="bg-BG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DB Design: Identify Entities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146000" y="3249000"/>
            <a:ext cx="7848600" cy="240136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We need to develop a system that stores information about students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which are trained in various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courses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The courses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are held in different towns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When registering a new student the following information is entered: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name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faculty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number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photo and date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</a:t>
            </a:r>
          </a:p>
        </p:txBody>
      </p:sp>
      <p:sp>
        <p:nvSpPr>
          <p:cNvPr id="9" name="Rectangle: Rounded Corners 14"/>
          <p:cNvSpPr/>
          <p:nvPr/>
        </p:nvSpPr>
        <p:spPr>
          <a:xfrm>
            <a:off x="4177719" y="3717960"/>
            <a:ext cx="1518758" cy="306140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0" name="Rectangle: Rounded Corners 14"/>
          <p:cNvSpPr/>
          <p:nvPr/>
        </p:nvSpPr>
        <p:spPr>
          <a:xfrm>
            <a:off x="3028525" y="4081855"/>
            <a:ext cx="1295400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1" name="Rectangle: Rounded Corners 14"/>
          <p:cNvSpPr/>
          <p:nvPr/>
        </p:nvSpPr>
        <p:spPr>
          <a:xfrm>
            <a:off x="2860479" y="4463499"/>
            <a:ext cx="970644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8BBECEDA-22E0-4311-BF08-89A52684D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3821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Columns are clarifications for the entities in the text of the </a:t>
            </a:r>
            <a:br>
              <a:rPr lang="en-US" dirty="0"/>
            </a:br>
            <a:r>
              <a:rPr lang="en-US" dirty="0"/>
              <a:t>specification</a:t>
            </a:r>
            <a:r>
              <a:rPr lang="bg-BG" dirty="0"/>
              <a:t>, </a:t>
            </a:r>
            <a:r>
              <a:rPr lang="en-US" dirty="0"/>
              <a:t>for example</a:t>
            </a:r>
            <a:r>
              <a:rPr lang="bg-BG" dirty="0"/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bg-BG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bg-BG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bg-BG" dirty="0"/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Students have the following characteristics</a:t>
            </a:r>
            <a:r>
              <a:rPr lang="bg-BG" dirty="0"/>
              <a:t>: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Name</a:t>
            </a:r>
            <a:r>
              <a:rPr lang="bg-BG" sz="3200" dirty="0"/>
              <a:t>, </a:t>
            </a:r>
            <a:r>
              <a:rPr lang="en-US" sz="3200" b="1" dirty="0">
                <a:solidFill>
                  <a:schemeClr val="bg1"/>
                </a:solidFill>
              </a:rPr>
              <a:t>faculty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number</a:t>
            </a:r>
            <a:r>
              <a:rPr lang="bg-BG" sz="3200" dirty="0"/>
              <a:t>, </a:t>
            </a:r>
            <a:r>
              <a:rPr lang="en-US" sz="3200" b="1" dirty="0">
                <a:solidFill>
                  <a:schemeClr val="bg1"/>
                </a:solidFill>
              </a:rPr>
              <a:t>photo</a:t>
            </a:r>
            <a:r>
              <a:rPr lang="bg-BG" sz="3200" dirty="0"/>
              <a:t>, </a:t>
            </a:r>
            <a:r>
              <a:rPr lang="en-US" sz="3200" b="1" dirty="0">
                <a:solidFill>
                  <a:schemeClr val="bg1"/>
                </a:solidFill>
              </a:rPr>
              <a:t>date of enlistment </a:t>
            </a:r>
            <a:r>
              <a:rPr lang="en-US" sz="3200" dirty="0"/>
              <a:t>and a </a:t>
            </a:r>
            <a:r>
              <a:rPr lang="en-US" sz="3200" b="1" dirty="0">
                <a:solidFill>
                  <a:schemeClr val="bg1"/>
                </a:solidFill>
              </a:rPr>
              <a:t>list of </a:t>
            </a:r>
            <a:br>
              <a:rPr lang="en-US" sz="3200" dirty="0"/>
            </a:br>
            <a:r>
              <a:rPr lang="en-US" sz="3200" b="1" dirty="0">
                <a:solidFill>
                  <a:schemeClr val="bg1"/>
                </a:solidFill>
              </a:rPr>
              <a:t>courses</a:t>
            </a:r>
            <a:r>
              <a:rPr lang="en-US" sz="3200" dirty="0"/>
              <a:t> they visit</a:t>
            </a:r>
            <a:endParaRPr lang="bg-BG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Design: Identify Table Columns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6000" y="2304000"/>
            <a:ext cx="7848600" cy="241912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We need to develop a system that stores information about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students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which are trained in various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courses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The courses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are held in different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towns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When registering a new student the following information is entered: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name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faculty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number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photo and date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</a:t>
            </a:r>
          </a:p>
        </p:txBody>
      </p:sp>
      <p:sp>
        <p:nvSpPr>
          <p:cNvPr id="14" name="Rectangle: Rounded Corners 14"/>
          <p:cNvSpPr/>
          <p:nvPr/>
        </p:nvSpPr>
        <p:spPr>
          <a:xfrm>
            <a:off x="762674" y="4290798"/>
            <a:ext cx="771526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1720854" y="4284179"/>
            <a:ext cx="2480346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6" name="Rectangle: Rounded Corners 14"/>
          <p:cNvSpPr/>
          <p:nvPr/>
        </p:nvSpPr>
        <p:spPr>
          <a:xfrm>
            <a:off x="4445921" y="4284179"/>
            <a:ext cx="964449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7" name="Rectangle: Rounded Corners 14"/>
          <p:cNvSpPr/>
          <p:nvPr/>
        </p:nvSpPr>
        <p:spPr>
          <a:xfrm>
            <a:off x="6105159" y="4286695"/>
            <a:ext cx="809261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D4FA1EC3-FD7A-49E7-B3F8-505EB5E41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329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Always define an </a:t>
            </a:r>
            <a:r>
              <a:rPr lang="en-US" b="1" dirty="0">
                <a:solidFill>
                  <a:schemeClr val="bg1"/>
                </a:solidFill>
              </a:rPr>
              <a:t>additional column </a:t>
            </a:r>
            <a:r>
              <a:rPr lang="en-US" dirty="0"/>
              <a:t>for the primary key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Don't use an existing column</a:t>
            </a:r>
            <a:r>
              <a:rPr lang="bg-BG" dirty="0"/>
              <a:t> (</a:t>
            </a:r>
            <a:r>
              <a:rPr lang="en-US" dirty="0"/>
              <a:t>for example</a:t>
            </a:r>
            <a:r>
              <a:rPr lang="bg-BG" dirty="0"/>
              <a:t> </a:t>
            </a:r>
            <a:r>
              <a:rPr lang="en-US" dirty="0"/>
              <a:t>SSN</a:t>
            </a:r>
            <a:r>
              <a:rPr lang="bg-BG" dirty="0"/>
              <a:t>)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Must be an </a:t>
            </a:r>
            <a:r>
              <a:rPr lang="en-US" b="1" dirty="0">
                <a:solidFill>
                  <a:schemeClr val="bg1"/>
                </a:solidFill>
              </a:rPr>
              <a:t>integer</a:t>
            </a:r>
            <a:r>
              <a:rPr lang="en-US" dirty="0"/>
              <a:t> number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Must be </a:t>
            </a:r>
            <a:r>
              <a:rPr lang="en-US" b="1" dirty="0">
                <a:solidFill>
                  <a:schemeClr val="bg1"/>
                </a:solidFill>
              </a:rPr>
              <a:t>declared</a:t>
            </a:r>
            <a:r>
              <a:rPr lang="en-US" dirty="0"/>
              <a:t> as a</a:t>
            </a:r>
            <a:r>
              <a:rPr lang="bg-BG" dirty="0"/>
              <a:t> </a:t>
            </a:r>
            <a:r>
              <a:rPr lang="en-US" dirty="0"/>
              <a:t>primary key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Use</a:t>
            </a:r>
            <a:r>
              <a:rPr lang="bg-BG" dirty="0"/>
              <a:t>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IDENTITY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to implement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auto-increment</a:t>
            </a:r>
            <a:endParaRPr lang="bg-BG" dirty="0">
              <a:solidFill>
                <a:schemeClr val="tx2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Put the </a:t>
            </a:r>
            <a:r>
              <a:rPr lang="en-US" b="1" dirty="0">
                <a:solidFill>
                  <a:schemeClr val="bg1"/>
                </a:solidFill>
              </a:rPr>
              <a:t>primary key </a:t>
            </a:r>
            <a:r>
              <a:rPr lang="en-US" dirty="0"/>
              <a:t>as a </a:t>
            </a:r>
            <a:r>
              <a:rPr lang="en-US" b="1" dirty="0">
                <a:solidFill>
                  <a:schemeClr val="bg1"/>
                </a:solidFill>
              </a:rPr>
              <a:t>first column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Exceptions</a:t>
            </a:r>
          </a:p>
          <a:p>
            <a:pPr lvl="1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Entities that have </a:t>
            </a:r>
            <a:r>
              <a:rPr lang="en-US" b="1" dirty="0">
                <a:solidFill>
                  <a:schemeClr val="bg1"/>
                </a:solidFill>
              </a:rPr>
              <a:t>well known ID</a:t>
            </a:r>
            <a:r>
              <a:rPr lang="en-US" dirty="0"/>
              <a:t>, e.g. </a:t>
            </a:r>
            <a:r>
              <a:rPr lang="en-US" b="1" dirty="0">
                <a:solidFill>
                  <a:schemeClr val="bg1"/>
                </a:solidFill>
              </a:rPr>
              <a:t>countries</a:t>
            </a:r>
            <a:r>
              <a:rPr lang="en-US" dirty="0"/>
              <a:t> (BG, DE, US) </a:t>
            </a:r>
            <a:br>
              <a:rPr lang="en-US" dirty="0"/>
            </a:b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currencies</a:t>
            </a:r>
            <a:r>
              <a:rPr lang="en-US" dirty="0"/>
              <a:t> (USD, EUR, BGN)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a Primary Key</a:t>
            </a:r>
            <a:r>
              <a:rPr lang="bg-BG" dirty="0"/>
              <a:t>?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99518F1-B070-48E5-9291-16AF4A037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317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Relationships are </a:t>
            </a:r>
            <a:r>
              <a:rPr lang="en-US" b="1" dirty="0">
                <a:solidFill>
                  <a:schemeClr val="bg1"/>
                </a:solidFill>
              </a:rPr>
              <a:t>dependencies</a:t>
            </a:r>
            <a:r>
              <a:rPr lang="en-US" dirty="0"/>
              <a:t> between the entities</a:t>
            </a:r>
            <a:r>
              <a:rPr lang="bg-BG" dirty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bg-BG" dirty="0"/>
          </a:p>
          <a:p>
            <a:pPr lvl="1"/>
            <a:r>
              <a:rPr lang="bg-BG" dirty="0"/>
              <a:t>"</a:t>
            </a:r>
            <a:r>
              <a:rPr lang="en-US" b="1" dirty="0">
                <a:solidFill>
                  <a:schemeClr val="bg1"/>
                </a:solidFill>
              </a:rPr>
              <a:t>Students</a:t>
            </a:r>
            <a:r>
              <a:rPr lang="en-US" dirty="0"/>
              <a:t> are trained in courses</a:t>
            </a:r>
            <a:r>
              <a:rPr lang="bg-BG" dirty="0"/>
              <a:t>"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many-to-many relationship</a:t>
            </a:r>
          </a:p>
          <a:p>
            <a:pPr lvl="1"/>
            <a:r>
              <a:rPr lang="bg-BG" dirty="0"/>
              <a:t>"</a:t>
            </a:r>
            <a:r>
              <a:rPr lang="en-US" b="1" dirty="0">
                <a:solidFill>
                  <a:schemeClr val="bg1"/>
                </a:solidFill>
              </a:rPr>
              <a:t>Courses</a:t>
            </a:r>
            <a:r>
              <a:rPr lang="en-US" dirty="0"/>
              <a:t> are held in towns</a:t>
            </a:r>
            <a:r>
              <a:rPr lang="bg-BG" dirty="0"/>
              <a:t>"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bg-BG" dirty="0"/>
              <a:t> </a:t>
            </a:r>
            <a:r>
              <a:rPr lang="en-US" dirty="0"/>
              <a:t>many-to-one (or many-to-many) relationship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Design: Identify Entity Relationships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6000" y="1899000"/>
            <a:ext cx="8316636" cy="241912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We need to develop a system that stores information about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students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which are trained in various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courses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The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courses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are held in different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towns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When registering a new student, the following information is entered: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name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faculty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number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, </a:t>
            </a:r>
            <a:r>
              <a:rPr lang="en-US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photo and date</a:t>
            </a:r>
            <a:r>
              <a:rPr lang="ru-RU" sz="24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  <a:sym typeface="Wingdings" pitchFamily="2" charset="2"/>
              </a:rPr>
              <a:t>.</a:t>
            </a:r>
          </a:p>
        </p:txBody>
      </p:sp>
      <p:sp>
        <p:nvSpPr>
          <p:cNvPr id="16" name="Rectangle: Rounded Corners 14"/>
          <p:cNvSpPr/>
          <p:nvPr/>
        </p:nvSpPr>
        <p:spPr>
          <a:xfrm>
            <a:off x="3775244" y="2366204"/>
            <a:ext cx="1421599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7" name="Rectangle: Rounded Corners 14"/>
          <p:cNvSpPr/>
          <p:nvPr/>
        </p:nvSpPr>
        <p:spPr>
          <a:xfrm>
            <a:off x="6461524" y="2371628"/>
            <a:ext cx="2495019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8" name="Rectangle: Rounded Corners 14"/>
          <p:cNvSpPr/>
          <p:nvPr/>
        </p:nvSpPr>
        <p:spPr>
          <a:xfrm>
            <a:off x="2106285" y="2740736"/>
            <a:ext cx="1295400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6D835F39-7B67-44A4-AE2F-6ACD42C084A5}"/>
              </a:ext>
            </a:extLst>
          </p:cNvPr>
          <p:cNvSpPr/>
          <p:nvPr/>
        </p:nvSpPr>
        <p:spPr>
          <a:xfrm>
            <a:off x="4292471" y="2739454"/>
            <a:ext cx="1235365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2" name="Rectangle: Rounded Corners 14">
            <a:extLst>
              <a:ext uri="{FF2B5EF4-FFF2-40B4-BE49-F238E27FC236}">
                <a16:creationId xmlns:a16="http://schemas.microsoft.com/office/drawing/2014/main" id="{622F55B1-D8E2-4DB7-9029-49272FC91BFC}"/>
              </a:ext>
            </a:extLst>
          </p:cNvPr>
          <p:cNvSpPr/>
          <p:nvPr/>
        </p:nvSpPr>
        <p:spPr>
          <a:xfrm>
            <a:off x="2419823" y="3107280"/>
            <a:ext cx="949070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FEAEE1A-2FF2-4C6C-942A-D6413DAA8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4" name="Rectangle: Rounded Corners 14">
            <a:extLst>
              <a:ext uri="{FF2B5EF4-FFF2-40B4-BE49-F238E27FC236}">
                <a16:creationId xmlns:a16="http://schemas.microsoft.com/office/drawing/2014/main" id="{14AF9CD3-A065-4662-9856-18F0B46CB8AC}"/>
              </a:ext>
            </a:extLst>
          </p:cNvPr>
          <p:cNvSpPr/>
          <p:nvPr/>
        </p:nvSpPr>
        <p:spPr>
          <a:xfrm>
            <a:off x="5653095" y="2739454"/>
            <a:ext cx="1944741" cy="367826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74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1" grpId="0" animBg="1"/>
      <p:bldP spid="12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5CBA8C-1B6E-4981-801E-C7F338DB2D8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Database Normalization</a:t>
            </a:r>
          </a:p>
        </p:txBody>
      </p:sp>
      <p:pic>
        <p:nvPicPr>
          <p:cNvPr id="1026" name="Picture 2" descr="Accept, Database Icon - Download Free Icons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766" y="1639629"/>
            <a:ext cx="2102433" cy="2102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36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062766" y="1108911"/>
            <a:ext cx="10129234" cy="55465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It is a technique of organizing the data in </a:t>
            </a:r>
            <a:br>
              <a:rPr lang="en-US" dirty="0"/>
            </a:br>
            <a:r>
              <a:rPr lang="en-US" dirty="0"/>
              <a:t>the database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Normalization</a:t>
            </a:r>
            <a:r>
              <a:rPr lang="en-US" dirty="0"/>
              <a:t> is a systematic approach of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decomposing</a:t>
            </a:r>
            <a:r>
              <a:rPr lang="en-US" dirty="0"/>
              <a:t> tables to eliminate data redundancy</a:t>
            </a:r>
            <a:br>
              <a:rPr lang="en-US" dirty="0"/>
            </a:br>
            <a:r>
              <a:rPr lang="en-US" dirty="0"/>
              <a:t>(repetition) and undesirable characteristics like</a:t>
            </a:r>
            <a:br>
              <a:rPr lang="en-US" dirty="0"/>
            </a:br>
            <a:r>
              <a:rPr lang="en-US" dirty="0"/>
              <a:t>insertion, update and deletion </a:t>
            </a:r>
            <a:r>
              <a:rPr lang="en-US" b="1" dirty="0">
                <a:solidFill>
                  <a:schemeClr val="bg1"/>
                </a:solidFill>
              </a:rPr>
              <a:t>anomalies</a:t>
            </a:r>
          </a:p>
          <a:p>
            <a:pPr>
              <a:buClr>
                <a:schemeClr val="tx1"/>
              </a:buClr>
            </a:pPr>
            <a:r>
              <a:rPr lang="en-US" dirty="0"/>
              <a:t>It is a multi-step process that puts data into </a:t>
            </a:r>
            <a:r>
              <a:rPr lang="en-US" b="1" dirty="0">
                <a:solidFill>
                  <a:schemeClr val="bg1"/>
                </a:solidFill>
              </a:rPr>
              <a:t>tabular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form</a:t>
            </a:r>
            <a:r>
              <a:rPr lang="en-US" dirty="0"/>
              <a:t> removing duplicated data from the </a:t>
            </a:r>
            <a:br>
              <a:rPr lang="en-US" dirty="0"/>
            </a:br>
            <a:r>
              <a:rPr lang="en-US" dirty="0"/>
              <a:t>relation tables</a:t>
            </a:r>
            <a:endParaRPr lang="bg-BG" dirty="0"/>
          </a:p>
        </p:txBody>
      </p:sp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Normalization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4A41EB3-EE93-4BC2-8C0E-8DEB1262911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139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4"/>
            <a:ext cx="11818096" cy="5661875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/>
              </a:buClr>
            </a:pPr>
            <a:r>
              <a:rPr lang="en-US" sz="3300" b="1" dirty="0">
                <a:solidFill>
                  <a:schemeClr val="bg1"/>
                </a:solidFill>
              </a:rPr>
              <a:t>First Normal Form (1NF)</a:t>
            </a:r>
            <a:endParaRPr lang="en-US" sz="3300" dirty="0"/>
          </a:p>
          <a:p>
            <a:pPr lvl="1">
              <a:buClr>
                <a:schemeClr val="tx1"/>
              </a:buClr>
            </a:pPr>
            <a:r>
              <a:rPr lang="en-US" sz="3100" dirty="0"/>
              <a:t>Table should only have single (atomic) valued attributes/columns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Values stored in a column should be of the same domain (same type)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All the columns in a table should have unique names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The order in which data is stored should not matter</a:t>
            </a:r>
          </a:p>
          <a:p>
            <a:pPr>
              <a:buClr>
                <a:schemeClr val="tx1"/>
              </a:buClr>
            </a:pPr>
            <a:r>
              <a:rPr lang="en-US" sz="3300" b="1" dirty="0">
                <a:solidFill>
                  <a:schemeClr val="bg1"/>
                </a:solidFill>
              </a:rPr>
              <a:t>Second Normal Form (2NF)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The table should be in the </a:t>
            </a:r>
            <a:r>
              <a:rPr lang="en-US" sz="3100" b="1" dirty="0">
                <a:solidFill>
                  <a:schemeClr val="bg1"/>
                </a:solidFill>
              </a:rPr>
              <a:t>First Normal form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It shouldn't have </a:t>
            </a:r>
            <a:r>
              <a:rPr lang="en-US" sz="3100" b="1" dirty="0">
                <a:solidFill>
                  <a:schemeClr val="bg1"/>
                </a:solidFill>
              </a:rPr>
              <a:t>Partial Dependency</a:t>
            </a:r>
            <a:r>
              <a:rPr lang="bg-BG" sz="3100" b="1" dirty="0">
                <a:solidFill>
                  <a:schemeClr val="bg1"/>
                </a:solidFill>
              </a:rPr>
              <a:t> </a:t>
            </a:r>
            <a:r>
              <a:rPr lang="bg-BG" sz="3100" dirty="0"/>
              <a:t>(</a:t>
            </a:r>
            <a:r>
              <a:rPr lang="en-US" sz="3100" dirty="0"/>
              <a:t>dependency on part of the primary key)</a:t>
            </a:r>
          </a:p>
          <a:p>
            <a:pPr>
              <a:buClr>
                <a:schemeClr val="tx1"/>
              </a:buClr>
            </a:pPr>
            <a:r>
              <a:rPr lang="en-US" sz="3300" b="1" dirty="0">
                <a:solidFill>
                  <a:schemeClr val="bg1"/>
                </a:solidFill>
              </a:rPr>
              <a:t>Third Normal Form (3NF)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The table is in the </a:t>
            </a:r>
            <a:r>
              <a:rPr lang="en-US" sz="3100" b="1" dirty="0">
                <a:solidFill>
                  <a:schemeClr val="bg1"/>
                </a:solidFill>
              </a:rPr>
              <a:t>Second Normal form</a:t>
            </a:r>
          </a:p>
          <a:p>
            <a:pPr lvl="1">
              <a:buClr>
                <a:schemeClr val="tx1"/>
              </a:buClr>
            </a:pPr>
            <a:r>
              <a:rPr lang="en-US" sz="3100" dirty="0"/>
              <a:t>It doesn't have </a:t>
            </a:r>
            <a:r>
              <a:rPr lang="en-US" sz="3100" b="1" dirty="0">
                <a:solidFill>
                  <a:schemeClr val="bg1"/>
                </a:solidFill>
              </a:rPr>
              <a:t>Transitive Dependency</a:t>
            </a:r>
          </a:p>
        </p:txBody>
      </p:sp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Normal Forms</a:t>
            </a:r>
            <a:endParaRPr lang="bg-B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F08C7F-B353-4BB5-B152-E05583BFD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391" y="5274000"/>
            <a:ext cx="5277609" cy="1441392"/>
          </a:xfrm>
          <a:prstGeom prst="rect">
            <a:avLst/>
          </a:prstGeom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73C40E71-D368-404C-835E-92556AF55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756557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78EB45-9834-444F-BBD5-5FC439BF29C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Table Relations</a:t>
            </a:r>
          </a:p>
        </p:txBody>
      </p:sp>
      <p:sp>
        <p:nvSpPr>
          <p:cNvPr id="4" name="Овал 3"/>
          <p:cNvSpPr/>
          <p:nvPr/>
        </p:nvSpPr>
        <p:spPr>
          <a:xfrm>
            <a:off x="6504432" y="2667000"/>
            <a:ext cx="201168" cy="2011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6" name="Овал 15"/>
          <p:cNvSpPr/>
          <p:nvPr/>
        </p:nvSpPr>
        <p:spPr>
          <a:xfrm>
            <a:off x="5257800" y="2649475"/>
            <a:ext cx="182880" cy="1828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grpSp>
        <p:nvGrpSpPr>
          <p:cNvPr id="8" name="Group 7"/>
          <p:cNvGrpSpPr/>
          <p:nvPr/>
        </p:nvGrpSpPr>
        <p:grpSpPr>
          <a:xfrm>
            <a:off x="4653465" y="1201098"/>
            <a:ext cx="2926984" cy="2807948"/>
            <a:chOff x="4623485" y="1186108"/>
            <a:chExt cx="2926984" cy="2807948"/>
          </a:xfrm>
        </p:grpSpPr>
        <p:pic>
          <p:nvPicPr>
            <p:cNvPr id="1028" name="Picture 4" descr="Image result for tabl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3485" y="2451952"/>
              <a:ext cx="1557265" cy="1314713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4" descr="Image result for tabl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0863" y="2390324"/>
              <a:ext cx="1899606" cy="1603732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Облаковидно 2"/>
            <p:cNvSpPr/>
            <p:nvPr/>
          </p:nvSpPr>
          <p:spPr>
            <a:xfrm>
              <a:off x="4983327" y="1186108"/>
              <a:ext cx="2057400" cy="1308064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/>
            </a:p>
          </p:txBody>
        </p:sp>
        <p:pic>
          <p:nvPicPr>
            <p:cNvPr id="1034" name="Picture 10" descr="Image result for hearth animated lov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6252" y="1352141"/>
              <a:ext cx="971550" cy="971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ED3C79D1-63F8-4A18-82AD-9EDAFCC2419A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615109" y="5656902"/>
            <a:ext cx="10961783" cy="768084"/>
          </a:xfrm>
        </p:spPr>
        <p:txBody>
          <a:bodyPr/>
          <a:lstStyle/>
          <a:p>
            <a:r>
              <a:rPr lang="en-US" dirty="0"/>
              <a:t>Relational Database Model in Action</a:t>
            </a:r>
          </a:p>
        </p:txBody>
      </p:sp>
    </p:spTree>
    <p:extLst>
      <p:ext uri="{BB962C8B-B14F-4D97-AF65-F5344CB8AC3E}">
        <p14:creationId xmlns:p14="http://schemas.microsoft.com/office/powerpoint/2010/main" val="257527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Relationships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between tables are based on interconnections:</a:t>
            </a:r>
            <a:r>
              <a:rPr lang="bg-BG" dirty="0"/>
              <a:t>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primary key </a:t>
            </a:r>
            <a:r>
              <a:rPr lang="en-US" b="1" dirty="0">
                <a:sym typeface="Wingdings" panose="05000000000000000000" pitchFamily="2" charset="2"/>
              </a:rPr>
              <a:t>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foreign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key</a:t>
            </a:r>
            <a:endParaRPr lang="bg-BG" b="1" dirty="0">
              <a:solidFill>
                <a:schemeClr val="bg1"/>
              </a:solidFill>
            </a:endParaRPr>
          </a:p>
        </p:txBody>
      </p:sp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</a:t>
            </a:r>
            <a:endParaRPr lang="bg-BG" dirty="0"/>
          </a:p>
        </p:txBody>
      </p:sp>
      <p:sp>
        <p:nvSpPr>
          <p:cNvPr id="474164" name="Text Box 52"/>
          <p:cNvSpPr txBox="1">
            <a:spLocks noChangeArrowheads="1"/>
          </p:cNvSpPr>
          <p:nvPr/>
        </p:nvSpPr>
        <p:spPr bwMode="auto">
          <a:xfrm>
            <a:off x="9239192" y="3253814"/>
            <a:ext cx="1614416" cy="4801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sz="2800" b="1" dirty="0">
                <a:latin typeface="+mj-lt"/>
                <a:cs typeface="Consolas" pitchFamily="49" charset="0"/>
              </a:rPr>
              <a:t>Countries</a:t>
            </a:r>
            <a:endParaRPr lang="bg-BG" sz="2800" b="1" dirty="0">
              <a:latin typeface="+mj-lt"/>
              <a:cs typeface="Consolas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340579"/>
              </p:ext>
            </p:extLst>
          </p:nvPr>
        </p:nvGraphicFramePr>
        <p:xfrm>
          <a:off x="1994402" y="3339808"/>
          <a:ext cx="4901142" cy="2743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633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CountryId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Sofia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Varna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3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Munich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4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Berlin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5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Moscow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3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722331"/>
              </p:ext>
            </p:extLst>
          </p:nvPr>
        </p:nvGraphicFramePr>
        <p:xfrm>
          <a:off x="8751000" y="3744000"/>
          <a:ext cx="2590800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Bulgaria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Germany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3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Russia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2"/>
          <p:cNvSpPr txBox="1"/>
          <p:nvPr/>
        </p:nvSpPr>
        <p:spPr>
          <a:xfrm>
            <a:off x="3645601" y="2751883"/>
            <a:ext cx="1125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Towns</a:t>
            </a:r>
          </a:p>
        </p:txBody>
      </p:sp>
      <p:cxnSp>
        <p:nvCxnSpPr>
          <p:cNvPr id="22" name="Straight Arrow Connector 11"/>
          <p:cNvCxnSpPr>
            <a:cxnSpLocks/>
          </p:cNvCxnSpPr>
          <p:nvPr/>
        </p:nvCxnSpPr>
        <p:spPr>
          <a:xfrm>
            <a:off x="7009844" y="4026606"/>
            <a:ext cx="1626856" cy="266475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1"/>
          <p:cNvCxnSpPr>
            <a:cxnSpLocks/>
          </p:cNvCxnSpPr>
          <p:nvPr/>
        </p:nvCxnSpPr>
        <p:spPr>
          <a:xfrm flipV="1">
            <a:off x="7003396" y="4434681"/>
            <a:ext cx="1633305" cy="53394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1"/>
          <p:cNvCxnSpPr>
            <a:cxnSpLocks/>
          </p:cNvCxnSpPr>
          <p:nvPr/>
        </p:nvCxnSpPr>
        <p:spPr>
          <a:xfrm flipV="1">
            <a:off x="7016294" y="4851621"/>
            <a:ext cx="1620407" cy="103758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11"/>
          <p:cNvCxnSpPr>
            <a:cxnSpLocks/>
          </p:cNvCxnSpPr>
          <p:nvPr/>
        </p:nvCxnSpPr>
        <p:spPr>
          <a:xfrm flipV="1">
            <a:off x="7009844" y="4994738"/>
            <a:ext cx="1626856" cy="42211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11"/>
          <p:cNvCxnSpPr>
            <a:cxnSpLocks/>
          </p:cNvCxnSpPr>
          <p:nvPr/>
        </p:nvCxnSpPr>
        <p:spPr>
          <a:xfrm flipV="1">
            <a:off x="7009844" y="5416848"/>
            <a:ext cx="1626856" cy="42211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143434" y="2751883"/>
            <a:ext cx="2133600" cy="524718"/>
          </a:xfrm>
          <a:prstGeom prst="wedgeRoundRectCallout">
            <a:avLst>
              <a:gd name="adj1" fmla="val 55513"/>
              <a:gd name="adj2" fmla="val 4318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20" name="AutoShape 7"/>
          <p:cNvSpPr>
            <a:spLocks noChangeArrowheads="1"/>
          </p:cNvSpPr>
          <p:nvPr/>
        </p:nvSpPr>
        <p:spPr bwMode="auto">
          <a:xfrm>
            <a:off x="5568600" y="2692265"/>
            <a:ext cx="1923770" cy="524718"/>
          </a:xfrm>
          <a:prstGeom prst="wedgeRoundRectCallout">
            <a:avLst>
              <a:gd name="adj1" fmla="val -56259"/>
              <a:gd name="adj2" fmla="val 3190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28" name="AutoShape 7"/>
          <p:cNvSpPr>
            <a:spLocks noChangeArrowheads="1"/>
          </p:cNvSpPr>
          <p:nvPr/>
        </p:nvSpPr>
        <p:spPr bwMode="auto">
          <a:xfrm>
            <a:off x="8141400" y="2654008"/>
            <a:ext cx="2057400" cy="524718"/>
          </a:xfrm>
          <a:prstGeom prst="wedgeRoundRectCallout">
            <a:avLst>
              <a:gd name="adj1" fmla="val -7732"/>
              <a:gd name="adj2" fmla="val 14008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31" name="AutoShape 7"/>
          <p:cNvSpPr>
            <a:spLocks noChangeArrowheads="1"/>
          </p:cNvSpPr>
          <p:nvPr/>
        </p:nvSpPr>
        <p:spPr bwMode="auto">
          <a:xfrm>
            <a:off x="7826497" y="5886166"/>
            <a:ext cx="2142985" cy="524718"/>
          </a:xfrm>
          <a:prstGeom prst="wedgeRoundRectCallout">
            <a:avLst>
              <a:gd name="adj1" fmla="val -55502"/>
              <a:gd name="adj2" fmla="val -4566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AA2A60E5-21C9-4372-BEA9-68479CDD3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285251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64" grpId="0"/>
      <p:bldP spid="18" grpId="0"/>
      <p:bldP spid="19" grpId="0" animBg="1"/>
      <p:bldP spid="20" grpId="0" animBg="1"/>
      <p:bldP spid="28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Primary Key</a:t>
            </a:r>
          </a:p>
          <a:p>
            <a:pPr>
              <a:spcAft>
                <a:spcPts val="2400"/>
              </a:spcAft>
            </a:pPr>
            <a:endParaRPr lang="en-US" dirty="0"/>
          </a:p>
          <a:p>
            <a:r>
              <a:rPr lang="en-US" dirty="0"/>
              <a:t>Identity (auto-increment)</a:t>
            </a:r>
          </a:p>
          <a:p>
            <a:pPr>
              <a:spcAft>
                <a:spcPts val="2400"/>
              </a:spcAft>
            </a:pPr>
            <a:endParaRPr lang="en-US" dirty="0"/>
          </a:p>
          <a:p>
            <a:r>
              <a:rPr lang="en-US" dirty="0"/>
              <a:t>Unique constraint – no repeating values in entire table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Column Properties</a:t>
            </a:r>
            <a:endParaRPr lang="bg-B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96000" y="1944000"/>
            <a:ext cx="6451396" cy="60939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 INT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NOT NULL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PRIMARY KEY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6000" y="3622661"/>
            <a:ext cx="6451396" cy="60939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 INT PRIMARY KEY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IDENTITY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6000" y="5173776"/>
            <a:ext cx="6451396" cy="60939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Email VARCHAR(50)</a:t>
            </a:r>
            <a:r>
              <a:rPr lang="en-US" sz="3200" b="1" noProof="1">
                <a:solidFill>
                  <a:schemeClr val="accent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UNIQUE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A8B41232-B675-4363-AB5D-A7AED31DF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1516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The </a:t>
            </a:r>
            <a:r>
              <a:rPr lang="en-US" sz="3200" b="1" dirty="0">
                <a:solidFill>
                  <a:schemeClr val="bg1"/>
                </a:solidFill>
              </a:rPr>
              <a:t>foreign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key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/>
              <a:t>is an </a:t>
            </a:r>
            <a:r>
              <a:rPr lang="en-US" sz="3200" b="1" dirty="0">
                <a:solidFill>
                  <a:schemeClr val="bg1"/>
                </a:solidFill>
              </a:rPr>
              <a:t>identifier</a:t>
            </a:r>
            <a:r>
              <a:rPr lang="en-US" sz="3200" dirty="0"/>
              <a:t> of a record located in </a:t>
            </a:r>
            <a:r>
              <a:rPr lang="en-US" sz="3200" b="1" dirty="0">
                <a:solidFill>
                  <a:schemeClr val="bg1"/>
                </a:solidFill>
              </a:rPr>
              <a:t>another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table</a:t>
            </a:r>
            <a:r>
              <a:rPr lang="bg-BG" sz="3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br>
              <a:rPr lang="en-US" sz="32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3200" dirty="0"/>
              <a:t>(usually a primary key)</a:t>
            </a:r>
            <a:endParaRPr lang="bg-BG" sz="3200" dirty="0"/>
          </a:p>
          <a:p>
            <a:r>
              <a:rPr lang="en-US" sz="3200" dirty="0"/>
              <a:t>Using relationships, we </a:t>
            </a:r>
            <a:r>
              <a:rPr lang="en-US" sz="3200" b="1" dirty="0">
                <a:solidFill>
                  <a:schemeClr val="bg1"/>
                </a:solidFill>
              </a:rPr>
              <a:t>refer</a:t>
            </a:r>
            <a:r>
              <a:rPr lang="en-US" sz="3200" dirty="0"/>
              <a:t> to data instead of </a:t>
            </a:r>
            <a:r>
              <a:rPr lang="en-US" sz="3200" b="1" dirty="0">
                <a:solidFill>
                  <a:schemeClr val="bg1"/>
                </a:solidFill>
              </a:rPr>
              <a:t>repeating</a:t>
            </a:r>
            <a:r>
              <a:rPr lang="en-US" sz="3200" dirty="0"/>
              <a:t> data</a:t>
            </a:r>
          </a:p>
          <a:p>
            <a:pPr lvl="1"/>
            <a:r>
              <a:rPr lang="en-US" sz="3000" dirty="0"/>
              <a:t>Country name is </a:t>
            </a:r>
            <a:r>
              <a:rPr lang="en-US" sz="3000" b="1" dirty="0">
                <a:solidFill>
                  <a:schemeClr val="bg1"/>
                </a:solidFill>
              </a:rPr>
              <a:t>not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</a:rPr>
              <a:t>repeated</a:t>
            </a:r>
            <a:r>
              <a:rPr lang="en-US" sz="3000" dirty="0"/>
              <a:t>, it is </a:t>
            </a:r>
            <a:r>
              <a:rPr lang="en-US" sz="3000" b="1" dirty="0">
                <a:solidFill>
                  <a:schemeClr val="bg1"/>
                </a:solidFill>
              </a:rPr>
              <a:t>referred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 to</a:t>
            </a:r>
            <a:r>
              <a:rPr lang="en-US" sz="3000" dirty="0"/>
              <a:t> by its </a:t>
            </a:r>
            <a:r>
              <a:rPr lang="en-US" sz="3000" b="1" dirty="0">
                <a:solidFill>
                  <a:schemeClr val="bg1"/>
                </a:solidFill>
              </a:rPr>
              <a:t>primary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</a:rPr>
              <a:t>key</a:t>
            </a:r>
            <a:endParaRPr lang="bg-BG" sz="3000" b="1" dirty="0">
              <a:solidFill>
                <a:schemeClr val="bg1"/>
              </a:solidFill>
            </a:endParaRPr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Relations: Foreign Key</a:t>
            </a:r>
            <a:endParaRPr lang="bg-BG" dirty="0"/>
          </a:p>
        </p:txBody>
      </p:sp>
      <p:sp>
        <p:nvSpPr>
          <p:cNvPr id="5" name="Text Box 52">
            <a:extLst>
              <a:ext uri="{FF2B5EF4-FFF2-40B4-BE49-F238E27FC236}">
                <a16:creationId xmlns:a16="http://schemas.microsoft.com/office/drawing/2014/main" id="{C6BF23FE-BEEC-4AD5-8BD5-0BA128D00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8401" y="4020314"/>
            <a:ext cx="1614416" cy="4801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sz="2800" b="1" dirty="0">
                <a:latin typeface="+mj-lt"/>
                <a:cs typeface="Consolas" pitchFamily="49" charset="0"/>
              </a:rPr>
              <a:t>Countries</a:t>
            </a:r>
            <a:endParaRPr lang="bg-BG" sz="2800" b="1" dirty="0">
              <a:latin typeface="+mj-lt"/>
              <a:cs typeface="Consolas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8CED8D-F441-4F80-9D98-5DE148412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730936"/>
              </p:ext>
            </p:extLst>
          </p:nvPr>
        </p:nvGraphicFramePr>
        <p:xfrm>
          <a:off x="1396802" y="4114800"/>
          <a:ext cx="4901142" cy="22860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633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r>
                        <a:rPr lang="en-GB" sz="2398" kern="1200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r>
                        <a:rPr lang="en-GB" sz="2398" kern="120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218438" rtl="0" eaLnBrk="1" latinLnBrk="1" hangingPunct="1"/>
                      <a:r>
                        <a:rPr lang="en-GB" sz="2398" kern="1200" dirty="0">
                          <a:solidFill>
                            <a:schemeClr val="tx1"/>
                          </a:solidFill>
                          <a:effectLst/>
                        </a:rPr>
                        <a:t>CountryId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1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Sofia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1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2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Varna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1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3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Munich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2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4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Berlin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8438" rtl="0" eaLnBrk="1" latinLnBrk="1" hangingPunct="1"/>
                      <a:r>
                        <a:rPr lang="en-GB" sz="2398" kern="1200" dirty="0">
                          <a:effectLst/>
                        </a:rPr>
                        <a:t>2</a:t>
                      </a:r>
                      <a:endParaRPr lang="en-GB" sz="2398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B4D945-FDFD-44C0-8712-F8A48E431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52129"/>
              </p:ext>
            </p:extLst>
          </p:nvPr>
        </p:nvGraphicFramePr>
        <p:xfrm>
          <a:off x="8153400" y="4518992"/>
          <a:ext cx="2324418" cy="1371283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95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1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Bulgaria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08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2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effectLst/>
                        </a:rPr>
                        <a:t>Germany</a:t>
                      </a:r>
                      <a:endParaRPr lang="en-GB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" name="Straight Arrow Connector 11">
            <a:extLst>
              <a:ext uri="{FF2B5EF4-FFF2-40B4-BE49-F238E27FC236}">
                <a16:creationId xmlns:a16="http://schemas.microsoft.com/office/drawing/2014/main" id="{206AA7B7-FEB4-4268-A3D4-05F11D92FF77}"/>
              </a:ext>
            </a:extLst>
          </p:cNvPr>
          <p:cNvCxnSpPr>
            <a:cxnSpLocks/>
          </p:cNvCxnSpPr>
          <p:nvPr/>
        </p:nvCxnSpPr>
        <p:spPr>
          <a:xfrm>
            <a:off x="6412244" y="4801598"/>
            <a:ext cx="1626856" cy="266475"/>
          </a:xfrm>
          <a:prstGeom prst="straightConnector1">
            <a:avLst/>
          </a:prstGeom>
          <a:ln w="476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1">
            <a:extLst>
              <a:ext uri="{FF2B5EF4-FFF2-40B4-BE49-F238E27FC236}">
                <a16:creationId xmlns:a16="http://schemas.microsoft.com/office/drawing/2014/main" id="{B1C8035F-78E6-47AA-B94F-0326A4A69FE5}"/>
              </a:ext>
            </a:extLst>
          </p:cNvPr>
          <p:cNvCxnSpPr>
            <a:cxnSpLocks/>
          </p:cNvCxnSpPr>
          <p:nvPr/>
        </p:nvCxnSpPr>
        <p:spPr>
          <a:xfrm flipV="1">
            <a:off x="6405796" y="5209673"/>
            <a:ext cx="1633305" cy="53394"/>
          </a:xfrm>
          <a:prstGeom prst="straightConnector1">
            <a:avLst/>
          </a:prstGeom>
          <a:ln w="476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1">
            <a:extLst>
              <a:ext uri="{FF2B5EF4-FFF2-40B4-BE49-F238E27FC236}">
                <a16:creationId xmlns:a16="http://schemas.microsoft.com/office/drawing/2014/main" id="{CDAF088D-BD0E-4906-B672-82D662E97AFA}"/>
              </a:ext>
            </a:extLst>
          </p:cNvPr>
          <p:cNvCxnSpPr>
            <a:cxnSpLocks/>
          </p:cNvCxnSpPr>
          <p:nvPr/>
        </p:nvCxnSpPr>
        <p:spPr>
          <a:xfrm flipV="1">
            <a:off x="6418694" y="5626613"/>
            <a:ext cx="1620407" cy="103758"/>
          </a:xfrm>
          <a:prstGeom prst="straightConnector1">
            <a:avLst/>
          </a:prstGeom>
          <a:ln w="476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1">
            <a:extLst>
              <a:ext uri="{FF2B5EF4-FFF2-40B4-BE49-F238E27FC236}">
                <a16:creationId xmlns:a16="http://schemas.microsoft.com/office/drawing/2014/main" id="{27BCD2E8-75F6-4234-ADA0-0674AEE82408}"/>
              </a:ext>
            </a:extLst>
          </p:cNvPr>
          <p:cNvCxnSpPr>
            <a:cxnSpLocks/>
          </p:cNvCxnSpPr>
          <p:nvPr/>
        </p:nvCxnSpPr>
        <p:spPr>
          <a:xfrm flipV="1">
            <a:off x="6412244" y="5769730"/>
            <a:ext cx="1626856" cy="422110"/>
          </a:xfrm>
          <a:prstGeom prst="straightConnector1">
            <a:avLst/>
          </a:prstGeom>
          <a:ln w="476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32AF077-C6F6-4A67-9D7C-B12BA44144AB}"/>
              </a:ext>
            </a:extLst>
          </p:cNvPr>
          <p:cNvSpPr txBox="1"/>
          <p:nvPr/>
        </p:nvSpPr>
        <p:spPr>
          <a:xfrm>
            <a:off x="3036000" y="3591580"/>
            <a:ext cx="11259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Towns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A81FB395-E042-439F-B3A8-1D88B945EA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6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One-to-many</a:t>
            </a:r>
            <a:r>
              <a:rPr lang="bg-BG" dirty="0"/>
              <a:t> – </a:t>
            </a:r>
            <a:r>
              <a:rPr lang="en-US" dirty="0"/>
              <a:t>e.g. country</a:t>
            </a:r>
            <a:r>
              <a:rPr lang="bg-BG" dirty="0"/>
              <a:t> / </a:t>
            </a:r>
            <a:r>
              <a:rPr lang="en-US" dirty="0"/>
              <a:t>towns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200" dirty="0"/>
              <a:t>One country has many towns</a:t>
            </a:r>
            <a:endParaRPr lang="bg-BG" sz="3200" dirty="0"/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Many-to-many</a:t>
            </a:r>
            <a:r>
              <a:rPr lang="bg-BG" dirty="0"/>
              <a:t> – </a:t>
            </a:r>
            <a:r>
              <a:rPr lang="en-US" dirty="0"/>
              <a:t>e.g. student</a:t>
            </a:r>
            <a:r>
              <a:rPr lang="bg-BG" dirty="0"/>
              <a:t> / </a:t>
            </a:r>
            <a:r>
              <a:rPr lang="en-US" dirty="0"/>
              <a:t>course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200" dirty="0"/>
              <a:t>One student has many courses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200" dirty="0"/>
              <a:t>One course has many students</a:t>
            </a:r>
          </a:p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One-to-one</a:t>
            </a:r>
            <a:r>
              <a:rPr lang="en-US" dirty="0"/>
              <a:t> – e.g. example</a:t>
            </a:r>
            <a:r>
              <a:rPr lang="bg-BG" dirty="0"/>
              <a:t> </a:t>
            </a:r>
            <a:r>
              <a:rPr lang="en-US" dirty="0"/>
              <a:t>driver</a:t>
            </a:r>
            <a:r>
              <a:rPr lang="bg-BG" dirty="0"/>
              <a:t> / </a:t>
            </a:r>
            <a:r>
              <a:rPr lang="en-US" dirty="0"/>
              <a:t>car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200" dirty="0"/>
              <a:t>One driver has only one car</a:t>
            </a:r>
          </a:p>
          <a:p>
            <a:pPr lvl="1">
              <a:lnSpc>
                <a:spcPct val="100000"/>
              </a:lnSpc>
              <a:buClr>
                <a:schemeClr val="tx1"/>
              </a:buClr>
            </a:pPr>
            <a:r>
              <a:rPr lang="en-US" sz="3200" dirty="0"/>
              <a:t>Rarely used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ABE594-9459-46F3-8F2F-E2E8C6E4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Relations: Multiplicity</a:t>
            </a:r>
          </a:p>
        </p:txBody>
      </p:sp>
      <p:pic>
        <p:nvPicPr>
          <p:cNvPr id="3076" name="Picture 4" descr="Ð ÐµÐ·ÑÐ»ÑÐ°Ñ Ñ Ð¸Ð·Ð¾Ð±ÑÐ°Ð¶ÐµÐ½Ð¸Ðµ Ð·Ð° relation png">
            <a:extLst>
              <a:ext uri="{FF2B5EF4-FFF2-40B4-BE49-F238E27FC236}">
                <a16:creationId xmlns:a16="http://schemas.microsoft.com/office/drawing/2014/main" id="{C8EA0605-84C4-42E0-8B32-CBEE03AFCB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2" t="5656" r="6737" b="3376"/>
          <a:stretch/>
        </p:blipFill>
        <p:spPr bwMode="auto">
          <a:xfrm>
            <a:off x="7903500" y="1449000"/>
            <a:ext cx="4005000" cy="41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08D6AE66-2D96-4A15-97C3-372F9DAFF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6966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 / Many-to-One</a:t>
            </a:r>
            <a:endParaRPr lang="bg-BG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255823"/>
              </p:ext>
            </p:extLst>
          </p:nvPr>
        </p:nvGraphicFramePr>
        <p:xfrm>
          <a:off x="1165026" y="3207122"/>
          <a:ext cx="3102174" cy="914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70888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1331286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MountainID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5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Rila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873775" y="2755736"/>
            <a:ext cx="1795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Mountains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355525"/>
              </p:ext>
            </p:extLst>
          </p:nvPr>
        </p:nvGraphicFramePr>
        <p:xfrm>
          <a:off x="6310745" y="3107377"/>
          <a:ext cx="4599710" cy="1371283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132078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1595628">
                  <a:extLst>
                    <a:ext uri="{9D8B030D-6E8A-4147-A177-3AD203B41FA5}">
                      <a16:colId xmlns:a16="http://schemas.microsoft.com/office/drawing/2014/main" val="3536145012"/>
                    </a:ext>
                  </a:extLst>
                </a:gridCol>
                <a:gridCol w="187200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PeakID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MountainID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61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Musala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5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66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Malyovitsa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5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23939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089816" y="2647794"/>
            <a:ext cx="104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Peaks</a:t>
            </a:r>
          </a:p>
        </p:txBody>
      </p:sp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407260" y="2264642"/>
            <a:ext cx="1999970" cy="524718"/>
          </a:xfrm>
          <a:prstGeom prst="wedgeRoundRectCallout">
            <a:avLst>
              <a:gd name="adj1" fmla="val -15552"/>
              <a:gd name="adj2" fmla="val 9260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20" name="AutoShape 7"/>
          <p:cNvSpPr>
            <a:spLocks noChangeArrowheads="1"/>
          </p:cNvSpPr>
          <p:nvPr/>
        </p:nvSpPr>
        <p:spPr bwMode="auto">
          <a:xfrm>
            <a:off x="4521000" y="2427491"/>
            <a:ext cx="2089792" cy="524718"/>
          </a:xfrm>
          <a:prstGeom prst="wedgeRoundRectCallout">
            <a:avLst>
              <a:gd name="adj1" fmla="val 60311"/>
              <a:gd name="adj2" fmla="val 3378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10014527" y="2432204"/>
            <a:ext cx="1923770" cy="524718"/>
          </a:xfrm>
          <a:prstGeom prst="wedgeRoundRectCallout">
            <a:avLst>
              <a:gd name="adj1" fmla="val -58427"/>
              <a:gd name="adj2" fmla="val 3752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grpSp>
        <p:nvGrpSpPr>
          <p:cNvPr id="8" name="Групиране 7"/>
          <p:cNvGrpSpPr/>
          <p:nvPr/>
        </p:nvGrpSpPr>
        <p:grpSpPr>
          <a:xfrm>
            <a:off x="1873776" y="4121522"/>
            <a:ext cx="8108424" cy="1633209"/>
            <a:chOff x="1338788" y="4121521"/>
            <a:chExt cx="7498824" cy="1633209"/>
          </a:xfrm>
        </p:grpSpPr>
        <p:cxnSp>
          <p:nvCxnSpPr>
            <p:cNvPr id="14" name="Съединител: с чупка 13"/>
            <p:cNvCxnSpPr>
              <a:cxnSpLocks/>
            </p:cNvCxnSpPr>
            <p:nvPr/>
          </p:nvCxnSpPr>
          <p:spPr>
            <a:xfrm rot="16200000" flipH="1">
              <a:off x="4892441" y="567868"/>
              <a:ext cx="391518" cy="7498824"/>
            </a:xfrm>
            <a:prstGeom prst="bentConnector3">
              <a:avLst>
                <a:gd name="adj1" fmla="val 448315"/>
              </a:avLst>
            </a:prstGeom>
            <a:ln w="635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Текстово поле 21"/>
            <p:cNvSpPr txBox="1"/>
            <p:nvPr/>
          </p:nvSpPr>
          <p:spPr>
            <a:xfrm>
              <a:off x="4173799" y="5231510"/>
              <a:ext cx="1828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Relation</a:t>
              </a:r>
            </a:p>
          </p:txBody>
        </p:sp>
      </p:grpSp>
      <p:sp>
        <p:nvSpPr>
          <p:cNvPr id="15" name="Slide Number">
            <a:extLst>
              <a:ext uri="{FF2B5EF4-FFF2-40B4-BE49-F238E27FC236}">
                <a16:creationId xmlns:a16="http://schemas.microsoft.com/office/drawing/2014/main" id="{B9BE1DF4-C6C9-40B0-9FE0-56E7CA8CDA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733280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85900" y="1203453"/>
            <a:ext cx="9220200" cy="551802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Mountains(</a:t>
            </a:r>
          </a:p>
          <a:p>
            <a:pPr>
              <a:lnSpc>
                <a:spcPct val="95000"/>
              </a:lnSpc>
            </a:pPr>
            <a: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MountainID INT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PRIMARY KEY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95000"/>
              </a:lnSpc>
            </a:pPr>
            <a: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MountainName VARCHAR(50)</a:t>
            </a:r>
          </a:p>
          <a:p>
            <a:pPr>
              <a:lnSpc>
                <a:spcPct val="95000"/>
              </a:lnSpc>
              <a:spcAft>
                <a:spcPts val="1200"/>
              </a:spcAft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9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Peaks(</a:t>
            </a:r>
          </a:p>
          <a:p>
            <a:pPr>
              <a:lnSpc>
                <a:spcPct val="95000"/>
              </a:lnSpc>
            </a:pPr>
            <a: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PeakId INT PRIMARY KEY,</a:t>
            </a:r>
          </a:p>
          <a:p>
            <a:pPr>
              <a:lnSpc>
                <a:spcPct val="95000"/>
              </a:lnSpc>
            </a:pPr>
            <a: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MountainID INT,</a:t>
            </a:r>
          </a:p>
          <a:p>
            <a:pPr>
              <a:lnSpc>
                <a:spcPct val="95000"/>
              </a:lnSpc>
            </a:pP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CONSTRAINT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FK_Peaks_Mountains </a:t>
            </a:r>
            <a:endParaRPr lang="bg-BG" sz="32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KEY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(MountainID) </a:t>
            </a:r>
            <a:br>
              <a:rPr lang="bg-BG" sz="32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REFERENCES Mountains(MountainID)</a:t>
            </a:r>
            <a:b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  <a:endParaRPr lang="en-US" sz="32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One-to-Many: Tables</a:t>
            </a:r>
            <a:endParaRPr lang="bg-BG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202106" y="1411293"/>
            <a:ext cx="2018306" cy="480211"/>
          </a:xfrm>
          <a:prstGeom prst="wedgeRoundRectCallout">
            <a:avLst>
              <a:gd name="adj1" fmla="val -58001"/>
              <a:gd name="adj2" fmla="val 4357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8526000" y="5082052"/>
            <a:ext cx="2229557" cy="559968"/>
          </a:xfrm>
          <a:prstGeom prst="wedgeRoundRectCallout">
            <a:avLst>
              <a:gd name="adj1" fmla="val -69889"/>
              <a:gd name="adj2" fmla="val 3496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CF84808-80DD-4E46-9082-03703F960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7890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table holding the </a:t>
            </a:r>
            <a:r>
              <a:rPr lang="en-US" b="1" dirty="0">
                <a:solidFill>
                  <a:schemeClr val="bg1"/>
                </a:solidFill>
              </a:rPr>
              <a:t>foreign key </a:t>
            </a:r>
            <a:r>
              <a:rPr lang="en-US" dirty="0"/>
              <a:t>is the </a:t>
            </a:r>
            <a:r>
              <a:rPr lang="en-US" b="1" dirty="0">
                <a:solidFill>
                  <a:schemeClr val="bg1"/>
                </a:solidFill>
              </a:rPr>
              <a:t>child table</a:t>
            </a:r>
          </a:p>
          <a:p>
            <a:r>
              <a:rPr lang="en-US" dirty="0"/>
              <a:t>The table holding the </a:t>
            </a:r>
            <a:r>
              <a:rPr lang="en-US" b="1" dirty="0">
                <a:solidFill>
                  <a:schemeClr val="bg1"/>
                </a:solidFill>
              </a:rPr>
              <a:t>referenced primary key </a:t>
            </a:r>
            <a:r>
              <a:rPr lang="en-US" dirty="0"/>
              <a:t>is the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parent / referenced table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One-to-Many: Foreign Key</a:t>
            </a:r>
            <a:endParaRPr lang="bg-BG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381224" y="3688405"/>
            <a:ext cx="9286776" cy="188010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  <a:t>CONSTRAINT FK_Peaks_Mountains </a:t>
            </a:r>
            <a:b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600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</a:t>
            </a:r>
            <a:r>
              <a:rPr lang="en-US" sz="36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600" b="1" noProof="1">
                <a:solidFill>
                  <a:schemeClr val="bg1"/>
                </a:solidFill>
                <a:latin typeface="Consolas" panose="020B0609020204030204" pitchFamily="49" charset="0"/>
              </a:rPr>
              <a:t>KEY</a:t>
            </a:r>
            <a:r>
              <a:rPr lang="en-US" sz="36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  <a:t>(MountainID) </a:t>
            </a:r>
            <a:b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  <a:t>REFERENCES Mountains(MountainID)</a:t>
            </a:r>
            <a:endParaRPr lang="en-US" sz="36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6123709" y="2960291"/>
            <a:ext cx="2743200" cy="649005"/>
          </a:xfrm>
          <a:prstGeom prst="wedgeRoundRectCallout">
            <a:avLst>
              <a:gd name="adj1" fmla="val -54721"/>
              <a:gd name="adj2" fmla="val 4060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Constraint Name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7975314" y="5520803"/>
            <a:ext cx="2229557" cy="609600"/>
          </a:xfrm>
          <a:prstGeom prst="wedgeRoundRectCallout">
            <a:avLst>
              <a:gd name="adj1" fmla="val -58512"/>
              <a:gd name="adj2" fmla="val -3517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2811000" y="5520803"/>
            <a:ext cx="2128703" cy="609600"/>
          </a:xfrm>
          <a:prstGeom prst="wedgeRoundRectCallout">
            <a:avLst>
              <a:gd name="adj1" fmla="val 55978"/>
              <a:gd name="adj2" fmla="val -4030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Parent</a:t>
            </a:r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Table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8519989" y="4349213"/>
            <a:ext cx="2148011" cy="558485"/>
          </a:xfrm>
          <a:prstGeom prst="wedgeRoundRectCallout">
            <a:avLst>
              <a:gd name="adj1" fmla="val -62283"/>
              <a:gd name="adj2" fmla="val 1292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9E3EA8BE-E3BB-4B1F-8960-2B15DA860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801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12" grpId="0" animBg="1"/>
      <p:bldP spid="11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Many-to-many relations </a:t>
            </a:r>
            <a:r>
              <a:rPr lang="en-US" dirty="0"/>
              <a:t>use a </a:t>
            </a:r>
            <a:r>
              <a:rPr lang="en-US" b="1" dirty="0">
                <a:solidFill>
                  <a:schemeClr val="bg1"/>
                </a:solidFill>
              </a:rPr>
              <a:t>mapping / join table</a:t>
            </a:r>
          </a:p>
          <a:p>
            <a:endParaRPr lang="bg-BG" dirty="0"/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Many-to-Many</a:t>
            </a:r>
            <a:endParaRPr lang="bg-BG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873358"/>
              </p:ext>
            </p:extLst>
          </p:nvPr>
        </p:nvGraphicFramePr>
        <p:xfrm>
          <a:off x="838201" y="2838043"/>
          <a:ext cx="4191000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0481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486186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15658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061775"/>
              </p:ext>
            </p:extLst>
          </p:nvPr>
        </p:nvGraphicFramePr>
        <p:xfrm>
          <a:off x="7467601" y="2838043"/>
          <a:ext cx="3438271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41897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ProjectID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ProjectName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887092" y="2363712"/>
            <a:ext cx="17927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5457" y="2354946"/>
            <a:ext cx="1382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Projects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461750"/>
              </p:ext>
            </p:extLst>
          </p:nvPr>
        </p:nvGraphicFramePr>
        <p:xfrm>
          <a:off x="4038600" y="4699459"/>
          <a:ext cx="3352800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977292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137550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ProjectID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1565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6907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166167" y="4160754"/>
            <a:ext cx="29906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1"/>
              <a:t>EmployeesProjects</a:t>
            </a:r>
          </a:p>
        </p:txBody>
      </p:sp>
      <p:cxnSp>
        <p:nvCxnSpPr>
          <p:cNvPr id="22" name="Straight Arrow Connector 21"/>
          <p:cNvCxnSpPr>
            <a:cxnSpLocks/>
            <a:stCxn id="2" idx="1"/>
          </p:cNvCxnSpPr>
          <p:nvPr/>
        </p:nvCxnSpPr>
        <p:spPr>
          <a:xfrm rot="10800000" flipH="1" flipV="1">
            <a:off x="838201" y="3523843"/>
            <a:ext cx="3093360" cy="2322844"/>
          </a:xfrm>
          <a:prstGeom prst="bentConnector3">
            <a:avLst>
              <a:gd name="adj1" fmla="val -7390"/>
            </a:avLst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 rot="5400000" flipH="1" flipV="1">
            <a:off x="6991979" y="4609064"/>
            <a:ext cx="1637044" cy="838202"/>
          </a:xfrm>
          <a:prstGeom prst="bentConnector3">
            <a:avLst>
              <a:gd name="adj1" fmla="val 85"/>
            </a:avLst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utoShape 7"/>
          <p:cNvSpPr>
            <a:spLocks noChangeArrowheads="1"/>
          </p:cNvSpPr>
          <p:nvPr/>
        </p:nvSpPr>
        <p:spPr bwMode="auto">
          <a:xfrm>
            <a:off x="410050" y="1868525"/>
            <a:ext cx="2152370" cy="524718"/>
          </a:xfrm>
          <a:prstGeom prst="wedgeRoundRectCallout">
            <a:avLst>
              <a:gd name="adj1" fmla="val -11362"/>
              <a:gd name="adj2" fmla="val 8833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24" name="AutoShape 7"/>
          <p:cNvSpPr>
            <a:spLocks noChangeArrowheads="1"/>
          </p:cNvSpPr>
          <p:nvPr/>
        </p:nvSpPr>
        <p:spPr bwMode="auto">
          <a:xfrm>
            <a:off x="5961000" y="2230307"/>
            <a:ext cx="2133600" cy="524718"/>
          </a:xfrm>
          <a:prstGeom prst="wedgeRoundRectCallout">
            <a:avLst>
              <a:gd name="adj1" fmla="val 57955"/>
              <a:gd name="adj2" fmla="val 3275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29" name="AutoShape 7"/>
          <p:cNvSpPr>
            <a:spLocks noChangeArrowheads="1"/>
          </p:cNvSpPr>
          <p:nvPr/>
        </p:nvSpPr>
        <p:spPr bwMode="auto">
          <a:xfrm>
            <a:off x="1551000" y="5089141"/>
            <a:ext cx="2190029" cy="524718"/>
          </a:xfrm>
          <a:prstGeom prst="wedgeRoundRectCallout">
            <a:avLst>
              <a:gd name="adj1" fmla="val 56639"/>
              <a:gd name="adj2" fmla="val 3780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Mapping table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BBB6663F-6987-450C-A6BF-E115727D8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793053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 animBg="1"/>
      <p:bldP spid="24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580355" y="1539000"/>
            <a:ext cx="7031290" cy="476759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Employees(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EmployeeID INT PRIMARY KEY,</a:t>
            </a:r>
            <a:b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EmployeeName VARCHAR(50)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32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Projects(</a:t>
            </a:r>
            <a:b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ProjectID INT PRIMARY KEY,</a:t>
            </a:r>
            <a:b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ProjectName VARCHAR(50)</a:t>
            </a:r>
          </a:p>
          <a:p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Many-to-Many: Tables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A2DBCFCD-49C4-4C03-A760-43DFFCF6C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530251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371000" y="1269000"/>
            <a:ext cx="9269971" cy="536105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EmployeesProjects(</a:t>
            </a:r>
            <a:b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EmployeeID INT,</a:t>
            </a:r>
            <a:b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ProjectID INT,</a:t>
            </a:r>
          </a:p>
          <a:p>
            <a:pPr>
              <a:lnSpc>
                <a:spcPct val="95000"/>
              </a:lnSpc>
            </a:pPr>
            <a:r>
              <a:rPr lang="bg-BG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CONSTRAINT PK_EmployeesProjects</a:t>
            </a:r>
            <a:endParaRPr lang="bg-BG" sz="28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bg-BG" sz="28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PRIMARY KEY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(EmployeeID, ProjectID),</a:t>
            </a:r>
          </a:p>
          <a:p>
            <a:pPr>
              <a:lnSpc>
                <a:spcPct val="95000"/>
              </a:lnSpc>
            </a:pPr>
            <a:r>
              <a:rPr lang="bg-BG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CONSTRAINT FK_EmployeesProjects_Employees</a:t>
            </a:r>
            <a:endParaRPr lang="bg-BG" sz="28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bg-BG" sz="28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 KEY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(EmployeeID)</a:t>
            </a:r>
            <a:endParaRPr lang="bg-BG" sz="28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lang="bg-BG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REFERENCES Employees(EmployeeID),</a:t>
            </a:r>
          </a:p>
          <a:p>
            <a:pPr>
              <a:lnSpc>
                <a:spcPct val="95000"/>
              </a:lnSpc>
            </a:pPr>
            <a:r>
              <a:rPr lang="bg-BG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CONSTRAINT FK_EmployeesProjects_Projects</a:t>
            </a:r>
            <a:endParaRPr lang="bg-BG" sz="28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bg-BG" sz="28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 KEY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(ProjectID)</a:t>
            </a:r>
            <a:endParaRPr lang="bg-BG" sz="28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95000"/>
              </a:lnSpc>
            </a:pPr>
            <a:r>
              <a:rPr lang="bg-BG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REFERENCES Projects(ProjectID)</a:t>
            </a:r>
          </a:p>
          <a:p>
            <a:pPr>
              <a:lnSpc>
                <a:spcPct val="9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Many-to-Many: Mapping Table</a:t>
            </a:r>
            <a:endParaRPr lang="bg-BG" dirty="0"/>
          </a:p>
        </p:txBody>
      </p:sp>
      <p:sp>
        <p:nvSpPr>
          <p:cNvPr id="17" name="Rectangle: Rounded Corners 14"/>
          <p:cNvSpPr/>
          <p:nvPr/>
        </p:nvSpPr>
        <p:spPr>
          <a:xfrm>
            <a:off x="1818575" y="2657230"/>
            <a:ext cx="8153400" cy="829165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8807487" y="2243840"/>
            <a:ext cx="2167982" cy="875489"/>
          </a:xfrm>
          <a:prstGeom prst="wedgeRoundRectCallout">
            <a:avLst>
              <a:gd name="adj1" fmla="val -57289"/>
              <a:gd name="adj2" fmla="val 3036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Composite Primary Key</a:t>
            </a:r>
          </a:p>
        </p:txBody>
      </p:sp>
      <p:sp>
        <p:nvSpPr>
          <p:cNvPr id="18" name="Rectangle: Rounded Corners 14"/>
          <p:cNvSpPr/>
          <p:nvPr/>
        </p:nvSpPr>
        <p:spPr>
          <a:xfrm>
            <a:off x="1818576" y="3571198"/>
            <a:ext cx="8271643" cy="1196502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9" name="Rectangle: Rounded Corners 14"/>
          <p:cNvSpPr/>
          <p:nvPr/>
        </p:nvSpPr>
        <p:spPr>
          <a:xfrm>
            <a:off x="1818576" y="4855250"/>
            <a:ext cx="8271643" cy="1235412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8403184" y="5379288"/>
            <a:ext cx="2405036" cy="787142"/>
          </a:xfrm>
          <a:prstGeom prst="wedgeRoundRectCallout">
            <a:avLst>
              <a:gd name="adj1" fmla="val -56993"/>
              <a:gd name="adj2" fmla="val -4206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 to Projects</a:t>
            </a:r>
          </a:p>
        </p:txBody>
      </p:sp>
      <p:sp>
        <p:nvSpPr>
          <p:cNvPr id="15" name="AutoShape 7"/>
          <p:cNvSpPr>
            <a:spLocks noChangeArrowheads="1"/>
          </p:cNvSpPr>
          <p:nvPr/>
        </p:nvSpPr>
        <p:spPr bwMode="auto">
          <a:xfrm>
            <a:off x="8873139" y="3912946"/>
            <a:ext cx="2234561" cy="901812"/>
          </a:xfrm>
          <a:prstGeom prst="wedgeRoundRectCallout">
            <a:avLst>
              <a:gd name="adj1" fmla="val -69843"/>
              <a:gd name="adj2" fmla="val -4583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 to Employees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ED8BF99C-7895-4746-B3EB-1491FC92B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26000" y="6624879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96642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6" grpId="0" animBg="1"/>
      <p:bldP spid="16" grpId="1" animBg="1"/>
      <p:bldP spid="18" grpId="0" animBg="1"/>
      <p:bldP spid="18" grpId="1" animBg="1"/>
      <p:bldP spid="19" grpId="0" animBg="1"/>
      <p:bldP spid="19" grpId="1" animBg="1"/>
      <p:bldP spid="12" grpId="0" animBg="1"/>
      <p:bldP spid="12" grpId="1" animBg="1"/>
      <p:bldP spid="15" grpId="0" animBg="1"/>
      <p:bldP spid="1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</a:t>
            </a:r>
            <a:endParaRPr lang="bg-BG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541093"/>
              </p:ext>
            </p:extLst>
          </p:nvPr>
        </p:nvGraphicFramePr>
        <p:xfrm>
          <a:off x="762000" y="3110960"/>
          <a:ext cx="3503342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5167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1751671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</a:rPr>
                        <a:t>CarID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</a:rPr>
                        <a:t>DriverID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1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166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2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102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808186"/>
              </p:ext>
            </p:extLst>
          </p:nvPr>
        </p:nvGraphicFramePr>
        <p:xfrm>
          <a:off x="7391400" y="3110960"/>
          <a:ext cx="4038600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</a:rPr>
                        <a:t>DriverID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</a:rPr>
                        <a:t>DriverName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166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..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102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…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03719" y="2652867"/>
            <a:ext cx="819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6916" y="2652867"/>
            <a:ext cx="1241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Drivers</a:t>
            </a:r>
          </a:p>
        </p:txBody>
      </p:sp>
      <p:sp>
        <p:nvSpPr>
          <p:cNvPr id="30" name="AutoShape 7"/>
          <p:cNvSpPr>
            <a:spLocks noChangeArrowheads="1"/>
          </p:cNvSpPr>
          <p:nvPr/>
        </p:nvSpPr>
        <p:spPr bwMode="auto">
          <a:xfrm>
            <a:off x="267684" y="2139282"/>
            <a:ext cx="1923770" cy="524718"/>
          </a:xfrm>
          <a:prstGeom prst="wedgeRoundRectCallout">
            <a:avLst>
              <a:gd name="adj1" fmla="val -13371"/>
              <a:gd name="adj2" fmla="val 10492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31" name="AutoShape 7"/>
          <p:cNvSpPr>
            <a:spLocks noChangeArrowheads="1"/>
          </p:cNvSpPr>
          <p:nvPr/>
        </p:nvSpPr>
        <p:spPr bwMode="auto">
          <a:xfrm>
            <a:off x="3390255" y="2467447"/>
            <a:ext cx="1923770" cy="524718"/>
          </a:xfrm>
          <a:prstGeom prst="wedgeRoundRectCallout">
            <a:avLst>
              <a:gd name="adj1" fmla="val -58718"/>
              <a:gd name="adj2" fmla="val 3718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32" name="AutoShape 7"/>
          <p:cNvSpPr>
            <a:spLocks noChangeArrowheads="1"/>
          </p:cNvSpPr>
          <p:nvPr/>
        </p:nvSpPr>
        <p:spPr bwMode="auto">
          <a:xfrm>
            <a:off x="6195388" y="2467447"/>
            <a:ext cx="1923770" cy="524718"/>
          </a:xfrm>
          <a:prstGeom prst="wedgeRoundRectCallout">
            <a:avLst>
              <a:gd name="adj1" fmla="val 59103"/>
              <a:gd name="adj2" fmla="val 3773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grpSp>
        <p:nvGrpSpPr>
          <p:cNvPr id="465920" name="Групиране 465919"/>
          <p:cNvGrpSpPr/>
          <p:nvPr/>
        </p:nvGrpSpPr>
        <p:grpSpPr>
          <a:xfrm>
            <a:off x="2824327" y="4476210"/>
            <a:ext cx="5034831" cy="1533410"/>
            <a:chOff x="2822738" y="4476210"/>
            <a:chExt cx="5034831" cy="1533410"/>
          </a:xfrm>
        </p:grpSpPr>
        <p:cxnSp>
          <p:nvCxnSpPr>
            <p:cNvPr id="23" name="Съединител: с чупка 22"/>
            <p:cNvCxnSpPr>
              <a:cxnSpLocks/>
            </p:cNvCxnSpPr>
            <p:nvPr/>
          </p:nvCxnSpPr>
          <p:spPr>
            <a:xfrm rot="16200000" flipH="1">
              <a:off x="5333804" y="1965144"/>
              <a:ext cx="12700" cy="5034831"/>
            </a:xfrm>
            <a:prstGeom prst="bentConnector3">
              <a:avLst>
                <a:gd name="adj1" fmla="val 13096551"/>
              </a:avLst>
            </a:prstGeom>
            <a:ln w="635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Текстово поле 28"/>
            <p:cNvSpPr txBox="1"/>
            <p:nvPr/>
          </p:nvSpPr>
          <p:spPr>
            <a:xfrm>
              <a:off x="4418012" y="5486400"/>
              <a:ext cx="1828800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Relation</a:t>
              </a:r>
            </a:p>
          </p:txBody>
        </p:sp>
      </p:grpSp>
      <p:sp>
        <p:nvSpPr>
          <p:cNvPr id="15" name="Slide Number">
            <a:extLst>
              <a:ext uri="{FF2B5EF4-FFF2-40B4-BE49-F238E27FC236}">
                <a16:creationId xmlns:a16="http://schemas.microsoft.com/office/drawing/2014/main" id="{212D9D2E-8756-4A40-A4C7-850B6116B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43199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5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49757" y="1493650"/>
            <a:ext cx="9667776" cy="495786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Drivers(</a:t>
            </a:r>
          </a:p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DriverID INT PRIMARY KEY,</a:t>
            </a:r>
          </a:p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DriverName VARCHAR(50)</a:t>
            </a:r>
          </a:p>
          <a:p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sz="2800" b="1" noProof="1">
                <a:latin typeface="Consolas" panose="020B0609020204030204" pitchFamily="49" charset="0"/>
              </a:rPr>
              <a:t>CREATE TABLE Cars(</a:t>
            </a:r>
          </a:p>
          <a:p>
            <a:r>
              <a:rPr lang="en-US" sz="2800" b="1" noProof="1">
                <a:latin typeface="Consolas" panose="020B0609020204030204" pitchFamily="49" charset="0"/>
              </a:rPr>
              <a:t>  CarID INT PRIMARY KEY,</a:t>
            </a:r>
          </a:p>
          <a:p>
            <a:r>
              <a:rPr lang="en-US" sz="2800" b="1" noProof="1">
                <a:latin typeface="Consolas" panose="020B0609020204030204" pitchFamily="49" charset="0"/>
              </a:rPr>
              <a:t>  DriverID INT UNIQUE,</a:t>
            </a:r>
          </a:p>
          <a:p>
            <a:r>
              <a:rPr lang="en-US" sz="2800" b="1" noProof="1">
                <a:latin typeface="Consolas" panose="020B0609020204030204" pitchFamily="49" charset="0"/>
              </a:rPr>
              <a:t>  CONSTRAINT FK_Cars_Drivers FOREIGN</a:t>
            </a:r>
            <a:r>
              <a:rPr lang="bg-BG" sz="2800" b="1" noProof="1">
                <a:latin typeface="Consolas" panose="020B0609020204030204" pitchFamily="49" charset="0"/>
              </a:rPr>
              <a:t> </a:t>
            </a:r>
            <a:r>
              <a:rPr lang="en-US" sz="2800" b="1" noProof="1">
                <a:latin typeface="Consolas" panose="020B0609020204030204" pitchFamily="49" charset="0"/>
              </a:rPr>
              <a:t>KEY</a:t>
            </a:r>
            <a:br>
              <a:rPr lang="bg-BG" sz="2800" b="1" noProof="1">
                <a:latin typeface="Consolas" panose="020B0609020204030204" pitchFamily="49" charset="0"/>
              </a:rPr>
            </a:br>
            <a:r>
              <a:rPr lang="en-US" sz="2800" b="1" noProof="1">
                <a:latin typeface="Consolas" panose="020B0609020204030204" pitchFamily="49" charset="0"/>
              </a:rPr>
              <a:t>  (DriverID) REFERENCES Drivers(DriverID)</a:t>
            </a:r>
          </a:p>
          <a:p>
            <a:r>
              <a:rPr lang="en-US" sz="2800" b="1" noProof="1">
                <a:latin typeface="Consolas" panose="020B0609020204030204" pitchFamily="49" charset="0"/>
              </a:rPr>
              <a:t>)</a:t>
            </a:r>
            <a:endParaRPr lang="en-US" sz="2800" noProof="1"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</a:t>
            </a:r>
            <a:endParaRPr lang="bg-BG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5691000" y="1449000"/>
            <a:ext cx="2075831" cy="558487"/>
          </a:xfrm>
          <a:prstGeom prst="wedgeRoundRectCallout">
            <a:avLst>
              <a:gd name="adj1" fmla="val -57390"/>
              <a:gd name="adj2" fmla="val 4402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8791221" y="4439880"/>
            <a:ext cx="2229557" cy="559968"/>
          </a:xfrm>
          <a:prstGeom prst="wedgeRoundRectCallout">
            <a:avLst>
              <a:gd name="adj1" fmla="val -58730"/>
              <a:gd name="adj2" fmla="val 4271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096000" y="3972584"/>
            <a:ext cx="1928984" cy="977247"/>
          </a:xfrm>
          <a:prstGeom prst="wedgeRoundRectCallout">
            <a:avLst>
              <a:gd name="adj1" fmla="val -62695"/>
              <a:gd name="adj2" fmla="val 3313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driver</a:t>
            </a:r>
          </a:p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 car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3CD8551F-5942-46EE-AD69-2456645C6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43547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381224" y="2658203"/>
            <a:ext cx="9362976" cy="188010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  <a:t>CONSTRAINT FK_Cars_Drivers </a:t>
            </a:r>
            <a:b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600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 KEY </a:t>
            </a:r>
            <a: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  <a:t>(DriverID) </a:t>
            </a:r>
            <a:b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600" b="1" noProof="1">
                <a:solidFill>
                  <a:schemeClr val="tx2"/>
                </a:solidFill>
                <a:latin typeface="Consolas" panose="020B0609020204030204" pitchFamily="49" charset="0"/>
              </a:rPr>
              <a:t>REFERENCES Drivers(DriverID)</a:t>
            </a:r>
            <a:endParaRPr lang="en-US" sz="36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One-to-One: Foreign Key</a:t>
            </a:r>
            <a:endParaRPr lang="bg-BG" dirty="0"/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7221000" y="4538306"/>
            <a:ext cx="1997078" cy="566733"/>
          </a:xfrm>
          <a:prstGeom prst="wedgeRoundRectCallout">
            <a:avLst>
              <a:gd name="adj1" fmla="val -53736"/>
              <a:gd name="adj2" fmla="val -4408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7716000" y="3249000"/>
            <a:ext cx="2273999" cy="558485"/>
          </a:xfrm>
          <a:prstGeom prst="wedgeRoundRectCallout">
            <a:avLst>
              <a:gd name="adj1" fmla="val -62283"/>
              <a:gd name="adj2" fmla="val 1292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048203" y="1989000"/>
            <a:ext cx="2475000" cy="562164"/>
          </a:xfrm>
          <a:prstGeom prst="wedgeRoundRectCallout">
            <a:avLst>
              <a:gd name="adj1" fmla="val -55074"/>
              <a:gd name="adj2" fmla="val 2820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Constraint Name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1686000" y="4538306"/>
            <a:ext cx="2902655" cy="520807"/>
          </a:xfrm>
          <a:prstGeom prst="wedgeRoundRectCallout">
            <a:avLst>
              <a:gd name="adj1" fmla="val 57085"/>
              <a:gd name="adj2" fmla="val -4511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Referenced Table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DD3F471D-F7B0-46FB-9CF3-25C83F744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86137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9" grpId="0" animBg="1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17CA1B-F63C-43FA-9C78-A95162CB193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Retrieving Related Data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464389" y="2023672"/>
            <a:ext cx="3233242" cy="1377099"/>
            <a:chOff x="5103812" y="4564221"/>
            <a:chExt cx="4795838" cy="1729864"/>
          </a:xfrm>
        </p:grpSpPr>
        <p:grpSp>
          <p:nvGrpSpPr>
            <p:cNvPr id="9" name="Group 8"/>
            <p:cNvGrpSpPr/>
            <p:nvPr/>
          </p:nvGrpSpPr>
          <p:grpSpPr>
            <a:xfrm>
              <a:off x="5103812" y="4565808"/>
              <a:ext cx="1866900" cy="1377951"/>
              <a:chOff x="5103812" y="4565808"/>
              <a:chExt cx="1866900" cy="1377951"/>
            </a:xfrm>
          </p:grpSpPr>
          <p:sp>
            <p:nvSpPr>
              <p:cNvPr id="30" name="Rectangle 4"/>
              <p:cNvSpPr>
                <a:spLocks noChangeArrowheads="1"/>
              </p:cNvSpPr>
              <p:nvPr/>
            </p:nvSpPr>
            <p:spPr bwMode="blackWhite">
              <a:xfrm>
                <a:off x="5116512" y="4580095"/>
                <a:ext cx="1841500" cy="1346200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89803" dir="2700000" algn="ctr" rotWithShape="0">
                  <a:srgbClr val="000000"/>
                </a:outerShdw>
              </a:effectLst>
            </p:spPr>
            <p:txBody>
              <a:bodyPr wrap="none" anchor="ctr"/>
              <a:lstStyle/>
              <a:p>
                <a:endParaRPr lang="bg-BG" dirty="0"/>
              </a:p>
            </p:txBody>
          </p:sp>
          <p:sp>
            <p:nvSpPr>
              <p:cNvPr id="31" name="Rectangle 26"/>
              <p:cNvSpPr>
                <a:spLocks noChangeArrowheads="1"/>
              </p:cNvSpPr>
              <p:nvPr/>
            </p:nvSpPr>
            <p:spPr bwMode="ltGray">
              <a:xfrm>
                <a:off x="6684962" y="4588033"/>
                <a:ext cx="261938" cy="132556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 dirty="0"/>
              </a:p>
            </p:txBody>
          </p:sp>
          <p:sp>
            <p:nvSpPr>
              <p:cNvPr id="32" name="Line 28"/>
              <p:cNvSpPr>
                <a:spLocks noChangeShapeType="1"/>
              </p:cNvSpPr>
              <p:nvPr/>
            </p:nvSpPr>
            <p:spPr bwMode="auto">
              <a:xfrm>
                <a:off x="6084887" y="4567396"/>
                <a:ext cx="0" cy="13763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33" name="Line 29"/>
              <p:cNvSpPr>
                <a:spLocks noChangeShapeType="1"/>
              </p:cNvSpPr>
              <p:nvPr/>
            </p:nvSpPr>
            <p:spPr bwMode="auto">
              <a:xfrm>
                <a:off x="5389562" y="4567396"/>
                <a:ext cx="0" cy="13763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34" name="Line 30"/>
              <p:cNvSpPr>
                <a:spLocks noChangeShapeType="1"/>
              </p:cNvSpPr>
              <p:nvPr/>
            </p:nvSpPr>
            <p:spPr bwMode="auto">
              <a:xfrm>
                <a:off x="5103812" y="4738845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35" name="Line 31"/>
              <p:cNvSpPr>
                <a:spLocks noChangeShapeType="1"/>
              </p:cNvSpPr>
              <p:nvPr/>
            </p:nvSpPr>
            <p:spPr bwMode="auto">
              <a:xfrm>
                <a:off x="5103812" y="4891245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36" name="Line 32"/>
              <p:cNvSpPr>
                <a:spLocks noChangeShapeType="1"/>
              </p:cNvSpPr>
              <p:nvPr/>
            </p:nvSpPr>
            <p:spPr bwMode="auto">
              <a:xfrm>
                <a:off x="5103812" y="5043645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37" name="Line 33"/>
              <p:cNvSpPr>
                <a:spLocks noChangeShapeType="1"/>
              </p:cNvSpPr>
              <p:nvPr/>
            </p:nvSpPr>
            <p:spPr bwMode="auto">
              <a:xfrm>
                <a:off x="5103812" y="5196045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38" name="Line 34"/>
              <p:cNvSpPr>
                <a:spLocks noChangeShapeType="1"/>
              </p:cNvSpPr>
              <p:nvPr/>
            </p:nvSpPr>
            <p:spPr bwMode="auto">
              <a:xfrm>
                <a:off x="5103812" y="5348445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39" name="Line 35"/>
              <p:cNvSpPr>
                <a:spLocks noChangeShapeType="1"/>
              </p:cNvSpPr>
              <p:nvPr/>
            </p:nvSpPr>
            <p:spPr bwMode="auto">
              <a:xfrm>
                <a:off x="5103812" y="5500845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40" name="Line 36"/>
              <p:cNvSpPr>
                <a:spLocks noChangeShapeType="1"/>
              </p:cNvSpPr>
              <p:nvPr/>
            </p:nvSpPr>
            <p:spPr bwMode="auto">
              <a:xfrm>
                <a:off x="5103812" y="5653245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41" name="Line 37"/>
              <p:cNvSpPr>
                <a:spLocks noChangeShapeType="1"/>
              </p:cNvSpPr>
              <p:nvPr/>
            </p:nvSpPr>
            <p:spPr bwMode="auto">
              <a:xfrm>
                <a:off x="5103812" y="5805645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42" name="Line 38"/>
              <p:cNvSpPr>
                <a:spLocks noChangeShapeType="1"/>
              </p:cNvSpPr>
              <p:nvPr/>
            </p:nvSpPr>
            <p:spPr bwMode="auto">
              <a:xfrm>
                <a:off x="6356350" y="4567396"/>
                <a:ext cx="0" cy="13763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43" name="Line 39"/>
              <p:cNvSpPr>
                <a:spLocks noChangeShapeType="1"/>
              </p:cNvSpPr>
              <p:nvPr/>
            </p:nvSpPr>
            <p:spPr bwMode="auto">
              <a:xfrm>
                <a:off x="6681787" y="4565808"/>
                <a:ext cx="0" cy="13763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032750" y="4564221"/>
              <a:ext cx="1866900" cy="1393824"/>
              <a:chOff x="8032750" y="4564221"/>
              <a:chExt cx="1866900" cy="1393824"/>
            </a:xfrm>
          </p:grpSpPr>
          <p:sp>
            <p:nvSpPr>
              <p:cNvPr id="15" name="Rectangle 25"/>
              <p:cNvSpPr>
                <a:spLocks noChangeArrowheads="1"/>
              </p:cNvSpPr>
              <p:nvPr/>
            </p:nvSpPr>
            <p:spPr bwMode="blackWhite">
              <a:xfrm>
                <a:off x="8045450" y="4581683"/>
                <a:ext cx="1841500" cy="1346200"/>
              </a:xfrm>
              <a:prstGeom prst="rect">
                <a:avLst/>
              </a:prstGeom>
              <a:solidFill>
                <a:srgbClr val="FFFFCC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89803" dir="2700000" algn="ctr" rotWithShape="0">
                  <a:srgbClr val="000000"/>
                </a:outerShdw>
              </a:effectLst>
            </p:spPr>
            <p:txBody>
              <a:bodyPr wrap="none" anchor="ctr"/>
              <a:lstStyle/>
              <a:p>
                <a:endParaRPr lang="bg-BG" dirty="0"/>
              </a:p>
            </p:txBody>
          </p:sp>
          <p:sp>
            <p:nvSpPr>
              <p:cNvPr id="16" name="Rectangle 27"/>
              <p:cNvSpPr>
                <a:spLocks noChangeArrowheads="1"/>
              </p:cNvSpPr>
              <p:nvPr/>
            </p:nvSpPr>
            <p:spPr bwMode="ltGray">
              <a:xfrm>
                <a:off x="8056562" y="4592796"/>
                <a:ext cx="261938" cy="13255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 dirty="0"/>
              </a:p>
            </p:txBody>
          </p:sp>
          <p:sp>
            <p:nvSpPr>
              <p:cNvPr id="17" name="Line 40"/>
              <p:cNvSpPr>
                <a:spLocks noChangeShapeType="1"/>
              </p:cNvSpPr>
              <p:nvPr/>
            </p:nvSpPr>
            <p:spPr bwMode="auto">
              <a:xfrm>
                <a:off x="8745537" y="4581683"/>
                <a:ext cx="0" cy="13763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18" name="Line 41"/>
              <p:cNvSpPr>
                <a:spLocks noChangeShapeType="1"/>
              </p:cNvSpPr>
              <p:nvPr/>
            </p:nvSpPr>
            <p:spPr bwMode="auto">
              <a:xfrm>
                <a:off x="8318500" y="4568983"/>
                <a:ext cx="0" cy="13763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19" name="Line 42"/>
              <p:cNvSpPr>
                <a:spLocks noChangeShapeType="1"/>
              </p:cNvSpPr>
              <p:nvPr/>
            </p:nvSpPr>
            <p:spPr bwMode="auto">
              <a:xfrm>
                <a:off x="8032750" y="4740433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0" name="Line 43"/>
              <p:cNvSpPr>
                <a:spLocks noChangeShapeType="1"/>
              </p:cNvSpPr>
              <p:nvPr/>
            </p:nvSpPr>
            <p:spPr bwMode="auto">
              <a:xfrm>
                <a:off x="8032750" y="4892833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1" name="Line 44"/>
              <p:cNvSpPr>
                <a:spLocks noChangeShapeType="1"/>
              </p:cNvSpPr>
              <p:nvPr/>
            </p:nvSpPr>
            <p:spPr bwMode="auto">
              <a:xfrm>
                <a:off x="8032750" y="5045233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2" name="Line 45"/>
              <p:cNvSpPr>
                <a:spLocks noChangeShapeType="1"/>
              </p:cNvSpPr>
              <p:nvPr/>
            </p:nvSpPr>
            <p:spPr bwMode="auto">
              <a:xfrm>
                <a:off x="8032750" y="5197633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3" name="Line 46"/>
              <p:cNvSpPr>
                <a:spLocks noChangeShapeType="1"/>
              </p:cNvSpPr>
              <p:nvPr/>
            </p:nvSpPr>
            <p:spPr bwMode="auto">
              <a:xfrm>
                <a:off x="8032750" y="5350033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4" name="Line 47"/>
              <p:cNvSpPr>
                <a:spLocks noChangeShapeType="1"/>
              </p:cNvSpPr>
              <p:nvPr/>
            </p:nvSpPr>
            <p:spPr bwMode="auto">
              <a:xfrm>
                <a:off x="8032750" y="5502433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5" name="Line 48"/>
              <p:cNvSpPr>
                <a:spLocks noChangeShapeType="1"/>
              </p:cNvSpPr>
              <p:nvPr/>
            </p:nvSpPr>
            <p:spPr bwMode="auto">
              <a:xfrm>
                <a:off x="8032750" y="5654833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6" name="Line 49"/>
              <p:cNvSpPr>
                <a:spLocks noChangeShapeType="1"/>
              </p:cNvSpPr>
              <p:nvPr/>
            </p:nvSpPr>
            <p:spPr bwMode="auto">
              <a:xfrm>
                <a:off x="8032750" y="5807233"/>
                <a:ext cx="186690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7" name="Line 50"/>
              <p:cNvSpPr>
                <a:spLocks noChangeShapeType="1"/>
              </p:cNvSpPr>
              <p:nvPr/>
            </p:nvSpPr>
            <p:spPr bwMode="auto">
              <a:xfrm>
                <a:off x="9285287" y="4568983"/>
                <a:ext cx="0" cy="137636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8" name="Line 51"/>
              <p:cNvSpPr>
                <a:spLocks noChangeShapeType="1"/>
              </p:cNvSpPr>
              <p:nvPr/>
            </p:nvSpPr>
            <p:spPr bwMode="auto">
              <a:xfrm>
                <a:off x="9610725" y="4567396"/>
                <a:ext cx="0" cy="13763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  <p:sp>
            <p:nvSpPr>
              <p:cNvPr id="29" name="Line 52"/>
              <p:cNvSpPr>
                <a:spLocks noChangeShapeType="1"/>
              </p:cNvSpPr>
              <p:nvPr/>
            </p:nvSpPr>
            <p:spPr bwMode="auto">
              <a:xfrm>
                <a:off x="9037637" y="4564221"/>
                <a:ext cx="0" cy="13763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bg-BG" dirty="0"/>
              </a:p>
            </p:txBody>
          </p:sp>
        </p:grpSp>
        <p:sp>
          <p:nvSpPr>
            <p:cNvPr id="11" name="Line 65"/>
            <p:cNvSpPr>
              <a:spLocks noChangeShapeType="1"/>
            </p:cNvSpPr>
            <p:nvPr/>
          </p:nvSpPr>
          <p:spPr bwMode="auto">
            <a:xfrm flipV="1">
              <a:off x="7070726" y="5269071"/>
              <a:ext cx="884237" cy="3175"/>
            </a:xfrm>
            <a:prstGeom prst="line">
              <a:avLst/>
            </a:prstGeom>
            <a:noFill/>
            <a:ln w="50800">
              <a:solidFill>
                <a:schemeClr val="accent1">
                  <a:lumMod val="40000"/>
                  <a:lumOff val="60000"/>
                </a:schemeClr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/>
            <a:lstStyle/>
            <a:p>
              <a:endParaRPr lang="bg-BG" dirty="0"/>
            </a:p>
          </p:txBody>
        </p:sp>
        <p:sp>
          <p:nvSpPr>
            <p:cNvPr id="12" name="Text Box 66"/>
            <p:cNvSpPr txBox="1">
              <a:spLocks noChangeArrowheads="1"/>
            </p:cNvSpPr>
            <p:nvPr/>
          </p:nvSpPr>
          <p:spPr bwMode="auto">
            <a:xfrm>
              <a:off x="5135050" y="6002023"/>
              <a:ext cx="1811850" cy="2729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1" dirty="0">
                  <a:solidFill>
                    <a:srgbClr val="EBFF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Towns</a:t>
              </a:r>
            </a:p>
          </p:txBody>
        </p:sp>
        <p:sp>
          <p:nvSpPr>
            <p:cNvPr id="13" name="Text Box 67"/>
            <p:cNvSpPr txBox="1">
              <a:spLocks noChangeArrowheads="1"/>
            </p:cNvSpPr>
            <p:nvPr/>
          </p:nvSpPr>
          <p:spPr bwMode="auto">
            <a:xfrm>
              <a:off x="8056562" y="6021131"/>
              <a:ext cx="1830388" cy="2729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b="1" dirty="0">
                  <a:solidFill>
                    <a:srgbClr val="EBFF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Countries</a:t>
              </a:r>
            </a:p>
          </p:txBody>
        </p:sp>
      </p:grpSp>
      <p:sp>
        <p:nvSpPr>
          <p:cNvPr id="5" name="Subtitle 4">
            <a:extLst>
              <a:ext uri="{FF2B5EF4-FFF2-40B4-BE49-F238E27FC236}">
                <a16:creationId xmlns:a16="http://schemas.microsoft.com/office/drawing/2014/main" id="{E22832C1-F2B8-45B3-B4DD-7BB51317F975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607610" y="5563536"/>
            <a:ext cx="10961783" cy="768084"/>
          </a:xfrm>
        </p:spPr>
        <p:txBody>
          <a:bodyPr/>
          <a:lstStyle/>
          <a:p>
            <a:r>
              <a:rPr lang="en-US" dirty="0"/>
              <a:t>Using Simple JOIN Statements</a:t>
            </a:r>
          </a:p>
        </p:txBody>
      </p:sp>
    </p:spTree>
    <p:extLst>
      <p:ext uri="{BB962C8B-B14F-4D97-AF65-F5344CB8AC3E}">
        <p14:creationId xmlns:p14="http://schemas.microsoft.com/office/powerpoint/2010/main" val="148050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With a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JOIN</a:t>
            </a:r>
            <a:r>
              <a:rPr lang="en-US" dirty="0"/>
              <a:t> statement, we can get data from two </a:t>
            </a:r>
            <a:br>
              <a:rPr lang="en-US" dirty="0"/>
            </a:br>
            <a:r>
              <a:rPr lang="en-US" dirty="0"/>
              <a:t>tables </a:t>
            </a:r>
            <a:r>
              <a:rPr lang="en-US" b="1" dirty="0">
                <a:solidFill>
                  <a:schemeClr val="bg1"/>
                </a:solidFill>
              </a:rPr>
              <a:t>simultaneously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JOIN</a:t>
            </a:r>
            <a:r>
              <a:rPr lang="en-US" b="1" dirty="0">
                <a:solidFill>
                  <a:schemeClr val="bg1"/>
                </a:solidFill>
              </a:rPr>
              <a:t>s</a:t>
            </a:r>
            <a:r>
              <a:rPr lang="en-US" dirty="0"/>
              <a:t> require at least two tables and a "</a:t>
            </a:r>
            <a:r>
              <a:rPr lang="en-US" b="1" dirty="0">
                <a:solidFill>
                  <a:schemeClr val="bg1"/>
                </a:solidFill>
              </a:rPr>
              <a:t>join condition</a:t>
            </a:r>
            <a:r>
              <a:rPr lang="en-US" dirty="0"/>
              <a:t>"</a:t>
            </a:r>
          </a:p>
        </p:txBody>
      </p:sp>
      <p:sp>
        <p:nvSpPr>
          <p:cNvPr id="4" name="Заглавие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Statements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1146000" y="3158956"/>
            <a:ext cx="7989493" cy="160310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3000" b="1" noProof="1">
                <a:latin typeface="Consolas" panose="020B0609020204030204" pitchFamily="49" charset="0"/>
              </a:rPr>
              <a:t>SELECT * FROM Towns</a:t>
            </a:r>
          </a:p>
          <a:p>
            <a:r>
              <a:rPr lang="en-US" sz="3000" b="1" noProof="1">
                <a:latin typeface="Consolas" panose="020B0609020204030204" pitchFamily="49" charset="0"/>
              </a:rPr>
              <a:t> 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JOIN</a:t>
            </a:r>
            <a:r>
              <a:rPr lang="en-US" sz="3000" b="1" noProof="1">
                <a:latin typeface="Consolas" panose="020B0609020204030204" pitchFamily="49" charset="0"/>
              </a:rPr>
              <a:t> Countries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3000" b="1" noProof="1">
                <a:latin typeface="Consolas" panose="020B0609020204030204" pitchFamily="49" charset="0"/>
              </a:rPr>
              <a:t> </a:t>
            </a:r>
          </a:p>
          <a:p>
            <a:r>
              <a:rPr lang="en-US" sz="3000" b="1" noProof="1">
                <a:latin typeface="Consolas" panose="020B0609020204030204" pitchFamily="49" charset="0"/>
              </a:rPr>
              <a:t>    Countries.Id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3000" b="1" noProof="1">
                <a:latin typeface="Consolas" panose="020B0609020204030204" pitchFamily="49" charset="0"/>
              </a:rPr>
              <a:t> Towns.CountryId</a:t>
            </a:r>
            <a:endParaRPr lang="en-US" sz="3000" b="1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961000" y="4768969"/>
            <a:ext cx="2438400" cy="558485"/>
          </a:xfrm>
          <a:prstGeom prst="wedgeRoundRectCallout">
            <a:avLst>
              <a:gd name="adj1" fmla="val -56417"/>
              <a:gd name="adj2" fmla="val -4079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Join Condition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1F8F9F5-5D59-46BB-9487-0AAFD8D93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78943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Use database "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Geography</a:t>
            </a:r>
            <a:r>
              <a:rPr lang="en-US" sz="3200" dirty="0"/>
              <a:t>". Report all peaks for "</a:t>
            </a:r>
            <a:r>
              <a:rPr lang="en-US" sz="3200" b="1" noProof="1">
                <a:solidFill>
                  <a:schemeClr val="bg1"/>
                </a:solidFill>
              </a:rPr>
              <a:t>Rila</a:t>
            </a:r>
            <a:r>
              <a:rPr lang="en-US" sz="3200" dirty="0"/>
              <a:t>" mountain.</a:t>
            </a:r>
          </a:p>
          <a:p>
            <a:pPr lvl="1"/>
            <a:r>
              <a:rPr lang="en-US" sz="3000" dirty="0"/>
              <a:t>Report includes mountain's name, peak's name and also </a:t>
            </a:r>
            <a:br>
              <a:rPr lang="en-US" sz="3000" dirty="0"/>
            </a:br>
            <a:r>
              <a:rPr lang="en-US" sz="3000" dirty="0"/>
              <a:t>peak's elevation</a:t>
            </a:r>
          </a:p>
          <a:p>
            <a:pPr lvl="1"/>
            <a:r>
              <a:rPr lang="en-US" sz="3000" dirty="0"/>
              <a:t>Peaks should be </a:t>
            </a:r>
            <a:r>
              <a:rPr lang="en-US" sz="3000" b="1" dirty="0">
                <a:solidFill>
                  <a:schemeClr val="bg1"/>
                </a:solidFill>
              </a:rPr>
              <a:t>sorted</a:t>
            </a:r>
            <a:r>
              <a:rPr lang="en-US" sz="3000" dirty="0"/>
              <a:t> by elevation descending</a:t>
            </a:r>
            <a:endParaRPr lang="bg-BG" sz="3000" dirty="0"/>
          </a:p>
        </p:txBody>
      </p:sp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Peaks in </a:t>
            </a:r>
            <a:r>
              <a:rPr lang="en-US" noProof="1"/>
              <a:t>Rila</a:t>
            </a: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2250" y="3738559"/>
            <a:ext cx="5827500" cy="2008346"/>
          </a:xfrm>
          <a:prstGeom prst="rect">
            <a:avLst/>
          </a:prstGeom>
        </p:spPr>
      </p:pic>
      <p:sp>
        <p:nvSpPr>
          <p:cNvPr id="10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https://judge.softuni.org/Contests/Compete/Index/292#6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52AC3570-6426-4A23-9F3E-776869F1C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95228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Peaks </a:t>
            </a:r>
            <a:r>
              <a:rPr lang="en-US"/>
              <a:t>in </a:t>
            </a:r>
            <a:r>
              <a:rPr lang="en-US" noProof="1"/>
              <a:t>Rila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921000" y="2484000"/>
            <a:ext cx="10582176" cy="252643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3000" b="1" noProof="1">
                <a:latin typeface="Consolas" panose="020B0609020204030204" pitchFamily="49" charset="0"/>
              </a:rPr>
              <a:t>  SELECT m.MountainRange, p.PeakName, p.Elevation </a:t>
            </a:r>
          </a:p>
          <a:p>
            <a:r>
              <a:rPr lang="en-US" sz="3000" b="1" noProof="1">
                <a:latin typeface="Consolas" panose="020B0609020204030204" pitchFamily="49" charset="0"/>
              </a:rPr>
              <a:t>    FROM Mountains AS m</a:t>
            </a:r>
          </a:p>
          <a:p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JOIN</a:t>
            </a:r>
            <a:r>
              <a:rPr lang="en-US" sz="3000" b="1" noProof="1">
                <a:latin typeface="Consolas" panose="020B0609020204030204" pitchFamily="49" charset="0"/>
              </a:rPr>
              <a:t> Peaks As p ON p.MountainId = m.Id</a:t>
            </a:r>
          </a:p>
          <a:p>
            <a:r>
              <a:rPr lang="en-US" sz="3000" b="1" noProof="1">
                <a:latin typeface="Consolas" panose="020B0609020204030204" pitchFamily="49" charset="0"/>
              </a:rPr>
              <a:t>  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WHERE</a:t>
            </a:r>
            <a:r>
              <a:rPr lang="en-US" sz="3000" b="1" noProof="1">
                <a:latin typeface="Consolas" panose="020B0609020204030204" pitchFamily="49" charset="0"/>
              </a:rPr>
              <a:t> m.MountainRange = 'Rila'</a:t>
            </a:r>
          </a:p>
          <a:p>
            <a:r>
              <a:rPr lang="en-US" sz="3000" b="1" noProof="1">
                <a:latin typeface="Consolas" panose="020B0609020204030204" pitchFamily="49" charset="0"/>
              </a:rPr>
              <a:t>ORDER BY p.Elevation DESC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6349176" y="1918277"/>
            <a:ext cx="3714316" cy="558487"/>
          </a:xfrm>
          <a:prstGeom prst="wedgeRoundRectCallout">
            <a:avLst>
              <a:gd name="adj1" fmla="val -56582"/>
              <a:gd name="adj2" fmla="val 3399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Cross Table Selection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8721876" y="4063200"/>
            <a:ext cx="2514600" cy="558487"/>
          </a:xfrm>
          <a:prstGeom prst="wedgeRoundRectCallout">
            <a:avLst>
              <a:gd name="adj1" fmla="val -57888"/>
              <a:gd name="adj2" fmla="val -3849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Join Condition</a:t>
            </a:r>
          </a:p>
        </p:txBody>
      </p:sp>
      <p:sp>
        <p:nvSpPr>
          <p:cNvPr id="12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https://judge.softuni.org/Contests/Compete/Index/292#6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9F0A85F-9A99-4937-A344-1A5DB2E58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29362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48AED1-158E-4D2D-8CC9-828B09A1A0EE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Cascade Operations</a:t>
            </a:r>
          </a:p>
        </p:txBody>
      </p:sp>
      <p:pic>
        <p:nvPicPr>
          <p:cNvPr id="4100" name="Picture 4" descr="Ð ÐµÐ·ÑÐ»ÑÐ°Ñ Ñ Ð¸Ð·Ð¾Ð±ÑÐ°Ð¶ÐµÐ½Ð¸Ðµ Ð·Ð° cascading png">
            <a:extLst>
              <a:ext uri="{FF2B5EF4-FFF2-40B4-BE49-F238E27FC236}">
                <a16:creationId xmlns:a16="http://schemas.microsoft.com/office/drawing/2014/main" id="{3B56181C-1C35-44D5-AE7B-4DFA356A4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137" y="1208903"/>
            <a:ext cx="3255479" cy="301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DFCC428D-AAF9-4DE7-9D99-35DC301131CE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615109" y="5571384"/>
            <a:ext cx="10961783" cy="768084"/>
          </a:xfrm>
        </p:spPr>
        <p:txBody>
          <a:bodyPr/>
          <a:lstStyle/>
          <a:p>
            <a:r>
              <a:rPr lang="en-US" dirty="0"/>
              <a:t>Cascade Delete / Update</a:t>
            </a:r>
          </a:p>
        </p:txBody>
      </p:sp>
    </p:spTree>
    <p:extLst>
      <p:ext uri="{BB962C8B-B14F-4D97-AF65-F5344CB8AC3E}">
        <p14:creationId xmlns:p14="http://schemas.microsoft.com/office/powerpoint/2010/main" val="373435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359079"/>
              </p:ext>
            </p:extLst>
          </p:nvPr>
        </p:nvGraphicFramePr>
        <p:xfrm>
          <a:off x="7316009" y="3925059"/>
          <a:ext cx="4038600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</a:rPr>
                        <a:t>ItemId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</a:rPr>
                        <a:t>OrderId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4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1</a:t>
                      </a:r>
                      <a:endParaRPr lang="en-US" b="1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24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2</a:t>
                      </a:r>
                      <a:r>
                        <a:rPr lang="bg-BG" noProof="1"/>
                        <a:t>2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/>
                        <a:t>87</a:t>
                      </a:r>
                      <a:endParaRPr lang="en-US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1</a:t>
                      </a:r>
                      <a:endParaRPr lang="en-US" b="1" noProof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099716"/>
                  </a:ext>
                </a:extLst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366574"/>
              </p:ext>
            </p:extLst>
          </p:nvPr>
        </p:nvGraphicFramePr>
        <p:xfrm>
          <a:off x="2488856" y="4109606"/>
          <a:ext cx="3377385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373852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003533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</a:rPr>
                        <a:t>OrderID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</a:rPr>
                        <a:t>OrderName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bg-BG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  <a:endParaRPr lang="bg-B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156586"/>
                  </a:ext>
                </a:extLst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Cascading allows when a change is made to certain </a:t>
            </a:r>
            <a:br>
              <a:rPr lang="en-US" dirty="0"/>
            </a:br>
            <a:r>
              <a:rPr lang="en-US" dirty="0"/>
              <a:t>entity, this change to apply to all related entities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cxnSp>
        <p:nvCxnSpPr>
          <p:cNvPr id="8" name="Straight Arrow Connector 10"/>
          <p:cNvCxnSpPr>
            <a:cxnSpLocks/>
          </p:cNvCxnSpPr>
          <p:nvPr/>
        </p:nvCxnSpPr>
        <p:spPr>
          <a:xfrm flipV="1">
            <a:off x="5961000" y="4682810"/>
            <a:ext cx="1152639" cy="9619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2"/>
          <p:cNvSpPr txBox="1"/>
          <p:nvPr/>
        </p:nvSpPr>
        <p:spPr>
          <a:xfrm>
            <a:off x="3458282" y="3654936"/>
            <a:ext cx="1190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Orders</a:t>
            </a:r>
          </a:p>
        </p:txBody>
      </p:sp>
      <p:sp>
        <p:nvSpPr>
          <p:cNvPr id="11" name="TextBox 13"/>
          <p:cNvSpPr txBox="1"/>
          <p:nvPr/>
        </p:nvSpPr>
        <p:spPr>
          <a:xfrm>
            <a:off x="8379221" y="3439774"/>
            <a:ext cx="1884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1"/>
              <a:t>OrderItems</a:t>
            </a:r>
          </a:p>
        </p:txBody>
      </p:sp>
      <p:cxnSp>
        <p:nvCxnSpPr>
          <p:cNvPr id="12" name="Straight Arrow Connector 15"/>
          <p:cNvCxnSpPr>
            <a:cxnSpLocks/>
          </p:cNvCxnSpPr>
          <p:nvPr/>
        </p:nvCxnSpPr>
        <p:spPr>
          <a:xfrm>
            <a:off x="5961000" y="4779000"/>
            <a:ext cx="1132515" cy="783601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9"/>
          <p:cNvSpPr/>
          <p:nvPr/>
        </p:nvSpPr>
        <p:spPr>
          <a:xfrm>
            <a:off x="2488856" y="4554567"/>
            <a:ext cx="3377385" cy="45909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9" name="Rectangle 9"/>
          <p:cNvSpPr/>
          <p:nvPr/>
        </p:nvSpPr>
        <p:spPr>
          <a:xfrm>
            <a:off x="7316009" y="5279863"/>
            <a:ext cx="4041111" cy="45720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6" name="Rectangle 9"/>
          <p:cNvSpPr/>
          <p:nvPr/>
        </p:nvSpPr>
        <p:spPr>
          <a:xfrm>
            <a:off x="7301019" y="4411293"/>
            <a:ext cx="4041110" cy="459096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24" name="AutoShape 7"/>
          <p:cNvSpPr>
            <a:spLocks noChangeArrowheads="1"/>
          </p:cNvSpPr>
          <p:nvPr/>
        </p:nvSpPr>
        <p:spPr bwMode="auto">
          <a:xfrm>
            <a:off x="2129836" y="3130218"/>
            <a:ext cx="1923770" cy="524718"/>
          </a:xfrm>
          <a:prstGeom prst="wedgeRoundRectCallout">
            <a:avLst>
              <a:gd name="adj1" fmla="val -3776"/>
              <a:gd name="adj2" fmla="val 11771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25" name="AutoShape 7"/>
          <p:cNvSpPr>
            <a:spLocks noChangeArrowheads="1"/>
          </p:cNvSpPr>
          <p:nvPr/>
        </p:nvSpPr>
        <p:spPr bwMode="auto">
          <a:xfrm>
            <a:off x="6151754" y="3331472"/>
            <a:ext cx="1923770" cy="524718"/>
          </a:xfrm>
          <a:prstGeom prst="wedgeRoundRectCallout">
            <a:avLst>
              <a:gd name="adj1" fmla="val 56680"/>
              <a:gd name="adj2" fmla="val 3496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 key</a:t>
            </a:r>
          </a:p>
        </p:txBody>
      </p:sp>
      <p:sp>
        <p:nvSpPr>
          <p:cNvPr id="26" name="AutoShape 7"/>
          <p:cNvSpPr>
            <a:spLocks noChangeArrowheads="1"/>
          </p:cNvSpPr>
          <p:nvPr/>
        </p:nvSpPr>
        <p:spPr bwMode="auto">
          <a:xfrm>
            <a:off x="10410567" y="3331472"/>
            <a:ext cx="1705606" cy="524718"/>
          </a:xfrm>
          <a:prstGeom prst="wedgeRoundRectCallout">
            <a:avLst>
              <a:gd name="adj1" fmla="val -56630"/>
              <a:gd name="adj2" fmla="val 3539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27" name="AutoShape 7"/>
          <p:cNvSpPr>
            <a:spLocks noChangeArrowheads="1"/>
          </p:cNvSpPr>
          <p:nvPr/>
        </p:nvSpPr>
        <p:spPr bwMode="auto">
          <a:xfrm>
            <a:off x="4422859" y="5605620"/>
            <a:ext cx="1923770" cy="726238"/>
          </a:xfrm>
          <a:prstGeom prst="wedgeRoundRectCallout">
            <a:avLst>
              <a:gd name="adj1" fmla="val 57264"/>
              <a:gd name="adj2" fmla="val -4899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Cascade delete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1C776869-9D79-4984-95C2-25728719CA7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62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9" grpId="0" animBg="1"/>
      <p:bldP spid="16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Cascade</a:t>
            </a:r>
            <a:r>
              <a:rPr lang="en-US" dirty="0"/>
              <a:t> can be either </a:t>
            </a:r>
            <a:r>
              <a:rPr lang="en-US" b="1" dirty="0">
                <a:solidFill>
                  <a:schemeClr val="bg1"/>
                </a:solidFill>
              </a:rPr>
              <a:t>Delete</a:t>
            </a:r>
            <a:r>
              <a:rPr lang="en-US" dirty="0"/>
              <a:t> or </a:t>
            </a:r>
            <a:r>
              <a:rPr lang="en-US" b="1" dirty="0">
                <a:solidFill>
                  <a:schemeClr val="bg1"/>
                </a:solidFill>
              </a:rPr>
              <a:t>Update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Use </a:t>
            </a:r>
            <a:r>
              <a:rPr lang="en-US" b="1" dirty="0">
                <a:solidFill>
                  <a:schemeClr val="bg1"/>
                </a:solidFill>
              </a:rPr>
              <a:t>Cascade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Delete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when: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related entities are </a:t>
            </a:r>
            <a:r>
              <a:rPr lang="en-US" b="1" dirty="0">
                <a:solidFill>
                  <a:schemeClr val="bg1"/>
                </a:solidFill>
              </a:rPr>
              <a:t>meaningless</a:t>
            </a:r>
            <a:r>
              <a:rPr lang="en-US" dirty="0"/>
              <a:t> without the "main" one</a:t>
            </a:r>
          </a:p>
          <a:p>
            <a:pPr>
              <a:lnSpc>
                <a:spcPct val="100000"/>
              </a:lnSpc>
            </a:pPr>
            <a:r>
              <a:rPr lang="en-US" dirty="0"/>
              <a:t>Do </a:t>
            </a:r>
            <a:r>
              <a:rPr lang="en-US" b="1" dirty="0">
                <a:solidFill>
                  <a:schemeClr val="bg1"/>
                </a:solidFill>
              </a:rPr>
              <a:t>not</a:t>
            </a:r>
            <a:r>
              <a:rPr lang="en-US" dirty="0"/>
              <a:t> use </a:t>
            </a:r>
            <a:r>
              <a:rPr lang="en-US" b="1" dirty="0">
                <a:solidFill>
                  <a:schemeClr val="bg1"/>
                </a:solidFill>
              </a:rPr>
              <a:t>Cascade Delete </a:t>
            </a:r>
            <a:r>
              <a:rPr lang="en-US" dirty="0"/>
              <a:t>when: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You perform a "</a:t>
            </a:r>
            <a:r>
              <a:rPr lang="en-US" b="1" dirty="0">
                <a:solidFill>
                  <a:schemeClr val="bg1"/>
                </a:solidFill>
              </a:rPr>
              <a:t>logical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delete</a:t>
            </a:r>
            <a:r>
              <a:rPr lang="en-US" dirty="0"/>
              <a:t>"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Entities are </a:t>
            </a:r>
            <a:r>
              <a:rPr lang="en-US" b="1" dirty="0">
                <a:solidFill>
                  <a:schemeClr val="bg1"/>
                </a:solidFill>
              </a:rPr>
              <a:t>marked</a:t>
            </a:r>
            <a:r>
              <a:rPr lang="en-US" dirty="0"/>
              <a:t> as deleted (but not actually deleted)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 more complicated relations, cascade delete won't work with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circular</a:t>
            </a:r>
            <a:r>
              <a:rPr lang="en-US" dirty="0"/>
              <a:t> references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Delete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9AB5A8E-E13C-4A8E-943C-D586614D6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8744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Use </a:t>
            </a:r>
            <a:r>
              <a:rPr lang="en-US" b="1" dirty="0">
                <a:solidFill>
                  <a:schemeClr val="bg1"/>
                </a:solidFill>
              </a:rPr>
              <a:t>Cascade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Update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when: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primary key is not identity (not auto-increment) and therefore it </a:t>
            </a:r>
            <a:r>
              <a:rPr lang="en-US" b="1" dirty="0">
                <a:solidFill>
                  <a:schemeClr val="bg1"/>
                </a:solidFill>
              </a:rPr>
              <a:t>can</a:t>
            </a:r>
            <a:r>
              <a:rPr lang="en-US" dirty="0"/>
              <a:t> be changed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Best used with unique constraint</a:t>
            </a:r>
          </a:p>
          <a:p>
            <a:pPr>
              <a:lnSpc>
                <a:spcPct val="100000"/>
              </a:lnSpc>
            </a:pPr>
            <a:r>
              <a:rPr lang="en-US" dirty="0"/>
              <a:t>Do </a:t>
            </a:r>
            <a:r>
              <a:rPr lang="en-US" b="1" dirty="0">
                <a:solidFill>
                  <a:schemeClr val="bg1"/>
                </a:solidFill>
              </a:rPr>
              <a:t>not</a:t>
            </a:r>
            <a:r>
              <a:rPr lang="en-US" dirty="0"/>
              <a:t> use </a:t>
            </a:r>
            <a:r>
              <a:rPr lang="en-US" b="1" dirty="0">
                <a:solidFill>
                  <a:schemeClr val="bg1"/>
                </a:solidFill>
              </a:rPr>
              <a:t>Cascade Update </a:t>
            </a:r>
            <a:r>
              <a:rPr lang="en-US" dirty="0"/>
              <a:t>when: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primary is identity (auto-increment)</a:t>
            </a:r>
          </a:p>
          <a:p>
            <a:pPr>
              <a:lnSpc>
                <a:spcPct val="100000"/>
              </a:lnSpc>
            </a:pPr>
            <a:r>
              <a:rPr lang="en-US" dirty="0"/>
              <a:t>Cascading can be avoided using </a:t>
            </a:r>
            <a:r>
              <a:rPr lang="en-US" b="1" dirty="0">
                <a:solidFill>
                  <a:schemeClr val="bg1"/>
                </a:solidFill>
              </a:rPr>
              <a:t>triggers</a:t>
            </a:r>
            <a:r>
              <a:rPr lang="en-US" dirty="0"/>
              <a:t> or </a:t>
            </a:r>
            <a:r>
              <a:rPr lang="en-US" b="1" dirty="0">
                <a:solidFill>
                  <a:schemeClr val="bg1"/>
                </a:solidFill>
              </a:rPr>
              <a:t>procedures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Update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857394D-AF9D-4FCA-B7D7-BB99AD9EC7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6320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876000" y="1372577"/>
            <a:ext cx="10382899" cy="529642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Drivers(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DriverID INT PRIMARY KEY,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DriverName VARCHAR(50)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30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Cars(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CarID INT PRIMARY KEY,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DriverID INT,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CONSTRAINT FK_Car_Driver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 KEY</a:t>
            </a:r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(DriverID)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REFERENCES Drivers(DriverID)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DELETE CASCADE</a:t>
            </a:r>
            <a:b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  <a:endParaRPr lang="en-US" sz="30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Delete: Example</a:t>
            </a:r>
            <a:endParaRPr lang="bg-BG" dirty="0"/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9229120" y="4518375"/>
            <a:ext cx="2229557" cy="559968"/>
          </a:xfrm>
          <a:prstGeom prst="wedgeRoundRectCallout">
            <a:avLst>
              <a:gd name="adj1" fmla="val -59042"/>
              <a:gd name="adj2" fmla="val 3206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263899" y="6109032"/>
            <a:ext cx="2229557" cy="559968"/>
          </a:xfrm>
          <a:prstGeom prst="wedgeRoundRectCallout">
            <a:avLst>
              <a:gd name="adj1" fmla="val 58969"/>
              <a:gd name="adj2" fmla="val -4306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Cascade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2CDF5B4-1FA5-449A-AE05-4201EFDBC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86282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395786" y="1314188"/>
            <a:ext cx="11400427" cy="529642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Products(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BarcodeId INT PRIMARY KEY,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Name VARCHAR(50)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30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CREATE TABLE Stock(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Id INT PRIMARY KEY,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Barcode INT,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CONSTRAINT FK_Stock_Products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FOREIGN KEY</a:t>
            </a:r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(BarcodeId)</a:t>
            </a:r>
          </a:p>
          <a:p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  REFERENCES Products(BarcodeId)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ON UPDATE CASCADE</a:t>
            </a:r>
            <a:b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0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  <a:endParaRPr lang="en-US" sz="3000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Update: Example</a:t>
            </a:r>
            <a:endParaRPr lang="bg-BG" dirty="0"/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8706000" y="4419000"/>
            <a:ext cx="2229557" cy="559968"/>
          </a:xfrm>
          <a:prstGeom prst="wedgeRoundRectCallout">
            <a:avLst>
              <a:gd name="adj1" fmla="val -58073"/>
              <a:gd name="adj2" fmla="val 42714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Foreign Key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469730" y="6095532"/>
            <a:ext cx="2229557" cy="559968"/>
          </a:xfrm>
          <a:prstGeom prst="wedgeRoundRectCallout">
            <a:avLst>
              <a:gd name="adj1" fmla="val 57917"/>
              <a:gd name="adj2" fmla="val -4335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Cascade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56A9352-4BCB-42B2-BA37-3282B4652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4209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868D-3ACE-4B84-84AB-6B18A9C82DCE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E/R Diagrams</a:t>
            </a:r>
          </a:p>
        </p:txBody>
      </p:sp>
      <p:pic>
        <p:nvPicPr>
          <p:cNvPr id="5122" name="Picture 2" descr="Ð ÐµÐ·ÑÐ»ÑÐ°Ñ Ñ Ð¸Ð·Ð¾Ð±ÑÐ°Ð¶ÐµÐ½Ð¸Ðµ Ð·Ð° diagram png">
            <a:extLst>
              <a:ext uri="{FF2B5EF4-FFF2-40B4-BE49-F238E27FC236}">
                <a16:creationId xmlns:a16="http://schemas.microsoft.com/office/drawing/2014/main" id="{BBB1C37D-CE59-4846-8A48-B3930C0A1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051" y="1786538"/>
            <a:ext cx="3125898" cy="1562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6714FE5B-3E16-4733-908F-EAA632BECE9A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615109" y="5634000"/>
            <a:ext cx="10961783" cy="768084"/>
          </a:xfrm>
        </p:spPr>
        <p:txBody>
          <a:bodyPr/>
          <a:lstStyle/>
          <a:p>
            <a:r>
              <a:rPr lang="en-US" dirty="0"/>
              <a:t>Entity / Relationship Diagrams</a:t>
            </a:r>
          </a:p>
        </p:txBody>
      </p:sp>
    </p:spTree>
    <p:extLst>
      <p:ext uri="{BB962C8B-B14F-4D97-AF65-F5344CB8AC3E}">
        <p14:creationId xmlns:p14="http://schemas.microsoft.com/office/powerpoint/2010/main" val="358312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041766" y="1212411"/>
            <a:ext cx="10129234" cy="55465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Relational schema </a:t>
            </a:r>
            <a:r>
              <a:rPr lang="en-US" sz="3200" dirty="0"/>
              <a:t>of a DB is the collection of</a:t>
            </a:r>
            <a:r>
              <a:rPr lang="bg-BG" sz="3200" dirty="0"/>
              <a:t>:</a:t>
            </a:r>
          </a:p>
          <a:p>
            <a:pPr lvl="1"/>
            <a:r>
              <a:rPr lang="en-US" sz="3000" dirty="0"/>
              <a:t>The schemas of all tables</a:t>
            </a:r>
            <a:endParaRPr lang="bg-BG" sz="3000" dirty="0"/>
          </a:p>
          <a:p>
            <a:pPr lvl="1"/>
            <a:r>
              <a:rPr lang="en-US" sz="3000" dirty="0"/>
              <a:t>Relationships between the tables</a:t>
            </a:r>
          </a:p>
          <a:p>
            <a:pPr lvl="1"/>
            <a:r>
              <a:rPr lang="en-US" sz="3000" dirty="0"/>
              <a:t>Any other database objects (e.g. constraints)</a:t>
            </a:r>
            <a:endParaRPr lang="bg-BG" sz="3000" dirty="0"/>
          </a:p>
          <a:p>
            <a:r>
              <a:rPr lang="en-US" sz="3200" dirty="0"/>
              <a:t>The relational</a:t>
            </a:r>
            <a:r>
              <a:rPr lang="bg-BG" sz="3200" dirty="0"/>
              <a:t> </a:t>
            </a:r>
            <a:r>
              <a:rPr lang="en-US" sz="3200" dirty="0"/>
              <a:t>schema describes the structure of </a:t>
            </a:r>
            <a:br>
              <a:rPr lang="en-US" sz="3200" dirty="0"/>
            </a:br>
            <a:r>
              <a:rPr lang="en-US" sz="3200" dirty="0"/>
              <a:t>the database</a:t>
            </a:r>
            <a:endParaRPr lang="bg-BG" sz="3200" dirty="0"/>
          </a:p>
          <a:p>
            <a:pPr lvl="1"/>
            <a:r>
              <a:rPr lang="en-US" sz="3000" dirty="0"/>
              <a:t>Doesn't contain data</a:t>
            </a:r>
            <a:r>
              <a:rPr lang="bg-BG" sz="3000" dirty="0"/>
              <a:t>, </a:t>
            </a:r>
            <a:r>
              <a:rPr lang="en-US" sz="3000" dirty="0"/>
              <a:t>but metadata</a:t>
            </a:r>
            <a:endParaRPr lang="bg-BG" sz="3000" dirty="0"/>
          </a:p>
          <a:p>
            <a:r>
              <a:rPr lang="en-US" sz="3200" dirty="0"/>
              <a:t>Relational schemas are graphically displayed in </a:t>
            </a:r>
            <a:br>
              <a:rPr lang="en-US" sz="3200" dirty="0"/>
            </a:br>
            <a:r>
              <a:rPr lang="en-US" sz="3200" dirty="0"/>
              <a:t>Entity / Relationship diagrams</a:t>
            </a:r>
            <a:r>
              <a:rPr lang="bg-BG" sz="3200" dirty="0"/>
              <a:t> (</a:t>
            </a:r>
            <a:r>
              <a:rPr lang="en-US" sz="3200" b="1" dirty="0">
                <a:solidFill>
                  <a:schemeClr val="bg1"/>
                </a:solidFill>
              </a:rPr>
              <a:t>E/R Diagrams</a:t>
            </a:r>
            <a:r>
              <a:rPr lang="en-US" sz="3200" dirty="0"/>
              <a:t>)</a:t>
            </a:r>
            <a:endParaRPr lang="bg-BG" sz="3200" dirty="0"/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Schema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7B4A709-5551-4395-A530-3313DA6BE88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170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3200" dirty="0"/>
              <a:t>Expand a database in </a:t>
            </a:r>
            <a:r>
              <a:rPr lang="en-US" sz="3200" b="1" dirty="0">
                <a:solidFill>
                  <a:schemeClr val="bg1"/>
                </a:solidFill>
              </a:rPr>
              <a:t>Object Explorer</a:t>
            </a:r>
          </a:p>
          <a:p>
            <a:pPr lvl="1">
              <a:lnSpc>
                <a:spcPct val="100000"/>
              </a:lnSpc>
            </a:pPr>
            <a:r>
              <a:rPr lang="en-US" sz="3000" dirty="0"/>
              <a:t>Right click "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Database</a:t>
            </a:r>
            <a:r>
              <a:rPr lang="en-US" sz="3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Diagrams</a:t>
            </a:r>
            <a:r>
              <a:rPr lang="en-US" sz="3000" dirty="0"/>
              <a:t>" then select "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New</a:t>
            </a:r>
            <a:r>
              <a:rPr lang="en-US" sz="3000" b="1" dirty="0">
                <a:solidFill>
                  <a:schemeClr val="bg1"/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Database</a:t>
            </a:r>
            <a:r>
              <a:rPr lang="en-US" sz="3000" b="1" dirty="0">
                <a:solidFill>
                  <a:schemeClr val="bg1"/>
                </a:solidFill>
              </a:rPr>
              <a:t> </a:t>
            </a:r>
            <a:br>
              <a:rPr lang="en-US" sz="3000" b="1" dirty="0">
                <a:solidFill>
                  <a:schemeClr val="bg1"/>
                </a:solidFill>
              </a:rPr>
            </a:b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Diagram</a:t>
            </a:r>
            <a:r>
              <a:rPr lang="en-US" sz="3000" dirty="0"/>
              <a:t>"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SSMS E/R Diagram: Usage</a:t>
            </a:r>
            <a:endParaRPr lang="bg-BG" dirty="0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127748" y="3243747"/>
            <a:ext cx="3508913" cy="24181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6"/>
          <p:cNvSpPr/>
          <p:nvPr/>
        </p:nvSpPr>
        <p:spPr>
          <a:xfrm>
            <a:off x="5069173" y="4104000"/>
            <a:ext cx="1139253" cy="609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43EAEB91-4A09-4063-B081-BE7BEB350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D4D7F7-166C-4F3D-A6F9-DDAE2E1DF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938" y="2646429"/>
            <a:ext cx="4467849" cy="3524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0241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D1E1-0BB6-4D89-BD52-DA891F46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SSMS E/R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041EAD-6F72-4D6D-8590-DC93F8987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1000" y="1179000"/>
            <a:ext cx="9576738" cy="51125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Slide Number">
            <a:extLst>
              <a:ext uri="{FF2B5EF4-FFF2-40B4-BE49-F238E27FC236}">
                <a16:creationId xmlns:a16="http://schemas.microsoft.com/office/drawing/2014/main" id="{B13D5FCA-A783-4C5F-8ED6-4FE7FB535350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38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06714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99283" y="1559724"/>
            <a:ext cx="775165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2"/>
                </a:solidFill>
              </a:rPr>
              <a:t> Design </a:t>
            </a:r>
            <a:r>
              <a:rPr lang="en-US" sz="3200" b="1" dirty="0">
                <a:solidFill>
                  <a:schemeClr val="bg1"/>
                </a:solidFill>
              </a:rPr>
              <a:t>multiple</a:t>
            </a:r>
            <a:r>
              <a:rPr lang="en-US" sz="3200" b="1" dirty="0">
                <a:solidFill>
                  <a:schemeClr val="bg2"/>
                </a:solidFill>
              </a:rPr>
              <a:t> tables with related data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2"/>
                </a:solidFill>
              </a:rPr>
              <a:t> Types of table relations</a:t>
            </a:r>
          </a:p>
          <a:p>
            <a:pPr marL="457200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 Cascading</a:t>
            </a:r>
            <a:r>
              <a:rPr lang="en-US" sz="3200" b="1" dirty="0">
                <a:solidFill>
                  <a:schemeClr val="bg2"/>
                </a:solidFill>
              </a:rPr>
              <a:t> – Pros and Cons</a:t>
            </a:r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2"/>
                </a:solidFill>
              </a:rPr>
              <a:t> Entity / Relationship </a:t>
            </a:r>
            <a:r>
              <a:rPr lang="en-US" sz="3200" b="1" dirty="0">
                <a:solidFill>
                  <a:schemeClr val="bg1"/>
                </a:solidFill>
              </a:rPr>
              <a:t>Diagrams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02E18F43-FA59-4DB4-AB38-83406FB8F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017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085D2-301C-D855-6375-DC447ABCB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29804C-BF3D-66BA-9097-BE92BD49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SoftUni</a:t>
            </a:r>
            <a:r>
              <a:rPr lang="en-GB" b="1" dirty="0"/>
              <a:t> Diamond Partners</a:t>
            </a:r>
            <a:endParaRPr lang="en-US" dirty="0"/>
          </a:p>
        </p:txBody>
      </p:sp>
      <p:pic>
        <p:nvPicPr>
          <p:cNvPr id="6" name="Picture 5" descr="A picture containing logo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792C06A0-B1BF-1310-EB3F-B37FB454D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832" y="1383837"/>
            <a:ext cx="2786198" cy="1620135"/>
          </a:xfrm>
          <a:prstGeom prst="rect">
            <a:avLst/>
          </a:prstGeom>
        </p:spPr>
      </p:pic>
      <p:pic>
        <p:nvPicPr>
          <p:cNvPr id="9" name="Picture 8" descr="A picture containing logo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D5F7E69F-916E-E7FD-07B0-C84410BDE8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663" y="4452317"/>
            <a:ext cx="3119573" cy="1444168"/>
          </a:xfrm>
          <a:prstGeom prst="rect">
            <a:avLst/>
          </a:prstGeom>
        </p:spPr>
      </p:pic>
      <p:pic>
        <p:nvPicPr>
          <p:cNvPr id="11" name="Picture 10" descr="Text&#10;&#10;Description automatically generated with low confidence">
            <a:hlinkClick r:id="rId6"/>
            <a:extLst>
              <a:ext uri="{FF2B5EF4-FFF2-40B4-BE49-F238E27FC236}">
                <a16:creationId xmlns:a16="http://schemas.microsoft.com/office/drawing/2014/main" id="{2C192C54-107A-E9CB-0B22-954F235E75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7" y="5624346"/>
            <a:ext cx="3914056" cy="882654"/>
          </a:xfrm>
          <a:prstGeom prst="rect">
            <a:avLst/>
          </a:prstGeom>
        </p:spPr>
      </p:pic>
      <p:pic>
        <p:nvPicPr>
          <p:cNvPr id="15" name="Picture 14">
            <a:hlinkClick r:id="rId8"/>
            <a:extLst>
              <a:ext uri="{FF2B5EF4-FFF2-40B4-BE49-F238E27FC236}">
                <a16:creationId xmlns:a16="http://schemas.microsoft.com/office/drawing/2014/main" id="{45E3E7FC-2B32-01E7-FFCA-DACB5E28FAE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5" b="33481"/>
          <a:stretch/>
        </p:blipFill>
        <p:spPr>
          <a:xfrm>
            <a:off x="7980566" y="5431126"/>
            <a:ext cx="4127549" cy="1284289"/>
          </a:xfrm>
          <a:prstGeom prst="rect">
            <a:avLst/>
          </a:prstGeom>
        </p:spPr>
      </p:pic>
      <p:pic>
        <p:nvPicPr>
          <p:cNvPr id="3" name="Picture 5" descr="A green and orange 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F1810EF9-5676-6FC8-AA7F-C2695A7435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436" y="3404405"/>
            <a:ext cx="3150159" cy="1973054"/>
          </a:xfrm>
          <a:prstGeom prst="rect">
            <a:avLst/>
          </a:prstGeom>
        </p:spPr>
      </p:pic>
      <p:pic>
        <p:nvPicPr>
          <p:cNvPr id="7" name="Picture 3">
            <a:hlinkClick r:id="rId12"/>
            <a:extLst>
              <a:ext uri="{FF2B5EF4-FFF2-40B4-BE49-F238E27FC236}">
                <a16:creationId xmlns:a16="http://schemas.microsoft.com/office/drawing/2014/main" id="{8B513D91-B017-2182-5AF4-6301891366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877" y="1190635"/>
            <a:ext cx="3990123" cy="1379608"/>
          </a:xfrm>
          <a:prstGeom prst="rect">
            <a:avLst/>
          </a:prstGeom>
        </p:spPr>
      </p:pic>
      <p:pic>
        <p:nvPicPr>
          <p:cNvPr id="14" name="Картина 13" descr="Картина, която съдържа червен, Графика, Шрифт, дизайн">
            <a:hlinkClick r:id="rId14"/>
            <a:extLst>
              <a:ext uri="{FF2B5EF4-FFF2-40B4-BE49-F238E27FC236}">
                <a16:creationId xmlns:a16="http://schemas.microsoft.com/office/drawing/2014/main" id="{289FFBCA-F5A8-E200-5772-B8297CB4DA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23" y="1878014"/>
            <a:ext cx="3610444" cy="1023778"/>
          </a:xfrm>
          <a:prstGeom prst="rect">
            <a:avLst/>
          </a:prstGeom>
        </p:spPr>
      </p:pic>
      <p:pic>
        <p:nvPicPr>
          <p:cNvPr id="4" name="Картина 3" descr="Картина, която съдържа текст, Шрифт, екранна снимка, номер">
            <a:extLst>
              <a:ext uri="{FF2B5EF4-FFF2-40B4-BE49-F238E27FC236}">
                <a16:creationId xmlns:a16="http://schemas.microsoft.com/office/drawing/2014/main" id="{315CB780-F614-6AAB-62D3-20700692FB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276" y="2438753"/>
            <a:ext cx="2102030" cy="973287"/>
          </a:xfrm>
          <a:prstGeom prst="rect">
            <a:avLst/>
          </a:prstGeom>
        </p:spPr>
      </p:pic>
      <p:pic>
        <p:nvPicPr>
          <p:cNvPr id="10" name="Graphic 9">
            <a:hlinkClick r:id="rId17"/>
            <a:extLst>
              <a:ext uri="{FF2B5EF4-FFF2-40B4-BE49-F238E27FC236}">
                <a16:creationId xmlns:a16="http://schemas.microsoft.com/office/drawing/2014/main" id="{C903B251-B381-5CD5-1234-5DAF13628F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6717" y="3821811"/>
            <a:ext cx="4746000" cy="81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664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ED5ADED-1663-4836-B1F5-9408AABEE51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5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9CBC8E5-EF47-405B-A0B9-3F2795C4E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776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4087</TotalTime>
  <Words>2656</Words>
  <Application>Microsoft Office PowerPoint</Application>
  <PresentationFormat>Widescreen</PresentationFormat>
  <Paragraphs>498</Paragraphs>
  <Slides>43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Consolas</vt:lpstr>
      <vt:lpstr>Wingdings</vt:lpstr>
      <vt:lpstr>Wingdings 2</vt:lpstr>
      <vt:lpstr>SoftUni</vt:lpstr>
      <vt:lpstr>Table Relations</vt:lpstr>
      <vt:lpstr>Table of Contents</vt:lpstr>
      <vt:lpstr>Database Design</vt:lpstr>
      <vt:lpstr>Steps in Database Design</vt:lpstr>
      <vt:lpstr>DB Design: Identify Entities</vt:lpstr>
      <vt:lpstr>DB Design: Identify Table Columns</vt:lpstr>
      <vt:lpstr>How to Choose a Primary Key?</vt:lpstr>
      <vt:lpstr>DB Design: Identify Entity Relationships</vt:lpstr>
      <vt:lpstr>Database Normalization</vt:lpstr>
      <vt:lpstr>Database Normalization</vt:lpstr>
      <vt:lpstr>Normal Forms</vt:lpstr>
      <vt:lpstr>Table Relations</vt:lpstr>
      <vt:lpstr>Table Relations</vt:lpstr>
      <vt:lpstr>Custom Column Properties</vt:lpstr>
      <vt:lpstr>Table Relations: Foreign Key</vt:lpstr>
      <vt:lpstr>Table Relations: Multiplicity</vt:lpstr>
      <vt:lpstr>One-to-Many / Many-to-One</vt:lpstr>
      <vt:lpstr>One-to-Many: Tables</vt:lpstr>
      <vt:lpstr>One-to-Many: Foreign Key</vt:lpstr>
      <vt:lpstr>Many-to-Many</vt:lpstr>
      <vt:lpstr>Many-to-Many: Tables</vt:lpstr>
      <vt:lpstr>Many-to-Many: Mapping Table</vt:lpstr>
      <vt:lpstr>One-to-One</vt:lpstr>
      <vt:lpstr>One-to-One</vt:lpstr>
      <vt:lpstr>One-to-One: Foreign Key</vt:lpstr>
      <vt:lpstr>Retrieving Related Data</vt:lpstr>
      <vt:lpstr>JOIN Statements</vt:lpstr>
      <vt:lpstr>Problem: Peaks in Rila</vt:lpstr>
      <vt:lpstr>Solution: Peaks in Rila</vt:lpstr>
      <vt:lpstr>Cascade Operations</vt:lpstr>
      <vt:lpstr>Definition</vt:lpstr>
      <vt:lpstr>Cascade Delete</vt:lpstr>
      <vt:lpstr>Cascade Update</vt:lpstr>
      <vt:lpstr>Cascade Delete: Example</vt:lpstr>
      <vt:lpstr>Cascade Update: Example</vt:lpstr>
      <vt:lpstr>E/R Diagrams</vt:lpstr>
      <vt:lpstr>Relational Schema</vt:lpstr>
      <vt:lpstr>SSMS E/R Diagram: Usage</vt:lpstr>
      <vt:lpstr>SSMS E/R Diagram</vt:lpstr>
      <vt:lpstr>Summary</vt:lpstr>
      <vt:lpstr>SoftUni Diamond Partners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 Relations</dc:title>
  <dc:subject>Databases Basics - MS SQL Server -  Practical Trainer @ SoftUni</dc:subject>
  <dc:creator>Software University</dc:creator>
  <cp:keywords>Databases; SQL; programming; SoftUni; Software University; programming; software development; software engineering; course; database systems</cp:keywords>
  <dc:description>© SoftUni – https://softuni.org_x000d_
© Software University – https://softuni.bg_x000d_
_x000d_
Copyrighted document. Unauthorized copy, reproduction or use is not permitted.</dc:description>
  <cp:lastModifiedBy>Krasimir Tsanev</cp:lastModifiedBy>
  <cp:revision>73</cp:revision>
  <dcterms:created xsi:type="dcterms:W3CDTF">2018-05-23T13:08:44Z</dcterms:created>
  <dcterms:modified xsi:type="dcterms:W3CDTF">2025-08-26T07:51:44Z</dcterms:modified>
  <cp:category>db;databases;sql;programming;computer programming;software development</cp:category>
</cp:coreProperties>
</file>