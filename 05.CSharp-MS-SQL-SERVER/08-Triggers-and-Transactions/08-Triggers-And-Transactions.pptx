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5"/>
  </p:notesMasterIdLst>
  <p:handoutMasterIdLst>
    <p:handoutMasterId r:id="rId36"/>
  </p:handoutMasterIdLst>
  <p:sldIdLst>
    <p:sldId id="1012" r:id="rId2"/>
    <p:sldId id="1013" r:id="rId3"/>
    <p:sldId id="1040" r:id="rId4"/>
    <p:sldId id="1041" r:id="rId5"/>
    <p:sldId id="1042" r:id="rId6"/>
    <p:sldId id="1043" r:id="rId7"/>
    <p:sldId id="1044" r:id="rId8"/>
    <p:sldId id="1045" r:id="rId9"/>
    <p:sldId id="1046" r:id="rId10"/>
    <p:sldId id="1047" r:id="rId11"/>
    <p:sldId id="1048" r:id="rId12"/>
    <p:sldId id="1049" r:id="rId13"/>
    <p:sldId id="1050" r:id="rId14"/>
    <p:sldId id="1051" r:id="rId15"/>
    <p:sldId id="1052" r:id="rId16"/>
    <p:sldId id="1053" r:id="rId17"/>
    <p:sldId id="1054" r:id="rId18"/>
    <p:sldId id="1055" r:id="rId19"/>
    <p:sldId id="1056" r:id="rId20"/>
    <p:sldId id="1057" r:id="rId21"/>
    <p:sldId id="1058" r:id="rId22"/>
    <p:sldId id="1060" r:id="rId23"/>
    <p:sldId id="1061" r:id="rId24"/>
    <p:sldId id="1062" r:id="rId25"/>
    <p:sldId id="1063" r:id="rId26"/>
    <p:sldId id="1064" r:id="rId27"/>
    <p:sldId id="1065" r:id="rId28"/>
    <p:sldId id="1066" r:id="rId29"/>
    <p:sldId id="1067" r:id="rId30"/>
    <p:sldId id="1006" r:id="rId31"/>
    <p:sldId id="614" r:id="rId32"/>
    <p:sldId id="405" r:id="rId33"/>
    <p:sldId id="49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642E744-44EE-4CEB-AFE9-5B08DEC0C305}">
          <p14:sldIdLst>
            <p14:sldId id="1012"/>
            <p14:sldId id="1013"/>
          </p14:sldIdLst>
        </p14:section>
        <p14:section name="Transactions" id="{9080F33B-0D64-453A-83B5-41F223788CA3}">
          <p14:sldIdLst>
            <p14:sldId id="1040"/>
            <p14:sldId id="1041"/>
            <p14:sldId id="1042"/>
            <p14:sldId id="1043"/>
            <p14:sldId id="1044"/>
            <p14:sldId id="1045"/>
            <p14:sldId id="1046"/>
            <p14:sldId id="1047"/>
            <p14:sldId id="1048"/>
          </p14:sldIdLst>
        </p14:section>
        <p14:section name="ACID Model" id="{874DA482-D5A4-457D-A2AC-B0ADE1A68074}">
          <p14:sldIdLst>
            <p14:sldId id="1049"/>
            <p14:sldId id="1050"/>
            <p14:sldId id="1051"/>
            <p14:sldId id="1052"/>
            <p14:sldId id="1053"/>
            <p14:sldId id="1054"/>
          </p14:sldIdLst>
        </p14:section>
        <p14:section name="Triggers" id="{E1A92A09-5B90-49F9-A73D-8043CEE1081E}">
          <p14:sldIdLst>
            <p14:sldId id="1055"/>
            <p14:sldId id="1056"/>
            <p14:sldId id="1057"/>
            <p14:sldId id="1058"/>
            <p14:sldId id="1060"/>
            <p14:sldId id="1061"/>
            <p14:sldId id="1062"/>
          </p14:sldIdLst>
        </p14:section>
        <p14:section name="Database Security" id="{109075FC-64B7-4FE5-8940-2B0B831887B0}">
          <p14:sldIdLst>
            <p14:sldId id="1063"/>
            <p14:sldId id="1064"/>
            <p14:sldId id="1065"/>
            <p14:sldId id="1066"/>
            <p14:sldId id="1067"/>
          </p14:sldIdLst>
        </p14:section>
        <p14:section name="Conclusion" id="{5C89857F-03BE-44C7-8649-CA73B466E71A}">
          <p14:sldIdLst>
            <p14:sldId id="1006"/>
            <p14:sldId id="614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09" autoAdjust="0"/>
    <p:restoredTop sz="53231" autoAdjust="0"/>
  </p:normalViewPr>
  <p:slideViewPr>
    <p:cSldViewPr showGuides="1">
      <p:cViewPr varScale="1">
        <p:scale>
          <a:sx n="100" d="100"/>
          <a:sy n="100" d="100"/>
        </p:scale>
        <p:origin x="56" y="42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26.8.2025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9532695-8CB2-42F6-885E-836594443D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6995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4F0034E-2D31-4FFB-AC64-A1F7B35F75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08859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3B7620B-EEFC-43F8-B799-C332BC5563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44748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AE345C6-99FC-4BF0-97F7-92943B3E1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80440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D7D6C1C-1563-48AE-B704-F7B3EC97AB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57022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 i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B7829E0-F923-4198-B3E5-4DD2525C58C8}" type="datetime1">
              <a:rPr lang="en-US"/>
              <a:pPr/>
              <a:t>8/26/2025</a:t>
            </a:fld>
            <a:r>
              <a:rPr lang="en-US"/>
              <a:t>07/16/96</a:t>
            </a:r>
            <a:endParaRPr lang="en-US" sz="1200" i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AD1116-BD6A-4F06-8155-84B4653F15C0}" type="slidenum">
              <a:rPr lang="en-US"/>
              <a:pPr/>
              <a:t>8</a:t>
            </a:fld>
            <a:r>
              <a:rPr lang="en-US"/>
              <a:t>##</a:t>
            </a:r>
            <a:endParaRPr lang="en-US" sz="1200" i="0"/>
          </a:p>
        </p:txBody>
      </p:sp>
      <p:sp>
        <p:nvSpPr>
          <p:cNvPr id="528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" y="750888"/>
            <a:ext cx="6589713" cy="3708400"/>
          </a:xfrm>
          <a:ln/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Use transfer example, not cash machine for failing to complete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9B5AC-95EF-48C7-A060-71CEC6E4A3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1093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E3E3DC3-40B9-46E9-8002-7F072360EB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1307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Transaction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is a sequence of actions</a:t>
            </a:r>
            <a:r>
              <a:rPr lang="bg-BG" dirty="0"/>
              <a:t> (</a:t>
            </a:r>
            <a:r>
              <a:rPr lang="en-US" dirty="0"/>
              <a:t>database operations</a:t>
            </a:r>
            <a:r>
              <a:rPr lang="bg-BG" dirty="0"/>
              <a:t>)</a:t>
            </a:r>
            <a:r>
              <a:rPr lang="en-US" dirty="0"/>
              <a:t> executed as a whole</a:t>
            </a:r>
            <a:r>
              <a:rPr lang="bg-BG" dirty="0"/>
              <a:t>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Either all of them complete successfully</a:t>
            </a:r>
            <a:endParaRPr lang="bg-BG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Or none of the them</a:t>
            </a:r>
            <a:endParaRPr lang="bg-BG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Example of transaction</a:t>
            </a:r>
            <a:r>
              <a:rPr lang="bg-BG" dirty="0"/>
              <a:t>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A bank transfer from one account into another</a:t>
            </a:r>
            <a:r>
              <a:rPr lang="bg-BG" dirty="0"/>
              <a:t> (</a:t>
            </a:r>
            <a:r>
              <a:rPr lang="en-US" dirty="0"/>
              <a:t>withdrawal</a:t>
            </a:r>
            <a:r>
              <a:rPr lang="bg-BG" dirty="0"/>
              <a:t> + </a:t>
            </a:r>
            <a:r>
              <a:rPr lang="en-US" dirty="0"/>
              <a:t>deposit</a:t>
            </a:r>
            <a:r>
              <a:rPr lang="bg-BG" dirty="0"/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If either the withdrawal or the deposit fails</a:t>
            </a:r>
            <a:r>
              <a:rPr lang="bg-BG" dirty="0"/>
              <a:t> </a:t>
            </a:r>
            <a:r>
              <a:rPr lang="en-US" dirty="0"/>
              <a:t>the whole operation is cancelled</a:t>
            </a:r>
            <a:endParaRPr lang="bg-BG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D9D170E-84F4-45CE-9714-B30AE47E18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3232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8000"/>
              </a:lnSpc>
            </a:pPr>
            <a:r>
              <a:rPr lang="en-US" dirty="0"/>
              <a:t>Start a transaction</a:t>
            </a:r>
          </a:p>
          <a:p>
            <a:pPr lvl="1">
              <a:lnSpc>
                <a:spcPct val="98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itchFamily="49" charset="0"/>
                <a:cs typeface="Consolas" pitchFamily="49" charset="0"/>
              </a:rPr>
              <a:t>BEGIN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onsolas" pitchFamily="49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itchFamily="49" charset="0"/>
                <a:cs typeface="Consolas" pitchFamily="49" charset="0"/>
              </a:rPr>
              <a:t>TRANSACTION</a:t>
            </a:r>
          </a:p>
          <a:p>
            <a:pPr lvl="1">
              <a:lnSpc>
                <a:spcPct val="98000"/>
              </a:lnSpc>
            </a:pPr>
            <a:r>
              <a:rPr lang="en-US" dirty="0"/>
              <a:t>Some RDBMS use implicit start, e.g. Oracle</a:t>
            </a:r>
          </a:p>
          <a:p>
            <a:pPr>
              <a:lnSpc>
                <a:spcPct val="98000"/>
              </a:lnSpc>
            </a:pPr>
            <a:r>
              <a:rPr lang="en-US" dirty="0"/>
              <a:t>Ending a transaction</a:t>
            </a:r>
          </a:p>
          <a:p>
            <a:pPr lvl="1">
              <a:lnSpc>
                <a:spcPct val="98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itchFamily="49" charset="0"/>
                <a:cs typeface="Consolas" pitchFamily="49" charset="0"/>
              </a:rPr>
              <a:t>COMMIT</a:t>
            </a:r>
          </a:p>
          <a:p>
            <a:pPr lvl="2">
              <a:lnSpc>
                <a:spcPct val="98000"/>
              </a:lnSpc>
            </a:pPr>
            <a:r>
              <a:rPr lang="en-US" dirty="0"/>
              <a:t>Complete a successful transaction and persist all changes made</a:t>
            </a:r>
          </a:p>
          <a:p>
            <a:pPr lvl="1">
              <a:lnSpc>
                <a:spcPct val="98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itchFamily="49" charset="0"/>
                <a:cs typeface="Consolas" pitchFamily="49" charset="0"/>
              </a:rPr>
              <a:t>ROLLBACK</a:t>
            </a:r>
          </a:p>
          <a:p>
            <a:pPr lvl="2">
              <a:lnSpc>
                <a:spcPct val="98000"/>
              </a:lnSpc>
            </a:pPr>
            <a:r>
              <a:rPr lang="en-US" dirty="0"/>
              <a:t>“Undo” changes from an aborted transaction</a:t>
            </a:r>
          </a:p>
          <a:p>
            <a:pPr lvl="2">
              <a:lnSpc>
                <a:spcPct val="98000"/>
              </a:lnSpc>
            </a:pPr>
            <a:r>
              <a:rPr lang="en-US" dirty="0"/>
              <a:t>May be done automatically when failure occurs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7B04466-1A58-4A01-A860-6AE27EC3DD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36097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20D3E7-8228-448E-A71C-FED6D43DF855}" type="slidenum">
              <a:rPr lang="en-US"/>
              <a:pPr/>
              <a:t>18</a:t>
            </a:fld>
            <a:r>
              <a:rPr lang="en-US" dirty="0"/>
              <a:t>##</a:t>
            </a:r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2BB38FD-3171-4990-B4CA-D494794A6E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09503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0823D08-BCFE-45FE-8AF7-87EF2DB588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69635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B37B0B0-2D60-4B49-815D-4C34D20059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52911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C350C56-12C9-46F8-ABED-E1E75ACD14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92531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3DB7942-7AE5-4C9C-B0F8-6F796F5A26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72657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9A5F54B-D9A1-4678-833E-026AC2A882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1543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B30B934-3DB4-4CA8-9925-6BFF52BD89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36395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64831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1_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118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vacom.bg/bg/residential/za-nas/za-kompanijata/koi-sme-nie" TargetMode="External"/><Relationship Id="rId13" Type="http://schemas.openxmlformats.org/officeDocument/2006/relationships/image" Target="../media/image45.PNG"/><Relationship Id="rId18" Type="http://schemas.openxmlformats.org/officeDocument/2006/relationships/image" Target="../media/image48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hyperlink" Target="https://www.postbank.bg/" TargetMode="External"/><Relationship Id="rId17" Type="http://schemas.openxmlformats.org/officeDocument/2006/relationships/hyperlink" Target="https://encorp.ai/" TargetMode="External"/><Relationship Id="rId2" Type="http://schemas.openxmlformats.org/officeDocument/2006/relationships/hyperlink" Target="https://en.superhosting.bg/" TargetMode="Externa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ndeavr.com/careers/" TargetMode="External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10" Type="http://schemas.openxmlformats.org/officeDocument/2006/relationships/hyperlink" Target="https://www.draftkings.com/" TargetMode="External"/><Relationship Id="rId19" Type="http://schemas.openxmlformats.org/officeDocument/2006/relationships/image" Target="../media/image49.svg"/><Relationship Id="rId4" Type="http://schemas.openxmlformats.org/officeDocument/2006/relationships/hyperlink" Target="https://createx.bg/" TargetMode="External"/><Relationship Id="rId9" Type="http://schemas.openxmlformats.org/officeDocument/2006/relationships/image" Target="../media/image43.png"/><Relationship Id="rId14" Type="http://schemas.openxmlformats.org/officeDocument/2006/relationships/hyperlink" Target="https://bg.coca-colahellenic.com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Programmability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Triggers and Transactions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SoftUni</a:t>
            </a:r>
            <a:r>
              <a:rPr lang="en-US" dirty="0"/>
              <a:t>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44" y="1469816"/>
            <a:ext cx="4129912" cy="412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2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Transactions</a:t>
            </a:r>
          </a:p>
          <a:p>
            <a:r>
              <a:rPr lang="en-US" sz="3400" dirty="0"/>
              <a:t>ACID Model</a:t>
            </a:r>
          </a:p>
          <a:p>
            <a:pPr marL="444500" indent="-444500">
              <a:buFontTx/>
              <a:buAutoNum type="arabicPeriod"/>
            </a:pPr>
            <a:r>
              <a:rPr lang="en-US" sz="3400" dirty="0"/>
              <a:t>Triggers</a:t>
            </a:r>
          </a:p>
          <a:p>
            <a:pPr marL="444500" indent="-444500">
              <a:buFontTx/>
              <a:buAutoNum type="arabicPeriod"/>
            </a:pPr>
            <a:r>
              <a:rPr lang="en-US" sz="3400" dirty="0"/>
              <a:t>Database Security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	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E193488-6218-4004-84F1-D5B821BC575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3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52F56-10F4-4C64-A9E8-ECA44D2339E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690" y="1202745"/>
            <a:ext cx="2852619" cy="2852619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A2A7FEAB-EBB9-4B52-B91B-9FD25FF8847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Definition, Usage, ACID Model</a:t>
            </a:r>
          </a:p>
        </p:txBody>
      </p:sp>
    </p:spTree>
    <p:extLst>
      <p:ext uri="{BB962C8B-B14F-4D97-AF65-F5344CB8AC3E}">
        <p14:creationId xmlns:p14="http://schemas.microsoft.com/office/powerpoint/2010/main" val="7912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5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Transaction</a:t>
            </a:r>
            <a:r>
              <a:rPr lang="en-US" dirty="0"/>
              <a:t> is a </a:t>
            </a:r>
            <a:r>
              <a:rPr lang="en-US" b="1" dirty="0">
                <a:solidFill>
                  <a:schemeClr val="bg1"/>
                </a:solidFill>
              </a:rPr>
              <a:t>sequence of actions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(</a:t>
            </a:r>
            <a:r>
              <a:rPr lang="en-US" b="1" dirty="0">
                <a:solidFill>
                  <a:schemeClr val="bg1"/>
                </a:solidFill>
              </a:rPr>
              <a:t>database operations</a:t>
            </a:r>
            <a:r>
              <a:rPr lang="bg-BG" dirty="0"/>
              <a:t>)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executed as a whole</a:t>
            </a:r>
            <a:r>
              <a:rPr lang="bg-BG" dirty="0"/>
              <a:t>:</a:t>
            </a:r>
          </a:p>
          <a:p>
            <a:pPr lvl="1"/>
            <a:r>
              <a:rPr lang="en-US" dirty="0"/>
              <a:t>Either </a:t>
            </a:r>
            <a:r>
              <a:rPr lang="en-US" b="1" dirty="0">
                <a:solidFill>
                  <a:schemeClr val="bg1"/>
                </a:solidFill>
              </a:rPr>
              <a:t>all</a:t>
            </a:r>
            <a:r>
              <a:rPr lang="en-US" dirty="0"/>
              <a:t> of them </a:t>
            </a:r>
            <a:r>
              <a:rPr lang="en-US" b="1" dirty="0">
                <a:solidFill>
                  <a:schemeClr val="bg1"/>
                </a:solidFill>
              </a:rPr>
              <a:t>complete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successfully</a:t>
            </a:r>
            <a:r>
              <a:rPr lang="en-US" dirty="0"/>
              <a:t> or </a:t>
            </a:r>
            <a:r>
              <a:rPr lang="en-US" b="1" dirty="0">
                <a:solidFill>
                  <a:schemeClr val="bg1"/>
                </a:solidFill>
              </a:rPr>
              <a:t>none</a:t>
            </a:r>
            <a:r>
              <a:rPr lang="en-US" dirty="0"/>
              <a:t> of them </a:t>
            </a:r>
            <a:r>
              <a:rPr lang="en-US" b="1" dirty="0">
                <a:solidFill>
                  <a:schemeClr val="bg1"/>
                </a:solidFill>
              </a:rPr>
              <a:t>do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en-US" dirty="0"/>
              <a:t>Examples</a:t>
            </a:r>
            <a:r>
              <a:rPr lang="bg-BG" dirty="0"/>
              <a:t>:</a:t>
            </a:r>
          </a:p>
          <a:p>
            <a:pPr lvl="1"/>
            <a:r>
              <a:rPr lang="en-US" dirty="0"/>
              <a:t>A bank transfer from one account into another</a:t>
            </a:r>
            <a:r>
              <a:rPr lang="bg-BG" dirty="0"/>
              <a:t> </a:t>
            </a:r>
            <a:br>
              <a:rPr lang="en-US" dirty="0"/>
            </a:br>
            <a:r>
              <a:rPr lang="bg-BG" dirty="0"/>
              <a:t>(</a:t>
            </a:r>
            <a:r>
              <a:rPr lang="en-US" b="1" dirty="0">
                <a:solidFill>
                  <a:schemeClr val="bg1"/>
                </a:solidFill>
              </a:rPr>
              <a:t>withdrawal</a:t>
            </a:r>
            <a:r>
              <a:rPr lang="bg-BG" b="1" dirty="0">
                <a:solidFill>
                  <a:schemeClr val="bg1"/>
                </a:solidFill>
              </a:rPr>
              <a:t> + </a:t>
            </a:r>
            <a:r>
              <a:rPr lang="en-US" b="1" dirty="0">
                <a:solidFill>
                  <a:schemeClr val="bg1"/>
                </a:solidFill>
              </a:rPr>
              <a:t>deposit</a:t>
            </a:r>
            <a:r>
              <a:rPr lang="bg-BG" dirty="0"/>
              <a:t>)</a:t>
            </a:r>
          </a:p>
          <a:p>
            <a:pPr lvl="1"/>
            <a:r>
              <a:rPr lang="en-US" dirty="0"/>
              <a:t>If either the </a:t>
            </a:r>
            <a:r>
              <a:rPr lang="en-US" b="1" dirty="0">
                <a:solidFill>
                  <a:schemeClr val="bg1"/>
                </a:solidFill>
              </a:rPr>
              <a:t>withdrawal</a:t>
            </a:r>
            <a:r>
              <a:rPr lang="en-US" dirty="0"/>
              <a:t> or the</a:t>
            </a:r>
            <a:r>
              <a:rPr lang="en-US" b="1" dirty="0">
                <a:solidFill>
                  <a:schemeClr val="bg1"/>
                </a:solidFill>
              </a:rPr>
              <a:t> deposit fails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whole operation is cancelled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6E104CE-A895-42C1-8357-056AEADA8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1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Transactions: Lifecycle (Rollback)</a:t>
            </a:r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475331" y="4611851"/>
            <a:ext cx="15772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Rollback</a:t>
            </a:r>
          </a:p>
        </p:txBody>
      </p:sp>
      <p:cxnSp>
        <p:nvCxnSpPr>
          <p:cNvPr id="6" name="AutoShape 8"/>
          <p:cNvCxnSpPr>
            <a:cxnSpLocks noChangeShapeType="1"/>
            <a:stCxn id="14" idx="3"/>
            <a:endCxn id="16" idx="1"/>
          </p:cNvCxnSpPr>
          <p:nvPr/>
        </p:nvCxnSpPr>
        <p:spPr bwMode="auto">
          <a:xfrm>
            <a:off x="2664570" y="3627685"/>
            <a:ext cx="1567383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Freeform 12"/>
          <p:cNvSpPr>
            <a:spLocks/>
          </p:cNvSpPr>
          <p:nvPr/>
        </p:nvSpPr>
        <p:spPr bwMode="auto">
          <a:xfrm>
            <a:off x="4310114" y="2230042"/>
            <a:ext cx="1168338" cy="597556"/>
          </a:xfrm>
          <a:custGeom>
            <a:avLst/>
            <a:gdLst>
              <a:gd name="T0" fmla="*/ 0 w 488"/>
              <a:gd name="T1" fmla="*/ 270 h 284"/>
              <a:gd name="T2" fmla="*/ 73 w 488"/>
              <a:gd name="T3" fmla="*/ 93 h 284"/>
              <a:gd name="T4" fmla="*/ 211 w 488"/>
              <a:gd name="T5" fmla="*/ 5 h 284"/>
              <a:gd name="T6" fmla="*/ 366 w 488"/>
              <a:gd name="T7" fmla="*/ 60 h 284"/>
              <a:gd name="T8" fmla="*/ 488 w 488"/>
              <a:gd name="T9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8" h="284">
                <a:moveTo>
                  <a:pt x="0" y="270"/>
                </a:moveTo>
                <a:cubicBezTo>
                  <a:pt x="13" y="239"/>
                  <a:pt x="38" y="137"/>
                  <a:pt x="73" y="93"/>
                </a:cubicBezTo>
                <a:cubicBezTo>
                  <a:pt x="108" y="49"/>
                  <a:pt x="162" y="11"/>
                  <a:pt x="211" y="5"/>
                </a:cubicBezTo>
                <a:cubicBezTo>
                  <a:pt x="260" y="0"/>
                  <a:pt x="320" y="14"/>
                  <a:pt x="366" y="60"/>
                </a:cubicBezTo>
                <a:cubicBezTo>
                  <a:pt x="412" y="107"/>
                  <a:pt x="463" y="237"/>
                  <a:pt x="488" y="284"/>
                </a:cubicBezTo>
              </a:path>
            </a:pathLst>
          </a:cu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3200"/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4310115" y="1546223"/>
            <a:ext cx="10173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Read</a:t>
            </a:r>
          </a:p>
        </p:txBody>
      </p:sp>
      <p:sp>
        <p:nvSpPr>
          <p:cNvPr id="10" name="Freeform 15"/>
          <p:cNvSpPr>
            <a:spLocks/>
          </p:cNvSpPr>
          <p:nvPr/>
        </p:nvSpPr>
        <p:spPr bwMode="auto">
          <a:xfrm>
            <a:off x="5863097" y="2230042"/>
            <a:ext cx="1168338" cy="597556"/>
          </a:xfrm>
          <a:custGeom>
            <a:avLst/>
            <a:gdLst>
              <a:gd name="T0" fmla="*/ 0 w 488"/>
              <a:gd name="T1" fmla="*/ 270 h 284"/>
              <a:gd name="T2" fmla="*/ 73 w 488"/>
              <a:gd name="T3" fmla="*/ 93 h 284"/>
              <a:gd name="T4" fmla="*/ 211 w 488"/>
              <a:gd name="T5" fmla="*/ 5 h 284"/>
              <a:gd name="T6" fmla="*/ 366 w 488"/>
              <a:gd name="T7" fmla="*/ 60 h 284"/>
              <a:gd name="T8" fmla="*/ 488 w 488"/>
              <a:gd name="T9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8" h="284">
                <a:moveTo>
                  <a:pt x="0" y="270"/>
                </a:moveTo>
                <a:cubicBezTo>
                  <a:pt x="13" y="239"/>
                  <a:pt x="38" y="137"/>
                  <a:pt x="73" y="93"/>
                </a:cubicBezTo>
                <a:cubicBezTo>
                  <a:pt x="108" y="49"/>
                  <a:pt x="162" y="11"/>
                  <a:pt x="211" y="5"/>
                </a:cubicBezTo>
                <a:cubicBezTo>
                  <a:pt x="260" y="0"/>
                  <a:pt x="320" y="14"/>
                  <a:pt x="366" y="60"/>
                </a:cubicBezTo>
                <a:cubicBezTo>
                  <a:pt x="412" y="107"/>
                  <a:pt x="463" y="237"/>
                  <a:pt x="488" y="284"/>
                </a:cubicBezTo>
              </a:path>
            </a:pathLst>
          </a:cu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3200"/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5863099" y="1546223"/>
            <a:ext cx="11123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Write</a:t>
            </a:r>
          </a:p>
        </p:txBody>
      </p:sp>
      <p:sp>
        <p:nvSpPr>
          <p:cNvPr id="12" name="Freeform 17"/>
          <p:cNvSpPr>
            <a:spLocks/>
          </p:cNvSpPr>
          <p:nvPr/>
        </p:nvSpPr>
        <p:spPr bwMode="auto">
          <a:xfrm>
            <a:off x="1525029" y="4504544"/>
            <a:ext cx="3638713" cy="753257"/>
          </a:xfrm>
          <a:custGeom>
            <a:avLst/>
            <a:gdLst>
              <a:gd name="T0" fmla="*/ 1616 w 1616"/>
              <a:gd name="T1" fmla="*/ 6 h 358"/>
              <a:gd name="T2" fmla="*/ 1525 w 1616"/>
              <a:gd name="T3" fmla="*/ 154 h 358"/>
              <a:gd name="T4" fmla="*/ 1216 w 1616"/>
              <a:gd name="T5" fmla="*/ 308 h 358"/>
              <a:gd name="T6" fmla="*/ 754 w 1616"/>
              <a:gd name="T7" fmla="*/ 351 h 358"/>
              <a:gd name="T8" fmla="*/ 202 w 1616"/>
              <a:gd name="T9" fmla="*/ 268 h 358"/>
              <a:gd name="T10" fmla="*/ 0 w 1616"/>
              <a:gd name="T11" fmla="*/ 0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16" h="358">
                <a:moveTo>
                  <a:pt x="1616" y="6"/>
                </a:moveTo>
                <a:cubicBezTo>
                  <a:pt x="1601" y="31"/>
                  <a:pt x="1592" y="104"/>
                  <a:pt x="1525" y="154"/>
                </a:cubicBezTo>
                <a:cubicBezTo>
                  <a:pt x="1458" y="204"/>
                  <a:pt x="1344" y="275"/>
                  <a:pt x="1216" y="308"/>
                </a:cubicBezTo>
                <a:cubicBezTo>
                  <a:pt x="1088" y="341"/>
                  <a:pt x="923" y="358"/>
                  <a:pt x="754" y="351"/>
                </a:cubicBezTo>
                <a:cubicBezTo>
                  <a:pt x="585" y="344"/>
                  <a:pt x="328" y="327"/>
                  <a:pt x="202" y="268"/>
                </a:cubicBezTo>
                <a:cubicBezTo>
                  <a:pt x="76" y="209"/>
                  <a:pt x="42" y="56"/>
                  <a:pt x="0" y="0"/>
                </a:cubicBezTo>
              </a:path>
            </a:pathLst>
          </a:cu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3200"/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821984" y="2955949"/>
            <a:ext cx="11123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Write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blackWhite">
          <a:xfrm>
            <a:off x="685801" y="2798143"/>
            <a:ext cx="1978769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72000" bIns="108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/>
              <a:t>Durable starting state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blackWhite">
          <a:xfrm>
            <a:off x="8449168" y="2798143"/>
            <a:ext cx="2501102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108000" tIns="72000" rIns="108000" bIns="108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/>
              <a:t>Durable,</a:t>
            </a:r>
          </a:p>
          <a:p>
            <a:pPr algn="ctr">
              <a:lnSpc>
                <a:spcPct val="100000"/>
              </a:lnSpc>
            </a:pPr>
            <a:r>
              <a:rPr lang="en-US" sz="3200" b="1" dirty="0"/>
              <a:t>consistent,</a:t>
            </a:r>
          </a:p>
          <a:p>
            <a:pPr algn="ctr">
              <a:lnSpc>
                <a:spcPct val="100000"/>
              </a:lnSpc>
            </a:pPr>
            <a:r>
              <a:rPr lang="en-US" sz="3200" b="1" dirty="0"/>
              <a:t>ending state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blackWhite">
          <a:xfrm>
            <a:off x="4231952" y="2798143"/>
            <a:ext cx="2875592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72000" bIns="10800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en-US" sz="3200" b="1" dirty="0"/>
              <a:t>Sequence</a:t>
            </a:r>
            <a:br>
              <a:rPr lang="en-US" sz="3200" b="1" dirty="0"/>
            </a:br>
            <a:r>
              <a:rPr lang="en-US" sz="3200" b="1" dirty="0"/>
              <a:t>of reads and writes</a:t>
            </a:r>
          </a:p>
        </p:txBody>
      </p:sp>
      <p:pic>
        <p:nvPicPr>
          <p:cNvPr id="17" name="Graphic 16" descr="Close">
            <a:extLst>
              <a:ext uri="{FF2B5EF4-FFF2-40B4-BE49-F238E27FC236}">
                <a16:creationId xmlns:a16="http://schemas.microsoft.com/office/drawing/2014/main" id="{902B6B62-5622-41E5-ADA8-2BA9A04E82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9643" y="4667172"/>
            <a:ext cx="914400" cy="914400"/>
          </a:xfrm>
          <a:prstGeom prst="rect">
            <a:avLst/>
          </a:prstGeom>
        </p:spPr>
      </p:pic>
      <p:sp>
        <p:nvSpPr>
          <p:cNvPr id="18" name="Slide Number">
            <a:extLst>
              <a:ext uri="{FF2B5EF4-FFF2-40B4-BE49-F238E27FC236}">
                <a16:creationId xmlns:a16="http://schemas.microsoft.com/office/drawing/2014/main" id="{CC044DB2-C9BD-421C-BFFA-7C93D880E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201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Transactions: Lifecycle (Commit)</a:t>
            </a:r>
            <a:endParaRPr lang="en-US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255182" y="2981878"/>
            <a:ext cx="15103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Commit</a:t>
            </a:r>
          </a:p>
        </p:txBody>
      </p:sp>
      <p:cxnSp>
        <p:nvCxnSpPr>
          <p:cNvPr id="6" name="AutoShape 8"/>
          <p:cNvCxnSpPr>
            <a:cxnSpLocks noChangeShapeType="1"/>
            <a:stCxn id="14" idx="3"/>
            <a:endCxn id="16" idx="1"/>
          </p:cNvCxnSpPr>
          <p:nvPr/>
        </p:nvCxnSpPr>
        <p:spPr bwMode="auto">
          <a:xfrm>
            <a:off x="2664570" y="3627685"/>
            <a:ext cx="1567383" cy="0"/>
          </a:xfrm>
          <a:prstGeom prst="straightConnector1">
            <a:avLst/>
          </a:pr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AutoShape 9"/>
          <p:cNvCxnSpPr>
            <a:cxnSpLocks noChangeShapeType="1"/>
            <a:stCxn id="16" idx="3"/>
            <a:endCxn id="15" idx="1"/>
          </p:cNvCxnSpPr>
          <p:nvPr/>
        </p:nvCxnSpPr>
        <p:spPr bwMode="auto">
          <a:xfrm>
            <a:off x="7107545" y="3627685"/>
            <a:ext cx="1869492" cy="0"/>
          </a:xfrm>
          <a:prstGeom prst="straightConnector1">
            <a:avLst/>
          </a:pr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Freeform 12"/>
          <p:cNvSpPr>
            <a:spLocks/>
          </p:cNvSpPr>
          <p:nvPr/>
        </p:nvSpPr>
        <p:spPr bwMode="auto">
          <a:xfrm>
            <a:off x="4310114" y="2230042"/>
            <a:ext cx="1168338" cy="597556"/>
          </a:xfrm>
          <a:custGeom>
            <a:avLst/>
            <a:gdLst>
              <a:gd name="T0" fmla="*/ 0 w 488"/>
              <a:gd name="T1" fmla="*/ 270 h 284"/>
              <a:gd name="T2" fmla="*/ 73 w 488"/>
              <a:gd name="T3" fmla="*/ 93 h 284"/>
              <a:gd name="T4" fmla="*/ 211 w 488"/>
              <a:gd name="T5" fmla="*/ 5 h 284"/>
              <a:gd name="T6" fmla="*/ 366 w 488"/>
              <a:gd name="T7" fmla="*/ 60 h 284"/>
              <a:gd name="T8" fmla="*/ 488 w 488"/>
              <a:gd name="T9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8" h="284">
                <a:moveTo>
                  <a:pt x="0" y="270"/>
                </a:moveTo>
                <a:cubicBezTo>
                  <a:pt x="13" y="239"/>
                  <a:pt x="38" y="137"/>
                  <a:pt x="73" y="93"/>
                </a:cubicBezTo>
                <a:cubicBezTo>
                  <a:pt x="108" y="49"/>
                  <a:pt x="162" y="11"/>
                  <a:pt x="211" y="5"/>
                </a:cubicBezTo>
                <a:cubicBezTo>
                  <a:pt x="260" y="0"/>
                  <a:pt x="320" y="14"/>
                  <a:pt x="366" y="60"/>
                </a:cubicBezTo>
                <a:cubicBezTo>
                  <a:pt x="412" y="107"/>
                  <a:pt x="463" y="237"/>
                  <a:pt x="488" y="284"/>
                </a:cubicBezTo>
              </a:path>
            </a:pathLst>
          </a:cu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3200"/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4310115" y="1546223"/>
            <a:ext cx="10173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Read</a:t>
            </a:r>
          </a:p>
        </p:txBody>
      </p:sp>
      <p:sp>
        <p:nvSpPr>
          <p:cNvPr id="10" name="Freeform 15"/>
          <p:cNvSpPr>
            <a:spLocks/>
          </p:cNvSpPr>
          <p:nvPr/>
        </p:nvSpPr>
        <p:spPr bwMode="auto">
          <a:xfrm>
            <a:off x="5863097" y="2230042"/>
            <a:ext cx="1168338" cy="597556"/>
          </a:xfrm>
          <a:custGeom>
            <a:avLst/>
            <a:gdLst>
              <a:gd name="T0" fmla="*/ 0 w 488"/>
              <a:gd name="T1" fmla="*/ 270 h 284"/>
              <a:gd name="T2" fmla="*/ 73 w 488"/>
              <a:gd name="T3" fmla="*/ 93 h 284"/>
              <a:gd name="T4" fmla="*/ 211 w 488"/>
              <a:gd name="T5" fmla="*/ 5 h 284"/>
              <a:gd name="T6" fmla="*/ 366 w 488"/>
              <a:gd name="T7" fmla="*/ 60 h 284"/>
              <a:gd name="T8" fmla="*/ 488 w 488"/>
              <a:gd name="T9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8" h="284">
                <a:moveTo>
                  <a:pt x="0" y="270"/>
                </a:moveTo>
                <a:cubicBezTo>
                  <a:pt x="13" y="239"/>
                  <a:pt x="38" y="137"/>
                  <a:pt x="73" y="93"/>
                </a:cubicBezTo>
                <a:cubicBezTo>
                  <a:pt x="108" y="49"/>
                  <a:pt x="162" y="11"/>
                  <a:pt x="211" y="5"/>
                </a:cubicBezTo>
                <a:cubicBezTo>
                  <a:pt x="260" y="0"/>
                  <a:pt x="320" y="14"/>
                  <a:pt x="366" y="60"/>
                </a:cubicBezTo>
                <a:cubicBezTo>
                  <a:pt x="412" y="107"/>
                  <a:pt x="463" y="237"/>
                  <a:pt x="488" y="284"/>
                </a:cubicBezTo>
              </a:path>
            </a:pathLst>
          </a:custGeom>
          <a:ln>
            <a:headEnd type="none" w="sm" len="sm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3200"/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5863099" y="1546223"/>
            <a:ext cx="11123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Write</a:t>
            </a: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821984" y="2955949"/>
            <a:ext cx="11123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Write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blackWhite">
          <a:xfrm>
            <a:off x="685801" y="2798143"/>
            <a:ext cx="1978769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72000" bIns="108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/>
              <a:t>Durable starting state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blackWhite">
          <a:xfrm>
            <a:off x="8977036" y="2798143"/>
            <a:ext cx="2501102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108000" tIns="72000" rIns="108000" bIns="108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/>
              <a:t>Durable,</a:t>
            </a:r>
          </a:p>
          <a:p>
            <a:pPr algn="ctr">
              <a:lnSpc>
                <a:spcPct val="100000"/>
              </a:lnSpc>
            </a:pPr>
            <a:r>
              <a:rPr lang="en-US" sz="3200" b="1" dirty="0"/>
              <a:t>consistent,</a:t>
            </a:r>
          </a:p>
          <a:p>
            <a:pPr algn="ctr">
              <a:lnSpc>
                <a:spcPct val="100000"/>
              </a:lnSpc>
            </a:pPr>
            <a:r>
              <a:rPr lang="en-US" sz="3200" b="1" dirty="0"/>
              <a:t>ending state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blackWhite">
          <a:xfrm>
            <a:off x="4231952" y="2798143"/>
            <a:ext cx="2875592" cy="1659085"/>
          </a:xfrm>
          <a:prstGeom prst="rect">
            <a:avLst/>
          </a:prstGeom>
          <a:solidFill>
            <a:srgbClr val="D1D5DD">
              <a:alpha val="50000"/>
            </a:srgbClr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72000" bIns="10800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en-US" sz="3200" b="1" dirty="0"/>
              <a:t>Sequence</a:t>
            </a:r>
            <a:br>
              <a:rPr lang="en-US" sz="3200" b="1" dirty="0"/>
            </a:br>
            <a:r>
              <a:rPr lang="en-US" sz="3200" b="1" dirty="0"/>
              <a:t>of reads and writes</a:t>
            </a:r>
          </a:p>
        </p:txBody>
      </p:sp>
      <p:pic>
        <p:nvPicPr>
          <p:cNvPr id="17" name="Graphic 16" descr="Checkmark">
            <a:extLst>
              <a:ext uri="{FF2B5EF4-FFF2-40B4-BE49-F238E27FC236}">
                <a16:creationId xmlns:a16="http://schemas.microsoft.com/office/drawing/2014/main" id="{384B2827-2FD2-463B-B4BB-EC2ED03E2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2548" y="4667172"/>
            <a:ext cx="914400" cy="914400"/>
          </a:xfrm>
          <a:prstGeom prst="rect">
            <a:avLst/>
          </a:prstGeom>
        </p:spPr>
      </p:pic>
      <p:sp>
        <p:nvSpPr>
          <p:cNvPr id="19" name="Slide Number">
            <a:extLst>
              <a:ext uri="{FF2B5EF4-FFF2-40B4-BE49-F238E27FC236}">
                <a16:creationId xmlns:a16="http://schemas.microsoft.com/office/drawing/2014/main" id="{8DCD255B-389F-4C77-BD46-68B468563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23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  <p:bldP spid="10" grpId="0" animBg="1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Transactions</a:t>
            </a:r>
            <a:r>
              <a:rPr lang="en-US" dirty="0"/>
              <a:t> guarantee the </a:t>
            </a:r>
            <a:r>
              <a:rPr lang="en-US" b="1" dirty="0">
                <a:solidFill>
                  <a:schemeClr val="bg1"/>
                </a:solidFill>
              </a:rPr>
              <a:t>consistency</a:t>
            </a:r>
            <a:r>
              <a:rPr lang="en-US" dirty="0"/>
              <a:t> and the </a:t>
            </a:r>
            <a:r>
              <a:rPr lang="en-US" b="1" dirty="0">
                <a:solidFill>
                  <a:schemeClr val="bg1"/>
                </a:solidFill>
              </a:rPr>
              <a:t>integrity</a:t>
            </a:r>
            <a:r>
              <a:rPr lang="en-US" dirty="0"/>
              <a:t> of 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database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en-US" dirty="0"/>
              <a:t>All </a:t>
            </a:r>
            <a:r>
              <a:rPr lang="en-US" b="1" dirty="0">
                <a:solidFill>
                  <a:schemeClr val="bg1"/>
                </a:solidFill>
              </a:rPr>
              <a:t>changes</a:t>
            </a:r>
            <a:r>
              <a:rPr lang="en-US" dirty="0"/>
              <a:t> in a transaction </a:t>
            </a:r>
            <a:r>
              <a:rPr lang="en-US" b="1" dirty="0">
                <a:solidFill>
                  <a:schemeClr val="bg1"/>
                </a:solidFill>
              </a:rPr>
              <a:t>are temporary</a:t>
            </a:r>
          </a:p>
          <a:p>
            <a:pPr lvl="1"/>
            <a:r>
              <a:rPr lang="en-US" dirty="0"/>
              <a:t>Changes are </a:t>
            </a:r>
            <a:r>
              <a:rPr lang="en-US" b="1" dirty="0">
                <a:solidFill>
                  <a:schemeClr val="bg1"/>
                </a:solidFill>
              </a:rPr>
              <a:t>persisted</a:t>
            </a:r>
            <a:r>
              <a:rPr lang="en-US" dirty="0"/>
              <a:t> when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COMMIT</a:t>
            </a:r>
            <a:r>
              <a:rPr lang="en-US" dirty="0"/>
              <a:t> is </a:t>
            </a:r>
            <a:r>
              <a:rPr lang="en-US" b="1" dirty="0">
                <a:solidFill>
                  <a:schemeClr val="bg1"/>
                </a:solidFill>
              </a:rPr>
              <a:t>executed</a:t>
            </a:r>
          </a:p>
          <a:p>
            <a:pPr lvl="1"/>
            <a:r>
              <a:rPr lang="en-US" dirty="0"/>
              <a:t>At any time, </a:t>
            </a:r>
            <a:r>
              <a:rPr lang="en-US" b="1" dirty="0">
                <a:solidFill>
                  <a:schemeClr val="bg1"/>
                </a:solidFill>
              </a:rPr>
              <a:t>all changes </a:t>
            </a:r>
            <a:r>
              <a:rPr lang="en-US" dirty="0"/>
              <a:t>can be </a:t>
            </a:r>
            <a:r>
              <a:rPr lang="en-US" b="1" dirty="0">
                <a:solidFill>
                  <a:schemeClr val="bg1"/>
                </a:solidFill>
              </a:rPr>
              <a:t>canceled</a:t>
            </a:r>
            <a:r>
              <a:rPr lang="en-US" dirty="0"/>
              <a:t> by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ROLLBACK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All </a:t>
            </a:r>
            <a:r>
              <a:rPr lang="en-US" b="1" dirty="0">
                <a:solidFill>
                  <a:schemeClr val="bg1"/>
                </a:solidFill>
              </a:rPr>
              <a:t>changes</a:t>
            </a:r>
            <a:r>
              <a:rPr lang="en-US" dirty="0"/>
              <a:t> are </a:t>
            </a:r>
            <a:r>
              <a:rPr lang="en-US" b="1" dirty="0">
                <a:solidFill>
                  <a:schemeClr val="bg1"/>
                </a:solidFill>
              </a:rPr>
              <a:t>persisted at once</a:t>
            </a:r>
          </a:p>
          <a:p>
            <a:pPr lvl="1"/>
            <a:r>
              <a:rPr lang="en-US" dirty="0"/>
              <a:t>As long as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COMMIT</a:t>
            </a:r>
            <a:r>
              <a:rPr lang="en-US" dirty="0"/>
              <a:t> is called</a:t>
            </a:r>
            <a:endParaRPr lang="bg-BG" dirty="0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 Behavior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BF99503-5649-4AB7-9198-AB326FD97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847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3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Some actions </a:t>
            </a:r>
            <a:r>
              <a:rPr lang="en-US" b="1" dirty="0">
                <a:solidFill>
                  <a:schemeClr val="bg1"/>
                </a:solidFill>
              </a:rPr>
              <a:t>fail to complete</a:t>
            </a:r>
          </a:p>
          <a:p>
            <a:pPr lvl="1"/>
            <a:r>
              <a:rPr lang="en-US" dirty="0"/>
              <a:t>The application </a:t>
            </a:r>
            <a:r>
              <a:rPr lang="en-US" b="1" dirty="0">
                <a:solidFill>
                  <a:schemeClr val="bg1"/>
                </a:solidFill>
              </a:rPr>
              <a:t>software</a:t>
            </a:r>
            <a:r>
              <a:rPr lang="en-US" dirty="0"/>
              <a:t> or database </a:t>
            </a:r>
            <a:r>
              <a:rPr lang="en-US" b="1" dirty="0">
                <a:solidFill>
                  <a:schemeClr val="bg1"/>
                </a:solidFill>
              </a:rPr>
              <a:t>server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crashes</a:t>
            </a:r>
          </a:p>
          <a:p>
            <a:pPr lvl="1"/>
            <a:r>
              <a:rPr lang="en-US" dirty="0"/>
              <a:t>The user </a:t>
            </a:r>
            <a:r>
              <a:rPr lang="en-US" b="1" dirty="0">
                <a:solidFill>
                  <a:schemeClr val="bg1"/>
                </a:solidFill>
              </a:rPr>
              <a:t>cancels the action </a:t>
            </a:r>
            <a:r>
              <a:rPr lang="en-US" dirty="0"/>
              <a:t>while it’s </a:t>
            </a:r>
            <a:r>
              <a:rPr lang="en-US" b="1" dirty="0">
                <a:solidFill>
                  <a:schemeClr val="bg1"/>
                </a:solidFill>
              </a:rPr>
              <a:t>in progress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Interference</a:t>
            </a:r>
            <a:r>
              <a:rPr lang="en-US" dirty="0"/>
              <a:t> from another </a:t>
            </a:r>
            <a:r>
              <a:rPr lang="en-US" b="1" dirty="0">
                <a:solidFill>
                  <a:schemeClr val="bg1"/>
                </a:solidFill>
              </a:rPr>
              <a:t>transaction</a:t>
            </a:r>
          </a:p>
          <a:p>
            <a:pPr lvl="1"/>
            <a:r>
              <a:rPr lang="en-US" dirty="0"/>
              <a:t>What happens if several transfers run for the same account at </a:t>
            </a:r>
            <a:br>
              <a:rPr lang="en-US" dirty="0"/>
            </a:br>
            <a:r>
              <a:rPr lang="en-US" dirty="0"/>
              <a:t>the same time?</a:t>
            </a:r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Transactions: What Can Go Wrong?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6923DD3-0C3C-4162-8F32-8770E1228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130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Checkpoints in Games</a:t>
            </a:r>
            <a:endParaRPr lang="bg-BG" dirty="0"/>
          </a:p>
        </p:txBody>
      </p:sp>
      <p:sp>
        <p:nvSpPr>
          <p:cNvPr id="7" name="TextBox 6"/>
          <p:cNvSpPr txBox="1"/>
          <p:nvPr/>
        </p:nvSpPr>
        <p:spPr>
          <a:xfrm>
            <a:off x="475591" y="4211244"/>
            <a:ext cx="16217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Castle 1-</a:t>
            </a:r>
            <a:r>
              <a:rPr lang="bg-BG" sz="2800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5158" y="4191000"/>
            <a:ext cx="16217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Castle 1-</a:t>
            </a:r>
            <a:r>
              <a:rPr lang="bg-BG" sz="2800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3657" y="1918240"/>
            <a:ext cx="670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DIE</a:t>
            </a:r>
            <a:endParaRPr lang="bg-BG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337397" y="5398609"/>
            <a:ext cx="1442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SURVIVE</a:t>
            </a:r>
            <a:endParaRPr lang="bg-BG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784939" y="5425279"/>
            <a:ext cx="1050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Mario</a:t>
            </a:r>
            <a:endParaRPr lang="bg-BG" sz="28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971800" y="2620342"/>
            <a:ext cx="2470666" cy="144780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997165" y="4618698"/>
            <a:ext cx="2340233" cy="91866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729792" y="2385401"/>
            <a:ext cx="2451809" cy="140176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941808" y="4618699"/>
            <a:ext cx="2583193" cy="91866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Резултат с изображение за Super Mario cas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359" y="2226748"/>
            <a:ext cx="1674078" cy="196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Резултат с изображение за Super Mario cas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71" y="2473446"/>
            <a:ext cx="14287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езултат с изображение за super mario transparent old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886875"/>
            <a:ext cx="2104566" cy="154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">
            <a:extLst>
              <a:ext uri="{FF2B5EF4-FFF2-40B4-BE49-F238E27FC236}">
                <a16:creationId xmlns:a16="http://schemas.microsoft.com/office/drawing/2014/main" id="{018577EA-1E9A-4813-B24C-5536963E7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24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Transactions?</a:t>
            </a:r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11" y="2620342"/>
            <a:ext cx="1411139" cy="1570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771" y="4211244"/>
            <a:ext cx="1288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STATE 1</a:t>
            </a:r>
            <a:endParaRPr lang="bg-BG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684" y="2620342"/>
            <a:ext cx="1411139" cy="15706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6270" y="4239164"/>
            <a:ext cx="1288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STATE 2</a:t>
            </a:r>
            <a:endParaRPr lang="bg-BG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237273" y="2123790"/>
            <a:ext cx="1689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ROLLBACK</a:t>
            </a:r>
            <a:endParaRPr lang="bg-BG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337398" y="5398609"/>
            <a:ext cx="1489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COMMIT</a:t>
            </a:r>
            <a:endParaRPr lang="bg-BG" sz="28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971800" y="2620342"/>
            <a:ext cx="2470666" cy="144780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997165" y="4618698"/>
            <a:ext cx="2340233" cy="91866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729792" y="2385401"/>
            <a:ext cx="2451809" cy="140176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941808" y="4618698"/>
            <a:ext cx="3061207" cy="918666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1" y="4782553"/>
            <a:ext cx="1841818" cy="18418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19200" y="55613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Queries</a:t>
            </a:r>
            <a:endParaRPr lang="bg-BG" sz="28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49E387-A829-4E84-BD8E-95F363B35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347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 Syntax</a:t>
            </a:r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81000" y="1359000"/>
            <a:ext cx="11565000" cy="52417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CREATE PROC </a:t>
            </a:r>
            <a:r>
              <a:rPr lang="en-US" sz="2400" b="1" dirty="0" err="1">
                <a:latin typeface="Consolas" panose="020B0609020204030204" pitchFamily="49" charset="0"/>
              </a:rPr>
              <a:t>usp_Withdraw</a:t>
            </a:r>
            <a:r>
              <a:rPr lang="en-US" sz="2400" b="1" dirty="0">
                <a:latin typeface="Consolas" panose="020B0609020204030204" pitchFamily="49" charset="0"/>
              </a:rPr>
              <a:t> (@withdrawAmount DECIMAL(18,2), @accountId INT)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BEGIN TRANSACTION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UPDATE Accounts SET Balance = Balance - @</a:t>
            </a:r>
            <a:r>
              <a:rPr lang="en-US" sz="2400" b="1" noProof="1">
                <a:latin typeface="Consolas" panose="020B0609020204030204" pitchFamily="49" charset="0"/>
              </a:rPr>
              <a:t>withdrawAmount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WHERE Id = </a:t>
            </a:r>
            <a:r>
              <a:rPr lang="en-US" sz="2400" b="1" noProof="1">
                <a:latin typeface="Consolas" panose="020B0609020204030204" pitchFamily="49" charset="0"/>
              </a:rPr>
              <a:t>@accountId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IF @@ROWCOUNT &lt;&gt; 1</a:t>
            </a:r>
            <a:r>
              <a:rPr lang="bg-BG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--</a:t>
            </a:r>
            <a:r>
              <a:rPr lang="bg-BG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Didn’t affect exactly one row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BEGIN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ROLLBACK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  THROW 50001, 'Invalid account!’, 1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  RETURN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latin typeface="Consolas" panose="020B0609020204030204" pitchFamily="49" charset="0"/>
              </a:rPr>
              <a:t>END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COMMIT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3455697" y="2068109"/>
            <a:ext cx="2743200" cy="510778"/>
          </a:xfrm>
          <a:prstGeom prst="wedgeRoundRectCallout">
            <a:avLst>
              <a:gd name="adj1" fmla="val -56103"/>
              <a:gd name="adj2" fmla="val 344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Transaction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2609803" y="4351356"/>
            <a:ext cx="2438400" cy="476903"/>
          </a:xfrm>
          <a:prstGeom prst="wedgeRoundRectCallout">
            <a:avLst>
              <a:gd name="adj1" fmla="val -61606"/>
              <a:gd name="adj2" fmla="val 305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Undo Changes</a:t>
            </a: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1956000" y="5769000"/>
            <a:ext cx="2307771" cy="476903"/>
          </a:xfrm>
          <a:prstGeom prst="wedgeRoundRectCallout">
            <a:avLst>
              <a:gd name="adj1" fmla="val -60800"/>
              <a:gd name="adj2" fmla="val 391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Changes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559334" y="2578087"/>
            <a:ext cx="2693332" cy="463841"/>
          </a:xfrm>
          <a:prstGeom prst="wedgeRoundRectCallout">
            <a:avLst>
              <a:gd name="adj1" fmla="val -55107"/>
              <a:gd name="adj2" fmla="val 342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Withdraw Money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83114DE-28A0-42D8-8EC2-8187A81E8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68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CDC1818B-C507-490F-9D34-64708AE65CE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Solving Problems Before They Arise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2074EF-8DAC-4D27-9218-F2135BF8AB6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ACID Models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172" y="1814286"/>
            <a:ext cx="2954765" cy="1625599"/>
          </a:xfrm>
          <a:prstGeom prst="roundRect">
            <a:avLst>
              <a:gd name="adj" fmla="val 5002"/>
            </a:avLst>
          </a:prstGeom>
        </p:spPr>
      </p:pic>
    </p:spTree>
    <p:extLst>
      <p:ext uri="{BB962C8B-B14F-4D97-AF65-F5344CB8AC3E}">
        <p14:creationId xmlns:p14="http://schemas.microsoft.com/office/powerpoint/2010/main" val="365559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3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DBMS servers have </a:t>
            </a:r>
            <a:r>
              <a:rPr lang="en-US" b="1" dirty="0">
                <a:solidFill>
                  <a:schemeClr val="bg1"/>
                </a:solidFill>
              </a:rPr>
              <a:t>built-in transaction support</a:t>
            </a:r>
          </a:p>
          <a:p>
            <a:pPr lvl="1"/>
            <a:r>
              <a:rPr lang="en-US" dirty="0"/>
              <a:t>Implement "</a:t>
            </a:r>
            <a:r>
              <a:rPr lang="en-US" b="1" dirty="0">
                <a:solidFill>
                  <a:schemeClr val="bg1"/>
                </a:solidFill>
              </a:rPr>
              <a:t>ACID</a:t>
            </a:r>
            <a:r>
              <a:rPr lang="en-US" dirty="0"/>
              <a:t>" </a:t>
            </a:r>
            <a:r>
              <a:rPr lang="en-US" b="1" dirty="0">
                <a:solidFill>
                  <a:schemeClr val="bg1"/>
                </a:solidFill>
              </a:rPr>
              <a:t>transactions</a:t>
            </a:r>
            <a:endParaRPr lang="en-US" dirty="0"/>
          </a:p>
          <a:p>
            <a:pPr lvl="1"/>
            <a:r>
              <a:rPr lang="en-US" dirty="0"/>
              <a:t>MS SQL Server, Oracle, MySQL, PostgreSQL, etc.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ACID</a:t>
            </a:r>
            <a:r>
              <a:rPr lang="en-US" dirty="0"/>
              <a:t> means: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Atomicity</a:t>
            </a:r>
            <a:endParaRPr lang="bg-BG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Consistency</a:t>
            </a:r>
            <a:r>
              <a:rPr lang="bg-BG" dirty="0"/>
              <a:t> 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Isolation</a:t>
            </a:r>
            <a:endParaRPr lang="bg-BG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Durability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Properties</a:t>
            </a:r>
            <a:endParaRPr lang="bg-BG" dirty="0"/>
          </a:p>
        </p:txBody>
      </p:sp>
      <p:grpSp>
        <p:nvGrpSpPr>
          <p:cNvPr id="5" name="Group 4"/>
          <p:cNvGrpSpPr/>
          <p:nvPr/>
        </p:nvGrpSpPr>
        <p:grpSpPr>
          <a:xfrm>
            <a:off x="5646000" y="3654000"/>
            <a:ext cx="5832649" cy="2736304"/>
            <a:chOff x="5671963" y="3352800"/>
            <a:chExt cx="5832649" cy="2736304"/>
          </a:xfrm>
        </p:grpSpPr>
        <p:pic>
          <p:nvPicPr>
            <p:cNvPr id="3076" name="Picture 4" descr="http://www.icondig.com/data/icons/REALVISTA/database/png/400/database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1963" y="3352800"/>
              <a:ext cx="2736304" cy="2736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267575" y="3822154"/>
              <a:ext cx="4237037" cy="2266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Slide Number">
            <a:extLst>
              <a:ext uri="{FF2B5EF4-FFF2-40B4-BE49-F238E27FC236}">
                <a16:creationId xmlns:a16="http://schemas.microsoft.com/office/drawing/2014/main" id="{70C4C78E-87BC-4E68-B12C-F72AB10BF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099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Atomicity</a:t>
            </a:r>
            <a:r>
              <a:rPr lang="en-US" dirty="0"/>
              <a:t> means that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Transactions</a:t>
            </a:r>
            <a:r>
              <a:rPr lang="en-US" dirty="0"/>
              <a:t> execute as a </a:t>
            </a:r>
            <a:r>
              <a:rPr lang="en-US" b="1" dirty="0">
                <a:solidFill>
                  <a:schemeClr val="bg1"/>
                </a:solidFill>
              </a:rPr>
              <a:t>whole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DBMS guarantees that </a:t>
            </a:r>
            <a:r>
              <a:rPr lang="en-US" b="1" dirty="0">
                <a:solidFill>
                  <a:schemeClr val="bg1"/>
                </a:solidFill>
              </a:rPr>
              <a:t>either all </a:t>
            </a:r>
            <a:r>
              <a:rPr lang="en-US" dirty="0"/>
              <a:t>of the</a:t>
            </a:r>
            <a:br>
              <a:rPr lang="en-US" dirty="0"/>
            </a:br>
            <a:r>
              <a:rPr lang="en-US" dirty="0"/>
              <a:t>operations are performed </a:t>
            </a:r>
            <a:r>
              <a:rPr lang="en-US" b="1" dirty="0">
                <a:solidFill>
                  <a:schemeClr val="bg1"/>
                </a:solidFill>
              </a:rPr>
              <a:t>or none </a:t>
            </a:r>
            <a:r>
              <a:rPr lang="en-US" dirty="0"/>
              <a:t>of them</a:t>
            </a:r>
          </a:p>
          <a:p>
            <a:r>
              <a:rPr lang="en-US" dirty="0"/>
              <a:t>Example: Transferring funds between bank accounts</a:t>
            </a:r>
          </a:p>
          <a:p>
            <a:pPr lvl="1"/>
            <a:r>
              <a:rPr lang="en-US" dirty="0"/>
              <a:t>Either withdraw + deposit both succeed, or none of them do</a:t>
            </a:r>
          </a:p>
          <a:p>
            <a:pPr lvl="1"/>
            <a:r>
              <a:rPr lang="en-US" dirty="0"/>
              <a:t>In case of failure, the database stays unchanged</a:t>
            </a:r>
            <a:endParaRPr lang="bg-BG" dirty="0"/>
          </a:p>
        </p:txBody>
      </p:sp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8DA71D9-8248-4A78-A5FA-4730BA2DD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1026" name="Picture 2" descr="Atomic structure - Free education icons">
            <a:extLst>
              <a:ext uri="{FF2B5EF4-FFF2-40B4-BE49-F238E27FC236}">
                <a16:creationId xmlns:a16="http://schemas.microsoft.com/office/drawing/2014/main" id="{76B64AE6-1B0B-7142-6BC8-F5F36833E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098" y="1278163"/>
            <a:ext cx="2573400" cy="257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25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09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D277C75D-D050-4FDF-BCA6-434977E8C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64512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Consistency</a:t>
            </a:r>
            <a:r>
              <a:rPr lang="en-US" dirty="0"/>
              <a:t> means that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The database has a legal state in both the </a:t>
            </a:r>
            <a:r>
              <a:rPr lang="en-US" b="1" dirty="0">
                <a:solidFill>
                  <a:schemeClr val="bg1"/>
                </a:solidFill>
              </a:rPr>
              <a:t>transaction's beginning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its end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Only </a:t>
            </a:r>
            <a:r>
              <a:rPr lang="en-US" b="1" dirty="0">
                <a:solidFill>
                  <a:schemeClr val="bg1"/>
                </a:solidFill>
              </a:rPr>
              <a:t>valid data </a:t>
            </a:r>
            <a:r>
              <a:rPr lang="en-US" dirty="0"/>
              <a:t>will be </a:t>
            </a:r>
            <a:r>
              <a:rPr lang="en-US" b="1" dirty="0">
                <a:solidFill>
                  <a:schemeClr val="bg1"/>
                </a:solidFill>
              </a:rPr>
              <a:t>written</a:t>
            </a:r>
            <a:r>
              <a:rPr lang="en-US" dirty="0"/>
              <a:t> to the DB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Transaction </a:t>
            </a:r>
            <a:r>
              <a:rPr lang="en-US" b="1" dirty="0">
                <a:solidFill>
                  <a:schemeClr val="bg1"/>
                </a:solidFill>
              </a:rPr>
              <a:t>cannot break the rules </a:t>
            </a:r>
            <a:r>
              <a:rPr lang="en-US" dirty="0"/>
              <a:t>of the database</a:t>
            </a:r>
          </a:p>
          <a:p>
            <a:pPr lvl="2">
              <a:lnSpc>
                <a:spcPct val="115000"/>
              </a:lnSpc>
            </a:pPr>
            <a:r>
              <a:rPr lang="en-US" dirty="0"/>
              <a:t>Primary keys, foreign keys, check constraints, data types…</a:t>
            </a:r>
          </a:p>
          <a:p>
            <a:pPr>
              <a:lnSpc>
                <a:spcPct val="115000"/>
              </a:lnSpc>
            </a:pPr>
            <a:r>
              <a:rPr lang="en-US" dirty="0"/>
              <a:t>Consistency example: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Transaction </a:t>
            </a:r>
            <a:r>
              <a:rPr lang="en-US" b="1" dirty="0">
                <a:solidFill>
                  <a:schemeClr val="bg1"/>
                </a:solidFill>
              </a:rPr>
              <a:t>cannot end with a duplicate primary key </a:t>
            </a:r>
            <a:r>
              <a:rPr lang="en-US" dirty="0"/>
              <a:t>in a table</a:t>
            </a:r>
          </a:p>
        </p:txBody>
      </p:sp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Consistency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3526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1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buClr>
                <a:schemeClr val="tx1"/>
              </a:buClr>
            </a:pPr>
            <a:r>
              <a:rPr lang="en-US" sz="3500" b="1" dirty="0">
                <a:solidFill>
                  <a:schemeClr val="bg1"/>
                </a:solidFill>
              </a:rPr>
              <a:t>Isolation</a:t>
            </a:r>
            <a:r>
              <a:rPr lang="en-US" sz="3500" dirty="0"/>
              <a:t> means that</a:t>
            </a:r>
          </a:p>
          <a:p>
            <a:pPr lvl="1">
              <a:lnSpc>
                <a:spcPct val="115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Multiple transactions </a:t>
            </a:r>
            <a:r>
              <a:rPr lang="en-US" dirty="0"/>
              <a:t>running at the same time </a:t>
            </a:r>
            <a:r>
              <a:rPr lang="en-US" b="1" dirty="0">
                <a:solidFill>
                  <a:schemeClr val="bg1"/>
                </a:solidFill>
              </a:rPr>
              <a:t>do not impact each other's execution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Transactions </a:t>
            </a:r>
            <a:r>
              <a:rPr lang="en-US" b="1" dirty="0">
                <a:solidFill>
                  <a:schemeClr val="bg1"/>
                </a:solidFill>
              </a:rPr>
              <a:t>don't see </a:t>
            </a:r>
            <a:r>
              <a:rPr lang="en-US" dirty="0"/>
              <a:t>other transactions' </a:t>
            </a:r>
            <a:r>
              <a:rPr lang="en-US" b="1" dirty="0">
                <a:solidFill>
                  <a:schemeClr val="bg1"/>
                </a:solidFill>
              </a:rPr>
              <a:t>uncommitted changes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Isolation level defines how deep transactions </a:t>
            </a:r>
            <a:r>
              <a:rPr lang="en-US" b="1" dirty="0">
                <a:solidFill>
                  <a:schemeClr val="bg1"/>
                </a:solidFill>
              </a:rPr>
              <a:t>isolate from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one another</a:t>
            </a:r>
          </a:p>
          <a:p>
            <a:pPr>
              <a:lnSpc>
                <a:spcPct val="115000"/>
              </a:lnSpc>
            </a:pPr>
            <a:r>
              <a:rPr lang="en-US" sz="3500" dirty="0"/>
              <a:t>Isolation example:</a:t>
            </a:r>
          </a:p>
          <a:p>
            <a:pPr lvl="1">
              <a:lnSpc>
                <a:spcPct val="115000"/>
              </a:lnSpc>
            </a:pPr>
            <a:r>
              <a:rPr lang="en-US" dirty="0"/>
              <a:t>If two or more people try to buy the last copy of a product, only one of them will succeed</a:t>
            </a:r>
          </a:p>
        </p:txBody>
      </p:sp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Isolation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8EA20AF-D433-49A0-A387-14DF1A4CA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59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7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Durability</a:t>
            </a:r>
            <a:r>
              <a:rPr lang="en-US" dirty="0"/>
              <a:t> means that</a:t>
            </a:r>
            <a:r>
              <a:rPr lang="bg-BG" dirty="0"/>
              <a:t>:</a:t>
            </a:r>
            <a:endParaRPr lang="en-US" dirty="0"/>
          </a:p>
          <a:p>
            <a:pPr lvl="1"/>
            <a:r>
              <a:rPr lang="en-US" dirty="0"/>
              <a:t>If a transaction is </a:t>
            </a:r>
            <a:r>
              <a:rPr lang="en-US" b="1" dirty="0">
                <a:solidFill>
                  <a:schemeClr val="bg1"/>
                </a:solidFill>
              </a:rPr>
              <a:t>committed</a:t>
            </a:r>
            <a:r>
              <a:rPr lang="en-US" dirty="0"/>
              <a:t> it becomes </a:t>
            </a:r>
            <a:r>
              <a:rPr lang="en-US" b="1" dirty="0">
                <a:solidFill>
                  <a:schemeClr val="bg1"/>
                </a:solidFill>
              </a:rPr>
              <a:t>persistent</a:t>
            </a:r>
          </a:p>
          <a:p>
            <a:pPr lvl="2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Cannot</a:t>
            </a:r>
            <a:r>
              <a:rPr lang="en-US" dirty="0"/>
              <a:t> be </a:t>
            </a:r>
            <a:r>
              <a:rPr lang="en-US" b="1" dirty="0">
                <a:solidFill>
                  <a:schemeClr val="bg1"/>
                </a:solidFill>
              </a:rPr>
              <a:t>lost</a:t>
            </a:r>
            <a:r>
              <a:rPr lang="en-US" dirty="0"/>
              <a:t> or </a:t>
            </a:r>
            <a:r>
              <a:rPr lang="en-US" b="1" dirty="0">
                <a:solidFill>
                  <a:schemeClr val="bg1"/>
                </a:solidFill>
              </a:rPr>
              <a:t>undone</a:t>
            </a:r>
          </a:p>
          <a:p>
            <a:pPr lvl="1"/>
            <a:r>
              <a:rPr lang="en-US" dirty="0"/>
              <a:t>Ensured by the use of </a:t>
            </a:r>
            <a:r>
              <a:rPr lang="en-US" b="1" dirty="0">
                <a:solidFill>
                  <a:schemeClr val="bg1"/>
                </a:solidFill>
              </a:rPr>
              <a:t>database transaction logs</a:t>
            </a:r>
          </a:p>
          <a:p>
            <a:r>
              <a:rPr lang="en-US" dirty="0"/>
              <a:t>Durability example:</a:t>
            </a:r>
          </a:p>
          <a:p>
            <a:pPr lvl="1"/>
            <a:r>
              <a:rPr lang="en-US" dirty="0"/>
              <a:t>After funds are transferred and committed, the power supply at the DB server is lost</a:t>
            </a:r>
          </a:p>
          <a:p>
            <a:pPr lvl="1"/>
            <a:r>
              <a:rPr lang="en-US" dirty="0"/>
              <a:t>Transaction stays persistent (</a:t>
            </a:r>
            <a:r>
              <a:rPr lang="en-US" b="1" dirty="0">
                <a:solidFill>
                  <a:schemeClr val="bg1"/>
                </a:solidFill>
              </a:rPr>
              <a:t>no data is lost</a:t>
            </a:r>
            <a:r>
              <a:rPr lang="en-US" dirty="0"/>
              <a:t>)</a:t>
            </a:r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Durability</a:t>
            </a:r>
            <a:endParaRPr lang="bg-BG"/>
          </a:p>
        </p:txBody>
      </p:sp>
      <p:pic>
        <p:nvPicPr>
          <p:cNvPr id="6146" name="Picture 2" descr="http://toxipedia.org/download/attachments/3255/554px-Hexachlorobenzene-3D-vdW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6930" y="2299551"/>
            <a:ext cx="1668791" cy="1807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5BC58B33-349A-49E8-9877-CA3C61E2E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40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D5A2-607B-45A4-9994-DAF6B1A41BC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Triggers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1449000"/>
            <a:ext cx="3118266" cy="27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6764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Triggers</a:t>
            </a:r>
            <a:r>
              <a:rPr lang="en-US" sz="3200" dirty="0"/>
              <a:t> are very much like </a:t>
            </a:r>
            <a:r>
              <a:rPr lang="en-US" sz="3200" b="1" dirty="0">
                <a:solidFill>
                  <a:schemeClr val="bg1"/>
                </a:solidFill>
              </a:rPr>
              <a:t>stored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procedures</a:t>
            </a: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3000" dirty="0"/>
              <a:t>Called </a:t>
            </a:r>
            <a:r>
              <a:rPr lang="en-US" sz="3000" b="1" dirty="0">
                <a:solidFill>
                  <a:schemeClr val="bg1"/>
                </a:solidFill>
              </a:rPr>
              <a:t>in case of a specific event</a:t>
            </a:r>
          </a:p>
          <a:p>
            <a:r>
              <a:rPr lang="en-US" sz="3200" dirty="0"/>
              <a:t>We do </a:t>
            </a:r>
            <a:r>
              <a:rPr lang="en-US" sz="3200" b="1" dirty="0">
                <a:solidFill>
                  <a:schemeClr val="bg1"/>
                </a:solidFill>
              </a:rPr>
              <a:t>not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call</a:t>
            </a:r>
            <a:r>
              <a:rPr lang="en-US" sz="3200" dirty="0"/>
              <a:t> triggers </a:t>
            </a:r>
            <a:r>
              <a:rPr lang="en-US" sz="3200" b="1" dirty="0">
                <a:solidFill>
                  <a:schemeClr val="bg1"/>
                </a:solidFill>
              </a:rPr>
              <a:t>explicitly</a:t>
            </a:r>
          </a:p>
          <a:p>
            <a:pPr lvl="1">
              <a:buClr>
                <a:schemeClr val="tx1"/>
              </a:buClr>
            </a:pPr>
            <a:r>
              <a:rPr lang="en-US" sz="3000" b="1" dirty="0">
                <a:solidFill>
                  <a:schemeClr val="bg1"/>
                </a:solidFill>
              </a:rPr>
              <a:t>Triggers are attached to a table</a:t>
            </a:r>
            <a:endParaRPr lang="en-US" sz="3000" dirty="0"/>
          </a:p>
          <a:p>
            <a:pPr lvl="1"/>
            <a:r>
              <a:rPr lang="en-US" sz="3000" dirty="0"/>
              <a:t>Triggers are fired </a:t>
            </a:r>
            <a:r>
              <a:rPr lang="en-US" sz="3000" b="1" dirty="0">
                <a:solidFill>
                  <a:schemeClr val="bg1"/>
                </a:solidFill>
              </a:rPr>
              <a:t>when a certain SQL statement is executed </a:t>
            </a:r>
            <a:r>
              <a:rPr lang="en-US" sz="3000" dirty="0"/>
              <a:t>against </a:t>
            </a:r>
            <a:br>
              <a:rPr lang="en-US" sz="3000" dirty="0"/>
            </a:br>
            <a:r>
              <a:rPr lang="en-US" sz="3000" dirty="0"/>
              <a:t>the contents of the table</a:t>
            </a:r>
          </a:p>
          <a:p>
            <a:pPr lvl="1"/>
            <a:r>
              <a:rPr lang="en-US" sz="3000" dirty="0"/>
              <a:t>Syntax:</a:t>
            </a:r>
          </a:p>
          <a:p>
            <a:pPr lvl="2">
              <a:buClr>
                <a:schemeClr val="tx1"/>
              </a:buClr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AFTER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INSERT</a:t>
            </a:r>
            <a:r>
              <a:rPr lang="en-US" sz="2800" dirty="0"/>
              <a:t>/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  <a:r>
              <a:rPr lang="en-US" sz="2800" dirty="0"/>
              <a:t>/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DELETE</a:t>
            </a:r>
          </a:p>
          <a:p>
            <a:pPr lvl="2">
              <a:buClr>
                <a:schemeClr val="tx1"/>
              </a:buClr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INSTEAD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INSERT</a:t>
            </a:r>
            <a:r>
              <a:rPr lang="en-US" sz="2800" dirty="0"/>
              <a:t>/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  <a:r>
              <a:rPr lang="en-US" sz="2800" dirty="0"/>
              <a:t>/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DELETE</a:t>
            </a:r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Triggers?</a:t>
            </a:r>
            <a:endParaRPr lang="bg-BG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6A198D-CEBB-4A61-B035-01EE21531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3603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AFTER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Trigger</a:t>
            </a:r>
            <a:r>
              <a:rPr lang="en-US" dirty="0"/>
              <a:t> is executed </a:t>
            </a:r>
            <a:r>
              <a:rPr lang="en-US" b="1" dirty="0">
                <a:solidFill>
                  <a:schemeClr val="bg1"/>
                </a:solidFill>
              </a:rPr>
              <a:t>right after an event is fired</a:t>
            </a:r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Trigger</a:t>
            </a:r>
            <a:endParaRPr lang="bg-BG" dirty="0"/>
          </a:p>
        </p:txBody>
      </p:sp>
      <p:sp>
        <p:nvSpPr>
          <p:cNvPr id="25" name="Rectangle 12"/>
          <p:cNvSpPr/>
          <p:nvPr/>
        </p:nvSpPr>
        <p:spPr>
          <a:xfrm>
            <a:off x="2725200" y="3352800"/>
            <a:ext cx="1872000" cy="18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26" name="Rectangle 13"/>
          <p:cNvSpPr/>
          <p:nvPr/>
        </p:nvSpPr>
        <p:spPr>
          <a:xfrm>
            <a:off x="7821087" y="3352800"/>
            <a:ext cx="1872000" cy="187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Trigger</a:t>
            </a:r>
          </a:p>
        </p:txBody>
      </p:sp>
      <p:grpSp>
        <p:nvGrpSpPr>
          <p:cNvPr id="8" name="Групиране 7"/>
          <p:cNvGrpSpPr/>
          <p:nvPr/>
        </p:nvGrpSpPr>
        <p:grpSpPr>
          <a:xfrm>
            <a:off x="5087400" y="3186507"/>
            <a:ext cx="2242800" cy="2242800"/>
            <a:chOff x="3790412" y="3777000"/>
            <a:chExt cx="2242800" cy="2242800"/>
          </a:xfrm>
        </p:grpSpPr>
        <p:sp>
          <p:nvSpPr>
            <p:cNvPr id="28" name="Diamond 15"/>
            <p:cNvSpPr/>
            <p:nvPr/>
          </p:nvSpPr>
          <p:spPr>
            <a:xfrm>
              <a:off x="3790412" y="3777000"/>
              <a:ext cx="2242800" cy="2242800"/>
            </a:xfrm>
            <a:prstGeom prst="diamond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Box 16"/>
            <p:cNvSpPr txBox="1"/>
            <p:nvPr/>
          </p:nvSpPr>
          <p:spPr>
            <a:xfrm>
              <a:off x="4067414" y="4617683"/>
              <a:ext cx="168879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noProof="1"/>
                <a:t>Event</a:t>
              </a:r>
            </a:p>
          </p:txBody>
        </p:sp>
      </p:grpSp>
      <p:cxnSp>
        <p:nvCxnSpPr>
          <p:cNvPr id="32" name="Straight Connector 19"/>
          <p:cNvCxnSpPr>
            <a:stCxn id="25" idx="3"/>
            <a:endCxn id="28" idx="1"/>
          </p:cNvCxnSpPr>
          <p:nvPr/>
        </p:nvCxnSpPr>
        <p:spPr>
          <a:xfrm>
            <a:off x="4597200" y="4288801"/>
            <a:ext cx="490200" cy="19107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20"/>
          <p:cNvCxnSpPr>
            <a:stCxn id="28" idx="3"/>
            <a:endCxn id="26" idx="1"/>
          </p:cNvCxnSpPr>
          <p:nvPr/>
        </p:nvCxnSpPr>
        <p:spPr>
          <a:xfrm flipV="1">
            <a:off x="7330201" y="4288801"/>
            <a:ext cx="490887" cy="19107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24"/>
          <p:cNvSpPr/>
          <p:nvPr/>
        </p:nvSpPr>
        <p:spPr>
          <a:xfrm>
            <a:off x="2514600" y="3048000"/>
            <a:ext cx="7315200" cy="2514600"/>
          </a:xfrm>
          <a:prstGeom prst="roundRect">
            <a:avLst/>
          </a:prstGeom>
          <a:noFill/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DB1FC6A-16A2-496C-BCEE-22BA4293D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1672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amond 15"/>
          <p:cNvSpPr/>
          <p:nvPr/>
        </p:nvSpPr>
        <p:spPr>
          <a:xfrm>
            <a:off x="6411000" y="3603737"/>
            <a:ext cx="2429999" cy="2242800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Trigger</a:t>
            </a:r>
          </a:p>
        </p:txBody>
      </p:sp>
      <p:sp>
        <p:nvSpPr>
          <p:cNvPr id="20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INSTEAD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Trigger completely replaces an event action </a:t>
            </a:r>
            <a:br>
              <a:rPr lang="en-US" dirty="0"/>
            </a:br>
            <a:r>
              <a:rPr lang="en-US" dirty="0"/>
              <a:t>from happening</a:t>
            </a:r>
          </a:p>
          <a:p>
            <a:pPr lvl="1"/>
            <a:r>
              <a:rPr lang="en-US" dirty="0"/>
              <a:t>You can apply totally different logic</a:t>
            </a:r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INSTEAD OF Trigger</a:t>
            </a:r>
            <a:endParaRPr lang="bg-BG" dirty="0"/>
          </a:p>
        </p:txBody>
      </p:sp>
      <p:sp>
        <p:nvSpPr>
          <p:cNvPr id="25" name="Rectangle 12"/>
          <p:cNvSpPr/>
          <p:nvPr/>
        </p:nvSpPr>
        <p:spPr>
          <a:xfrm>
            <a:off x="4149263" y="3770030"/>
            <a:ext cx="1872000" cy="1872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32" name="Straight Connector 19"/>
          <p:cNvCxnSpPr>
            <a:cxnSpLocks/>
            <a:stCxn id="25" idx="3"/>
            <a:endCxn id="28" idx="1"/>
          </p:cNvCxnSpPr>
          <p:nvPr/>
        </p:nvCxnSpPr>
        <p:spPr>
          <a:xfrm>
            <a:off x="6021263" y="4706030"/>
            <a:ext cx="389737" cy="19107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24"/>
          <p:cNvSpPr/>
          <p:nvPr/>
        </p:nvSpPr>
        <p:spPr>
          <a:xfrm>
            <a:off x="3902529" y="3467837"/>
            <a:ext cx="5029200" cy="2514600"/>
          </a:xfrm>
          <a:prstGeom prst="roundRect">
            <a:avLst/>
          </a:prstGeom>
          <a:noFill/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A351046-CD86-44A9-84D0-1BA6EB99A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3423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>
                <a:solidFill>
                  <a:schemeClr val="bg1"/>
                </a:solidFill>
              </a:rPr>
              <a:t>three different events </a:t>
            </a:r>
            <a:r>
              <a:rPr lang="en-US" dirty="0"/>
              <a:t>that can be applied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within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trigger</a:t>
            </a:r>
            <a:endParaRPr lang="en-US" dirty="0"/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Events</a:t>
            </a:r>
            <a:endParaRPr lang="bg-BG" dirty="0"/>
          </a:p>
        </p:txBody>
      </p:sp>
      <p:sp>
        <p:nvSpPr>
          <p:cNvPr id="12" name="Rectangle: Rounded Corners 31"/>
          <p:cNvSpPr/>
          <p:nvPr/>
        </p:nvSpPr>
        <p:spPr>
          <a:xfrm>
            <a:off x="4338451" y="2261902"/>
            <a:ext cx="2502582" cy="808023"/>
          </a:xfrm>
          <a:prstGeom prst="roundRect">
            <a:avLst>
              <a:gd name="adj" fmla="val 5385"/>
            </a:avLst>
          </a:prstGeom>
          <a:solidFill>
            <a:srgbClr val="D1D5DD"/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Events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28922" y="3069924"/>
            <a:ext cx="3360821" cy="2458786"/>
            <a:chOff x="3275012" y="3623370"/>
            <a:chExt cx="2632688" cy="2062943"/>
          </a:xfrm>
        </p:grpSpPr>
        <p:sp>
          <p:nvSpPr>
            <p:cNvPr id="15" name="Rectangle: Rounded Corners 13"/>
            <p:cNvSpPr/>
            <p:nvPr/>
          </p:nvSpPr>
          <p:spPr>
            <a:xfrm>
              <a:off x="3275012" y="5168857"/>
              <a:ext cx="1553418" cy="517456"/>
            </a:xfrm>
            <a:prstGeom prst="roundRect">
              <a:avLst>
                <a:gd name="adj" fmla="val 5319"/>
              </a:avLst>
            </a:prstGeom>
            <a:solidFill>
              <a:srgbClr val="D1D5DD"/>
            </a:solidFill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Insert</a:t>
              </a:r>
            </a:p>
          </p:txBody>
        </p:sp>
        <p:cxnSp>
          <p:nvCxnSpPr>
            <p:cNvPr id="18" name="Straight Connector 37"/>
            <p:cNvCxnSpPr>
              <a:cxnSpLocks/>
              <a:stCxn id="12" idx="2"/>
              <a:endCxn id="15" idx="0"/>
            </p:cNvCxnSpPr>
            <p:nvPr/>
          </p:nvCxnSpPr>
          <p:spPr>
            <a:xfrm flipH="1">
              <a:off x="4051721" y="3623370"/>
              <a:ext cx="1855979" cy="1545487"/>
            </a:xfrm>
            <a:prstGeom prst="line">
              <a:avLst/>
            </a:prstGeom>
            <a:solidFill>
              <a:srgbClr val="F0A22E">
                <a:alpha val="25098"/>
              </a:srgbClr>
            </a:solidFill>
            <a:ln w="571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4598215" y="3069924"/>
            <a:ext cx="1983054" cy="2458786"/>
            <a:chOff x="5176010" y="3623370"/>
            <a:chExt cx="1553419" cy="2062943"/>
          </a:xfrm>
        </p:grpSpPr>
        <p:sp>
          <p:nvSpPr>
            <p:cNvPr id="14" name="Rectangle: Rounded Corners 13"/>
            <p:cNvSpPr/>
            <p:nvPr/>
          </p:nvSpPr>
          <p:spPr>
            <a:xfrm>
              <a:off x="5176010" y="5168857"/>
              <a:ext cx="1553419" cy="517456"/>
            </a:xfrm>
            <a:prstGeom prst="roundRect">
              <a:avLst>
                <a:gd name="adj" fmla="val 5319"/>
              </a:avLst>
            </a:prstGeom>
            <a:solidFill>
              <a:srgbClr val="D1D5DD"/>
            </a:solidFill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Update</a:t>
              </a:r>
            </a:p>
          </p:txBody>
        </p:sp>
        <p:cxnSp>
          <p:nvCxnSpPr>
            <p:cNvPr id="19" name="Straight Connector 38"/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5952719" y="3623370"/>
              <a:ext cx="0" cy="1545487"/>
            </a:xfrm>
            <a:prstGeom prst="line">
              <a:avLst/>
            </a:prstGeom>
            <a:solidFill>
              <a:srgbClr val="F0A22E">
                <a:alpha val="25098"/>
              </a:srgbClr>
            </a:solidFill>
            <a:ln w="571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5589743" y="3069924"/>
            <a:ext cx="3360821" cy="2458786"/>
            <a:chOff x="5997739" y="3623370"/>
            <a:chExt cx="2632689" cy="2062943"/>
          </a:xfrm>
        </p:grpSpPr>
        <p:sp>
          <p:nvSpPr>
            <p:cNvPr id="16" name="Rectangle: Rounded Corners 13"/>
            <p:cNvSpPr/>
            <p:nvPr/>
          </p:nvSpPr>
          <p:spPr>
            <a:xfrm>
              <a:off x="7077009" y="5168857"/>
              <a:ext cx="1553419" cy="517456"/>
            </a:xfrm>
            <a:prstGeom prst="roundRect">
              <a:avLst>
                <a:gd name="adj" fmla="val 5319"/>
              </a:avLst>
            </a:prstGeom>
            <a:solidFill>
              <a:srgbClr val="D1D5DD"/>
            </a:solidFill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Delete</a:t>
              </a:r>
            </a:p>
          </p:txBody>
        </p:sp>
        <p:cxnSp>
          <p:nvCxnSpPr>
            <p:cNvPr id="20" name="Straight Connector 39"/>
            <p:cNvCxnSpPr>
              <a:stCxn id="12" idx="2"/>
              <a:endCxn id="16" idx="0"/>
            </p:cNvCxnSpPr>
            <p:nvPr/>
          </p:nvCxnSpPr>
          <p:spPr>
            <a:xfrm>
              <a:off x="5997739" y="3623370"/>
              <a:ext cx="1855980" cy="1545487"/>
            </a:xfrm>
            <a:prstGeom prst="line">
              <a:avLst/>
            </a:prstGeom>
            <a:solidFill>
              <a:srgbClr val="F0A22E">
                <a:alpha val="25098"/>
              </a:srgbClr>
            </a:solidFill>
            <a:ln w="571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83293ABA-41D7-48F2-BCEB-04E252602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6830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Defined by the keyword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Triggers</a:t>
            </a:r>
            <a:endParaRPr lang="bg-BG" dirty="0"/>
          </a:p>
        </p:txBody>
      </p:sp>
      <p:sp>
        <p:nvSpPr>
          <p:cNvPr id="521220" name="Rectangle 4"/>
          <p:cNvSpPr>
            <a:spLocks noChangeArrowheads="1"/>
          </p:cNvSpPr>
          <p:nvPr/>
        </p:nvSpPr>
        <p:spPr bwMode="auto">
          <a:xfrm>
            <a:off x="606000" y="1944000"/>
            <a:ext cx="10972800" cy="35420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TRIGGER </a:t>
            </a:r>
            <a:r>
              <a:rPr lang="en-US" sz="2400" b="1" noProof="1">
                <a:latin typeface="Consolas" panose="020B0609020204030204" pitchFamily="49" charset="0"/>
              </a:rPr>
              <a:t>tr_AddToLogsOnAccountUpdate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latin typeface="Consolas" panose="020B0609020204030204" pitchFamily="49" charset="0"/>
              </a:rPr>
              <a:t>Accounts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400" b="1" noProof="1">
                <a:latin typeface="Consolas" panose="020B0609020204030204" pitchFamily="49" charset="0"/>
              </a:rPr>
              <a:t>INSERT INTO Logs(AccountId, OldAmount, NewAmount, UpdatedOn)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SELECT i.Id, d.Balance, i.Balance, GETDATE()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FROM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inserted</a:t>
            </a:r>
            <a:r>
              <a:rPr lang="en-US" sz="2400" b="1" noProof="1">
                <a:latin typeface="Consolas" panose="020B0609020204030204" pitchFamily="49" charset="0"/>
              </a:rPr>
              <a:t> AS i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JOIN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deleted</a:t>
            </a:r>
            <a:r>
              <a:rPr lang="en-US" sz="2400" b="1" noProof="1">
                <a:latin typeface="Consolas" panose="020B0609020204030204" pitchFamily="49" charset="0"/>
              </a:rPr>
              <a:t> AS d ON i.Id = d.Id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WHERE i.Balance != d.Balance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GO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94EF026-746A-4311-A8BA-238716BB4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4945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3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Defined by using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INSTEAD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</a:p>
        </p:txBody>
      </p:sp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INSTEAD OF Triggers</a:t>
            </a:r>
            <a:endParaRPr lang="bg-BG" dirty="0"/>
          </a:p>
        </p:txBody>
      </p:sp>
      <p:sp>
        <p:nvSpPr>
          <p:cNvPr id="522244" name="Rectangle 4"/>
          <p:cNvSpPr>
            <a:spLocks noChangeArrowheads="1"/>
          </p:cNvSpPr>
          <p:nvPr/>
        </p:nvSpPr>
        <p:spPr bwMode="auto">
          <a:xfrm>
            <a:off x="606000" y="1944000"/>
            <a:ext cx="10972800" cy="291493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OR ALTER TRIGGER </a:t>
            </a:r>
            <a:r>
              <a:rPr lang="en-US" sz="2400" b="1" noProof="1">
                <a:latin typeface="Consolas" panose="020B0609020204030204" pitchFamily="49" charset="0"/>
              </a:rPr>
              <a:t>tr_SetIsDeletedOnDelete</a:t>
            </a:r>
            <a:endParaRPr lang="en-US" sz="24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latin typeface="Consolas" panose="020B0609020204030204" pitchFamily="49" charset="0"/>
              </a:rPr>
              <a:t>AccountHolders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INSTEAD OF DELETE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UPDATE AccountHolders SET IsDeleted = 1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WHERE Id IN (SELECT Id FROM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deleted</a:t>
            </a:r>
            <a:r>
              <a:rPr lang="en-US" sz="2400" b="1" noProof="1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GO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8DB54CC-5EF8-46F0-B84F-F8B5674E1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0402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1C8F-6787-4F39-BD99-A57FB88D7759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Database Security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745776" y="1760930"/>
            <a:ext cx="2700447" cy="2205351"/>
            <a:chOff x="4745775" y="1586759"/>
            <a:chExt cx="2700447" cy="2205351"/>
          </a:xfrm>
        </p:grpSpPr>
        <p:pic>
          <p:nvPicPr>
            <p:cNvPr id="1028" name="Picture 4" descr="Image result for sql server fixed roles">
              <a:extLst>
                <a:ext uri="{FF2B5EF4-FFF2-40B4-BE49-F238E27FC236}">
                  <a16:creationId xmlns:a16="http://schemas.microsoft.com/office/drawing/2014/main" id="{E78E2346-67C8-424C-9992-2CCF89183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775" y="1586759"/>
              <a:ext cx="2700447" cy="1706511"/>
            </a:xfrm>
            <a:prstGeom prst="roundRect">
              <a:avLst>
                <a:gd name="adj" fmla="val 3205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664F93-9BE9-46A9-A764-5AB6377E7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2048" y="1984208"/>
              <a:ext cx="1807902" cy="1807902"/>
            </a:xfrm>
            <a:prstGeom prst="rect">
              <a:avLst/>
            </a:prstGeom>
          </p:spPr>
        </p:pic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8DE43C75-32F4-4903-BB7B-9C9B62F361E0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Fixed Server Roles, Fixed Database Roles</a:t>
            </a:r>
          </a:p>
        </p:txBody>
      </p:sp>
    </p:spTree>
    <p:extLst>
      <p:ext uri="{BB962C8B-B14F-4D97-AF65-F5344CB8AC3E}">
        <p14:creationId xmlns:p14="http://schemas.microsoft.com/office/powerpoint/2010/main" val="93699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38D88B-3A3C-405B-BFAA-24C7A02D89D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SQL Server has </a:t>
            </a:r>
            <a:r>
              <a:rPr lang="en-US" b="1" dirty="0">
                <a:solidFill>
                  <a:schemeClr val="bg1"/>
                </a:solidFill>
              </a:rPr>
              <a:t>two layers of database security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Fixed Server Roles</a:t>
            </a:r>
          </a:p>
          <a:p>
            <a:pPr lvl="2">
              <a:buClr>
                <a:schemeClr val="tx1"/>
              </a:buClr>
            </a:pPr>
            <a:r>
              <a:rPr lang="en-US" noProof="1">
                <a:latin typeface="Consolas" panose="020B0609020204030204" pitchFamily="49" charset="0"/>
              </a:rPr>
              <a:t>sysadmin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bulkadmin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dbcreator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securityadmin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Fixed Database Roles</a:t>
            </a:r>
          </a:p>
          <a:p>
            <a:pPr lvl="2">
              <a:buClr>
                <a:schemeClr val="tx1"/>
              </a:buClr>
            </a:pPr>
            <a:r>
              <a:rPr lang="en-US" noProof="1">
                <a:latin typeface="Consolas" panose="020B0609020204030204" pitchFamily="49" charset="0"/>
              </a:rPr>
              <a:t>db_owner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db_securityadmin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db_accessadmin</a:t>
            </a:r>
          </a:p>
          <a:p>
            <a:pPr lvl="2">
              <a:buClr>
                <a:schemeClr val="tx1"/>
              </a:buClr>
            </a:pPr>
            <a:r>
              <a:rPr lang="en-US" noProof="1">
                <a:latin typeface="Consolas" panose="020B0609020204030204" pitchFamily="49" charset="0"/>
              </a:rPr>
              <a:t>db_backupoperator</a:t>
            </a:r>
            <a:r>
              <a:rPr lang="en-US" noProof="1"/>
              <a:t>, </a:t>
            </a:r>
            <a:r>
              <a:rPr lang="en-US" noProof="1">
                <a:latin typeface="Consolas" panose="020B0609020204030204" pitchFamily="49" charset="0"/>
              </a:rPr>
              <a:t>db_ddladmin</a:t>
            </a:r>
          </a:p>
          <a:p>
            <a:pPr lvl="2">
              <a:buClr>
                <a:schemeClr val="tx1"/>
              </a:buClr>
            </a:pPr>
            <a:r>
              <a:rPr lang="en-US" noProof="1">
                <a:latin typeface="Consolas" panose="020B0609020204030204" pitchFamily="49" charset="0"/>
              </a:rPr>
              <a:t>db_datareader</a:t>
            </a:r>
            <a:r>
              <a:rPr lang="en-US" noProof="1"/>
              <a:t>/</a:t>
            </a:r>
            <a:r>
              <a:rPr lang="en-US" noProof="1">
                <a:latin typeface="Consolas" panose="020B0609020204030204" pitchFamily="49" charset="0"/>
              </a:rPr>
              <a:t>db_datawriter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ACFCC1-71C9-4B6E-B2A5-C438D86F2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Security: SQL Server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E7E4A40-6B78-47A9-B72B-783EC3AB1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5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B59E-5870-4C19-B2DF-FE315477B9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SQL Server lets us create </a:t>
            </a:r>
            <a:r>
              <a:rPr lang="en-US" b="1" dirty="0">
                <a:solidFill>
                  <a:schemeClr val="bg1"/>
                </a:solidFill>
              </a:rPr>
              <a:t>custom roles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Collection of privileges </a:t>
            </a:r>
            <a:r>
              <a:rPr lang="en-US" dirty="0"/>
              <a:t>(permissions)</a:t>
            </a:r>
          </a:p>
          <a:p>
            <a:pPr>
              <a:buClr>
                <a:schemeClr val="tx1"/>
              </a:buClr>
            </a:pPr>
            <a:r>
              <a:rPr lang="en-US" dirty="0"/>
              <a:t>Fine </a:t>
            </a:r>
            <a:r>
              <a:rPr lang="en-US" b="1" dirty="0">
                <a:solidFill>
                  <a:schemeClr val="bg1"/>
                </a:solidFill>
              </a:rPr>
              <a:t>control over permissions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use </a:t>
            </a:r>
            <a:r>
              <a:rPr lang="en-US" b="1" dirty="0">
                <a:solidFill>
                  <a:schemeClr val="bg1"/>
                </a:solidFill>
              </a:rPr>
              <a:t>one role for multiple users </a:t>
            </a:r>
            <a:r>
              <a:rPr lang="en-US" dirty="0"/>
              <a:t>(groups)</a:t>
            </a:r>
          </a:p>
          <a:p>
            <a:pPr>
              <a:buClr>
                <a:schemeClr val="tx1"/>
              </a:buClr>
            </a:pPr>
            <a:r>
              <a:rPr lang="en-US" dirty="0"/>
              <a:t>Makes </a:t>
            </a:r>
            <a:r>
              <a:rPr lang="en-US" b="1" dirty="0">
                <a:solidFill>
                  <a:schemeClr val="bg1"/>
                </a:solidFill>
              </a:rPr>
              <a:t>auditing operations easier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2093A8-9ED8-4076-85DA-4848C4B7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Roles</a:t>
            </a:r>
            <a:endParaRPr lang="en-US" dirty="0"/>
          </a:p>
        </p:txBody>
      </p:sp>
      <p:pic>
        <p:nvPicPr>
          <p:cNvPr id="6" name="Picture 2" descr="Image result for user icon transparent">
            <a:extLst>
              <a:ext uri="{FF2B5EF4-FFF2-40B4-BE49-F238E27FC236}">
                <a16:creationId xmlns:a16="http://schemas.microsoft.com/office/drawing/2014/main" id="{C6F86CA2-52B9-452C-9589-1A1137485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7927">
            <a:off x="9393814" y="1752709"/>
            <a:ext cx="2159888" cy="215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user icon transparent">
            <a:extLst>
              <a:ext uri="{FF2B5EF4-FFF2-40B4-BE49-F238E27FC236}">
                <a16:creationId xmlns:a16="http://schemas.microsoft.com/office/drawing/2014/main" id="{70041DE7-86E1-4635-813C-C8522BA0C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96566">
            <a:off x="8802836" y="1684954"/>
            <a:ext cx="3108211" cy="3108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61551651-A4BE-4CF9-B9E9-9D44EE861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388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FFDE-5E0B-449C-8159-09E4F84FE67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CONTROL SERVER</a:t>
            </a:r>
            <a:r>
              <a:rPr lang="en-US" b="1" dirty="0"/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DATABASE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Gives </a:t>
            </a:r>
            <a:r>
              <a:rPr lang="en-US" sz="3100" b="1" dirty="0">
                <a:solidFill>
                  <a:schemeClr val="bg1"/>
                </a:solidFill>
              </a:rPr>
              <a:t>all permissions</a:t>
            </a:r>
            <a:r>
              <a:rPr lang="en-US" sz="3100" dirty="0"/>
              <a:t> on the server/database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TAKE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OWNERSHIP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Enables the grantee to take </a:t>
            </a:r>
            <a:r>
              <a:rPr lang="en-US" sz="3100" b="1" dirty="0">
                <a:solidFill>
                  <a:schemeClr val="bg1"/>
                </a:solidFill>
              </a:rPr>
              <a:t>ownership of a securable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VIEW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CHANGE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TRACKING</a:t>
            </a:r>
          </a:p>
          <a:p>
            <a:pPr lvl="1">
              <a:buClr>
                <a:schemeClr val="tx1"/>
              </a:buClr>
            </a:pPr>
            <a:r>
              <a:rPr lang="en-US" sz="3100" b="1" dirty="0">
                <a:solidFill>
                  <a:schemeClr val="bg1"/>
                </a:solidFill>
              </a:rPr>
              <a:t>Manage change tracking </a:t>
            </a:r>
            <a:r>
              <a:rPr lang="en-US" sz="3100" dirty="0"/>
              <a:t>on schemas and tables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VIEW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DEFINITION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Enables the grantee to </a:t>
            </a:r>
            <a:r>
              <a:rPr lang="en-US" sz="3100" b="1" dirty="0">
                <a:solidFill>
                  <a:schemeClr val="bg1"/>
                </a:solidFill>
              </a:rPr>
              <a:t>access metadata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To </a:t>
            </a:r>
            <a:r>
              <a:rPr lang="en-US" sz="3100" b="1" dirty="0">
                <a:solidFill>
                  <a:schemeClr val="bg1"/>
                </a:solidFill>
              </a:rPr>
              <a:t>run</a:t>
            </a:r>
            <a:r>
              <a:rPr lang="en-US" sz="3100" dirty="0"/>
              <a:t> </a:t>
            </a:r>
            <a:r>
              <a:rPr lang="en-US" sz="3100" b="1" dirty="0">
                <a:solidFill>
                  <a:schemeClr val="bg1"/>
                </a:solidFill>
              </a:rPr>
              <a:t>procedures</a:t>
            </a:r>
            <a:r>
              <a:rPr lang="en-US" sz="3100" dirty="0"/>
              <a:t>, </a:t>
            </a:r>
            <a:r>
              <a:rPr lang="en-US" sz="3100" b="1" dirty="0">
                <a:solidFill>
                  <a:schemeClr val="bg1"/>
                </a:solidFill>
              </a:rPr>
              <a:t>scalar</a:t>
            </a:r>
            <a:r>
              <a:rPr lang="en-US" sz="3100" dirty="0"/>
              <a:t> and </a:t>
            </a:r>
            <a:r>
              <a:rPr lang="en-US" sz="3100" b="1" dirty="0">
                <a:solidFill>
                  <a:schemeClr val="bg1"/>
                </a:solidFill>
              </a:rPr>
              <a:t>aggregate</a:t>
            </a:r>
            <a:r>
              <a:rPr lang="en-US" sz="3100" dirty="0"/>
              <a:t> </a:t>
            </a:r>
            <a:r>
              <a:rPr lang="en-US" sz="3100" b="1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A529B8-B1E7-4D7C-A60B-F211EFAD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Role Permissions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4B4A83C-A8DC-439F-9097-4AF1A441A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6829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9BB9-C9E0-4F2B-AB96-77CAA9BC31E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ALTER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Lets a role </a:t>
            </a:r>
            <a:r>
              <a:rPr lang="en-US" b="1" dirty="0">
                <a:solidFill>
                  <a:schemeClr val="bg1"/>
                </a:solidFill>
              </a:rPr>
              <a:t>create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alter</a:t>
            </a:r>
            <a:r>
              <a:rPr lang="en-US" dirty="0"/>
              <a:t>, and </a:t>
            </a:r>
            <a:r>
              <a:rPr lang="en-US" b="1" dirty="0">
                <a:solidFill>
                  <a:schemeClr val="bg1"/>
                </a:solidFill>
              </a:rPr>
              <a:t>drop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objects</a:t>
            </a:r>
            <a:r>
              <a:rPr lang="en-US" dirty="0"/>
              <a:t> from the schema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REFERENCES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Lets the role </a:t>
            </a:r>
            <a:r>
              <a:rPr lang="en-US" b="1" dirty="0">
                <a:solidFill>
                  <a:schemeClr val="bg1"/>
                </a:solidFill>
              </a:rPr>
              <a:t>create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FOREIGN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KEY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constraints</a:t>
            </a:r>
          </a:p>
          <a:p>
            <a:pPr lvl="0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b="1" dirty="0"/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DELETE</a:t>
            </a:r>
            <a:r>
              <a:rPr lang="en-US" b="1" dirty="0"/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INSERT</a:t>
            </a:r>
            <a:r>
              <a:rPr lang="en-US" b="1" dirty="0"/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</a:p>
          <a:p>
            <a:pPr lvl="1">
              <a:buClr>
                <a:schemeClr val="tx1"/>
              </a:buClr>
            </a:pPr>
            <a:r>
              <a:rPr lang="en-US"/>
              <a:t>Grants </a:t>
            </a:r>
            <a:r>
              <a:rPr lang="en-US" dirty="0"/>
              <a:t>access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CRUD</a:t>
            </a:r>
            <a:r>
              <a:rPr lang="en-US" b="1" dirty="0">
                <a:solidFill>
                  <a:schemeClr val="bg1"/>
                </a:solidFill>
              </a:rPr>
              <a:t> Operations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be granted on </a:t>
            </a: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schema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object</a:t>
            </a:r>
            <a:r>
              <a:rPr lang="en-US" dirty="0"/>
              <a:t>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Individual tables, views and columns </a:t>
            </a:r>
            <a:r>
              <a:rPr lang="en-US" b="1" dirty="0">
                <a:solidFill>
                  <a:schemeClr val="bg1"/>
                </a:solidFill>
              </a:rPr>
              <a:t>can be targeted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FE6478-8DC8-4E97-BA36-3398178F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Role Permissions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3D3898A-4832-4B83-A664-61C15D653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3997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15F6D4D4-E14A-400D-BC71-CA24DDD0E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333845" y="1726792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13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8775" marR="0" lvl="0" indent="-358775" algn="l" defTabSz="1218438" rtl="0" eaLnBrk="1" fontAlgn="auto" latin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7382" y="1944000"/>
            <a:ext cx="8254161" cy="413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  <a:latin typeface="+mj-lt"/>
              </a:rPr>
              <a:t>Transactions</a:t>
            </a:r>
            <a:r>
              <a:rPr lang="en-GB" sz="2800" b="1" dirty="0">
                <a:solidFill>
                  <a:schemeClr val="bg2"/>
                </a:solidFill>
              </a:rPr>
              <a:t> give our operations </a:t>
            </a:r>
            <a:r>
              <a:rPr lang="en-GB" sz="2800" b="1" dirty="0">
                <a:solidFill>
                  <a:schemeClr val="bg1"/>
                </a:solidFill>
                <a:latin typeface="+mj-lt"/>
              </a:rPr>
              <a:t>stability</a:t>
            </a:r>
            <a:endParaRPr lang="en-US" sz="2800" b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bg2"/>
                </a:solidFill>
              </a:rPr>
              <a:t>Operation Integrity</a:t>
            </a:r>
          </a:p>
          <a:p>
            <a:pPr marL="914400" lvl="1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bg2"/>
                </a:solidFill>
              </a:rPr>
              <a:t>Solving the concurrent operation problem</a:t>
            </a:r>
          </a:p>
          <a:p>
            <a:pPr marL="914400" lvl="1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bg2"/>
                </a:solidFill>
              </a:rPr>
              <a:t>The ACID model is implemented in most RDBMS</a:t>
            </a:r>
          </a:p>
          <a:p>
            <a:pPr marL="457200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latin typeface="+mj-lt"/>
              </a:rPr>
              <a:t>Triggers</a:t>
            </a:r>
            <a:r>
              <a:rPr lang="en-US" sz="2800" b="1" dirty="0">
                <a:solidFill>
                  <a:schemeClr val="bg2"/>
                </a:solidFill>
              </a:rPr>
              <a:t> apply a given behavior when a condition </a:t>
            </a:r>
            <a:br>
              <a:rPr lang="en-US" sz="2800" b="1" dirty="0">
                <a:solidFill>
                  <a:schemeClr val="bg2"/>
                </a:solidFill>
              </a:rPr>
            </a:br>
            <a:r>
              <a:rPr lang="en-US" sz="2800" b="1" dirty="0">
                <a:solidFill>
                  <a:schemeClr val="bg2"/>
                </a:solidFill>
              </a:rPr>
              <a:t>is hit</a:t>
            </a:r>
          </a:p>
          <a:p>
            <a:pPr marL="914400" lvl="1" indent="-457200">
              <a:lnSpc>
                <a:spcPct val="95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bg2"/>
                </a:solidFill>
              </a:rPr>
              <a:t>Gives us temporary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INSERTED</a:t>
            </a:r>
            <a:r>
              <a:rPr lang="en-US" sz="2600" b="1" dirty="0">
                <a:solidFill>
                  <a:schemeClr val="bg2"/>
                </a:solidFill>
              </a:rPr>
              <a:t> and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DELETED</a:t>
            </a:r>
            <a:r>
              <a:rPr lang="en-US" sz="2600" b="1" dirty="0">
                <a:solidFill>
                  <a:schemeClr val="bg2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tables</a:t>
            </a:r>
          </a:p>
          <a:p>
            <a:pPr marL="457200" indent="-45720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latin typeface="+mj-lt"/>
              </a:rPr>
              <a:t>Security</a:t>
            </a:r>
            <a:r>
              <a:rPr lang="en-US" sz="2800" b="1" dirty="0">
                <a:solidFill>
                  <a:schemeClr val="bg2"/>
                </a:solidFill>
              </a:rPr>
              <a:t> in SQL Server can be finely controlled</a:t>
            </a:r>
          </a:p>
          <a:p>
            <a:pPr marL="914400" lvl="1" indent="-45720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bg2"/>
                </a:solidFill>
              </a:rPr>
              <a:t>Using fixed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server</a:t>
            </a:r>
            <a:r>
              <a:rPr lang="en-US" sz="2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roles</a:t>
            </a:r>
            <a:r>
              <a:rPr lang="en-US" sz="2600" b="1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2"/>
                </a:solidFill>
              </a:rPr>
              <a:t>and fixed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database</a:t>
            </a:r>
            <a:r>
              <a:rPr lang="en-US" sz="2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+mj-lt"/>
              </a:rPr>
              <a:t>roles</a:t>
            </a:r>
          </a:p>
          <a:p>
            <a:pPr marL="457200" indent="-45720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latin typeface="+mj-lt"/>
              </a:rPr>
              <a:t>Custom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+mj-lt"/>
              </a:rPr>
              <a:t>roles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2"/>
                </a:solidFill>
              </a:rPr>
              <a:t>control permissions even more finely</a:t>
            </a:r>
          </a:p>
        </p:txBody>
      </p:sp>
    </p:spTree>
    <p:extLst>
      <p:ext uri="{BB962C8B-B14F-4D97-AF65-F5344CB8AC3E}">
        <p14:creationId xmlns:p14="http://schemas.microsoft.com/office/powerpoint/2010/main" val="372564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en-US" dirty="0"/>
          </a:p>
        </p:txBody>
      </p:sp>
      <p:pic>
        <p:nvPicPr>
          <p:cNvPr id="6" name="Picture 5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92C06A0-B1BF-1310-EB3F-B37FB454D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832" y="1383837"/>
            <a:ext cx="2786198" cy="1620135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63" y="4452317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7" y="5624346"/>
            <a:ext cx="3914056" cy="882654"/>
          </a:xfrm>
          <a:prstGeom prst="rect">
            <a:avLst/>
          </a:prstGeom>
        </p:spPr>
      </p:pic>
      <p:pic>
        <p:nvPicPr>
          <p:cNvPr id="15" name="Picture 14">
            <a:hlinkClick r:id="rId8"/>
            <a:extLst>
              <a:ext uri="{FF2B5EF4-FFF2-40B4-BE49-F238E27FC236}">
                <a16:creationId xmlns:a16="http://schemas.microsoft.com/office/drawing/2014/main" id="{45E3E7FC-2B32-01E7-FFCA-DACB5E28FAE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5" b="33481"/>
          <a:stretch/>
        </p:blipFill>
        <p:spPr>
          <a:xfrm>
            <a:off x="7980566" y="5431126"/>
            <a:ext cx="4127549" cy="1284289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436" y="3404405"/>
            <a:ext cx="3150159" cy="1973054"/>
          </a:xfrm>
          <a:prstGeom prst="rect">
            <a:avLst/>
          </a:prstGeom>
        </p:spPr>
      </p:pic>
      <p:pic>
        <p:nvPicPr>
          <p:cNvPr id="7" name="Picture 3">
            <a:hlinkClick r:id="rId12"/>
            <a:extLst>
              <a:ext uri="{FF2B5EF4-FFF2-40B4-BE49-F238E27FC236}">
                <a16:creationId xmlns:a16="http://schemas.microsoft.com/office/drawing/2014/main" id="{8B513D91-B017-2182-5AF4-6301891366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7" y="1190635"/>
            <a:ext cx="3990123" cy="1379608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hlinkClick r:id="rId14"/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3" y="1878014"/>
            <a:ext cx="3610444" cy="1023778"/>
          </a:xfrm>
          <a:prstGeom prst="rect">
            <a:avLst/>
          </a:prstGeom>
        </p:spPr>
      </p:pic>
      <p:pic>
        <p:nvPicPr>
          <p:cNvPr id="4" name="Картина 3" descr="Картина, която съдържа текст, Шрифт, екранна снимка, номер">
            <a:extLst>
              <a:ext uri="{FF2B5EF4-FFF2-40B4-BE49-F238E27FC236}">
                <a16:creationId xmlns:a16="http://schemas.microsoft.com/office/drawing/2014/main" id="{315CB780-F614-6AAB-62D3-20700692F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76" y="2438753"/>
            <a:ext cx="2102030" cy="973287"/>
          </a:xfrm>
          <a:prstGeom prst="rect">
            <a:avLst/>
          </a:prstGeom>
        </p:spPr>
      </p:pic>
      <p:pic>
        <p:nvPicPr>
          <p:cNvPr id="10" name="Graphic 9">
            <a:hlinkClick r:id="rId17"/>
            <a:extLst>
              <a:ext uri="{FF2B5EF4-FFF2-40B4-BE49-F238E27FC236}">
                <a16:creationId xmlns:a16="http://schemas.microsoft.com/office/drawing/2014/main" id="{C903B251-B381-5CD5-1234-5DAF13628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6717" y="3821811"/>
            <a:ext cx="4746000" cy="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6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6951332-88AB-4805-995E-849D923C64F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8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46526F3-70B7-444F-AB95-36C921BB1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964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5176</TotalTime>
  <Words>1677</Words>
  <Application>Microsoft Office PowerPoint</Application>
  <PresentationFormat>Widescreen</PresentationFormat>
  <Paragraphs>312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Consolas</vt:lpstr>
      <vt:lpstr>Wingdings</vt:lpstr>
      <vt:lpstr>Wingdings 2</vt:lpstr>
      <vt:lpstr>SoftUni</vt:lpstr>
      <vt:lpstr>Triggers and Transactions</vt:lpstr>
      <vt:lpstr>Table of Contents </vt:lpstr>
      <vt:lpstr>Transactions</vt:lpstr>
      <vt:lpstr>Transactions</vt:lpstr>
      <vt:lpstr>Transactions: Lifecycle (Rollback)</vt:lpstr>
      <vt:lpstr>Transactions: Lifecycle (Commit)</vt:lpstr>
      <vt:lpstr>Transactions Behavior</vt:lpstr>
      <vt:lpstr>Transactions: What Can Go Wrong?</vt:lpstr>
      <vt:lpstr>Checkpoints in Games</vt:lpstr>
      <vt:lpstr>What Are Transactions?</vt:lpstr>
      <vt:lpstr>Transactions Syntax</vt:lpstr>
      <vt:lpstr>ACID Models</vt:lpstr>
      <vt:lpstr>Transaction Properties</vt:lpstr>
      <vt:lpstr>Atomicity</vt:lpstr>
      <vt:lpstr>Consistency</vt:lpstr>
      <vt:lpstr>Isolation</vt:lpstr>
      <vt:lpstr>Durability</vt:lpstr>
      <vt:lpstr>Triggers</vt:lpstr>
      <vt:lpstr>What Are Triggers?</vt:lpstr>
      <vt:lpstr>AFTER Trigger</vt:lpstr>
      <vt:lpstr>INSTEAD OF Trigger</vt:lpstr>
      <vt:lpstr>Events</vt:lpstr>
      <vt:lpstr>AFTER Triggers</vt:lpstr>
      <vt:lpstr>INSTEAD OF Triggers</vt:lpstr>
      <vt:lpstr>Database Security</vt:lpstr>
      <vt:lpstr>Database Security: SQL Server</vt:lpstr>
      <vt:lpstr>Custom Roles</vt:lpstr>
      <vt:lpstr>Custom Role Permissions</vt:lpstr>
      <vt:lpstr>Custom Role Permissions</vt:lpstr>
      <vt:lpstr>Summary</vt:lpstr>
      <vt:lpstr>SoftUni Diamond Partners</vt:lpstr>
      <vt:lpstr>Trainings @ Software University (SoftUni)</vt:lpstr>
      <vt:lpstr>License</vt:lpstr>
    </vt:vector>
  </TitlesOfParts>
  <Company>SoftUni – https://about.softuni.bg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Database-Programmability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81</cp:revision>
  <dcterms:created xsi:type="dcterms:W3CDTF">2018-05-23T13:08:44Z</dcterms:created>
  <dcterms:modified xsi:type="dcterms:W3CDTF">2025-08-26T07:57:27Z</dcterms:modified>
  <cp:category>db;databases;sql;programming;computer programming;software development</cp:category>
</cp:coreProperties>
</file>