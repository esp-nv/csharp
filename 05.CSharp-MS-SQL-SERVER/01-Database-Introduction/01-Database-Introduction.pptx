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37"/>
  </p:notesMasterIdLst>
  <p:handoutMasterIdLst>
    <p:handoutMasterId r:id="rId38"/>
  </p:handoutMasterIdLst>
  <p:sldIdLst>
    <p:sldId id="1176" r:id="rId2"/>
    <p:sldId id="1177" r:id="rId3"/>
    <p:sldId id="1131" r:id="rId4"/>
    <p:sldId id="1132" r:id="rId5"/>
    <p:sldId id="1133" r:id="rId6"/>
    <p:sldId id="1134" r:id="rId7"/>
    <p:sldId id="1135" r:id="rId8"/>
    <p:sldId id="1136" r:id="rId9"/>
    <p:sldId id="1137" r:id="rId10"/>
    <p:sldId id="1138" r:id="rId11"/>
    <p:sldId id="1139" r:id="rId12"/>
    <p:sldId id="1140" r:id="rId13"/>
    <p:sldId id="1141" r:id="rId14"/>
    <p:sldId id="1148" r:id="rId15"/>
    <p:sldId id="1149" r:id="rId16"/>
    <p:sldId id="1183" r:id="rId17"/>
    <p:sldId id="1150" r:id="rId18"/>
    <p:sldId id="1184" r:id="rId19"/>
    <p:sldId id="1151" r:id="rId20"/>
    <p:sldId id="1152" r:id="rId21"/>
    <p:sldId id="1153" r:id="rId22"/>
    <p:sldId id="1154" r:id="rId23"/>
    <p:sldId id="1155" r:id="rId24"/>
    <p:sldId id="1156" r:id="rId25"/>
    <p:sldId id="1157" r:id="rId26"/>
    <p:sldId id="1158" r:id="rId27"/>
    <p:sldId id="1159" r:id="rId28"/>
    <p:sldId id="1160" r:id="rId29"/>
    <p:sldId id="1161" r:id="rId30"/>
    <p:sldId id="1162" r:id="rId31"/>
    <p:sldId id="1163" r:id="rId32"/>
    <p:sldId id="1127" r:id="rId33"/>
    <p:sldId id="614" r:id="rId34"/>
    <p:sldId id="405" r:id="rId35"/>
    <p:sldId id="493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68214D1A-5628-4F9A-98CD-87D12966DB07}">
          <p14:sldIdLst>
            <p14:sldId id="1176"/>
            <p14:sldId id="1177"/>
          </p14:sldIdLst>
        </p14:section>
        <p14:section name="Data Management" id="{6B08EFCF-7B35-4C7E-BE3E-270DFB04B8E8}">
          <p14:sldIdLst>
            <p14:sldId id="1131"/>
            <p14:sldId id="1132"/>
            <p14:sldId id="1133"/>
            <p14:sldId id="1134"/>
            <p14:sldId id="1135"/>
          </p14:sldIdLst>
        </p14:section>
        <p14:section name="Database Engines" id="{AC7CC6E4-3CEE-4C46-9775-CE65DFC719A4}">
          <p14:sldIdLst>
            <p14:sldId id="1136"/>
            <p14:sldId id="1137"/>
            <p14:sldId id="1138"/>
            <p14:sldId id="1139"/>
            <p14:sldId id="1140"/>
            <p14:sldId id="1141"/>
          </p14:sldIdLst>
        </p14:section>
        <p14:section name="Data Types in SQL Server" id="{68CD8010-C5F8-4FA9-A236-6377D346909A}">
          <p14:sldIdLst>
            <p14:sldId id="1148"/>
            <p14:sldId id="1149"/>
            <p14:sldId id="1183"/>
            <p14:sldId id="1150"/>
            <p14:sldId id="1184"/>
          </p14:sldIdLst>
        </p14:section>
        <p14:section name="Database Modeling" id="{9D4ED64F-166D-4864-B697-3FC412F925F3}">
          <p14:sldIdLst>
            <p14:sldId id="1151"/>
            <p14:sldId id="1152"/>
            <p14:sldId id="1153"/>
            <p14:sldId id="1154"/>
            <p14:sldId id="1155"/>
            <p14:sldId id="1156"/>
            <p14:sldId id="1157"/>
            <p14:sldId id="1158"/>
            <p14:sldId id="1159"/>
          </p14:sldIdLst>
        </p14:section>
        <p14:section name="Basic SQL Queries" id="{6ED7814B-A331-49DB-B5AD-B3098C347345}">
          <p14:sldIdLst>
            <p14:sldId id="1160"/>
            <p14:sldId id="1161"/>
            <p14:sldId id="1162"/>
            <p14:sldId id="1163"/>
          </p14:sldIdLst>
        </p14:section>
        <p14:section name="Conclusion" id="{1AE6F33F-3789-4127-BA18-3D1C55A6C11A}">
          <p14:sldIdLst>
            <p14:sldId id="1127"/>
            <p14:sldId id="614"/>
            <p14:sldId id="405"/>
            <p14:sldId id="49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4646"/>
    <a:srgbClr val="F2A40D"/>
    <a:srgbClr val="DBBD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E360CC-D6C7-4866-8014-DA68A2C28D91}" v="22" dt="2022-04-27T10:30:56.185"/>
  </p1510:revLst>
</p1510:revInfo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13" autoAdjust="0"/>
    <p:restoredTop sz="88367" autoAdjust="0"/>
  </p:normalViewPr>
  <p:slideViewPr>
    <p:cSldViewPr showGuides="1">
      <p:cViewPr varScale="1">
        <p:scale>
          <a:sx n="103" d="100"/>
          <a:sy n="103" d="100"/>
        </p:scale>
        <p:origin x="144" y="52"/>
      </p:cViewPr>
      <p:guideLst>
        <p:guide orient="horz" pos="2184"/>
        <p:guide pos="3840"/>
      </p:guideLst>
    </p:cSldViewPr>
  </p:slideViewPr>
  <p:outlineViewPr>
    <p:cViewPr>
      <p:scale>
        <a:sx n="33" d="100"/>
        <a:sy n="33" d="100"/>
      </p:scale>
      <p:origin x="0" y="-9989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6566"/>
    </p:cViewPr>
  </p:sorterViewPr>
  <p:notesViewPr>
    <p:cSldViewPr>
      <p:cViewPr varScale="1">
        <p:scale>
          <a:sx n="62" d="100"/>
          <a:sy n="62" d="100"/>
        </p:scale>
        <p:origin x="3154" y="72"/>
      </p:cViewPr>
      <p:guideLst/>
    </p:cSldViewPr>
  </p:notesViewPr>
  <p:gridSpacing cx="45000" cy="45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gurður Elí Haraldsson" userId="1ea31e91-17f4-44f4-a676-1060bca600ca" providerId="ADAL" clId="{E6E360CC-D6C7-4866-8014-DA68A2C28D91}"/>
    <pc:docChg chg="addSld delSld modSld modSection">
      <pc:chgData name="Sigurður Elí Haraldsson" userId="1ea31e91-17f4-44f4-a676-1060bca600ca" providerId="ADAL" clId="{E6E360CC-D6C7-4866-8014-DA68A2C28D91}" dt="2022-04-27T10:30:56.185" v="25"/>
      <pc:docMkLst>
        <pc:docMk/>
      </pc:docMkLst>
      <pc:sldChg chg="del">
        <pc:chgData name="Sigurður Elí Haraldsson" userId="1ea31e91-17f4-44f4-a676-1060bca600ca" providerId="ADAL" clId="{E6E360CC-D6C7-4866-8014-DA68A2C28D91}" dt="2022-04-27T10:26:27.282" v="2" actId="2696"/>
        <pc:sldMkLst>
          <pc:docMk/>
          <pc:sldMk cId="3269303760" sldId="494"/>
        </pc:sldMkLst>
      </pc:sldChg>
      <pc:sldChg chg="del">
        <pc:chgData name="Sigurður Elí Haraldsson" userId="1ea31e91-17f4-44f4-a676-1060bca600ca" providerId="ADAL" clId="{E6E360CC-D6C7-4866-8014-DA68A2C28D91}" dt="2022-04-27T10:26:29.499" v="3" actId="2696"/>
        <pc:sldMkLst>
          <pc:docMk/>
          <pc:sldMk cId="1901753048" sldId="495"/>
        </pc:sldMkLst>
      </pc:sldChg>
      <pc:sldChg chg="add">
        <pc:chgData name="Sigurður Elí Haraldsson" userId="1ea31e91-17f4-44f4-a676-1060bca600ca" providerId="ADAL" clId="{E6E360CC-D6C7-4866-8014-DA68A2C28D91}" dt="2022-04-27T10:26:51.762" v="5"/>
        <pc:sldMkLst>
          <pc:docMk/>
          <pc:sldMk cId="1874608649" sldId="608"/>
        </pc:sldMkLst>
      </pc:sldChg>
      <pc:sldChg chg="add">
        <pc:chgData name="Sigurður Elí Haraldsson" userId="1ea31e91-17f4-44f4-a676-1060bca600ca" providerId="ADAL" clId="{E6E360CC-D6C7-4866-8014-DA68A2C28D91}" dt="2022-04-27T10:26:45.821" v="4"/>
        <pc:sldMkLst>
          <pc:docMk/>
          <pc:sldMk cId="993903741" sldId="614"/>
        </pc:sldMkLst>
      </pc:sldChg>
      <pc:sldChg chg="addSp delSp modSp modAnim">
        <pc:chgData name="Sigurður Elí Haraldsson" userId="1ea31e91-17f4-44f4-a676-1060bca600ca" providerId="ADAL" clId="{E6E360CC-D6C7-4866-8014-DA68A2C28D91}" dt="2022-04-27T10:30:56.185" v="25"/>
        <pc:sldMkLst>
          <pc:docMk/>
          <pc:sldMk cId="763789242" sldId="1149"/>
        </pc:sldMkLst>
        <pc:graphicFrameChg chg="add del mod">
          <ac:chgData name="Sigurður Elí Haraldsson" userId="1ea31e91-17f4-44f4-a676-1060bca600ca" providerId="ADAL" clId="{E6E360CC-D6C7-4866-8014-DA68A2C28D91}" dt="2022-04-27T10:27:59.122" v="7"/>
          <ac:graphicFrameMkLst>
            <pc:docMk/>
            <pc:sldMk cId="763789242" sldId="1149"/>
            <ac:graphicFrameMk id="2" creationId="{5132D0A4-ED7D-4694-8107-38F8E6EF6992}"/>
          </ac:graphicFrameMkLst>
        </pc:graphicFrameChg>
      </pc:sldChg>
      <pc:sldChg chg="new del">
        <pc:chgData name="Sigurður Elí Haraldsson" userId="1ea31e91-17f4-44f4-a676-1060bca600ca" providerId="ADAL" clId="{E6E360CC-D6C7-4866-8014-DA68A2C28D91}" dt="2022-04-27T10:20:16.269" v="1" actId="2696"/>
        <pc:sldMkLst>
          <pc:docMk/>
          <pc:sldMk cId="974355167" sldId="118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6F20103-83CC-4A54-8FDE-9D37FC2629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A53962-26EF-44E4-9E69-61B1727AB1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087215-0C8F-4762-A664-737A353EC9A4}" type="datetimeFigureOut">
              <a:rPr lang="bg-BG" smtClean="0"/>
              <a:t>26.8.2025 г.</a:t>
            </a:fld>
            <a:endParaRPr lang="bg-B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A6967E-448F-4887-8FCB-34482EFBCC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-1" y="8847000"/>
            <a:ext cx="6443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z="1100" dirty="0"/>
              <a:t>© SoftUni – </a:t>
            </a:r>
            <a:r>
              <a:rPr lang="en-US" sz="1100" u="sng" dirty="0">
                <a:hlinkClick r:id="rId2"/>
              </a:rPr>
              <a:t>https://softuni.org</a:t>
            </a:r>
            <a:r>
              <a:rPr lang="en-US" sz="1100" dirty="0"/>
              <a:t>. Copyrighted document. Unauthorized copy or reproduction is not permitted.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6554C2-DDBA-40E2-9536-53A07EC502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443999" y="8847000"/>
            <a:ext cx="412413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C318AE-53F9-47EA-B5FE-E9473933AF11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15060296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D84649-876A-46C9-8472-14CB09C070D8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F067CD-8E6B-4360-9AA8-C5DF2A48A6D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2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53084769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7" name="Footer Placeholder 7">
            <a:extLst>
              <a:ext uri="{FF2B5EF4-FFF2-40B4-BE49-F238E27FC236}">
                <a16:creationId xmlns:a16="http://schemas.microsoft.com/office/drawing/2014/main" id="{D6D14794-F06A-4611-8F78-8DFF4B7B281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30172568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C16FB4C5-7FC9-4A20-9F90-120D3551543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33631018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Local store and all invoices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t>4</a:t>
            </a:fld>
            <a:endParaRPr lang="en-US" dirty="0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60C35C85-0DC0-47EE-9F3C-0EDCBCC9D44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7473371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Like</a:t>
            </a:r>
            <a:r>
              <a:rPr lang="en-US" baseline="0" dirty="0"/>
              <a:t> excel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t>5</a:t>
            </a:fld>
            <a:endParaRPr lang="en-US" dirty="0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E30F05E5-BBDB-4D27-AF8B-7468AE07604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303336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how it looks</a:t>
            </a:r>
            <a:r>
              <a:rPr lang="en-US" baseline="0" dirty="0"/>
              <a:t> one database file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t>7</a:t>
            </a:fld>
            <a:endParaRPr lang="en-US" dirty="0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59FEB95B-1EC9-4156-ADB8-AF3F1F66754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5504356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t>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45984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t>11</a:t>
            </a:fld>
            <a:endParaRPr lang="en-US" dirty="0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F2A5D15F-20FF-45F8-9135-F3EFC574C9B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4969971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table is the</a:t>
            </a:r>
            <a:r>
              <a:rPr lang="en-US" baseline="0" dirty="0"/>
              <a:t> main unit of data storage. It has rows, columns and cells. Cells contain stored data. Each column has a data type. Types can be </a:t>
            </a:r>
            <a:r>
              <a:rPr lang="en-US" b="1" baseline="0" dirty="0">
                <a:latin typeface="Consolas" panose="020B0609020204030204" pitchFamily="49" charset="0"/>
              </a:rPr>
              <a:t>VARCHAR(String</a:t>
            </a:r>
            <a:r>
              <a:rPr lang="en-US" baseline="0" dirty="0"/>
              <a:t>), </a:t>
            </a:r>
            <a:r>
              <a:rPr lang="en-US" b="1" baseline="0" dirty="0">
                <a:latin typeface="Consolas" panose="020B0609020204030204" pitchFamily="49" charset="0"/>
              </a:rPr>
              <a:t>INT</a:t>
            </a:r>
            <a:r>
              <a:rPr lang="en-US" baseline="0" dirty="0"/>
              <a:t>, </a:t>
            </a:r>
            <a:r>
              <a:rPr lang="en-US" b="1" baseline="0" dirty="0">
                <a:latin typeface="Consolas" panose="020B0609020204030204" pitchFamily="49" charset="0"/>
              </a:rPr>
              <a:t>DATE</a:t>
            </a:r>
            <a:r>
              <a:rPr lang="en-US" baseline="0" dirty="0"/>
              <a:t>, etc.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237D7EF2-BFEF-49DA-9677-1BA377F8348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2582107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+mn-cs"/>
              </a:rPr>
              <a:t>DECLARE @VarcharVar VARCHAR(5) = 'Test';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+mn-cs"/>
              </a:rPr>
              <a:t>DECLARE @NVarcharVar NVARCHAR(5) = 'Test';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+mn-cs"/>
              </a:rPr>
              <a:t>DECLARE @Char CHAR(5) = 'Test';</a:t>
            </a:r>
          </a:p>
          <a:p>
            <a:endParaRPr lang="en-US" sz="1200" kern="1200" dirty="0">
              <a:solidFill>
                <a:schemeClr val="tx1"/>
              </a:solidFill>
              <a:latin typeface="Consolas" panose="020B0609020204030204" pitchFamily="49" charset="0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+mn-cs"/>
              </a:rPr>
              <a:t>SELECT DATALENGTH(@VarcharVar), DATALENGTH(@NVarcharVar), DATALENGTH(@Char)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t>15</a:t>
            </a:fld>
            <a:endParaRPr lang="en-US" dirty="0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11283BC4-E710-4972-9158-1CE2E964B01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0579426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baseline="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                  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DateTime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                   DateTime2</a:t>
            </a:r>
            <a:endParaRPr lang="en-US" b="1" dirty="0">
              <a:effectLst/>
              <a:latin typeface="Consolas" panose="020B0609020204030204" pitchFamily="49" charset="0"/>
            </a:endParaRPr>
          </a:p>
          <a:p>
            <a:r>
              <a:rPr lang="en-US" b="1" dirty="0">
                <a:effectLst/>
                <a:latin typeface="Consolas" panose="020B0609020204030204" pitchFamily="49" charset="0"/>
              </a:rPr>
              <a:t>Min Value </a:t>
            </a:r>
            <a:r>
              <a:rPr lang="en-US" b="0" dirty="0">
                <a:effectLst/>
                <a:latin typeface="Consolas" panose="020B0609020204030204" pitchFamily="49" charset="0"/>
              </a:rPr>
              <a:t>1753-01-01 00:00:00 - 0001-01-01 00:00:00</a:t>
            </a:r>
          </a:p>
          <a:p>
            <a:r>
              <a:rPr lang="en-US" b="1" dirty="0">
                <a:effectLst/>
                <a:latin typeface="Consolas" panose="020B0609020204030204" pitchFamily="49" charset="0"/>
              </a:rPr>
              <a:t>Max Value </a:t>
            </a:r>
            <a:r>
              <a:rPr lang="en-US" b="0" dirty="0">
                <a:effectLst/>
                <a:latin typeface="Consolas" panose="020B0609020204030204" pitchFamily="49" charset="0"/>
              </a:rPr>
              <a:t>9999-12-31 23:59:59.997 - 9999-12-31 23:59:59.9999999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t>17</a:t>
            </a:fld>
            <a:endParaRPr lang="en-US" dirty="0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9211C357-1D97-41D5-A5DA-06434A5CF8D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28959026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BA5BD7-F043-4D1B-AA17-CD412FC534D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26905AE6-D8A3-45B6-928E-F3E2E637ADB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22851412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D1C0779-821B-433B-AB3A-0953EE966C7E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B3E59BF0-979F-4622-B93F-A872A2ACAE7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3920039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7548A-4D3C-449B-81A5-FA4BE4628490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7" name="Footer Placeholder 7">
            <a:extLst>
              <a:ext uri="{FF2B5EF4-FFF2-40B4-BE49-F238E27FC236}">
                <a16:creationId xmlns:a16="http://schemas.microsoft.com/office/drawing/2014/main" id="{4A8EB05F-A7FA-47A1-9F9D-52D56959C32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6531600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hyperlink" Target="https://softuni.org/" TargetMode="Externa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hyperlink" Target="https://about.softuni.bg/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11" Type="http://schemas.openxmlformats.org/officeDocument/2006/relationships/image" Target="../media/image4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hyperlink" Target="https://softuni.foundation/" TargetMode="External"/><Relationship Id="rId3" Type="http://schemas.openxmlformats.org/officeDocument/2006/relationships/image" Target="../media/image16.png"/><Relationship Id="rId7" Type="http://schemas.openxmlformats.org/officeDocument/2006/relationships/image" Target="../media/image18.png"/><Relationship Id="rId2" Type="http://schemas.openxmlformats.org/officeDocument/2006/relationships/hyperlink" Target="https://www.facebook.com/SoftwareUniversity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softuni.bg/" TargetMode="External"/><Relationship Id="rId5" Type="http://schemas.openxmlformats.org/officeDocument/2006/relationships/image" Target="../media/image17.png"/><Relationship Id="rId10" Type="http://schemas.openxmlformats.org/officeDocument/2006/relationships/image" Target="../media/image5.png"/><Relationship Id="rId4" Type="http://schemas.openxmlformats.org/officeDocument/2006/relationships/hyperlink" Target="https://softuni.org/" TargetMode="External"/><Relationship Id="rId9" Type="http://schemas.openxmlformats.org/officeDocument/2006/relationships/hyperlink" Target="https://forum.softuni.bg/" TargetMode="Externa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Bottom">
            <a:extLst>
              <a:ext uri="{FF2B5EF4-FFF2-40B4-BE49-F238E27FC236}">
                <a16:creationId xmlns:a16="http://schemas.microsoft.com/office/drawing/2014/main" id="{6854D183-0374-4B3E-B2CE-32F308A81591}"/>
              </a:ext>
            </a:extLst>
          </p:cNvPr>
          <p:cNvSpPr/>
          <p:nvPr/>
        </p:nvSpPr>
        <p:spPr>
          <a:xfrm>
            <a:off x="0" y="6702676"/>
            <a:ext cx="12195176" cy="1553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4" name="Picture Logo SoftUni" descr="SoftUni logo">
            <a:extLst>
              <a:ext uri="{FF2B5EF4-FFF2-40B4-BE49-F238E27FC236}">
                <a16:creationId xmlns:a16="http://schemas.microsoft.com/office/drawing/2014/main" id="{C4D6B2A2-DFF0-4712-BFEC-6676BEC99FE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4460" y="5184000"/>
            <a:ext cx="3751540" cy="1297655"/>
          </a:xfrm>
          <a:prstGeom prst="rect">
            <a:avLst/>
          </a:prstGeom>
        </p:spPr>
      </p:pic>
      <p:sp>
        <p:nvSpPr>
          <p:cNvPr id="31" name="Text Placeholder Company Site">
            <a:extLst>
              <a:ext uri="{FF2B5EF4-FFF2-40B4-BE49-F238E27FC236}">
                <a16:creationId xmlns:a16="http://schemas.microsoft.com/office/drawing/2014/main" id="{3E6B87B7-9D33-4EBB-BD4F-C0436BA3FD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8708505" y="6130863"/>
            <a:ext cx="2951518" cy="341556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r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1798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Company Web Site</a:t>
            </a:r>
          </a:p>
        </p:txBody>
      </p:sp>
      <p:sp>
        <p:nvSpPr>
          <p:cNvPr id="30" name="Text Placeholder Company Name">
            <a:extLst>
              <a:ext uri="{FF2B5EF4-FFF2-40B4-BE49-F238E27FC236}">
                <a16:creationId xmlns:a16="http://schemas.microsoft.com/office/drawing/2014/main" id="{2EA92DCA-4DB5-4D03-ACD3-A6A296592D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8708505" y="5756628"/>
            <a:ext cx="2951518" cy="367080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r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1998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Company Name</a:t>
            </a:r>
          </a:p>
        </p:txBody>
      </p:sp>
      <p:pic>
        <p:nvPicPr>
          <p:cNvPr id="35" name="Picture SoftUni Mascot" descr="SoftUni mascot">
            <a:extLst>
              <a:ext uri="{FF2B5EF4-FFF2-40B4-BE49-F238E27FC236}">
                <a16:creationId xmlns:a16="http://schemas.microsoft.com/office/drawing/2014/main" id="{951E7DA9-C5F0-43D9-B013-3BDF9EEF029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8848924" y="2609644"/>
            <a:ext cx="2788893" cy="3018284"/>
          </a:xfrm>
          <a:prstGeom prst="rect">
            <a:avLst/>
          </a:prstGeom>
        </p:spPr>
      </p:pic>
      <p:pic>
        <p:nvPicPr>
          <p:cNvPr id="22" name="Picture Logo Software University" descr="Software University logo">
            <a:hlinkClick r:id="rId4"/>
            <a:extLst>
              <a:ext uri="{FF2B5EF4-FFF2-40B4-BE49-F238E27FC236}">
                <a16:creationId xmlns:a16="http://schemas.microsoft.com/office/drawing/2014/main" id="{F2315EB3-3FE4-4D3B-921E-5F209CEC13C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944" y="5918567"/>
            <a:ext cx="1830305" cy="628159"/>
          </a:xfrm>
          <a:prstGeom prst="rect">
            <a:avLst/>
          </a:prstGeom>
        </p:spPr>
      </p:pic>
      <p:sp>
        <p:nvSpPr>
          <p:cNvPr id="40" name="Text Placeholder Author Position">
            <a:extLst>
              <a:ext uri="{FF2B5EF4-FFF2-40B4-BE49-F238E27FC236}">
                <a16:creationId xmlns:a16="http://schemas.microsoft.com/office/drawing/2014/main" id="{CD940256-851E-46C8-8BFB-A5ECA6C7DA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553082" y="5344180"/>
            <a:ext cx="2980696" cy="444793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2398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Position</a:t>
            </a:r>
          </a:p>
        </p:txBody>
      </p:sp>
      <p:sp>
        <p:nvSpPr>
          <p:cNvPr id="36" name="Text Placeholder Author Name">
            <a:extLst>
              <a:ext uri="{FF2B5EF4-FFF2-40B4-BE49-F238E27FC236}">
                <a16:creationId xmlns:a16="http://schemas.microsoft.com/office/drawing/2014/main" id="{3B21F47B-DE1F-442D-A2B7-6866F87867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553082" y="4851838"/>
            <a:ext cx="2980696" cy="454398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2798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Author Name</a:t>
            </a:r>
          </a:p>
        </p:txBody>
      </p:sp>
      <p:sp>
        <p:nvSpPr>
          <p:cNvPr id="33" name="Picture Placeholder Title Image">
            <a:extLst>
              <a:ext uri="{FF2B5EF4-FFF2-40B4-BE49-F238E27FC236}">
                <a16:creationId xmlns:a16="http://schemas.microsoft.com/office/drawing/2014/main" id="{A04D819A-89E2-4714-8C56-1838BF467E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3082" y="2740913"/>
            <a:ext cx="4642919" cy="1936503"/>
          </a:xfrm>
        </p:spPr>
        <p:txBody>
          <a:bodyPr/>
          <a:lstStyle>
            <a:lvl1pPr marL="0" indent="0" algn="ctr" latinLnBrk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43" name="Presentation Subtitle">
            <a:extLst>
              <a:ext uri="{FF2B5EF4-FFF2-40B4-BE49-F238E27FC236}">
                <a16:creationId xmlns:a16="http://schemas.microsoft.com/office/drawing/2014/main" id="{37BDB812-1395-4B02-ABCF-6A331EEE23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4182" y="1258272"/>
            <a:ext cx="11083636" cy="1315728"/>
          </a:xfrm>
        </p:spPr>
        <p:txBody>
          <a:bodyPr anchor="t" anchorCtr="0">
            <a:normAutofit/>
          </a:bodyPr>
          <a:lstStyle>
            <a:lvl1pPr marL="0" indent="0" algn="ctr" latinLnBrk="0">
              <a:buNone/>
              <a:defRPr sz="3598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Presentation Subtitle</a:t>
            </a:r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A4DF3AB8-E6E3-4FCE-8A4A-ECD147720A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182" y="321502"/>
            <a:ext cx="11083636" cy="882654"/>
          </a:xfrm>
        </p:spPr>
        <p:txBody>
          <a:bodyPr/>
          <a:lstStyle>
            <a:lvl1pPr algn="ctr" latinLnBrk="0">
              <a:defRPr sz="4798"/>
            </a:lvl1pPr>
          </a:lstStyle>
          <a:p>
            <a:r>
              <a:rPr lang="en-US" noProof="0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970179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4319736" y="86775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615109" y="5585916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615109" y="4704825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529216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Slide Body Text">
            <a:extLst>
              <a:ext uri="{FF2B5EF4-FFF2-40B4-BE49-F238E27FC236}">
                <a16:creationId xmlns:a16="http://schemas.microsoft.com/office/drawing/2014/main" id="{5A9D2960-6D42-439F-82E8-812822013A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6125"/>
            <a:ext cx="11818096" cy="5528766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391AFA4E-7870-4561-A1B8-AC956B0C8931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2" name="Logo Software University" descr="Software University logo">
            <a:extLst>
              <a:ext uri="{FF2B5EF4-FFF2-40B4-BE49-F238E27FC236}">
                <a16:creationId xmlns:a16="http://schemas.microsoft.com/office/drawing/2014/main" id="{B1D3B425-B9BF-43ED-9DEC-C05002FBA2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6" name="Slide Title">
            <a:extLst>
              <a:ext uri="{FF2B5EF4-FFF2-40B4-BE49-F238E27FC236}">
                <a16:creationId xmlns:a16="http://schemas.microsoft.com/office/drawing/2014/main" id="{19B5B676-7892-440F-8191-7109B2C598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1102970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ortant Conce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0020EB61-2079-41A3-B356-B1D8D48D7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Rectangle Left"/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CB4CB13C-66A1-466B-A6C1-B0BABF5CFE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66000" y="1121143"/>
            <a:ext cx="10129234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pic>
        <p:nvPicPr>
          <p:cNvPr id="3" name="Logo Software University" descr="Software University logo">
            <a:extLst>
              <a:ext uri="{FF2B5EF4-FFF2-40B4-BE49-F238E27FC236}">
                <a16:creationId xmlns:a16="http://schemas.microsoft.com/office/drawing/2014/main" id="{5573C101-930B-47AC-967A-A64513DFFD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761" y="190267"/>
            <a:ext cx="2013336" cy="690975"/>
          </a:xfrm>
          <a:prstGeom prst="rect">
            <a:avLst/>
          </a:prstGeom>
        </p:spPr>
      </p:pic>
      <p:sp>
        <p:nvSpPr>
          <p:cNvPr id="8" name="Slide Title">
            <a:extLst>
              <a:ext uri="{FF2B5EF4-FFF2-40B4-BE49-F238E27FC236}">
                <a16:creationId xmlns:a16="http://schemas.microsoft.com/office/drawing/2014/main" id="{E2DA9691-CDF5-499C-94BB-AAA61DAC1B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7" y="100750"/>
            <a:ext cx="8625520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3CDBCC2-1C96-44BC-B992-7B0C49C34904}"/>
              </a:ext>
            </a:extLst>
          </p:cNvPr>
          <p:cNvGrpSpPr/>
          <p:nvPr userDrawn="1"/>
        </p:nvGrpSpPr>
        <p:grpSpPr>
          <a:xfrm>
            <a:off x="185076" y="1868177"/>
            <a:ext cx="1937508" cy="3070349"/>
            <a:chOff x="3928039" y="1792355"/>
            <a:chExt cx="1830304" cy="2900460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7D71B3A8-4D39-42CF-9255-81EA3A622DD6}"/>
                </a:ext>
              </a:extLst>
            </p:cNvPr>
            <p:cNvGrpSpPr/>
            <p:nvPr/>
          </p:nvGrpSpPr>
          <p:grpSpPr>
            <a:xfrm>
              <a:off x="3928039" y="1792355"/>
              <a:ext cx="1830304" cy="2206534"/>
              <a:chOff x="3216839" y="2404072"/>
              <a:chExt cx="1830304" cy="2206534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B98059F9-1874-426D-8AF7-A12C21F37DD9}"/>
                  </a:ext>
                </a:extLst>
              </p:cNvPr>
              <p:cNvSpPr/>
              <p:nvPr/>
            </p:nvSpPr>
            <p:spPr>
              <a:xfrm>
                <a:off x="3216839" y="2404072"/>
                <a:ext cx="1830304" cy="1830304"/>
              </a:xfrm>
              <a:prstGeom prst="ellipse">
                <a:avLst/>
              </a:pr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26" name="Rectangle 5">
                <a:extLst>
                  <a:ext uri="{FF2B5EF4-FFF2-40B4-BE49-F238E27FC236}">
                    <a16:creationId xmlns:a16="http://schemas.microsoft.com/office/drawing/2014/main" id="{A3A1E077-DBDF-48F0-A924-604984B940A2}"/>
                  </a:ext>
                </a:extLst>
              </p:cNvPr>
              <p:cNvSpPr/>
              <p:nvPr/>
            </p:nvSpPr>
            <p:spPr>
              <a:xfrm>
                <a:off x="3699615" y="3807346"/>
                <a:ext cx="1143001" cy="803260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27" name="Rectangle 5">
                <a:extLst>
                  <a:ext uri="{FF2B5EF4-FFF2-40B4-BE49-F238E27FC236}">
                    <a16:creationId xmlns:a16="http://schemas.microsoft.com/office/drawing/2014/main" id="{798B1F51-1FA4-4199-81C7-62356C936CC9}"/>
                  </a:ext>
                </a:extLst>
              </p:cNvPr>
              <p:cNvSpPr/>
              <p:nvPr/>
            </p:nvSpPr>
            <p:spPr>
              <a:xfrm flipH="1">
                <a:off x="3426570" y="3807347"/>
                <a:ext cx="1143000" cy="803259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28" name="Arc 27">
                <a:extLst>
                  <a:ext uri="{FF2B5EF4-FFF2-40B4-BE49-F238E27FC236}">
                    <a16:creationId xmlns:a16="http://schemas.microsoft.com/office/drawing/2014/main" id="{40A224C8-1233-40F7-96AB-BFF79AF6CDCB}"/>
                  </a:ext>
                </a:extLst>
              </p:cNvPr>
              <p:cNvSpPr/>
              <p:nvPr/>
            </p:nvSpPr>
            <p:spPr>
              <a:xfrm>
                <a:off x="3454111" y="2482850"/>
                <a:ext cx="1504950" cy="1504950"/>
              </a:xfrm>
              <a:prstGeom prst="arc">
                <a:avLst>
                  <a:gd name="adj1" fmla="val 18068338"/>
                  <a:gd name="adj2" fmla="val 0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29" name="Arc 28">
                <a:extLst>
                  <a:ext uri="{FF2B5EF4-FFF2-40B4-BE49-F238E27FC236}">
                    <a16:creationId xmlns:a16="http://schemas.microsoft.com/office/drawing/2014/main" id="{B57C7CCC-E218-4321-8C7B-3F0C5753C7A1}"/>
                  </a:ext>
                </a:extLst>
              </p:cNvPr>
              <p:cNvSpPr/>
              <p:nvPr/>
            </p:nvSpPr>
            <p:spPr>
              <a:xfrm>
                <a:off x="3454111" y="2482849"/>
                <a:ext cx="1504950" cy="1504950"/>
              </a:xfrm>
              <a:prstGeom prst="arc">
                <a:avLst>
                  <a:gd name="adj1" fmla="val 17518504"/>
                  <a:gd name="adj2" fmla="val 17709817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</p:grp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6AF309CA-A56C-4ABC-B293-420F4EB1A9B4}"/>
                </a:ext>
              </a:extLst>
            </p:cNvPr>
            <p:cNvSpPr/>
            <p:nvPr/>
          </p:nvSpPr>
          <p:spPr>
            <a:xfrm>
              <a:off x="4400007" y="4324162"/>
              <a:ext cx="886369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07955808-2AC7-44EB-8B6D-82B974E53A3C}"/>
                </a:ext>
              </a:extLst>
            </p:cNvPr>
            <p:cNvSpPr/>
            <p:nvPr/>
          </p:nvSpPr>
          <p:spPr>
            <a:xfrm>
              <a:off x="4533357" y="4542116"/>
              <a:ext cx="619670" cy="150699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  <a:effectLst>
              <a:outerShdw blurRad="152400" dist="381000" dir="5400000" sx="70000" sy="70000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AC6420D7-AEAB-45EF-8D46-11EB06E4AFE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72677" y="2844800"/>
              <a:ext cx="161562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6C7FABC-6773-44F6-990B-3EB082BE9B3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8548" y="3618567"/>
              <a:ext cx="528128" cy="0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1FAD48E1-DC45-4B3D-9CE5-613250708496}"/>
                </a:ext>
              </a:extLst>
            </p:cNvPr>
            <p:cNvGrpSpPr/>
            <p:nvPr/>
          </p:nvGrpSpPr>
          <p:grpSpPr>
            <a:xfrm>
              <a:off x="4203288" y="2479090"/>
              <a:ext cx="436874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B01FD1D1-046F-457B-AB63-2702CE3E906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895660C3-C72C-43EE-9C4A-170F85E5BE0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A74EE503-8FC0-42A6-8860-CA4EE42272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48904" y="2844800"/>
              <a:ext cx="142425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F4189FDA-9FE8-490B-8A70-2E941811021F}"/>
                </a:ext>
              </a:extLst>
            </p:cNvPr>
            <p:cNvSpPr/>
            <p:nvPr/>
          </p:nvSpPr>
          <p:spPr>
            <a:xfrm>
              <a:off x="4355556" y="4106208"/>
              <a:ext cx="975271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DA3EFCD-0DF8-419D-8533-D781521E597E}"/>
                </a:ext>
              </a:extLst>
            </p:cNvPr>
            <p:cNvGrpSpPr/>
            <p:nvPr/>
          </p:nvGrpSpPr>
          <p:grpSpPr>
            <a:xfrm flipH="1">
              <a:off x="5035162" y="2479090"/>
              <a:ext cx="436872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C3CC6A5A-182E-4A09-9C04-EB191881D78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440C8953-0555-48CC-8255-78F17E053EE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9B538CA-8CCB-43FB-B5E5-5FC04EBC1F54}"/>
              </a:ext>
            </a:extLst>
          </p:cNvPr>
          <p:cNvCxnSpPr>
            <a:cxnSpLocks/>
            <a:stCxn id="26" idx="2"/>
          </p:cNvCxnSpPr>
          <p:nvPr userDrawn="1"/>
        </p:nvCxnSpPr>
        <p:spPr>
          <a:xfrm flipH="1">
            <a:off x="673735" y="4203953"/>
            <a:ext cx="955204" cy="0"/>
          </a:xfrm>
          <a:prstGeom prst="line">
            <a:avLst/>
          </a:prstGeom>
          <a:solidFill>
            <a:srgbClr val="464646"/>
          </a:solidFill>
          <a:ln w="38100">
            <a:solidFill>
              <a:srgbClr val="46464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3545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portant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1865BF6B-7F07-4E9C-879F-80E36EEB34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2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5" name="Slide Body Text">
            <a:extLst>
              <a:ext uri="{FF2B5EF4-FFF2-40B4-BE49-F238E27FC236}">
                <a16:creationId xmlns:a16="http://schemas.microsoft.com/office/drawing/2014/main" id="{6157C8DE-E0AF-422B-BBB1-F0AF1264B5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73561" y="1121143"/>
            <a:ext cx="10321675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pic>
        <p:nvPicPr>
          <p:cNvPr id="16" name="Logo Software University" descr="Software University logo">
            <a:extLst>
              <a:ext uri="{FF2B5EF4-FFF2-40B4-BE49-F238E27FC236}">
                <a16:creationId xmlns:a16="http://schemas.microsoft.com/office/drawing/2014/main" id="{EFEBB553-EACE-4B4F-8B4F-7629FDD910A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761" y="190267"/>
            <a:ext cx="2013336" cy="690975"/>
          </a:xfrm>
          <a:prstGeom prst="rect">
            <a:avLst/>
          </a:prstGeom>
        </p:spPr>
      </p:pic>
      <p:sp>
        <p:nvSpPr>
          <p:cNvPr id="13" name="Slide Title">
            <a:extLst>
              <a:ext uri="{FF2B5EF4-FFF2-40B4-BE49-F238E27FC236}">
                <a16:creationId xmlns:a16="http://schemas.microsoft.com/office/drawing/2014/main" id="{0D5CC956-5C4A-44BE-8F8B-327FAFA51E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7" y="100750"/>
            <a:ext cx="8625520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CF60135-47AA-48F0-96BA-0E795668ABDB}"/>
              </a:ext>
            </a:extLst>
          </p:cNvPr>
          <p:cNvGrpSpPr/>
          <p:nvPr userDrawn="1"/>
        </p:nvGrpSpPr>
        <p:grpSpPr>
          <a:xfrm>
            <a:off x="392806" y="3429000"/>
            <a:ext cx="1522048" cy="2411973"/>
            <a:chOff x="3928039" y="1792355"/>
            <a:chExt cx="1830304" cy="2900460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2823380E-3936-41AF-BDF7-DA54D75BBF6B}"/>
                </a:ext>
              </a:extLst>
            </p:cNvPr>
            <p:cNvGrpSpPr/>
            <p:nvPr/>
          </p:nvGrpSpPr>
          <p:grpSpPr>
            <a:xfrm>
              <a:off x="3928039" y="1792355"/>
              <a:ext cx="1830304" cy="2206534"/>
              <a:chOff x="3216839" y="2404072"/>
              <a:chExt cx="1830304" cy="2206534"/>
            </a:xfrm>
          </p:grpSpPr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52B047D9-D8DD-45C7-9BC8-6D4F682F5182}"/>
                  </a:ext>
                </a:extLst>
              </p:cNvPr>
              <p:cNvSpPr/>
              <p:nvPr/>
            </p:nvSpPr>
            <p:spPr>
              <a:xfrm>
                <a:off x="3216839" y="2404072"/>
                <a:ext cx="1830304" cy="1830304"/>
              </a:xfrm>
              <a:prstGeom prst="ellipse">
                <a:avLst/>
              </a:pr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48" name="Rectangle 5">
                <a:extLst>
                  <a:ext uri="{FF2B5EF4-FFF2-40B4-BE49-F238E27FC236}">
                    <a16:creationId xmlns:a16="http://schemas.microsoft.com/office/drawing/2014/main" id="{4D84FE51-BD8E-47EA-9463-CE02FEA31766}"/>
                  </a:ext>
                </a:extLst>
              </p:cNvPr>
              <p:cNvSpPr/>
              <p:nvPr/>
            </p:nvSpPr>
            <p:spPr>
              <a:xfrm>
                <a:off x="3699615" y="3807346"/>
                <a:ext cx="1143001" cy="803260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49" name="Rectangle 5">
                <a:extLst>
                  <a:ext uri="{FF2B5EF4-FFF2-40B4-BE49-F238E27FC236}">
                    <a16:creationId xmlns:a16="http://schemas.microsoft.com/office/drawing/2014/main" id="{F5C8F037-C197-4219-AC87-3A81763512BC}"/>
                  </a:ext>
                </a:extLst>
              </p:cNvPr>
              <p:cNvSpPr/>
              <p:nvPr/>
            </p:nvSpPr>
            <p:spPr>
              <a:xfrm flipH="1">
                <a:off x="3426570" y="3807347"/>
                <a:ext cx="1143000" cy="803259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50" name="Arc 49">
                <a:extLst>
                  <a:ext uri="{FF2B5EF4-FFF2-40B4-BE49-F238E27FC236}">
                    <a16:creationId xmlns:a16="http://schemas.microsoft.com/office/drawing/2014/main" id="{786EE401-CF8E-439B-94A0-EE6F3A7D5798}"/>
                  </a:ext>
                </a:extLst>
              </p:cNvPr>
              <p:cNvSpPr/>
              <p:nvPr/>
            </p:nvSpPr>
            <p:spPr>
              <a:xfrm>
                <a:off x="3454111" y="2482850"/>
                <a:ext cx="1504950" cy="1504950"/>
              </a:xfrm>
              <a:prstGeom prst="arc">
                <a:avLst>
                  <a:gd name="adj1" fmla="val 18068338"/>
                  <a:gd name="adj2" fmla="val 0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51" name="Arc 50">
                <a:extLst>
                  <a:ext uri="{FF2B5EF4-FFF2-40B4-BE49-F238E27FC236}">
                    <a16:creationId xmlns:a16="http://schemas.microsoft.com/office/drawing/2014/main" id="{8D9ACD38-B3EB-4A63-9730-CBF0501BF235}"/>
                  </a:ext>
                </a:extLst>
              </p:cNvPr>
              <p:cNvSpPr/>
              <p:nvPr/>
            </p:nvSpPr>
            <p:spPr>
              <a:xfrm>
                <a:off x="3454111" y="2482849"/>
                <a:ext cx="1504950" cy="1504950"/>
              </a:xfrm>
              <a:prstGeom prst="arc">
                <a:avLst>
                  <a:gd name="adj1" fmla="val 17518504"/>
                  <a:gd name="adj2" fmla="val 17709817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</p:grp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64EE493E-A353-4C75-A3B9-D48ABA2C57CC}"/>
                </a:ext>
              </a:extLst>
            </p:cNvPr>
            <p:cNvSpPr/>
            <p:nvPr/>
          </p:nvSpPr>
          <p:spPr>
            <a:xfrm>
              <a:off x="4400007" y="4324162"/>
              <a:ext cx="886369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718408B9-204E-42E3-9E79-33E047E869BC}"/>
                </a:ext>
              </a:extLst>
            </p:cNvPr>
            <p:cNvSpPr/>
            <p:nvPr/>
          </p:nvSpPr>
          <p:spPr>
            <a:xfrm>
              <a:off x="4533357" y="4542116"/>
              <a:ext cx="619670" cy="150699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  <a:effectLst>
              <a:outerShdw blurRad="152400" dist="381000" dir="5400000" sx="70000" sy="70000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AB66D97-DF6F-4CD2-AF13-42B5C852F67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72677" y="2844800"/>
              <a:ext cx="161562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2AFBA69-C196-4703-8AAB-5F72A8EDCE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8548" y="3618567"/>
              <a:ext cx="528128" cy="0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9AFC66C1-0C1C-4332-9C4E-782574C896B8}"/>
                </a:ext>
              </a:extLst>
            </p:cNvPr>
            <p:cNvGrpSpPr/>
            <p:nvPr/>
          </p:nvGrpSpPr>
          <p:grpSpPr>
            <a:xfrm>
              <a:off x="4203288" y="2479090"/>
              <a:ext cx="436874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872CA8AD-EAF6-40BE-9DDE-ECDB4A980CA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57DD3EC7-1A13-4AFE-BD6F-DA12C281FAF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E46151FA-19E9-4E84-A082-EDAC6F76EA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48904" y="2844800"/>
              <a:ext cx="142425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3423EEF0-5B70-4091-B2DA-0740D2609643}"/>
                </a:ext>
              </a:extLst>
            </p:cNvPr>
            <p:cNvSpPr/>
            <p:nvPr/>
          </p:nvSpPr>
          <p:spPr>
            <a:xfrm>
              <a:off x="4355556" y="4106208"/>
              <a:ext cx="975271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49A8AAA7-98E7-4224-B027-830FFCC285A3}"/>
                </a:ext>
              </a:extLst>
            </p:cNvPr>
            <p:cNvGrpSpPr/>
            <p:nvPr/>
          </p:nvGrpSpPr>
          <p:grpSpPr>
            <a:xfrm flipH="1">
              <a:off x="5035162" y="2479090"/>
              <a:ext cx="436872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2129EC38-471E-4685-973E-BA7A7F567C4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678142BE-84C9-4834-B6CC-6623E401661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679651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0B8C963-1813-4B69-AD27-6D02EBBBB5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 userDrawn="1"/>
        </p:nvSpPr>
        <p:spPr>
          <a:xfrm>
            <a:off x="0" y="0"/>
            <a:ext cx="42947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7296EDA7-D37D-4B31-A888-371F080412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5176" y="1121143"/>
            <a:ext cx="11410061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55A88B09-3557-48A3-BF27-42699C2692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176" y="100750"/>
            <a:ext cx="11410061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4248838-4E67-439E-AE0A-0043D2CB04D6}"/>
              </a:ext>
            </a:extLst>
          </p:cNvPr>
          <p:cNvGrpSpPr/>
          <p:nvPr userDrawn="1"/>
        </p:nvGrpSpPr>
        <p:grpSpPr>
          <a:xfrm>
            <a:off x="108596" y="5591709"/>
            <a:ext cx="641749" cy="1016973"/>
            <a:chOff x="3928039" y="1792355"/>
            <a:chExt cx="1830304" cy="2900460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810CFD6A-2427-49D5-846A-5F93601D4184}"/>
                </a:ext>
              </a:extLst>
            </p:cNvPr>
            <p:cNvGrpSpPr/>
            <p:nvPr/>
          </p:nvGrpSpPr>
          <p:grpSpPr>
            <a:xfrm>
              <a:off x="3928039" y="1792355"/>
              <a:ext cx="1830304" cy="2206534"/>
              <a:chOff x="3216839" y="2404072"/>
              <a:chExt cx="1830304" cy="2206534"/>
            </a:xfrm>
          </p:grpSpPr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17B1AE5-5C36-4839-BA1F-B404EA44E701}"/>
                  </a:ext>
                </a:extLst>
              </p:cNvPr>
              <p:cNvSpPr/>
              <p:nvPr/>
            </p:nvSpPr>
            <p:spPr>
              <a:xfrm>
                <a:off x="3216839" y="2404072"/>
                <a:ext cx="1830304" cy="1830304"/>
              </a:xfrm>
              <a:prstGeom prst="ellipse">
                <a:avLst/>
              </a:pr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43" name="Rectangle 5">
                <a:extLst>
                  <a:ext uri="{FF2B5EF4-FFF2-40B4-BE49-F238E27FC236}">
                    <a16:creationId xmlns:a16="http://schemas.microsoft.com/office/drawing/2014/main" id="{FB963D79-BB49-4A1D-BA66-EA0670C79BAE}"/>
                  </a:ext>
                </a:extLst>
              </p:cNvPr>
              <p:cNvSpPr/>
              <p:nvPr/>
            </p:nvSpPr>
            <p:spPr>
              <a:xfrm>
                <a:off x="3699615" y="3807346"/>
                <a:ext cx="1143001" cy="803260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44" name="Rectangle 5">
                <a:extLst>
                  <a:ext uri="{FF2B5EF4-FFF2-40B4-BE49-F238E27FC236}">
                    <a16:creationId xmlns:a16="http://schemas.microsoft.com/office/drawing/2014/main" id="{6D7746D8-B913-493B-AAE9-25BC6893D40E}"/>
                  </a:ext>
                </a:extLst>
              </p:cNvPr>
              <p:cNvSpPr/>
              <p:nvPr/>
            </p:nvSpPr>
            <p:spPr>
              <a:xfrm flipH="1">
                <a:off x="3426570" y="3807347"/>
                <a:ext cx="1143000" cy="803259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45" name="Arc 44">
                <a:extLst>
                  <a:ext uri="{FF2B5EF4-FFF2-40B4-BE49-F238E27FC236}">
                    <a16:creationId xmlns:a16="http://schemas.microsoft.com/office/drawing/2014/main" id="{29031C02-E965-417B-8799-96061B14F30D}"/>
                  </a:ext>
                </a:extLst>
              </p:cNvPr>
              <p:cNvSpPr/>
              <p:nvPr/>
            </p:nvSpPr>
            <p:spPr>
              <a:xfrm>
                <a:off x="3454111" y="2482850"/>
                <a:ext cx="1504950" cy="1504950"/>
              </a:xfrm>
              <a:prstGeom prst="arc">
                <a:avLst>
                  <a:gd name="adj1" fmla="val 18068338"/>
                  <a:gd name="adj2" fmla="val 0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46" name="Arc 45">
                <a:extLst>
                  <a:ext uri="{FF2B5EF4-FFF2-40B4-BE49-F238E27FC236}">
                    <a16:creationId xmlns:a16="http://schemas.microsoft.com/office/drawing/2014/main" id="{26BFD8A6-BC99-4B16-BA10-08A9E5C681C0}"/>
                  </a:ext>
                </a:extLst>
              </p:cNvPr>
              <p:cNvSpPr/>
              <p:nvPr/>
            </p:nvSpPr>
            <p:spPr>
              <a:xfrm>
                <a:off x="3454111" y="2482849"/>
                <a:ext cx="1504950" cy="1504950"/>
              </a:xfrm>
              <a:prstGeom prst="arc">
                <a:avLst>
                  <a:gd name="adj1" fmla="val 17518504"/>
                  <a:gd name="adj2" fmla="val 17709817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</p:grp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B310277F-A78E-4FB9-9EA9-88BE4F1D585B}"/>
                </a:ext>
              </a:extLst>
            </p:cNvPr>
            <p:cNvSpPr/>
            <p:nvPr/>
          </p:nvSpPr>
          <p:spPr>
            <a:xfrm>
              <a:off x="4400007" y="4324162"/>
              <a:ext cx="886369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A92CF92B-C212-4542-83AE-A0058B5BB5EA}"/>
                </a:ext>
              </a:extLst>
            </p:cNvPr>
            <p:cNvSpPr/>
            <p:nvPr/>
          </p:nvSpPr>
          <p:spPr>
            <a:xfrm>
              <a:off x="4533357" y="4542116"/>
              <a:ext cx="619670" cy="150699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  <a:effectLst>
              <a:outerShdw blurRad="152400" dist="381000" dir="5400000" sx="70000" sy="70000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63B4374-5C0D-461F-B3BD-78D99614D36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72677" y="2844800"/>
              <a:ext cx="161562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BC6FDE7-AEA1-4230-8433-4C088A0FF5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8548" y="3618567"/>
              <a:ext cx="528128" cy="0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C4D1021D-07C7-4331-8FF6-36980A30978B}"/>
                </a:ext>
              </a:extLst>
            </p:cNvPr>
            <p:cNvGrpSpPr/>
            <p:nvPr/>
          </p:nvGrpSpPr>
          <p:grpSpPr>
            <a:xfrm>
              <a:off x="4203288" y="2479090"/>
              <a:ext cx="436874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13B7FE99-95CF-45D5-966B-87A979B9343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71BBA69B-19FF-4ADB-A739-AD8136A5F0A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BFD1D86B-562B-40B2-8E46-34233EFEE7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48904" y="2844800"/>
              <a:ext cx="142425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388C17BD-16A1-43C5-BFFA-2FF9174719E1}"/>
                </a:ext>
              </a:extLst>
            </p:cNvPr>
            <p:cNvSpPr/>
            <p:nvPr/>
          </p:nvSpPr>
          <p:spPr>
            <a:xfrm>
              <a:off x="4355556" y="4106208"/>
              <a:ext cx="975271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1B3B910E-ACFC-4F28-8E28-F02E1588B87E}"/>
                </a:ext>
              </a:extLst>
            </p:cNvPr>
            <p:cNvGrpSpPr/>
            <p:nvPr/>
          </p:nvGrpSpPr>
          <p:grpSpPr>
            <a:xfrm flipH="1">
              <a:off x="5035162" y="2479090"/>
              <a:ext cx="436872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F57772B6-06C0-4F54-AA94-D3F92DA4716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23370C1F-7876-4278-AB20-78F6CAA385E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284562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rce Code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">
            <a:extLst>
              <a:ext uri="{FF2B5EF4-FFF2-40B4-BE49-F238E27FC236}">
                <a16:creationId xmlns:a16="http://schemas.microsoft.com/office/drawing/2014/main" id="{509D954E-A844-4072-A556-DE584BEB93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6" name="Code Box">
            <a:extLst>
              <a:ext uri="{FF2B5EF4-FFF2-40B4-BE49-F238E27FC236}">
                <a16:creationId xmlns:a16="http://schemas.microsoft.com/office/drawing/2014/main" id="{3278A82F-5546-4977-9F75-2A933B41594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1234" y="1931154"/>
            <a:ext cx="10949531" cy="1362846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wrap="square" lIns="144000" tIns="108000" rIns="144000" bIns="108000">
            <a:spAutoFit/>
          </a:bodyPr>
          <a:lstStyle>
            <a:lvl1pPr marL="0" indent="0" latinLnBrk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lang="en-US" sz="2398" b="1" noProof="1" smtClean="0">
                <a:solidFill>
                  <a:schemeClr val="tx1"/>
                </a:solidFill>
                <a:effectLst/>
                <a:latin typeface="Consolas" pitchFamily="49" charset="0"/>
                <a:cs typeface="Consolas" pitchFamily="49" charset="0"/>
              </a:defRPr>
            </a:lvl1pPr>
          </a:lstStyle>
          <a:p>
            <a:pPr marL="0" lvl="0"/>
            <a:r>
              <a:rPr lang="en-US" noProof="1"/>
              <a:t>Source code box</a:t>
            </a:r>
          </a:p>
          <a:p>
            <a:pPr marL="0" lvl="0"/>
            <a:r>
              <a:rPr lang="en-US" noProof="1"/>
              <a:t>…</a:t>
            </a:r>
          </a:p>
          <a:p>
            <a:pPr marL="0" lvl="0"/>
            <a:r>
              <a:rPr lang="en-US" noProof="1"/>
              <a:t>…</a:t>
            </a:r>
          </a:p>
        </p:txBody>
      </p:sp>
      <p:sp>
        <p:nvSpPr>
          <p:cNvPr id="21" name="Slide Body Text">
            <a:extLst>
              <a:ext uri="{FF2B5EF4-FFF2-40B4-BE49-F238E27FC236}">
                <a16:creationId xmlns:a16="http://schemas.microsoft.com/office/drawing/2014/main" id="{04F318BE-2BAD-4677-871C-D78A4BF0CB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501" y="1196126"/>
            <a:ext cx="11811097" cy="5561124"/>
          </a:xfrm>
        </p:spPr>
        <p:txBody>
          <a:bodyPr/>
          <a:lstStyle>
            <a:lvl1pPr marL="0" indent="0" latinLnBrk="0">
              <a:buNone/>
              <a:defRPr>
                <a:solidFill>
                  <a:schemeClr val="tx1"/>
                </a:solidFill>
              </a:defRPr>
            </a:lvl1pPr>
            <a:lvl2pPr marL="609219" indent="0">
              <a:buNone/>
              <a:defRPr/>
            </a:lvl2pPr>
          </a:lstStyle>
          <a:p>
            <a:pPr lvl="0"/>
            <a:r>
              <a:rPr lang="en-US" noProof="0"/>
              <a:t>Sample source code:</a:t>
            </a:r>
          </a:p>
        </p:txBody>
      </p:sp>
      <p:sp>
        <p:nvSpPr>
          <p:cNvPr id="9" name="Rectangle Top">
            <a:extLst>
              <a:ext uri="{FF2B5EF4-FFF2-40B4-BE49-F238E27FC236}">
                <a16:creationId xmlns:a16="http://schemas.microsoft.com/office/drawing/2014/main" id="{A15CE03A-0933-4E5D-9EA1-718D4F802FFC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0" name="Logo Software University" descr="Software University logo">
            <a:extLst>
              <a:ext uri="{FF2B5EF4-FFF2-40B4-BE49-F238E27FC236}">
                <a16:creationId xmlns:a16="http://schemas.microsoft.com/office/drawing/2014/main" id="{8C01D7AF-7CBD-46E1-99F3-8EB60E838D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1" name="Slide Title">
            <a:extLst>
              <a:ext uri="{FF2B5EF4-FFF2-40B4-BE49-F238E27FC236}">
                <a16:creationId xmlns:a16="http://schemas.microsoft.com/office/drawing/2014/main" id="{47D60833-F0A9-4F29-8C06-A963A7C8BE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1000829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">
            <a:extLst>
              <a:ext uri="{FF2B5EF4-FFF2-40B4-BE49-F238E27FC236}">
                <a16:creationId xmlns:a16="http://schemas.microsoft.com/office/drawing/2014/main" id="{39DDE17E-5472-41F3-AF5F-54DFF10DC6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pic>
        <p:nvPicPr>
          <p:cNvPr id="9" name="Picture SoftUni Mascot" descr="SoftUni mascot with laptop">
            <a:extLst>
              <a:ext uri="{FF2B5EF4-FFF2-40B4-BE49-F238E27FC236}">
                <a16:creationId xmlns:a16="http://schemas.microsoft.com/office/drawing/2014/main" id="{DC4365F6-D2C1-47B4-8477-38FD2C7711A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516000" y="3408496"/>
            <a:ext cx="2251057" cy="3044431"/>
          </a:xfrm>
          <a:prstGeom prst="rect">
            <a:avLst/>
          </a:prstGeom>
        </p:spPr>
      </p:pic>
      <p:sp>
        <p:nvSpPr>
          <p:cNvPr id="23" name="Slide Body Text">
            <a:extLst>
              <a:ext uri="{FF2B5EF4-FFF2-40B4-BE49-F238E27FC236}">
                <a16:creationId xmlns:a16="http://schemas.microsoft.com/office/drawing/2014/main" id="{889D93F4-ABFA-46BF-8E5D-FE6562ACB2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6766" y="1371604"/>
            <a:ext cx="9049234" cy="5207396"/>
          </a:xfrm>
        </p:spPr>
        <p:txBody>
          <a:bodyPr>
            <a:normAutofit/>
          </a:bodyPr>
          <a:lstStyle>
            <a:lvl1pPr marL="514042" indent="-514042" latinLnBrk="0">
              <a:buFont typeface="+mj-lt"/>
              <a:buAutoNum type="arabicPeriod"/>
              <a:defRPr sz="3600">
                <a:solidFill>
                  <a:schemeClr val="tx1"/>
                </a:solidFill>
              </a:defRPr>
            </a:lvl1pPr>
            <a:lvl2pPr>
              <a:defRPr sz="3400"/>
            </a:lvl2pPr>
          </a:lstStyle>
          <a:p>
            <a:pPr lvl="0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0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0"/>
            <a:r>
              <a:rPr lang="en-US" noProof="0"/>
              <a:t>…</a:t>
            </a:r>
          </a:p>
        </p:txBody>
      </p:sp>
      <p:sp>
        <p:nvSpPr>
          <p:cNvPr id="8" name="Rectangle Top">
            <a:extLst>
              <a:ext uri="{FF2B5EF4-FFF2-40B4-BE49-F238E27FC236}">
                <a16:creationId xmlns:a16="http://schemas.microsoft.com/office/drawing/2014/main" id="{930E0800-9260-4369-8330-8264DD33C5CE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1" name="Logo Software University" descr="Software University logo">
            <a:extLst>
              <a:ext uri="{FF2B5EF4-FFF2-40B4-BE49-F238E27FC236}">
                <a16:creationId xmlns:a16="http://schemas.microsoft.com/office/drawing/2014/main" id="{14F779A7-4A91-448B-BEFA-956C70A1C22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3" name="Slide Title">
            <a:extLst>
              <a:ext uri="{FF2B5EF4-FFF2-40B4-BE49-F238E27FC236}">
                <a16:creationId xmlns:a16="http://schemas.microsoft.com/office/drawing/2014/main" id="{357D7BE1-6358-42CC-94F3-7BCDD91DC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1028724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Bottom"/>
          <p:cNvSpPr/>
          <p:nvPr/>
        </p:nvSpPr>
        <p:spPr>
          <a:xfrm>
            <a:off x="2" y="6264000"/>
            <a:ext cx="12192000" cy="594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856" tIns="60928" rIns="121856" bIns="6092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6750ECE4-94E0-469B-B8E4-562792823B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62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Oval Logo Holder"/>
          <p:cNvSpPr/>
          <p:nvPr/>
        </p:nvSpPr>
        <p:spPr>
          <a:xfrm>
            <a:off x="5161650" y="4824665"/>
            <a:ext cx="1868701" cy="1868701"/>
          </a:xfrm>
          <a:prstGeom prst="ellipse">
            <a:avLst/>
          </a:prstGeom>
          <a:solidFill>
            <a:schemeClr val="tx2"/>
          </a:solidFill>
          <a:ln w="635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2" name="Logo Software University Down" descr="Software University logo">
            <a:extLst>
              <a:ext uri="{FF2B5EF4-FFF2-40B4-BE49-F238E27FC236}">
                <a16:creationId xmlns:a16="http://schemas.microsoft.com/office/drawing/2014/main" id="{7028D2F0-1E67-414B-A93D-D3F8F131A13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6551" y="5206773"/>
            <a:ext cx="958900" cy="1184869"/>
          </a:xfrm>
          <a:prstGeom prst="rect">
            <a:avLst/>
          </a:prstGeom>
        </p:spPr>
      </p:pic>
      <p:sp>
        <p:nvSpPr>
          <p:cNvPr id="10" name="Text Placeholder Right">
            <a:extLst>
              <a:ext uri="{FF2B5EF4-FFF2-40B4-BE49-F238E27FC236}">
                <a16:creationId xmlns:a16="http://schemas.microsoft.com/office/drawing/2014/main" id="{AF69A59F-C564-4A04-B1CC-31C2614999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56000" y="1195931"/>
            <a:ext cx="5545597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ext Placeholder Left">
            <a:extLst>
              <a:ext uri="{FF2B5EF4-FFF2-40B4-BE49-F238E27FC236}">
                <a16:creationId xmlns:a16="http://schemas.microsoft.com/office/drawing/2014/main" id="{C8A626D2-456B-41EF-9818-EA8DD7E314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5931"/>
            <a:ext cx="5545598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E03301DA-D0AF-46FD-8740-2F761250203A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4" name="Logo Software University" descr="Software University logo">
            <a:extLst>
              <a:ext uri="{FF2B5EF4-FFF2-40B4-BE49-F238E27FC236}">
                <a16:creationId xmlns:a16="http://schemas.microsoft.com/office/drawing/2014/main" id="{19A67BB9-D880-4EAD-B90E-89C4219BFC0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5" name="Slide Title">
            <a:extLst>
              <a:ext uri="{FF2B5EF4-FFF2-40B4-BE49-F238E27FC236}">
                <a16:creationId xmlns:a16="http://schemas.microsoft.com/office/drawing/2014/main" id="{EA9A94D1-F9F6-4D7B-85E3-896A987B6A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30440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>
            <a:extLst>
              <a:ext uri="{FF2B5EF4-FFF2-40B4-BE49-F238E27FC236}">
                <a16:creationId xmlns:a16="http://schemas.microsoft.com/office/drawing/2014/main" id="{F888EE71-82B3-40F1-A63F-7417422FB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44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4" name="Text Placeholder Body">
            <a:extLst>
              <a:ext uri="{FF2B5EF4-FFF2-40B4-BE49-F238E27FC236}">
                <a16:creationId xmlns:a16="http://schemas.microsoft.com/office/drawing/2014/main" id="{A2ABE920-240F-4CF6-AD45-23ED489FAD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69002" y="1353866"/>
            <a:ext cx="7426234" cy="5219931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Picture Placeholder Left"/>
          <p:cNvSpPr>
            <a:spLocks noGrp="1"/>
          </p:cNvSpPr>
          <p:nvPr>
            <p:ph type="pic" idx="1" hasCustomPrompt="1"/>
          </p:nvPr>
        </p:nvSpPr>
        <p:spPr>
          <a:xfrm>
            <a:off x="190405" y="1355077"/>
            <a:ext cx="3889373" cy="536640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 latinLnBrk="0">
              <a:buNone/>
              <a:defRPr sz="2131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609219" indent="0">
              <a:buNone/>
              <a:defRPr sz="3731"/>
            </a:lvl2pPr>
            <a:lvl3pPr marL="1218438" indent="0">
              <a:buNone/>
              <a:defRPr sz="3198"/>
            </a:lvl3pPr>
            <a:lvl4pPr marL="1827657" indent="0">
              <a:buNone/>
              <a:defRPr sz="2665"/>
            </a:lvl4pPr>
            <a:lvl5pPr marL="2436876" indent="0">
              <a:buNone/>
              <a:defRPr sz="2665"/>
            </a:lvl5pPr>
            <a:lvl6pPr marL="3046096" indent="0">
              <a:buNone/>
              <a:defRPr sz="2665"/>
            </a:lvl6pPr>
            <a:lvl7pPr marL="3655315" indent="0">
              <a:buNone/>
              <a:defRPr sz="2665"/>
            </a:lvl7pPr>
            <a:lvl8pPr marL="4264533" indent="0">
              <a:buNone/>
              <a:defRPr sz="2665"/>
            </a:lvl8pPr>
            <a:lvl9pPr marL="4873752" indent="0">
              <a:buNone/>
              <a:defRPr sz="2665"/>
            </a:lvl9pPr>
          </a:lstStyle>
          <a:p>
            <a:r>
              <a:rPr lang="en-US" altLang="ko-KR" noProof="0"/>
              <a:t>Your Picture Here</a:t>
            </a:r>
          </a:p>
        </p:txBody>
      </p:sp>
      <p:sp>
        <p:nvSpPr>
          <p:cNvPr id="3" name="Rectangle Left Second"/>
          <p:cNvSpPr/>
          <p:nvPr/>
        </p:nvSpPr>
        <p:spPr>
          <a:xfrm>
            <a:off x="4127777" y="1748999"/>
            <a:ext cx="240001" cy="336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2" name="Rectangle Left First"/>
          <p:cNvSpPr/>
          <p:nvPr/>
        </p:nvSpPr>
        <p:spPr>
          <a:xfrm>
            <a:off x="4079775" y="1355073"/>
            <a:ext cx="48001" cy="550292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Rectangle Down">
            <a:extLst>
              <a:ext uri="{FF2B5EF4-FFF2-40B4-BE49-F238E27FC236}">
                <a16:creationId xmlns:a16="http://schemas.microsoft.com/office/drawing/2014/main" id="{E9B994EC-35A8-4A11-98CB-25DC28852F94}"/>
              </a:ext>
            </a:extLst>
          </p:cNvPr>
          <p:cNvSpPr/>
          <p:nvPr/>
        </p:nvSpPr>
        <p:spPr>
          <a:xfrm>
            <a:off x="2" y="6721482"/>
            <a:ext cx="12192000" cy="1365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Rectangle Top">
            <a:extLst>
              <a:ext uri="{FF2B5EF4-FFF2-40B4-BE49-F238E27FC236}">
                <a16:creationId xmlns:a16="http://schemas.microsoft.com/office/drawing/2014/main" id="{274B8F05-DFCE-47BD-BAFD-DF93E1A63BDD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2" name="Logo Software University" descr="Software University logo">
            <a:extLst>
              <a:ext uri="{FF2B5EF4-FFF2-40B4-BE49-F238E27FC236}">
                <a16:creationId xmlns:a16="http://schemas.microsoft.com/office/drawing/2014/main" id="{233CBB95-791E-4630-B3D9-FADFCE7BCF5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3" name="Slide Title">
            <a:extLst>
              <a:ext uri="{FF2B5EF4-FFF2-40B4-BE49-F238E27FC236}">
                <a16:creationId xmlns:a16="http://schemas.microsoft.com/office/drawing/2014/main" id="{3F218E34-55D7-4290-BFE4-80F31F9415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3774019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Bottom">
            <a:extLst>
              <a:ext uri="{FF2B5EF4-FFF2-40B4-BE49-F238E27FC236}">
                <a16:creationId xmlns:a16="http://schemas.microsoft.com/office/drawing/2014/main" id="{550A59F9-9A9D-4956-95B4-F78CC0DB1D59}"/>
              </a:ext>
            </a:extLst>
          </p:cNvPr>
          <p:cNvSpPr/>
          <p:nvPr userDrawn="1"/>
        </p:nvSpPr>
        <p:spPr>
          <a:xfrm>
            <a:off x="0" y="6371332"/>
            <a:ext cx="12195176" cy="4872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53" name="Rectangle Bottom Copyright">
            <a:extLst>
              <a:ext uri="{FF2B5EF4-FFF2-40B4-BE49-F238E27FC236}">
                <a16:creationId xmlns:a16="http://schemas.microsoft.com/office/drawing/2014/main" id="{B07FB7FB-DA6C-4F5D-B068-357F0FCE27D8}"/>
              </a:ext>
            </a:extLst>
          </p:cNvPr>
          <p:cNvSpPr/>
          <p:nvPr userDrawn="1"/>
        </p:nvSpPr>
        <p:spPr>
          <a:xfrm>
            <a:off x="111000" y="6454758"/>
            <a:ext cx="11970000" cy="25844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© SoftUni – </a:t>
            </a:r>
            <a:r>
              <a:rPr lang="en-US" sz="1600" dirty="0">
                <a:hlinkClick r:id="rId2"/>
              </a:rPr>
              <a:t>https://about.softuni.bg</a:t>
            </a:r>
            <a:r>
              <a:rPr lang="en-US" sz="1600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2"/>
              </a:rPr>
              <a:t>. </a:t>
            </a:r>
            <a:r>
              <a:rPr lang="en-US" sz="1600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Copyrighted document. Unauthorized copy, reproduction or use is not permitted.</a:t>
            </a:r>
            <a:endParaRPr lang="en-US" sz="2400" noProof="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26" name="Picture SoftUni Mascot" descr="SoftUni mascot with open hand">
            <a:extLst>
              <a:ext uri="{FF2B5EF4-FFF2-40B4-BE49-F238E27FC236}">
                <a16:creationId xmlns:a16="http://schemas.microsoft.com/office/drawing/2014/main" id="{247CFF3C-C4FA-493D-8505-DF469F4D36A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586" y="2898830"/>
            <a:ext cx="2451608" cy="2959741"/>
          </a:xfrm>
          <a:prstGeom prst="rect">
            <a:avLst/>
          </a:prstGeom>
        </p:spPr>
      </p:pic>
      <p:grpSp>
        <p:nvGrpSpPr>
          <p:cNvPr id="2" name="Group SoftUni Brands">
            <a:extLst>
              <a:ext uri="{FF2B5EF4-FFF2-40B4-BE49-F238E27FC236}">
                <a16:creationId xmlns:a16="http://schemas.microsoft.com/office/drawing/2014/main" id="{418FAE34-C1F8-46C7-A4AE-F270D1E70F25}"/>
              </a:ext>
            </a:extLst>
          </p:cNvPr>
          <p:cNvGrpSpPr/>
          <p:nvPr userDrawn="1"/>
        </p:nvGrpSpPr>
        <p:grpSpPr>
          <a:xfrm>
            <a:off x="3332216" y="1702473"/>
            <a:ext cx="8314909" cy="3543782"/>
            <a:chOff x="3332216" y="1702473"/>
            <a:chExt cx="8314909" cy="3543782"/>
          </a:xfrm>
        </p:grpSpPr>
        <p:pic>
          <p:nvPicPr>
            <p:cNvPr id="24" name="Picture SoftUni Kids Logo" descr="SoftUni Kids logo">
              <a:extLst>
                <a:ext uri="{FF2B5EF4-FFF2-40B4-BE49-F238E27FC236}">
                  <a16:creationId xmlns:a16="http://schemas.microsoft.com/office/drawing/2014/main" id="{B0812936-74B6-4265-8C08-AEDC8C7987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16883" y="3776294"/>
              <a:ext cx="1130242" cy="1389256"/>
            </a:xfrm>
            <a:prstGeom prst="rect">
              <a:avLst/>
            </a:prstGeom>
          </p:spPr>
        </p:pic>
        <p:pic>
          <p:nvPicPr>
            <p:cNvPr id="23" name="Picture SoftUni Foundation Logo" descr="SoftUni Foundation logo">
              <a:extLst>
                <a:ext uri="{FF2B5EF4-FFF2-40B4-BE49-F238E27FC236}">
                  <a16:creationId xmlns:a16="http://schemas.microsoft.com/office/drawing/2014/main" id="{6643F71A-2013-433A-8322-FBAAED3162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53913" y="3788231"/>
              <a:ext cx="1166400" cy="1350756"/>
            </a:xfrm>
            <a:prstGeom prst="rect">
              <a:avLst/>
            </a:prstGeom>
          </p:spPr>
        </p:pic>
        <p:pic>
          <p:nvPicPr>
            <p:cNvPr id="22" name="Picture SoftUni Digital Logo" descr="SoftUni Digital logo">
              <a:extLst>
                <a:ext uri="{FF2B5EF4-FFF2-40B4-BE49-F238E27FC236}">
                  <a16:creationId xmlns:a16="http://schemas.microsoft.com/office/drawing/2014/main" id="{0A83D66F-855B-463B-920B-BF239B01A20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57695" y="3789000"/>
              <a:ext cx="1084614" cy="1457255"/>
            </a:xfrm>
            <a:prstGeom prst="rect">
              <a:avLst/>
            </a:prstGeom>
          </p:spPr>
        </p:pic>
        <p:pic>
          <p:nvPicPr>
            <p:cNvPr id="21" name="Picture SoftUni Creative Logo" descr="SoftUni Creative logo">
              <a:extLst>
                <a:ext uri="{FF2B5EF4-FFF2-40B4-BE49-F238E27FC236}">
                  <a16:creationId xmlns:a16="http://schemas.microsoft.com/office/drawing/2014/main" id="{EA755AAE-BA08-481C-9224-0061170EE4B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3913" y="3776293"/>
              <a:ext cx="1166400" cy="1389257"/>
            </a:xfrm>
            <a:prstGeom prst="rect">
              <a:avLst/>
            </a:prstGeom>
          </p:spPr>
        </p:pic>
        <p:pic>
          <p:nvPicPr>
            <p:cNvPr id="20" name="Picture SoftUni Svetlina Logo" descr="SoftUni Svetlina logo">
              <a:extLst>
                <a:ext uri="{FF2B5EF4-FFF2-40B4-BE49-F238E27FC236}">
                  <a16:creationId xmlns:a16="http://schemas.microsoft.com/office/drawing/2014/main" id="{827D15FD-4C66-4B85-98E6-7826AA8F6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35029" y="3776293"/>
              <a:ext cx="1166400" cy="1402229"/>
            </a:xfrm>
            <a:prstGeom prst="rect">
              <a:avLst/>
            </a:prstGeom>
          </p:spPr>
        </p:pic>
        <p:pic>
          <p:nvPicPr>
            <p:cNvPr id="25" name="Picture Software University Logo" descr="Software University logo">
              <a:extLst>
                <a:ext uri="{FF2B5EF4-FFF2-40B4-BE49-F238E27FC236}">
                  <a16:creationId xmlns:a16="http://schemas.microsoft.com/office/drawing/2014/main" id="{C74C190C-5856-41B9-8819-AE8DE0E1098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32216" y="3776295"/>
              <a:ext cx="1164654" cy="1440000"/>
            </a:xfrm>
            <a:prstGeom prst="rect">
              <a:avLst/>
            </a:prstGeom>
          </p:spPr>
        </p:pic>
        <p:cxnSp>
          <p:nvCxnSpPr>
            <p:cNvPr id="33" name="Straight Connector 6">
              <a:extLst>
                <a:ext uri="{FF2B5EF4-FFF2-40B4-BE49-F238E27FC236}">
                  <a16:creationId xmlns:a16="http://schemas.microsoft.com/office/drawing/2014/main" id="{5C63D1E8-4A92-4691-8A24-A2FC7E8008E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077113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5">
              <a:extLst>
                <a:ext uri="{FF2B5EF4-FFF2-40B4-BE49-F238E27FC236}">
                  <a16:creationId xmlns:a16="http://schemas.microsoft.com/office/drawing/2014/main" id="{6E91D320-3732-40B8-864D-142D0A277ED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63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4">
              <a:extLst>
                <a:ext uri="{FF2B5EF4-FFF2-40B4-BE49-F238E27FC236}">
                  <a16:creationId xmlns:a16="http://schemas.microsoft.com/office/drawing/2014/main" id="{299ABE09-E33C-46B7-A80D-7BF4A6956211}"/>
                </a:ext>
              </a:extLst>
            </p:cNvPr>
            <p:cNvCxnSpPr/>
            <p:nvPr userDrawn="1"/>
          </p:nvCxnSpPr>
          <p:spPr>
            <a:xfrm>
              <a:off x="819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3">
              <a:extLst>
                <a:ext uri="{FF2B5EF4-FFF2-40B4-BE49-F238E27FC236}">
                  <a16:creationId xmlns:a16="http://schemas.microsoft.com/office/drawing/2014/main" id="{93DDBF37-0764-47AA-94E3-9A44F3ED8FB5}"/>
                </a:ext>
              </a:extLst>
            </p:cNvPr>
            <p:cNvCxnSpPr/>
            <p:nvPr userDrawn="1"/>
          </p:nvCxnSpPr>
          <p:spPr>
            <a:xfrm>
              <a:off x="675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">
              <a:extLst>
                <a:ext uri="{FF2B5EF4-FFF2-40B4-BE49-F238E27FC236}">
                  <a16:creationId xmlns:a16="http://schemas.microsoft.com/office/drawing/2014/main" id="{72BFE2F3-0845-4E5B-9375-E9D4027DD675}"/>
                </a:ext>
              </a:extLst>
            </p:cNvPr>
            <p:cNvCxnSpPr/>
            <p:nvPr userDrawn="1"/>
          </p:nvCxnSpPr>
          <p:spPr>
            <a:xfrm>
              <a:off x="5309913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1">
              <a:extLst>
                <a:ext uri="{FF2B5EF4-FFF2-40B4-BE49-F238E27FC236}">
                  <a16:creationId xmlns:a16="http://schemas.microsoft.com/office/drawing/2014/main" id="{D4E5982E-3110-47E1-A5BB-91B7BECC3093}"/>
                </a:ext>
              </a:extLst>
            </p:cNvPr>
            <p:cNvCxnSpPr/>
            <p:nvPr userDrawn="1"/>
          </p:nvCxnSpPr>
          <p:spPr>
            <a:xfrm>
              <a:off x="3915327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Horizontal">
              <a:extLst>
                <a:ext uri="{FF2B5EF4-FFF2-40B4-BE49-F238E27FC236}">
                  <a16:creationId xmlns:a16="http://schemas.microsoft.com/office/drawing/2014/main" id="{5F62FB7C-BD6E-4383-98C1-2CF30F34CAF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915327" y="3335565"/>
              <a:ext cx="7161786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0">
              <a:extLst>
                <a:ext uri="{FF2B5EF4-FFF2-40B4-BE49-F238E27FC236}">
                  <a16:creationId xmlns:a16="http://schemas.microsoft.com/office/drawing/2014/main" id="{C84A0FE1-723D-4682-8682-77BAD950EE15}"/>
                </a:ext>
              </a:extLst>
            </p:cNvPr>
            <p:cNvCxnSpPr/>
            <p:nvPr userDrawn="1"/>
          </p:nvCxnSpPr>
          <p:spPr>
            <a:xfrm>
              <a:off x="7496220" y="309299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8" name="Picture SoftUni Logo" descr="SoftUni logo">
              <a:extLst>
                <a:ext uri="{FF2B5EF4-FFF2-40B4-BE49-F238E27FC236}">
                  <a16:creationId xmlns:a16="http://schemas.microsoft.com/office/drawing/2014/main" id="{A0675455-B7FA-4569-A5FD-A3B0F20B2A2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96770" y="1702473"/>
              <a:ext cx="1198901" cy="1198901"/>
            </a:xfrm>
            <a:prstGeom prst="rect">
              <a:avLst/>
            </a:prstGeom>
          </p:spPr>
        </p:pic>
      </p:grpSp>
      <p:sp>
        <p:nvSpPr>
          <p:cNvPr id="19" name="Slide Title">
            <a:extLst>
              <a:ext uri="{FF2B5EF4-FFF2-40B4-BE49-F238E27FC236}">
                <a16:creationId xmlns:a16="http://schemas.microsoft.com/office/drawing/2014/main" id="{7CFDBB16-985C-4CC7-B6DB-B81B36037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628" y="703244"/>
            <a:ext cx="5916372" cy="1033303"/>
          </a:xfrm>
          <a:prstGeom prst="rect">
            <a:avLst/>
          </a:prstGeom>
        </p:spPr>
        <p:txBody>
          <a:bodyPr wrap="none" lIns="0" tIns="0" rIns="0" bIns="0" anchor="ctr" anchorCtr="0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marL="0" marR="0" lvl="0" indent="0" algn="l" defTabSz="913852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748E">
                  <a:lumMod val="40000"/>
                  <a:lumOff val="60000"/>
                </a:srgbClr>
              </a:buClr>
              <a:buSzPct val="70000"/>
              <a:buFont typeface="Wingdings 2" pitchFamily="18" charset="2"/>
              <a:buNone/>
              <a:tabLst/>
              <a:defRPr/>
            </a:pPr>
            <a:r>
              <a:rPr kumimoji="0" lang="en-US" sz="8797" b="1" i="0" u="none" strike="noStrike" kern="1200" cap="none" spc="0" normalizeH="0" baseline="0" noProof="0" dirty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Questions?</a:t>
            </a:r>
            <a:endParaRPr kumimoji="0" lang="en-US" sz="8797" b="1" i="0" u="none" strike="noStrike" kern="1200" cap="none" spc="150" normalizeH="0" baseline="0" noProof="0" dirty="0">
              <a:ln w="11430"/>
              <a:solidFill>
                <a:srgbClr val="234465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6" name="Logo Software University" descr="Software University logo">
            <a:extLst>
              <a:ext uri="{FF2B5EF4-FFF2-40B4-BE49-F238E27FC236}">
                <a16:creationId xmlns:a16="http://schemas.microsoft.com/office/drawing/2014/main" id="{67FC4D2E-913D-432A-B658-F0D82839FA5E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761" y="190267"/>
            <a:ext cx="2013336" cy="69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061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">
            <a:extLst>
              <a:ext uri="{FF2B5EF4-FFF2-40B4-BE49-F238E27FC236}">
                <a16:creationId xmlns:a16="http://schemas.microsoft.com/office/drawing/2014/main" id="{5B8761D8-B42F-4A70-A0CE-682CEB2AE3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pic>
        <p:nvPicPr>
          <p:cNvPr id="17" name="Picture Logo FB" descr="Facebook logo">
            <a:hlinkClick r:id="rId2" tooltip="Software University @ Facebook"/>
            <a:extLst>
              <a:ext uri="{FF2B5EF4-FFF2-40B4-BE49-F238E27FC236}">
                <a16:creationId xmlns:a16="http://schemas.microsoft.com/office/drawing/2014/main" id="{6B2C510E-5EF2-49F6-B926-2BD74CD3C7F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0523832" y="4166438"/>
            <a:ext cx="1003954" cy="1017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Logo SoftUni Right" descr="Software University logo">
            <a:hlinkClick r:id="rId4"/>
            <a:extLst>
              <a:ext uri="{FF2B5EF4-FFF2-40B4-BE49-F238E27FC236}">
                <a16:creationId xmlns:a16="http://schemas.microsoft.com/office/drawing/2014/main" id="{F4604840-E810-44B7-9FF1-3B28CD68B75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3401" y="1674000"/>
            <a:ext cx="1192055" cy="1473880"/>
          </a:xfrm>
          <a:prstGeom prst="rect">
            <a:avLst/>
          </a:prstGeom>
        </p:spPr>
      </p:pic>
      <p:pic>
        <p:nvPicPr>
          <p:cNvPr id="16" name="Picture SoftUni Mascot" descr="SoftUni mascot">
            <a:hlinkClick r:id="rId6"/>
            <a:extLst>
              <a:ext uri="{FF2B5EF4-FFF2-40B4-BE49-F238E27FC236}">
                <a16:creationId xmlns:a16="http://schemas.microsoft.com/office/drawing/2014/main" id="{07C965FA-A87E-4824-AFA8-C67AF548A76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81957" y="2584289"/>
            <a:ext cx="2732955" cy="3630993"/>
          </a:xfrm>
          <a:prstGeom prst="rect">
            <a:avLst/>
          </a:prstGeom>
        </p:spPr>
      </p:pic>
      <p:sp>
        <p:nvSpPr>
          <p:cNvPr id="12" name="Slide Body Text">
            <a:extLst>
              <a:ext uri="{FF2B5EF4-FFF2-40B4-BE49-F238E27FC236}">
                <a16:creationId xmlns:a16="http://schemas.microsoft.com/office/drawing/2014/main" id="{0C1F9416-8B6E-46DE-973C-777785E27A26}"/>
              </a:ext>
            </a:extLst>
          </p:cNvPr>
          <p:cNvSpPr>
            <a:spLocks noGrp="1"/>
          </p:cNvSpPr>
          <p:nvPr>
            <p:ph idx="4294967295" hasCustomPrompt="1"/>
          </p:nvPr>
        </p:nvSpPr>
        <p:spPr>
          <a:xfrm>
            <a:off x="152410" y="1186307"/>
            <a:ext cx="8688590" cy="5496127"/>
          </a:xfrm>
        </p:spPr>
        <p:txBody>
          <a:bodyPr wrap="square">
            <a:noAutofit/>
          </a:bodyPr>
          <a:lstStyle>
            <a:lvl1pPr latinLnBrk="0">
              <a:buClr>
                <a:schemeClr val="tx1"/>
              </a:buClr>
              <a:defRPr sz="2798"/>
            </a:lvl1pPr>
            <a:lvl2pPr marL="989981" marR="0" indent="-380762" algn="l" defTabSz="1218438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>
                <a:tab pos="282405" algn="l"/>
              </a:tabLst>
              <a:defRPr sz="2800"/>
            </a:lvl2pPr>
            <a:lvl3pPr>
              <a:buClr>
                <a:schemeClr val="tx1"/>
              </a:buClr>
              <a:defRPr/>
            </a:lvl3pPr>
          </a:lstStyle>
          <a:p>
            <a:r>
              <a:rPr lang="en-US" sz="3000" noProof="0" dirty="0"/>
              <a:t>Software University – High-Quality Education, Profession and Job for Software Developers</a:t>
            </a:r>
          </a:p>
          <a:p>
            <a:pPr lvl="1"/>
            <a:r>
              <a:rPr lang="en-US" noProof="1">
                <a:hlinkClick r:id="rId6"/>
              </a:rPr>
              <a:t>softuni.bg</a:t>
            </a:r>
            <a:r>
              <a:rPr lang="en-US" noProof="1"/>
              <a:t> </a:t>
            </a:r>
          </a:p>
          <a:p>
            <a:r>
              <a:rPr lang="en-US" sz="3000" noProof="0" dirty="0"/>
              <a:t>Software University Foundation</a:t>
            </a:r>
          </a:p>
          <a:p>
            <a:pPr lvl="1"/>
            <a:r>
              <a:rPr lang="en-US" noProof="1">
                <a:hlinkClick r:id="rId8"/>
              </a:rPr>
              <a:t>softuni.foundation</a:t>
            </a:r>
            <a:endParaRPr lang="en-US" noProof="1"/>
          </a:p>
          <a:p>
            <a:r>
              <a:rPr lang="en-US" sz="3000" noProof="0" dirty="0"/>
              <a:t>Software University @ Facebook</a:t>
            </a:r>
          </a:p>
          <a:p>
            <a:pPr lvl="1"/>
            <a:r>
              <a:rPr lang="en-US" noProof="1">
                <a:hlinkClick r:id="rId2"/>
              </a:rPr>
              <a:t>facebook.com/SoftwareUniversity</a:t>
            </a:r>
            <a:endParaRPr lang="en-US" noProof="1"/>
          </a:p>
          <a:p>
            <a:r>
              <a:rPr lang="en-US" sz="3000" noProof="0" dirty="0"/>
              <a:t>Software University Forums</a:t>
            </a:r>
          </a:p>
          <a:p>
            <a:pPr lvl="1"/>
            <a:r>
              <a:rPr lang="en-US" noProof="1">
                <a:hlinkClick r:id="rId9"/>
              </a:rPr>
              <a:t>forum.softuni.bg</a:t>
            </a:r>
            <a:endParaRPr lang="en-US" noProof="1"/>
          </a:p>
        </p:txBody>
      </p:sp>
      <p:sp>
        <p:nvSpPr>
          <p:cNvPr id="10" name="Rectangle Top">
            <a:extLst>
              <a:ext uri="{FF2B5EF4-FFF2-40B4-BE49-F238E27FC236}">
                <a16:creationId xmlns:a16="http://schemas.microsoft.com/office/drawing/2014/main" id="{86646B95-5E3B-4DE8-9118-031C2C296D8C}"/>
              </a:ext>
            </a:extLst>
          </p:cNvPr>
          <p:cNvSpPr/>
          <p:nvPr userDrawn="1"/>
        </p:nvSpPr>
        <p:spPr>
          <a:xfrm>
            <a:off x="0" y="0"/>
            <a:ext cx="12195176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1" name="Logo Software University" descr="Software University logo">
            <a:extLst>
              <a:ext uri="{FF2B5EF4-FFF2-40B4-BE49-F238E27FC236}">
                <a16:creationId xmlns:a16="http://schemas.microsoft.com/office/drawing/2014/main" id="{58AB1944-B146-4E89-B2D9-426EB610F319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8" name="Slide Title">
            <a:extLst>
              <a:ext uri="{FF2B5EF4-FFF2-40B4-BE49-F238E27FC236}">
                <a16:creationId xmlns:a16="http://schemas.microsoft.com/office/drawing/2014/main" id="{AE87ED9C-76E1-4D85-9B06-3AF44AABB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2286" y="108873"/>
            <a:ext cx="9742626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Trainings @ Software University (SoftUni)</a:t>
            </a:r>
          </a:p>
        </p:txBody>
      </p:sp>
    </p:spTree>
    <p:extLst>
      <p:ext uri="{BB962C8B-B14F-4D97-AF65-F5344CB8AC3E}">
        <p14:creationId xmlns:p14="http://schemas.microsoft.com/office/powerpoint/2010/main" val="2196466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urce Code Example">
  <p:cSld name="1_Source Code Example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0"/>
          <p:cNvSpPr txBox="1">
            <a:spLocks noGrp="1"/>
          </p:cNvSpPr>
          <p:nvPr>
            <p:ph type="sldNum" idx="12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4" name="Google Shape;144;p10"/>
          <p:cNvSpPr txBox="1">
            <a:spLocks noGrp="1"/>
          </p:cNvSpPr>
          <p:nvPr>
            <p:ph type="body" idx="1"/>
          </p:nvPr>
        </p:nvSpPr>
        <p:spPr>
          <a:xfrm>
            <a:off x="621234" y="1931154"/>
            <a:ext cx="10949531" cy="1362846"/>
          </a:xfrm>
          <a:prstGeom prst="rect">
            <a:avLst/>
          </a:prstGeom>
          <a:solidFill>
            <a:srgbClr val="ACB4C3">
              <a:alpha val="14509"/>
            </a:srgbClr>
          </a:solidFill>
          <a:ln w="12700" cap="flat" cmpd="sng">
            <a:solidFill>
              <a:srgbClr val="1122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4000" tIns="108000" rIns="144000" bIns="108000" anchor="t" anchorCtr="0">
            <a:spAutoFit/>
          </a:bodyPr>
          <a:lstStyle>
            <a:lvl1pPr marL="457200" lvl="0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98"/>
              <a:buNone/>
              <a:defRPr sz="2398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marL="914400" lvl="1" indent="-3429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marL="1371600" lvl="2" indent="-3429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5" name="Google Shape;145;p10"/>
          <p:cNvSpPr txBox="1">
            <a:spLocks noGrp="1"/>
          </p:cNvSpPr>
          <p:nvPr>
            <p:ph type="body" idx="2"/>
          </p:nvPr>
        </p:nvSpPr>
        <p:spPr>
          <a:xfrm>
            <a:off x="190501" y="1196126"/>
            <a:ext cx="11811097" cy="5561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36000" rIns="108000" bIns="36000" anchor="t" anchorCtr="0">
            <a:normAutofit/>
          </a:bodyPr>
          <a:lstStyle>
            <a:lvl1pPr marL="457200" lvl="0" indent="-2286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398"/>
              <a:buNone/>
              <a:defRPr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198"/>
              <a:buNone/>
              <a:defRPr/>
            </a:lvl2pPr>
            <a:lvl3pPr marL="1371600" lvl="2" indent="-3429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6" name="Google Shape;146;p10"/>
          <p:cNvSpPr/>
          <p:nvPr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98"/>
              <a:buFont typeface="Calibri"/>
              <a:buNone/>
            </a:pPr>
            <a:endParaRPr sz="2398" b="0" i="0" u="none" strike="noStrike" cap="none">
              <a:solidFill>
                <a:srgbClr val="F7C86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7" name="Google Shape;147;p10" descr="Software University logo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067957" y="253936"/>
            <a:ext cx="1915704" cy="55923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0"/>
          <p:cNvSpPr txBox="1">
            <a:spLocks noGrp="1"/>
          </p:cNvSpPr>
          <p:nvPr>
            <p:ph type="title"/>
          </p:nvPr>
        </p:nvSpPr>
        <p:spPr>
          <a:xfrm>
            <a:off x="190406" y="100750"/>
            <a:ext cx="9715594" cy="882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36000" rIns="108000" bIns="360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98"/>
              <a:buFont typeface="Calibri"/>
              <a:buNone/>
              <a:defRPr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53052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Background" descr="SoftUni Background">
            <a:extLst>
              <a:ext uri="{FF2B5EF4-FFF2-40B4-BE49-F238E27FC236}">
                <a16:creationId xmlns:a16="http://schemas.microsoft.com/office/drawing/2014/main" id="{5BE90A63-DDD9-4B3B-A234-DF69B9BC81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5"/>
          <a:srcRect b="1672"/>
          <a:stretch/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11" name="Slide Body Text">
            <a:extLst>
              <a:ext uri="{FF2B5EF4-FFF2-40B4-BE49-F238E27FC236}">
                <a16:creationId xmlns:a16="http://schemas.microsoft.com/office/drawing/2014/main" id="{90CBFB32-9F46-4F2F-8A54-9EE8BED27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404" y="1138844"/>
            <a:ext cx="11804830" cy="5530156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0" name="Slide Title">
            <a:extLst>
              <a:ext uri="{FF2B5EF4-FFF2-40B4-BE49-F238E27FC236}">
                <a16:creationId xmlns:a16="http://schemas.microsoft.com/office/drawing/2014/main" id="{B770C392-3003-4C35-9625-BB041F825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5" y="100750"/>
            <a:ext cx="11804829" cy="882654"/>
          </a:xfrm>
          <a:prstGeom prst="rect">
            <a:avLst/>
          </a:prstGeom>
        </p:spPr>
        <p:txBody>
          <a:bodyPr vert="horz" lIns="108000" tIns="36000" rIns="108000" bIns="3600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678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9" r:id="rId2"/>
    <p:sldLayoutId id="2147483681" r:id="rId3"/>
    <p:sldLayoutId id="2147483691" r:id="rId4"/>
    <p:sldLayoutId id="2147483680" r:id="rId5"/>
    <p:sldLayoutId id="2147483688" r:id="rId6"/>
    <p:sldLayoutId id="2147483684" r:id="rId7"/>
    <p:sldLayoutId id="2147483677" r:id="rId8"/>
    <p:sldLayoutId id="2147483683" r:id="rId9"/>
    <p:sldLayoutId id="2147483685" r:id="rId10"/>
    <p:sldLayoutId id="2147483686" r:id="rId11"/>
    <p:sldLayoutId id="2147483687" r:id="rId12"/>
    <p:sldLayoutId id="2147483693" r:id="rId13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  <p:txStyles>
    <p:titleStyle>
      <a:lvl1pPr algn="l" defTabSz="1218438" rtl="0" eaLnBrk="1" latinLnBrk="0" hangingPunct="1">
        <a:spcBef>
          <a:spcPct val="0"/>
        </a:spcBef>
        <a:buNone/>
        <a:defRPr sz="3998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36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398" kern="1200">
          <a:solidFill>
            <a:schemeClr val="tx1"/>
          </a:solidFill>
          <a:latin typeface="+mn-lt"/>
          <a:ea typeface="+mn-ea"/>
          <a:cs typeface="+mn-cs"/>
        </a:defRPr>
      </a:lvl1pPr>
      <a:lvl2pPr marL="803275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198" kern="1200">
          <a:solidFill>
            <a:schemeClr val="tx1"/>
          </a:solidFill>
          <a:latin typeface="+mn-lt"/>
          <a:ea typeface="+mn-ea"/>
          <a:cs typeface="+mn-cs"/>
        </a:defRPr>
      </a:lvl2pPr>
      <a:lvl3pPr marL="125571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998" kern="1200">
          <a:solidFill>
            <a:schemeClr val="tx1"/>
          </a:solidFill>
          <a:latin typeface="+mn-lt"/>
          <a:ea typeface="+mn-ea"/>
          <a:cs typeface="+mn-cs"/>
        </a:defRPr>
      </a:lvl3pPr>
      <a:lvl4pPr marL="1700213" indent="-352425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8988" indent="-266700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598" kern="1200">
          <a:solidFill>
            <a:schemeClr val="tx1"/>
          </a:solidFill>
          <a:latin typeface="+mn-lt"/>
          <a:ea typeface="+mn-ea"/>
          <a:cs typeface="+mn-cs"/>
        </a:defRPr>
      </a:lvl5pPr>
      <a:lvl6pPr marL="335070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5992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69143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78362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609219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218438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827657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4pPr>
      <a:lvl5pPr marL="243687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5pPr>
      <a:lvl6pPr marL="304609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655315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264533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873752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184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bg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0.png"/><Relationship Id="rId5" Type="http://schemas.microsoft.com/office/2007/relationships/hdphoto" Target="../media/hdphoto1.wdp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aka.ms/ssmsfullsetup" TargetMode="External"/><Relationship Id="rId2" Type="http://schemas.openxmlformats.org/officeDocument/2006/relationships/hyperlink" Target="https://go.microsoft.com/fwlink/?linkid=866662" TargetMode="Externa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vivacom.bg/bg/residential/za-nas/za-kompanijata/koi-sme-nie" TargetMode="External"/><Relationship Id="rId13" Type="http://schemas.openxmlformats.org/officeDocument/2006/relationships/image" Target="../media/image56.PNG"/><Relationship Id="rId18" Type="http://schemas.openxmlformats.org/officeDocument/2006/relationships/image" Target="../media/image59.png"/><Relationship Id="rId3" Type="http://schemas.openxmlformats.org/officeDocument/2006/relationships/image" Target="../media/image51.png"/><Relationship Id="rId7" Type="http://schemas.openxmlformats.org/officeDocument/2006/relationships/image" Target="../media/image53.png"/><Relationship Id="rId12" Type="http://schemas.openxmlformats.org/officeDocument/2006/relationships/hyperlink" Target="https://www.postbank.bg/" TargetMode="External"/><Relationship Id="rId17" Type="http://schemas.openxmlformats.org/officeDocument/2006/relationships/hyperlink" Target="https://encorp.ai/" TargetMode="External"/><Relationship Id="rId2" Type="http://schemas.openxmlformats.org/officeDocument/2006/relationships/hyperlink" Target="https://en.superhosting.bg/" TargetMode="External"/><Relationship Id="rId16" Type="http://schemas.openxmlformats.org/officeDocument/2006/relationships/image" Target="../media/image58.png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indeavr.com/careers/" TargetMode="External"/><Relationship Id="rId11" Type="http://schemas.openxmlformats.org/officeDocument/2006/relationships/image" Target="../media/image55.png"/><Relationship Id="rId5" Type="http://schemas.openxmlformats.org/officeDocument/2006/relationships/image" Target="../media/image52.png"/><Relationship Id="rId15" Type="http://schemas.openxmlformats.org/officeDocument/2006/relationships/image" Target="../media/image57.png"/><Relationship Id="rId10" Type="http://schemas.openxmlformats.org/officeDocument/2006/relationships/hyperlink" Target="https://www.draftkings.com/" TargetMode="External"/><Relationship Id="rId19" Type="http://schemas.openxmlformats.org/officeDocument/2006/relationships/image" Target="../media/image60.svg"/><Relationship Id="rId4" Type="http://schemas.openxmlformats.org/officeDocument/2006/relationships/hyperlink" Target="https://createx.bg/" TargetMode="External"/><Relationship Id="rId9" Type="http://schemas.openxmlformats.org/officeDocument/2006/relationships/image" Target="../media/image54.png"/><Relationship Id="rId14" Type="http://schemas.openxmlformats.org/officeDocument/2006/relationships/hyperlink" Target="https://bg.coca-colahellenic.com/" TargetMode="Externa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bg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www.facebook.com/SoftwareUniversity" TargetMode="External"/><Relationship Id="rId5" Type="http://schemas.openxmlformats.org/officeDocument/2006/relationships/hyperlink" Target="https://softuni.foundation/" TargetMode="External"/><Relationship Id="rId4" Type="http://schemas.openxmlformats.org/officeDocument/2006/relationships/hyperlink" Target="https://about.softuni.bg/" TargetMode="Externa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about.softuni.bg/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1.png"/><Relationship Id="rId4" Type="http://schemas.openxmlformats.org/officeDocument/2006/relationships/hyperlink" Target="https://softuni.b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666859" y="1390226"/>
            <a:ext cx="10965303" cy="882654"/>
          </a:xfrm>
        </p:spPr>
        <p:txBody>
          <a:bodyPr>
            <a:normAutofit/>
          </a:bodyPr>
          <a:lstStyle/>
          <a:p>
            <a:r>
              <a:rPr lang="en-US" dirty="0"/>
              <a:t>How Do RDBMS Work? Managing DBs Using IDEs</a:t>
            </a:r>
          </a:p>
          <a:p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66859" y="298399"/>
            <a:ext cx="10965303" cy="882654"/>
          </a:xfrm>
        </p:spPr>
        <p:txBody>
          <a:bodyPr>
            <a:normAutofit/>
          </a:bodyPr>
          <a:lstStyle/>
          <a:p>
            <a:r>
              <a:rPr lang="en-US" dirty="0"/>
              <a:t>Introduction to Databases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Software University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https://softuni.bg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34482" y="4554000"/>
            <a:ext cx="2951518" cy="958651"/>
          </a:xfrm>
        </p:spPr>
        <p:txBody>
          <a:bodyPr/>
          <a:lstStyle/>
          <a:p>
            <a:r>
              <a:rPr lang="en-US" dirty="0" err="1"/>
              <a:t>SoftUni</a:t>
            </a:r>
            <a:r>
              <a:rPr lang="en-US" dirty="0"/>
              <a:t> Team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0"/>
          </p:nvPr>
        </p:nvSpPr>
        <p:spPr>
          <a:xfrm>
            <a:off x="534482" y="5271996"/>
            <a:ext cx="2951518" cy="444536"/>
          </a:xfrm>
        </p:spPr>
        <p:txBody>
          <a:bodyPr/>
          <a:lstStyle/>
          <a:p>
            <a:r>
              <a:rPr lang="en-US" dirty="0"/>
              <a:t>Technical Trainers</a:t>
            </a:r>
          </a:p>
        </p:txBody>
      </p:sp>
      <p:pic>
        <p:nvPicPr>
          <p:cNvPr id="12290" name="Picture 2" descr="Ð ÐµÐ·ÑÐ»ÑÐ°Ñ Ñ Ð¸Ð·Ð¾Ð±ÑÐ°Ð¶ÐµÐ½Ð¸Ðµ Ð·Ð° database png">
            <a:extLst>
              <a:ext uri="{FF2B5EF4-FFF2-40B4-BE49-F238E27FC236}">
                <a16:creationId xmlns:a16="http://schemas.microsoft.com/office/drawing/2014/main" id="{52FF2604-C568-4D2F-97DB-BF23457362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1000" y="2201530"/>
            <a:ext cx="3150000" cy="297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1141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9" name="Rectangle 3"/>
          <p:cNvSpPr>
            <a:spLocks noGrp="1" noChangeArrowheads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marL="446088" indent="-446088">
              <a:lnSpc>
                <a:spcPct val="120000"/>
              </a:lnSpc>
              <a:buFontTx/>
              <a:buAutoNum type="arabicPeriod"/>
            </a:pPr>
            <a:r>
              <a:rPr lang="en-US" dirty="0"/>
              <a:t>Data Management</a:t>
            </a:r>
          </a:p>
          <a:p>
            <a:pPr marL="446088" indent="-446088">
              <a:lnSpc>
                <a:spcPct val="120000"/>
              </a:lnSpc>
              <a:buFontTx/>
              <a:buAutoNum type="arabicPeriod"/>
            </a:pPr>
            <a:r>
              <a:rPr lang="en-US" dirty="0"/>
              <a:t>Database Engines</a:t>
            </a:r>
          </a:p>
          <a:p>
            <a:pPr marL="446088" indent="-446088">
              <a:lnSpc>
                <a:spcPct val="120000"/>
              </a:lnSpc>
              <a:buFontTx/>
              <a:buAutoNum type="arabicPeriod"/>
            </a:pPr>
            <a:r>
              <a:rPr lang="en-US" dirty="0"/>
              <a:t>Data Types in SQL Server</a:t>
            </a:r>
          </a:p>
          <a:p>
            <a:pPr marL="446088" indent="-446088">
              <a:lnSpc>
                <a:spcPct val="120000"/>
              </a:lnSpc>
              <a:buFontTx/>
              <a:buAutoNum type="arabicPeriod"/>
            </a:pPr>
            <a:r>
              <a:rPr lang="en-US" dirty="0"/>
              <a:t>Database Modeling</a:t>
            </a:r>
          </a:p>
          <a:p>
            <a:pPr marL="446088" indent="-446088">
              <a:lnSpc>
                <a:spcPct val="120000"/>
              </a:lnSpc>
              <a:buFontTx/>
              <a:buAutoNum type="arabicPeriod"/>
            </a:pPr>
            <a:r>
              <a:rPr lang="en-US" dirty="0"/>
              <a:t>Basic SQL Queries</a:t>
            </a:r>
          </a:p>
        </p:txBody>
      </p:sp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Table of Contents</a:t>
            </a:r>
            <a:endParaRPr lang="bg-BG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FF1E3A17-8C5A-4422-AF5B-95FA4E4E5574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8650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55DE179-4D78-429D-8D0C-6C347E9B7EAA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en-US" dirty="0"/>
              <a:t>Data Management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2806" y="1671771"/>
            <a:ext cx="2744966" cy="1942287"/>
          </a:xfrm>
          <a:prstGeom prst="rect">
            <a:avLst/>
          </a:prstGeom>
        </p:spPr>
      </p:pic>
      <p:sp>
        <p:nvSpPr>
          <p:cNvPr id="7" name="Subtitle 6">
            <a:extLst>
              <a:ext uri="{FF2B5EF4-FFF2-40B4-BE49-F238E27FC236}">
                <a16:creationId xmlns:a16="http://schemas.microsoft.com/office/drawing/2014/main" id="{D8018A0E-D66E-47D1-B974-6868D46CF083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>
          <a:xfrm>
            <a:off x="615109" y="5589000"/>
            <a:ext cx="10961783" cy="768084"/>
          </a:xfrm>
        </p:spPr>
        <p:txBody>
          <a:bodyPr/>
          <a:lstStyle/>
          <a:p>
            <a:r>
              <a:rPr lang="en-US" dirty="0"/>
              <a:t>When Do We Need a Database?</a:t>
            </a:r>
          </a:p>
        </p:txBody>
      </p:sp>
    </p:spTree>
    <p:extLst>
      <p:ext uri="{BB962C8B-B14F-4D97-AF65-F5344CB8AC3E}">
        <p14:creationId xmlns:p14="http://schemas.microsoft.com/office/powerpoint/2010/main" val="2967269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Conventional Data Storage</a:t>
            </a:r>
          </a:p>
          <a:p>
            <a:pPr lvl="1"/>
            <a:r>
              <a:rPr lang="en-US" dirty="0"/>
              <a:t>Notes</a:t>
            </a:r>
          </a:p>
          <a:p>
            <a:pPr lvl="1"/>
            <a:r>
              <a:rPr lang="en-US" dirty="0"/>
              <a:t>Receipts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Storage vs. Management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6000" y="3557425"/>
            <a:ext cx="2949575" cy="29495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6000" y="1449000"/>
            <a:ext cx="2478824" cy="2340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Slide Number">
            <a:extLst>
              <a:ext uri="{FF2B5EF4-FFF2-40B4-BE49-F238E27FC236}">
                <a16:creationId xmlns:a16="http://schemas.microsoft.com/office/drawing/2014/main" id="{E4B4D522-8B8D-4B9F-A423-A3A211561E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57359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We can group related pieces of data into separate columns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Storage vs. Management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8B4316C-FE89-43BE-A30A-E7C7FBFC7F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1" y="5171099"/>
            <a:ext cx="11429998" cy="1186588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</p:pic>
      <p:sp>
        <p:nvSpPr>
          <p:cNvPr id="10" name="Arrow: Down 9">
            <a:extLst>
              <a:ext uri="{FF2B5EF4-FFF2-40B4-BE49-F238E27FC236}">
                <a16:creationId xmlns:a16="http://schemas.microsoft.com/office/drawing/2014/main" id="{33B3F24D-F732-43CD-82C2-BB5534F3A2A9}"/>
              </a:ext>
            </a:extLst>
          </p:cNvPr>
          <p:cNvSpPr/>
          <p:nvPr/>
        </p:nvSpPr>
        <p:spPr>
          <a:xfrm>
            <a:off x="5787269" y="4346915"/>
            <a:ext cx="472856" cy="551205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0691" y="1845802"/>
            <a:ext cx="2402641" cy="2402641"/>
          </a:xfrm>
          <a:prstGeom prst="rect">
            <a:avLst/>
          </a:prstGeom>
        </p:spPr>
      </p:pic>
      <p:sp>
        <p:nvSpPr>
          <p:cNvPr id="8" name="Slide Number">
            <a:extLst>
              <a:ext uri="{FF2B5EF4-FFF2-40B4-BE49-F238E27FC236}">
                <a16:creationId xmlns:a16="http://schemas.microsoft.com/office/drawing/2014/main" id="{B8DF43B2-C801-4B86-B8DF-7BCF337101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99579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190402" y="1196124"/>
            <a:ext cx="11818096" cy="5472875"/>
          </a:xfrm>
        </p:spPr>
        <p:txBody>
          <a:bodyPr>
            <a:normAutofit/>
          </a:bodyPr>
          <a:lstStyle/>
          <a:p>
            <a:r>
              <a:rPr lang="en-US" dirty="0"/>
              <a:t>Storing data is </a:t>
            </a:r>
            <a:r>
              <a:rPr lang="en-US" b="1" dirty="0">
                <a:solidFill>
                  <a:schemeClr val="bg1"/>
                </a:solidFill>
              </a:rPr>
              <a:t>not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the primary reason to use a Database</a:t>
            </a:r>
          </a:p>
          <a:p>
            <a:r>
              <a:rPr lang="en-US" dirty="0"/>
              <a:t>Flat storage </a:t>
            </a:r>
            <a:r>
              <a:rPr lang="en-US" b="1" dirty="0">
                <a:solidFill>
                  <a:schemeClr val="bg1"/>
                </a:solidFill>
              </a:rPr>
              <a:t>eventually</a:t>
            </a:r>
            <a:r>
              <a:rPr lang="en-US" dirty="0"/>
              <a:t> runs into </a:t>
            </a:r>
            <a:r>
              <a:rPr lang="en-US" b="1" dirty="0">
                <a:solidFill>
                  <a:schemeClr val="bg1"/>
                </a:solidFill>
              </a:rPr>
              <a:t>issues</a:t>
            </a:r>
            <a:r>
              <a:rPr lang="en-US" dirty="0"/>
              <a:t> with</a:t>
            </a:r>
          </a:p>
          <a:p>
            <a:pPr lvl="1"/>
            <a:r>
              <a:rPr lang="en-US" dirty="0"/>
              <a:t>Size</a:t>
            </a:r>
          </a:p>
          <a:p>
            <a:pPr lvl="1"/>
            <a:r>
              <a:rPr lang="en-US" dirty="0"/>
              <a:t>Ease of updating</a:t>
            </a:r>
          </a:p>
          <a:p>
            <a:pPr lvl="1"/>
            <a:r>
              <a:rPr lang="en-US" dirty="0"/>
              <a:t>Searching</a:t>
            </a:r>
          </a:p>
          <a:p>
            <a:pPr lvl="1"/>
            <a:r>
              <a:rPr lang="en-US" dirty="0"/>
              <a:t>Concurrency</a:t>
            </a:r>
          </a:p>
          <a:p>
            <a:pPr lvl="1"/>
            <a:r>
              <a:rPr lang="en-US" dirty="0"/>
              <a:t>Security</a:t>
            </a:r>
          </a:p>
          <a:p>
            <a:pPr lvl="1"/>
            <a:r>
              <a:rPr lang="en-US" dirty="0"/>
              <a:t>Consistency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Storage vs. Management</a:t>
            </a:r>
          </a:p>
        </p:txBody>
      </p:sp>
      <p:pic>
        <p:nvPicPr>
          <p:cNvPr id="1026" name="Picture 2" descr="Ð ÐµÐ·ÑÐ»ÑÐ°Ñ Ñ Ð¸Ð·Ð¾Ð±ÑÐ°Ð¶ÐµÐ½Ð¸Ðµ Ð·Ð° folders png">
            <a:extLst>
              <a:ext uri="{FF2B5EF4-FFF2-40B4-BE49-F238E27FC236}">
                <a16:creationId xmlns:a16="http://schemas.microsoft.com/office/drawing/2014/main" id="{FCAAA1D7-556D-4E56-8FD7-1C72A21492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36" t="13935" r="7185" b="12676"/>
          <a:stretch/>
        </p:blipFill>
        <p:spPr bwMode="auto">
          <a:xfrm>
            <a:off x="8759028" y="4172318"/>
            <a:ext cx="3150000" cy="2475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Number">
            <a:extLst>
              <a:ext uri="{FF2B5EF4-FFF2-40B4-BE49-F238E27FC236}">
                <a16:creationId xmlns:a16="http://schemas.microsoft.com/office/drawing/2014/main" id="{2BDF0AAC-0DE4-4621-8752-D0EB059DC2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2141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database is an </a:t>
            </a:r>
            <a:r>
              <a:rPr lang="en-US" b="1" dirty="0">
                <a:solidFill>
                  <a:schemeClr val="bg1"/>
                </a:solidFill>
              </a:rPr>
              <a:t>organized</a:t>
            </a:r>
            <a:r>
              <a:rPr lang="en-US" dirty="0"/>
              <a:t> collection of information</a:t>
            </a:r>
          </a:p>
          <a:p>
            <a:pPr lvl="1"/>
            <a:r>
              <a:rPr lang="en-US" dirty="0"/>
              <a:t>It imposes </a:t>
            </a:r>
            <a:r>
              <a:rPr lang="en-US" b="1" dirty="0">
                <a:solidFill>
                  <a:schemeClr val="bg1"/>
                </a:solidFill>
              </a:rPr>
              <a:t>rules</a:t>
            </a:r>
            <a:r>
              <a:rPr lang="en-US" dirty="0"/>
              <a:t> on the contained data</a:t>
            </a:r>
          </a:p>
          <a:p>
            <a:pPr lvl="1"/>
            <a:r>
              <a:rPr lang="en-US" dirty="0"/>
              <a:t>Relational storage first proposed by </a:t>
            </a:r>
            <a:r>
              <a:rPr lang="en-US" b="1" dirty="0">
                <a:solidFill>
                  <a:schemeClr val="bg1"/>
                </a:solidFill>
              </a:rPr>
              <a:t>Edgar Codd</a:t>
            </a:r>
            <a:r>
              <a:rPr lang="en-US" dirty="0"/>
              <a:t> </a:t>
            </a:r>
            <a:br>
              <a:rPr lang="bg-BG" dirty="0"/>
            </a:br>
            <a:r>
              <a:rPr lang="en-US" dirty="0"/>
              <a:t>in 1970</a:t>
            </a:r>
          </a:p>
          <a:p>
            <a:pPr>
              <a:lnSpc>
                <a:spcPct val="115000"/>
              </a:lnSpc>
            </a:pPr>
            <a:r>
              <a:rPr lang="en-US" dirty="0"/>
              <a:t>A </a:t>
            </a:r>
            <a:r>
              <a:rPr lang="en-US" b="1" dirty="0">
                <a:solidFill>
                  <a:schemeClr val="bg1"/>
                </a:solidFill>
              </a:rPr>
              <a:t>R</a:t>
            </a:r>
            <a:r>
              <a:rPr lang="en-US" dirty="0"/>
              <a:t>elational </a:t>
            </a:r>
            <a:r>
              <a:rPr lang="en-US" b="1" dirty="0">
                <a:solidFill>
                  <a:schemeClr val="bg1"/>
                </a:solidFill>
              </a:rPr>
              <a:t>D</a:t>
            </a:r>
            <a:r>
              <a:rPr lang="en-US" dirty="0"/>
              <a:t>ata </a:t>
            </a:r>
            <a:r>
              <a:rPr lang="en-US" b="1" dirty="0">
                <a:solidFill>
                  <a:schemeClr val="bg1"/>
                </a:solidFill>
              </a:rPr>
              <a:t>B</a:t>
            </a:r>
            <a:r>
              <a:rPr lang="en-US" dirty="0"/>
              <a:t>ase </a:t>
            </a:r>
            <a:r>
              <a:rPr lang="en-US" b="1" dirty="0">
                <a:solidFill>
                  <a:schemeClr val="bg1"/>
                </a:solidFill>
              </a:rPr>
              <a:t>M</a:t>
            </a:r>
            <a:r>
              <a:rPr lang="en-US" dirty="0"/>
              <a:t>anagement </a:t>
            </a:r>
            <a:r>
              <a:rPr lang="en-US" b="1" dirty="0">
                <a:solidFill>
                  <a:schemeClr val="bg1"/>
                </a:solidFill>
              </a:rPr>
              <a:t>S</a:t>
            </a:r>
            <a:r>
              <a:rPr lang="en-US" dirty="0"/>
              <a:t>ystem provides </a:t>
            </a:r>
            <a:br>
              <a:rPr lang="en-US" dirty="0"/>
            </a:br>
            <a:r>
              <a:rPr lang="en-US" dirty="0"/>
              <a:t>tools to </a:t>
            </a:r>
            <a:r>
              <a:rPr lang="en-US" b="1" dirty="0">
                <a:solidFill>
                  <a:schemeClr val="bg1"/>
                </a:solidFill>
              </a:rPr>
              <a:t>manage</a:t>
            </a:r>
            <a:r>
              <a:rPr lang="en-US" dirty="0"/>
              <a:t> the database</a:t>
            </a:r>
          </a:p>
          <a:p>
            <a:pPr lvl="1"/>
            <a:r>
              <a:rPr lang="en-US" dirty="0"/>
              <a:t>It </a:t>
            </a:r>
            <a:r>
              <a:rPr lang="en-US" b="1" dirty="0">
                <a:solidFill>
                  <a:schemeClr val="bg1"/>
                </a:solidFill>
              </a:rPr>
              <a:t>parses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</a:rPr>
              <a:t>requests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from the user and takes the </a:t>
            </a:r>
            <a:br>
              <a:rPr lang="en-US" dirty="0"/>
            </a:br>
            <a:r>
              <a:rPr lang="en-US" b="1" dirty="0">
                <a:solidFill>
                  <a:schemeClr val="bg1"/>
                </a:solidFill>
              </a:rPr>
              <a:t>appropriate</a:t>
            </a:r>
            <a:r>
              <a:rPr lang="en-US" dirty="0"/>
              <a:t> action</a:t>
            </a:r>
          </a:p>
          <a:p>
            <a:pPr lvl="1"/>
            <a:r>
              <a:rPr lang="en-US" dirty="0"/>
              <a:t>The user doesn't have direct access to the stored data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Databases and RDBMS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EF0E160E-CFA6-4434-AE0F-472A358A0A91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1346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DF4BE50-0D3A-4FBC-BEC6-20995E8CA283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en-US" dirty="0"/>
              <a:t>Database Engines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5086670" y="1295403"/>
            <a:ext cx="2018659" cy="2521856"/>
            <a:chOff x="3878107" y="914400"/>
            <a:chExt cx="4159406" cy="4184495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2">
              <a:duotone>
                <a:schemeClr val="accent5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51313" y="914400"/>
              <a:ext cx="3886200" cy="3886200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 cstate="hqprint">
              <a:duotone>
                <a:schemeClr val="accent5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8746218">
              <a:off x="3732212" y="2503574"/>
              <a:ext cx="2741216" cy="244942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56401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SQL Server uses the Client-Server Model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Engine Flow</a:t>
            </a:r>
          </a:p>
        </p:txBody>
      </p:sp>
      <p:sp>
        <p:nvSpPr>
          <p:cNvPr id="25" name="Rectangle: Rounded Corners 24"/>
          <p:cNvSpPr/>
          <p:nvPr/>
        </p:nvSpPr>
        <p:spPr>
          <a:xfrm>
            <a:off x="467533" y="2349179"/>
            <a:ext cx="2646334" cy="3288702"/>
          </a:xfrm>
          <a:prstGeom prst="roundRect">
            <a:avLst>
              <a:gd name="adj" fmla="val 5385"/>
            </a:avLst>
          </a:prstGeom>
          <a:noFill/>
          <a:ln w="571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Clients</a:t>
            </a:r>
          </a:p>
        </p:txBody>
      </p:sp>
      <p:sp>
        <p:nvSpPr>
          <p:cNvPr id="10" name="Arrow: Right 9"/>
          <p:cNvSpPr/>
          <p:nvPr/>
        </p:nvSpPr>
        <p:spPr>
          <a:xfrm>
            <a:off x="3291426" y="2970881"/>
            <a:ext cx="1295400" cy="60960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3291426" y="2349180"/>
            <a:ext cx="1295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Query</a:t>
            </a:r>
          </a:p>
        </p:txBody>
      </p:sp>
      <p:sp>
        <p:nvSpPr>
          <p:cNvPr id="17" name="Arrow: Right 16"/>
          <p:cNvSpPr/>
          <p:nvPr/>
        </p:nvSpPr>
        <p:spPr>
          <a:xfrm>
            <a:off x="7624734" y="2970881"/>
            <a:ext cx="1295400" cy="60960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18" name="TextBox 17"/>
          <p:cNvSpPr txBox="1"/>
          <p:nvPr/>
        </p:nvSpPr>
        <p:spPr>
          <a:xfrm>
            <a:off x="7624734" y="2349180"/>
            <a:ext cx="1295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Access</a:t>
            </a:r>
          </a:p>
        </p:txBody>
      </p:sp>
      <p:sp>
        <p:nvSpPr>
          <p:cNvPr id="21" name="Arrow: Right 20"/>
          <p:cNvSpPr/>
          <p:nvPr/>
        </p:nvSpPr>
        <p:spPr>
          <a:xfrm flipH="1">
            <a:off x="7624734" y="4665140"/>
            <a:ext cx="1295400" cy="60960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22" name="Arrow: Right 21"/>
          <p:cNvSpPr/>
          <p:nvPr/>
        </p:nvSpPr>
        <p:spPr>
          <a:xfrm flipH="1">
            <a:off x="3286933" y="4665140"/>
            <a:ext cx="1295400" cy="60960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23" name="TextBox 22"/>
          <p:cNvSpPr txBox="1"/>
          <p:nvPr/>
        </p:nvSpPr>
        <p:spPr>
          <a:xfrm>
            <a:off x="7624734" y="5282626"/>
            <a:ext cx="1295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86933" y="5282626"/>
            <a:ext cx="1295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Data</a:t>
            </a:r>
          </a:p>
        </p:txBody>
      </p:sp>
      <p:grpSp>
        <p:nvGrpSpPr>
          <p:cNvPr id="29" name="Group 28"/>
          <p:cNvGrpSpPr/>
          <p:nvPr/>
        </p:nvGrpSpPr>
        <p:grpSpPr>
          <a:xfrm>
            <a:off x="4772833" y="2349179"/>
            <a:ext cx="2646334" cy="3288702"/>
            <a:chOff x="5071343" y="2121498"/>
            <a:chExt cx="2646334" cy="3288702"/>
          </a:xfrm>
        </p:grpSpPr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3" cstate="print">
              <a:duotone>
                <a:prstClr val="black"/>
                <a:schemeClr val="accent3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35485" y="2787349"/>
              <a:ext cx="2318051" cy="2318051"/>
            </a:xfrm>
            <a:prstGeom prst="rect">
              <a:avLst/>
            </a:prstGeom>
          </p:spPr>
        </p:pic>
        <p:sp>
          <p:nvSpPr>
            <p:cNvPr id="26" name="Rectangle: Rounded Corners 25"/>
            <p:cNvSpPr/>
            <p:nvPr/>
          </p:nvSpPr>
          <p:spPr>
            <a:xfrm>
              <a:off x="5071343" y="2121498"/>
              <a:ext cx="2646334" cy="3288702"/>
            </a:xfrm>
            <a:prstGeom prst="roundRect">
              <a:avLst>
                <a:gd name="adj" fmla="val 5385"/>
              </a:avLst>
            </a:prstGeom>
            <a:noFill/>
            <a:ln w="5715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</a:rPr>
                <a:t>Engine</a:t>
              </a: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9078133" y="2349179"/>
            <a:ext cx="2646334" cy="3288702"/>
            <a:chOff x="9288227" y="2121498"/>
            <a:chExt cx="2646334" cy="3288702"/>
          </a:xfrm>
        </p:grpSpPr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4">
              <a:duotone>
                <a:prstClr val="black"/>
                <a:schemeClr val="accent3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colorTemperature colorTemp="6051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45248" y="2963782"/>
              <a:ext cx="1741902" cy="1741902"/>
            </a:xfrm>
            <a:prstGeom prst="rect">
              <a:avLst/>
            </a:prstGeom>
            <a:noFill/>
          </p:spPr>
        </p:pic>
        <p:sp>
          <p:nvSpPr>
            <p:cNvPr id="27" name="Rectangle: Rounded Corners 26"/>
            <p:cNvSpPr/>
            <p:nvPr/>
          </p:nvSpPr>
          <p:spPr>
            <a:xfrm>
              <a:off x="9288227" y="2121498"/>
              <a:ext cx="2646334" cy="3288702"/>
            </a:xfrm>
            <a:prstGeom prst="roundRect">
              <a:avLst>
                <a:gd name="adj" fmla="val 5385"/>
              </a:avLst>
            </a:prstGeom>
            <a:noFill/>
            <a:ln w="5715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</a:rPr>
                <a:t>Database</a:t>
              </a:r>
            </a:p>
          </p:txBody>
        </p:sp>
      </p:grpSp>
      <p:pic>
        <p:nvPicPr>
          <p:cNvPr id="8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728" y="2727955"/>
            <a:ext cx="2531150" cy="2531150"/>
          </a:xfrm>
          <a:prstGeom prst="rect">
            <a:avLst/>
          </a:prstGeom>
        </p:spPr>
      </p:pic>
      <p:sp>
        <p:nvSpPr>
          <p:cNvPr id="28" name="Slide Number">
            <a:extLst>
              <a:ext uri="{FF2B5EF4-FFF2-40B4-BE49-F238E27FC236}">
                <a16:creationId xmlns:a16="http://schemas.microsoft.com/office/drawing/2014/main" id="{03D1F677-55D9-4A69-9103-09CBCFE80B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52946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  <p:bldP spid="17" grpId="0" animBg="1"/>
      <p:bldP spid="18" grpId="0"/>
      <p:bldP spid="21" grpId="0" animBg="1"/>
      <p:bldP spid="22" grpId="0" animBg="1"/>
      <p:bldP spid="23" grpId="0"/>
      <p:bldP spid="2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818096" cy="5201066"/>
          </a:xfrm>
        </p:spPr>
        <p:txBody>
          <a:bodyPr/>
          <a:lstStyle/>
          <a:p>
            <a:r>
              <a:rPr lang="en-US" dirty="0"/>
              <a:t>Download </a:t>
            </a:r>
            <a:r>
              <a:rPr lang="en-US" b="1" dirty="0">
                <a:solidFill>
                  <a:schemeClr val="bg1"/>
                </a:solidFill>
              </a:rPr>
              <a:t>SQL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</a:rPr>
              <a:t>Server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</a:rPr>
              <a:t>Express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Edition from Microsoft</a:t>
            </a:r>
          </a:p>
          <a:p>
            <a:endParaRPr lang="en-US" sz="3200" dirty="0"/>
          </a:p>
          <a:p>
            <a:r>
              <a:rPr lang="en-US" sz="3200" dirty="0"/>
              <a:t>Download SQL Server </a:t>
            </a:r>
            <a:r>
              <a:rPr lang="en-US" sz="3200" b="1" dirty="0">
                <a:solidFill>
                  <a:schemeClr val="bg1"/>
                </a:solidFill>
              </a:rPr>
              <a:t>Management</a:t>
            </a:r>
            <a:r>
              <a:rPr lang="en-US" sz="3200" dirty="0">
                <a:solidFill>
                  <a:schemeClr val="accent1"/>
                </a:solidFill>
              </a:rPr>
              <a:t> </a:t>
            </a:r>
            <a:r>
              <a:rPr lang="en-US" sz="3200" b="1" dirty="0">
                <a:solidFill>
                  <a:schemeClr val="bg1"/>
                </a:solidFill>
              </a:rPr>
              <a:t>Studio</a:t>
            </a:r>
            <a:r>
              <a:rPr lang="en-US" sz="3200" dirty="0">
                <a:solidFill>
                  <a:schemeClr val="accent1"/>
                </a:solidFill>
              </a:rPr>
              <a:t> </a:t>
            </a:r>
            <a:r>
              <a:rPr lang="en-US" sz="3200" dirty="0"/>
              <a:t>separately</a:t>
            </a:r>
          </a:p>
        </p:txBody>
      </p:sp>
      <p:sp>
        <p:nvSpPr>
          <p:cNvPr id="465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Download Clients &amp; Servers</a:t>
            </a:r>
            <a:endParaRPr lang="bg-BG" dirty="0"/>
          </a:p>
        </p:txBody>
      </p:sp>
      <p:sp>
        <p:nvSpPr>
          <p:cNvPr id="15" name="Rectangle 14">
            <a:hlinkClick r:id="rId2"/>
          </p:cNvPr>
          <p:cNvSpPr>
            <a:spLocks noChangeArrowheads="1"/>
          </p:cNvSpPr>
          <p:nvPr/>
        </p:nvSpPr>
        <p:spPr bwMode="auto">
          <a:xfrm>
            <a:off x="620111" y="1967582"/>
            <a:ext cx="9285889" cy="544765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https://go.microsoft.com/fwlink/?linkid=866662</a:t>
            </a:r>
            <a:endParaRPr lang="en-US" sz="2800" b="1" u="sng" noProof="1">
              <a:solidFill>
                <a:schemeClr val="bg1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CE8279-8978-43DA-A6D8-EB1EE60D5B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111" y="3251893"/>
            <a:ext cx="5835889" cy="544765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https://aka.ms/ssmsfullsetup</a:t>
            </a:r>
            <a:endParaRPr lang="en-US" sz="2800" b="1" noProof="1">
              <a:solidFill>
                <a:schemeClr val="bg1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pic>
        <p:nvPicPr>
          <p:cNvPr id="2050" name="Picture 2" descr="Ð¡Ð²ÑÑÐ·Ð°Ð½Ð¾ Ð¸Ð·Ð¾Ð±ÑÐ°Ð¶ÐµÐ½Ð¸Ðµ">
            <a:extLst>
              <a:ext uri="{FF2B5EF4-FFF2-40B4-BE49-F238E27FC236}">
                <a16:creationId xmlns:a16="http://schemas.microsoft.com/office/drawing/2014/main" id="{4A5589C9-8CEE-4CF9-8B7F-961360A123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7341" y="4068600"/>
            <a:ext cx="2438400" cy="24384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Ð ÐµÐ·ÑÐ»ÑÐ°Ñ Ñ Ð¸Ð·Ð¾Ð±ÑÐ°Ð¶ÐµÐ½Ð¸Ðµ Ð·Ð° sql server express png">
            <a:extLst>
              <a:ext uri="{FF2B5EF4-FFF2-40B4-BE49-F238E27FC236}">
                <a16:creationId xmlns:a16="http://schemas.microsoft.com/office/drawing/2014/main" id="{ABA81264-79EA-4C61-B859-F609E78C68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9990" y="4046708"/>
            <a:ext cx="2896130" cy="235048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">
            <a:extLst>
              <a:ext uri="{FF2B5EF4-FFF2-40B4-BE49-F238E27FC236}">
                <a16:creationId xmlns:a16="http://schemas.microsoft.com/office/drawing/2014/main" id="{F4171B12-957B-4389-9D10-9E8D084892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448445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Logical Storage</a:t>
            </a:r>
          </a:p>
          <a:p>
            <a:pPr lvl="1"/>
            <a:r>
              <a:rPr lang="en-US" dirty="0"/>
              <a:t>Instance</a:t>
            </a:r>
          </a:p>
          <a:p>
            <a:pPr lvl="1"/>
            <a:r>
              <a:rPr lang="en-US" dirty="0"/>
              <a:t>Database</a:t>
            </a:r>
          </a:p>
          <a:p>
            <a:pPr lvl="1"/>
            <a:r>
              <a:rPr lang="en-US" dirty="0"/>
              <a:t>Schema</a:t>
            </a:r>
          </a:p>
          <a:p>
            <a:pPr lvl="1"/>
            <a:r>
              <a:rPr lang="en-US" dirty="0"/>
              <a:t>Table</a:t>
            </a:r>
          </a:p>
          <a:p>
            <a:r>
              <a:rPr lang="en-US" dirty="0"/>
              <a:t>Physical Storage</a:t>
            </a:r>
          </a:p>
          <a:p>
            <a:pPr lvl="1"/>
            <a:r>
              <a:rPr lang="en-US" dirty="0"/>
              <a:t>Data Files and Log files</a:t>
            </a:r>
          </a:p>
          <a:p>
            <a:pPr lvl="1"/>
            <a:r>
              <a:rPr lang="en-US" dirty="0"/>
              <a:t>Data Pages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Server Architecture</a:t>
            </a:r>
          </a:p>
        </p:txBody>
      </p:sp>
      <p:sp>
        <p:nvSpPr>
          <p:cNvPr id="6" name="Rectangle: Rounded Corners 5"/>
          <p:cNvSpPr/>
          <p:nvPr/>
        </p:nvSpPr>
        <p:spPr>
          <a:xfrm>
            <a:off x="5105400" y="1295400"/>
            <a:ext cx="6400800" cy="2971800"/>
          </a:xfrm>
          <a:prstGeom prst="roundRect">
            <a:avLst>
              <a:gd name="adj" fmla="val 5385"/>
            </a:avLst>
          </a:prstGeom>
          <a:noFill/>
          <a:ln w="571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Consolas" panose="020B0609020204030204" pitchFamily="49" charset="0"/>
              </a:rPr>
              <a:t>Instance</a:t>
            </a:r>
          </a:p>
        </p:txBody>
      </p:sp>
      <p:sp>
        <p:nvSpPr>
          <p:cNvPr id="9" name="Rectangle: Rounded Corners 13"/>
          <p:cNvSpPr/>
          <p:nvPr/>
        </p:nvSpPr>
        <p:spPr>
          <a:xfrm>
            <a:off x="5251768" y="1905001"/>
            <a:ext cx="3817620" cy="2202543"/>
          </a:xfrm>
          <a:prstGeom prst="roundRect">
            <a:avLst>
              <a:gd name="adj" fmla="val 5319"/>
            </a:avLst>
          </a:prstGeom>
          <a:solidFill>
            <a:schemeClr val="bg2">
              <a:alpha val="25098"/>
            </a:schemeClr>
          </a:solidFill>
          <a:ln w="381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Database</a:t>
            </a:r>
          </a:p>
        </p:txBody>
      </p:sp>
      <p:sp>
        <p:nvSpPr>
          <p:cNvPr id="11" name="Rectangle: Rounded Corners 13"/>
          <p:cNvSpPr/>
          <p:nvPr/>
        </p:nvSpPr>
        <p:spPr>
          <a:xfrm>
            <a:off x="5320136" y="2400300"/>
            <a:ext cx="3642572" cy="982980"/>
          </a:xfrm>
          <a:prstGeom prst="roundRect">
            <a:avLst>
              <a:gd name="adj" fmla="val 5319"/>
            </a:avLst>
          </a:prstGeom>
          <a:solidFill>
            <a:schemeClr val="bg2">
              <a:alpha val="25098"/>
            </a:schemeClr>
          </a:solidFill>
          <a:ln w="381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Schema</a:t>
            </a:r>
          </a:p>
        </p:txBody>
      </p:sp>
      <p:sp>
        <p:nvSpPr>
          <p:cNvPr id="12" name="Rectangle: Rounded Corners 13"/>
          <p:cNvSpPr/>
          <p:nvPr/>
        </p:nvSpPr>
        <p:spPr>
          <a:xfrm>
            <a:off x="5410200" y="2866534"/>
            <a:ext cx="1094528" cy="380048"/>
          </a:xfrm>
          <a:prstGeom prst="roundRect">
            <a:avLst>
              <a:gd name="adj" fmla="val 5319"/>
            </a:avLst>
          </a:prstGeom>
          <a:noFill/>
          <a:ln w="381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Table</a:t>
            </a:r>
          </a:p>
        </p:txBody>
      </p:sp>
      <p:sp>
        <p:nvSpPr>
          <p:cNvPr id="13" name="Rectangle: Rounded Corners 13"/>
          <p:cNvSpPr/>
          <p:nvPr/>
        </p:nvSpPr>
        <p:spPr>
          <a:xfrm>
            <a:off x="6588336" y="2866534"/>
            <a:ext cx="1094528" cy="380048"/>
          </a:xfrm>
          <a:prstGeom prst="roundRect">
            <a:avLst>
              <a:gd name="adj" fmla="val 5319"/>
            </a:avLst>
          </a:prstGeom>
          <a:noFill/>
          <a:ln w="381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Table</a:t>
            </a:r>
          </a:p>
        </p:txBody>
      </p:sp>
      <p:sp>
        <p:nvSpPr>
          <p:cNvPr id="14" name="Rectangle: Rounded Corners 13"/>
          <p:cNvSpPr/>
          <p:nvPr/>
        </p:nvSpPr>
        <p:spPr>
          <a:xfrm>
            <a:off x="7766472" y="2866534"/>
            <a:ext cx="1094528" cy="380048"/>
          </a:xfrm>
          <a:prstGeom prst="roundRect">
            <a:avLst>
              <a:gd name="adj" fmla="val 5319"/>
            </a:avLst>
          </a:prstGeom>
          <a:noFill/>
          <a:ln w="381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Table</a:t>
            </a:r>
          </a:p>
        </p:txBody>
      </p:sp>
      <p:sp>
        <p:nvSpPr>
          <p:cNvPr id="18" name="Rectangle: Rounded Corners 13"/>
          <p:cNvSpPr/>
          <p:nvPr/>
        </p:nvSpPr>
        <p:spPr>
          <a:xfrm>
            <a:off x="5320136" y="3444240"/>
            <a:ext cx="3642572" cy="548640"/>
          </a:xfrm>
          <a:prstGeom prst="roundRect">
            <a:avLst>
              <a:gd name="adj" fmla="val 5319"/>
            </a:avLst>
          </a:prstGeom>
          <a:noFill/>
          <a:ln w="381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Schema</a:t>
            </a:r>
          </a:p>
        </p:txBody>
      </p:sp>
      <p:sp>
        <p:nvSpPr>
          <p:cNvPr id="23" name="Rectangle: Rounded Corners 13"/>
          <p:cNvSpPr/>
          <p:nvPr/>
        </p:nvSpPr>
        <p:spPr>
          <a:xfrm>
            <a:off x="9196997" y="1905001"/>
            <a:ext cx="2185355" cy="1012371"/>
          </a:xfrm>
          <a:prstGeom prst="roundRect">
            <a:avLst>
              <a:gd name="adj" fmla="val 5319"/>
            </a:avLst>
          </a:prstGeom>
          <a:noFill/>
          <a:ln w="381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Database</a:t>
            </a:r>
          </a:p>
        </p:txBody>
      </p:sp>
      <p:sp>
        <p:nvSpPr>
          <p:cNvPr id="40" name="Rectangle: Rounded Corners 13"/>
          <p:cNvSpPr/>
          <p:nvPr/>
        </p:nvSpPr>
        <p:spPr>
          <a:xfrm>
            <a:off x="9196997" y="3095173"/>
            <a:ext cx="2185355" cy="1012371"/>
          </a:xfrm>
          <a:prstGeom prst="roundRect">
            <a:avLst>
              <a:gd name="adj" fmla="val 5319"/>
            </a:avLst>
          </a:prstGeom>
          <a:noFill/>
          <a:ln w="381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Database</a:t>
            </a:r>
          </a:p>
        </p:txBody>
      </p:sp>
      <p:grpSp>
        <p:nvGrpSpPr>
          <p:cNvPr id="80" name="Group 79"/>
          <p:cNvGrpSpPr/>
          <p:nvPr/>
        </p:nvGrpSpPr>
        <p:grpSpPr>
          <a:xfrm>
            <a:off x="5105400" y="4876800"/>
            <a:ext cx="6400800" cy="1423202"/>
            <a:chOff x="5103812" y="4876800"/>
            <a:chExt cx="6400800" cy="1423202"/>
          </a:xfrm>
        </p:grpSpPr>
        <p:pic>
          <p:nvPicPr>
            <p:cNvPr id="50" name="Picture 49"/>
            <p:cNvPicPr>
              <a:picLocks noChangeAspect="1"/>
            </p:cNvPicPr>
            <p:nvPr/>
          </p:nvPicPr>
          <p:blipFill>
            <a:blip r:embed="rId3" cstate="print">
              <a:duotone>
                <a:prstClr val="black"/>
                <a:schemeClr val="accent3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83802" y="5155321"/>
              <a:ext cx="863766" cy="863766"/>
            </a:xfrm>
            <a:prstGeom prst="rect">
              <a:avLst/>
            </a:prstGeom>
            <a:noFill/>
          </p:spPr>
        </p:pic>
        <p:sp>
          <p:nvSpPr>
            <p:cNvPr id="51" name="Rectangle: Rounded Corners 50"/>
            <p:cNvSpPr/>
            <p:nvPr/>
          </p:nvSpPr>
          <p:spPr>
            <a:xfrm>
              <a:off x="5103812" y="4876800"/>
              <a:ext cx="6400800" cy="1423202"/>
            </a:xfrm>
            <a:prstGeom prst="roundRect">
              <a:avLst>
                <a:gd name="adj" fmla="val 5385"/>
              </a:avLst>
            </a:prstGeom>
            <a:noFill/>
            <a:ln w="5715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US" sz="2800" b="1" dirty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endParaRPr>
            </a:p>
          </p:txBody>
        </p:sp>
      </p:grpSp>
      <p:sp>
        <p:nvSpPr>
          <p:cNvPr id="52" name="Rectangle: Rounded Corners 51"/>
          <p:cNvSpPr/>
          <p:nvPr/>
        </p:nvSpPr>
        <p:spPr>
          <a:xfrm>
            <a:off x="6529146" y="4978963"/>
            <a:ext cx="2331854" cy="1191407"/>
          </a:xfrm>
          <a:prstGeom prst="roundRect">
            <a:avLst>
              <a:gd name="adj" fmla="val 5319"/>
            </a:avLst>
          </a:prstGeom>
          <a:noFill/>
          <a:ln w="381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Data</a:t>
            </a:r>
          </a:p>
        </p:txBody>
      </p:sp>
      <p:sp>
        <p:nvSpPr>
          <p:cNvPr id="53" name="Arrow: Right 52"/>
          <p:cNvSpPr/>
          <p:nvPr/>
        </p:nvSpPr>
        <p:spPr>
          <a:xfrm rot="5400000">
            <a:off x="8102890" y="4280340"/>
            <a:ext cx="421691" cy="583321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55" name="Rectangle: Rounded Corners 54"/>
          <p:cNvSpPr/>
          <p:nvPr/>
        </p:nvSpPr>
        <p:spPr>
          <a:xfrm>
            <a:off x="9048909" y="4978963"/>
            <a:ext cx="2331854" cy="1191407"/>
          </a:xfrm>
          <a:prstGeom prst="roundRect">
            <a:avLst>
              <a:gd name="adj" fmla="val 5319"/>
            </a:avLst>
          </a:prstGeom>
          <a:noFill/>
          <a:ln w="381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Logs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47E87EA-BCFB-41EF-B5B2-6BB6109E767F}"/>
              </a:ext>
            </a:extLst>
          </p:cNvPr>
          <p:cNvGrpSpPr/>
          <p:nvPr/>
        </p:nvGrpSpPr>
        <p:grpSpPr>
          <a:xfrm>
            <a:off x="9086850" y="5499904"/>
            <a:ext cx="2240355" cy="533400"/>
            <a:chOff x="9086850" y="5499904"/>
            <a:chExt cx="2240355" cy="533400"/>
          </a:xfrm>
        </p:grpSpPr>
        <p:grpSp>
          <p:nvGrpSpPr>
            <p:cNvPr id="44" name="Group 43"/>
            <p:cNvGrpSpPr/>
            <p:nvPr/>
          </p:nvGrpSpPr>
          <p:grpSpPr>
            <a:xfrm>
              <a:off x="9086850" y="5499904"/>
              <a:ext cx="609600" cy="533400"/>
              <a:chOff x="3998912" y="2209800"/>
              <a:chExt cx="609600" cy="533400"/>
            </a:xfrm>
          </p:grpSpPr>
          <p:sp>
            <p:nvSpPr>
              <p:cNvPr id="45" name="Rectangle: Folded Corner 44"/>
              <p:cNvSpPr/>
              <p:nvPr/>
            </p:nvSpPr>
            <p:spPr>
              <a:xfrm rot="10800000">
                <a:off x="4113212" y="2209800"/>
                <a:ext cx="381000" cy="533400"/>
              </a:xfrm>
              <a:prstGeom prst="foldedCorner">
                <a:avLst>
                  <a:gd name="adj" fmla="val 44167"/>
                </a:avLst>
              </a:prstGeom>
              <a:solidFill>
                <a:srgbClr val="00B050">
                  <a:alpha val="25098"/>
                </a:srgbClr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/>
              </a:p>
            </p:txBody>
          </p:sp>
          <p:sp>
            <p:nvSpPr>
              <p:cNvPr id="46" name="TextBox 45"/>
              <p:cNvSpPr txBox="1"/>
              <p:nvPr/>
            </p:nvSpPr>
            <p:spPr>
              <a:xfrm>
                <a:off x="3998912" y="2362200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latin typeface="Consolas" panose="020B0609020204030204" pitchFamily="49" charset="0"/>
                  </a:rPr>
                  <a:t>☰</a:t>
                </a:r>
                <a:endParaRPr lang="en-US" sz="900" b="1" dirty="0">
                  <a:latin typeface="Consolas" panose="020B0609020204030204" pitchFamily="49" charset="0"/>
                </a:endParaRPr>
              </a:p>
            </p:txBody>
          </p:sp>
        </p:grpSp>
        <p:grpSp>
          <p:nvGrpSpPr>
            <p:cNvPr id="56" name="Group 55"/>
            <p:cNvGrpSpPr/>
            <p:nvPr/>
          </p:nvGrpSpPr>
          <p:grpSpPr>
            <a:xfrm>
              <a:off x="9630435" y="5499904"/>
              <a:ext cx="609600" cy="533400"/>
              <a:chOff x="3998912" y="2209800"/>
              <a:chExt cx="609600" cy="533400"/>
            </a:xfrm>
          </p:grpSpPr>
          <p:sp>
            <p:nvSpPr>
              <p:cNvPr id="57" name="Rectangle: Folded Corner 56"/>
              <p:cNvSpPr/>
              <p:nvPr/>
            </p:nvSpPr>
            <p:spPr>
              <a:xfrm rot="10800000">
                <a:off x="4113212" y="2209800"/>
                <a:ext cx="381000" cy="533400"/>
              </a:xfrm>
              <a:prstGeom prst="foldedCorner">
                <a:avLst>
                  <a:gd name="adj" fmla="val 44167"/>
                </a:avLst>
              </a:prstGeom>
              <a:solidFill>
                <a:srgbClr val="00B050">
                  <a:alpha val="25098"/>
                </a:srgbClr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/>
              </a:p>
            </p:txBody>
          </p:sp>
          <p:sp>
            <p:nvSpPr>
              <p:cNvPr id="58" name="TextBox 57"/>
              <p:cNvSpPr txBox="1"/>
              <p:nvPr/>
            </p:nvSpPr>
            <p:spPr>
              <a:xfrm>
                <a:off x="3998912" y="2362200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latin typeface="Consolas" panose="020B0609020204030204" pitchFamily="49" charset="0"/>
                  </a:rPr>
                  <a:t>☰</a:t>
                </a:r>
                <a:endParaRPr lang="en-US" sz="900" b="1" dirty="0">
                  <a:latin typeface="Consolas" panose="020B0609020204030204" pitchFamily="49" charset="0"/>
                </a:endParaRPr>
              </a:p>
            </p:txBody>
          </p:sp>
        </p:grpSp>
        <p:grpSp>
          <p:nvGrpSpPr>
            <p:cNvPr id="59" name="Group 58"/>
            <p:cNvGrpSpPr/>
            <p:nvPr/>
          </p:nvGrpSpPr>
          <p:grpSpPr>
            <a:xfrm>
              <a:off x="10174020" y="5499904"/>
              <a:ext cx="609600" cy="533400"/>
              <a:chOff x="3998912" y="2209800"/>
              <a:chExt cx="609600" cy="533400"/>
            </a:xfrm>
          </p:grpSpPr>
          <p:sp>
            <p:nvSpPr>
              <p:cNvPr id="60" name="Rectangle: Folded Corner 59"/>
              <p:cNvSpPr/>
              <p:nvPr/>
            </p:nvSpPr>
            <p:spPr>
              <a:xfrm rot="10800000">
                <a:off x="4113212" y="2209800"/>
                <a:ext cx="381000" cy="533400"/>
              </a:xfrm>
              <a:prstGeom prst="foldedCorner">
                <a:avLst>
                  <a:gd name="adj" fmla="val 44167"/>
                </a:avLst>
              </a:prstGeom>
              <a:solidFill>
                <a:srgbClr val="00B050">
                  <a:alpha val="25098"/>
                </a:srgbClr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/>
              </a:p>
            </p:txBody>
          </p:sp>
          <p:sp>
            <p:nvSpPr>
              <p:cNvPr id="61" name="TextBox 60"/>
              <p:cNvSpPr txBox="1"/>
              <p:nvPr/>
            </p:nvSpPr>
            <p:spPr>
              <a:xfrm>
                <a:off x="3998912" y="2362200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latin typeface="Consolas" panose="020B0609020204030204" pitchFamily="49" charset="0"/>
                  </a:rPr>
                  <a:t>☰</a:t>
                </a:r>
                <a:endParaRPr lang="en-US" sz="900" b="1" dirty="0">
                  <a:latin typeface="Consolas" panose="020B0609020204030204" pitchFamily="49" charset="0"/>
                </a:endParaRPr>
              </a:p>
            </p:txBody>
          </p:sp>
        </p:grpSp>
        <p:grpSp>
          <p:nvGrpSpPr>
            <p:cNvPr id="62" name="Group 61"/>
            <p:cNvGrpSpPr/>
            <p:nvPr/>
          </p:nvGrpSpPr>
          <p:grpSpPr>
            <a:xfrm>
              <a:off x="10717605" y="5499904"/>
              <a:ext cx="609600" cy="533400"/>
              <a:chOff x="3998912" y="2209800"/>
              <a:chExt cx="609600" cy="533400"/>
            </a:xfrm>
          </p:grpSpPr>
          <p:sp>
            <p:nvSpPr>
              <p:cNvPr id="63" name="Rectangle: Folded Corner 62"/>
              <p:cNvSpPr/>
              <p:nvPr/>
            </p:nvSpPr>
            <p:spPr>
              <a:xfrm rot="10800000">
                <a:off x="4113212" y="2209800"/>
                <a:ext cx="381000" cy="533400"/>
              </a:xfrm>
              <a:prstGeom prst="foldedCorner">
                <a:avLst>
                  <a:gd name="adj" fmla="val 44167"/>
                </a:avLst>
              </a:prstGeom>
              <a:solidFill>
                <a:srgbClr val="00B050">
                  <a:alpha val="25098"/>
                </a:srgbClr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/>
              </a:p>
            </p:txBody>
          </p:sp>
          <p:sp>
            <p:nvSpPr>
              <p:cNvPr id="64" name="TextBox 63"/>
              <p:cNvSpPr txBox="1"/>
              <p:nvPr/>
            </p:nvSpPr>
            <p:spPr>
              <a:xfrm>
                <a:off x="3998912" y="2362200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latin typeface="Consolas" panose="020B0609020204030204" pitchFamily="49" charset="0"/>
                  </a:rPr>
                  <a:t>☰</a:t>
                </a:r>
                <a:endParaRPr lang="en-US" sz="900" b="1" dirty="0">
                  <a:latin typeface="Consolas" panose="020B0609020204030204" pitchFamily="49" charset="0"/>
                </a:endParaRPr>
              </a:p>
            </p:txBody>
          </p:sp>
        </p:grp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C5DCFAD8-0451-4DFD-BC3E-C11FC2EDAC46}"/>
              </a:ext>
            </a:extLst>
          </p:cNvPr>
          <p:cNvGrpSpPr/>
          <p:nvPr/>
        </p:nvGrpSpPr>
        <p:grpSpPr>
          <a:xfrm>
            <a:off x="6552724" y="5499904"/>
            <a:ext cx="2240355" cy="533400"/>
            <a:chOff x="6552724" y="5499904"/>
            <a:chExt cx="2240355" cy="533400"/>
          </a:xfrm>
        </p:grpSpPr>
        <p:grpSp>
          <p:nvGrpSpPr>
            <p:cNvPr id="67" name="Group 66"/>
            <p:cNvGrpSpPr/>
            <p:nvPr/>
          </p:nvGrpSpPr>
          <p:grpSpPr>
            <a:xfrm>
              <a:off x="6552724" y="5499904"/>
              <a:ext cx="609600" cy="533400"/>
              <a:chOff x="3998912" y="2209800"/>
              <a:chExt cx="609600" cy="533400"/>
            </a:xfrm>
          </p:grpSpPr>
          <p:sp>
            <p:nvSpPr>
              <p:cNvPr id="77" name="Rectangle: Folded Corner 76"/>
              <p:cNvSpPr/>
              <p:nvPr/>
            </p:nvSpPr>
            <p:spPr>
              <a:xfrm rot="10800000">
                <a:off x="4113212" y="2209800"/>
                <a:ext cx="381000" cy="533400"/>
              </a:xfrm>
              <a:prstGeom prst="foldedCorner">
                <a:avLst>
                  <a:gd name="adj" fmla="val 44167"/>
                </a:avLst>
              </a:prstGeom>
              <a:solidFill>
                <a:schemeClr val="accent1">
                  <a:alpha val="25098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/>
              </a:p>
            </p:txBody>
          </p:sp>
          <p:sp>
            <p:nvSpPr>
              <p:cNvPr id="78" name="TextBox 77"/>
              <p:cNvSpPr txBox="1"/>
              <p:nvPr/>
            </p:nvSpPr>
            <p:spPr>
              <a:xfrm>
                <a:off x="3998912" y="2362200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latin typeface="Consolas" panose="020B0609020204030204" pitchFamily="49" charset="0"/>
                  </a:rPr>
                  <a:t>☰</a:t>
                </a:r>
                <a:endParaRPr lang="en-US" sz="900" b="1" dirty="0">
                  <a:latin typeface="Consolas" panose="020B0609020204030204" pitchFamily="49" charset="0"/>
                </a:endParaRPr>
              </a:p>
            </p:txBody>
          </p:sp>
        </p:grpSp>
        <p:grpSp>
          <p:nvGrpSpPr>
            <p:cNvPr id="68" name="Group 67"/>
            <p:cNvGrpSpPr/>
            <p:nvPr/>
          </p:nvGrpSpPr>
          <p:grpSpPr>
            <a:xfrm>
              <a:off x="7096309" y="5499904"/>
              <a:ext cx="609600" cy="533400"/>
              <a:chOff x="3998912" y="2209800"/>
              <a:chExt cx="609600" cy="533400"/>
            </a:xfrm>
          </p:grpSpPr>
          <p:sp>
            <p:nvSpPr>
              <p:cNvPr id="75" name="Rectangle: Folded Corner 74"/>
              <p:cNvSpPr/>
              <p:nvPr/>
            </p:nvSpPr>
            <p:spPr>
              <a:xfrm rot="10800000">
                <a:off x="4113212" y="2209800"/>
                <a:ext cx="381000" cy="533400"/>
              </a:xfrm>
              <a:prstGeom prst="foldedCorner">
                <a:avLst>
                  <a:gd name="adj" fmla="val 44167"/>
                </a:avLst>
              </a:prstGeom>
              <a:solidFill>
                <a:schemeClr val="accent1">
                  <a:alpha val="25098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/>
              </a:p>
            </p:txBody>
          </p:sp>
          <p:sp>
            <p:nvSpPr>
              <p:cNvPr id="76" name="TextBox 75"/>
              <p:cNvSpPr txBox="1"/>
              <p:nvPr/>
            </p:nvSpPr>
            <p:spPr>
              <a:xfrm>
                <a:off x="3998912" y="2362200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latin typeface="Consolas" panose="020B0609020204030204" pitchFamily="49" charset="0"/>
                  </a:rPr>
                  <a:t>☰</a:t>
                </a:r>
                <a:endParaRPr lang="en-US" sz="900" b="1" dirty="0">
                  <a:latin typeface="Consolas" panose="020B0609020204030204" pitchFamily="49" charset="0"/>
                </a:endParaRPr>
              </a:p>
            </p:txBody>
          </p:sp>
        </p:grpSp>
        <p:grpSp>
          <p:nvGrpSpPr>
            <p:cNvPr id="69" name="Group 68"/>
            <p:cNvGrpSpPr/>
            <p:nvPr/>
          </p:nvGrpSpPr>
          <p:grpSpPr>
            <a:xfrm>
              <a:off x="7639894" y="5499904"/>
              <a:ext cx="609600" cy="533400"/>
              <a:chOff x="3998912" y="2209800"/>
              <a:chExt cx="609600" cy="533400"/>
            </a:xfrm>
          </p:grpSpPr>
          <p:sp>
            <p:nvSpPr>
              <p:cNvPr id="73" name="Rectangle: Folded Corner 72"/>
              <p:cNvSpPr/>
              <p:nvPr/>
            </p:nvSpPr>
            <p:spPr>
              <a:xfrm rot="10800000">
                <a:off x="4113212" y="2209800"/>
                <a:ext cx="381000" cy="533400"/>
              </a:xfrm>
              <a:prstGeom prst="foldedCorner">
                <a:avLst>
                  <a:gd name="adj" fmla="val 44167"/>
                </a:avLst>
              </a:prstGeom>
              <a:solidFill>
                <a:schemeClr val="accent1">
                  <a:alpha val="25098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/>
              </a:p>
            </p:txBody>
          </p:sp>
          <p:sp>
            <p:nvSpPr>
              <p:cNvPr id="74" name="TextBox 73"/>
              <p:cNvSpPr txBox="1"/>
              <p:nvPr/>
            </p:nvSpPr>
            <p:spPr>
              <a:xfrm>
                <a:off x="3998912" y="2362200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latin typeface="Consolas" panose="020B0609020204030204" pitchFamily="49" charset="0"/>
                  </a:rPr>
                  <a:t>☰</a:t>
                </a:r>
                <a:endParaRPr lang="en-US" sz="900" b="1" dirty="0">
                  <a:latin typeface="Consolas" panose="020B0609020204030204" pitchFamily="49" charset="0"/>
                </a:endParaRPr>
              </a:p>
            </p:txBody>
          </p:sp>
        </p:grpSp>
        <p:grpSp>
          <p:nvGrpSpPr>
            <p:cNvPr id="70" name="Group 69"/>
            <p:cNvGrpSpPr/>
            <p:nvPr/>
          </p:nvGrpSpPr>
          <p:grpSpPr>
            <a:xfrm>
              <a:off x="8183479" y="5499904"/>
              <a:ext cx="609600" cy="533400"/>
              <a:chOff x="3998912" y="2209800"/>
              <a:chExt cx="609600" cy="533400"/>
            </a:xfrm>
          </p:grpSpPr>
          <p:sp>
            <p:nvSpPr>
              <p:cNvPr id="71" name="Rectangle: Folded Corner 70"/>
              <p:cNvSpPr/>
              <p:nvPr/>
            </p:nvSpPr>
            <p:spPr>
              <a:xfrm rot="10800000">
                <a:off x="4113212" y="2209800"/>
                <a:ext cx="381000" cy="533400"/>
              </a:xfrm>
              <a:prstGeom prst="foldedCorner">
                <a:avLst>
                  <a:gd name="adj" fmla="val 44167"/>
                </a:avLst>
              </a:prstGeom>
              <a:solidFill>
                <a:schemeClr val="accent1">
                  <a:alpha val="25098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/>
              </a:p>
            </p:txBody>
          </p:sp>
          <p:sp>
            <p:nvSpPr>
              <p:cNvPr id="72" name="TextBox 71"/>
              <p:cNvSpPr txBox="1"/>
              <p:nvPr/>
            </p:nvSpPr>
            <p:spPr>
              <a:xfrm>
                <a:off x="3998912" y="2362200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latin typeface="Consolas" panose="020B0609020204030204" pitchFamily="49" charset="0"/>
                  </a:rPr>
                  <a:t>☰</a:t>
                </a:r>
                <a:endParaRPr lang="en-US" sz="900" b="1" dirty="0">
                  <a:latin typeface="Consolas" panose="020B0609020204030204" pitchFamily="49" charset="0"/>
                </a:endParaRPr>
              </a:p>
            </p:txBody>
          </p:sp>
        </p:grpSp>
      </p:grpSp>
      <p:sp>
        <p:nvSpPr>
          <p:cNvPr id="47" name="Slide Number">
            <a:extLst>
              <a:ext uri="{FF2B5EF4-FFF2-40B4-BE49-F238E27FC236}">
                <a16:creationId xmlns:a16="http://schemas.microsoft.com/office/drawing/2014/main" id="{8B80C9FE-B81B-40A7-96AE-2314DB33FC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97554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8" grpId="0" animBg="1"/>
      <p:bldP spid="23" grpId="0" animBg="1"/>
      <p:bldP spid="40" grpId="0" animBg="1"/>
      <p:bldP spid="52" grpId="0" animBg="1"/>
      <p:bldP spid="53" grpId="0" animBg="1"/>
      <p:bldP spid="5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table is the main </a:t>
            </a:r>
            <a:r>
              <a:rPr lang="en-US" b="1" dirty="0">
                <a:solidFill>
                  <a:schemeClr val="bg1"/>
                </a:solidFill>
              </a:rPr>
              <a:t>building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</a:rPr>
              <a:t>block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of any database</a:t>
            </a:r>
          </a:p>
          <a:p>
            <a:pPr>
              <a:spcBef>
                <a:spcPts val="27600"/>
              </a:spcBef>
            </a:pPr>
            <a:r>
              <a:rPr lang="en-US" dirty="0"/>
              <a:t>Each </a:t>
            </a:r>
            <a:r>
              <a:rPr lang="en-US" b="1" dirty="0">
                <a:solidFill>
                  <a:schemeClr val="bg1"/>
                </a:solidFill>
              </a:rPr>
              <a:t>row</a:t>
            </a:r>
            <a:r>
              <a:rPr lang="en-US" dirty="0"/>
              <a:t> is called a </a:t>
            </a:r>
            <a:r>
              <a:rPr lang="en-US" b="1" dirty="0">
                <a:solidFill>
                  <a:schemeClr val="bg1"/>
                </a:solidFill>
              </a:rPr>
              <a:t>record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or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</a:rPr>
              <a:t>entity</a:t>
            </a:r>
          </a:p>
          <a:p>
            <a:r>
              <a:rPr lang="en-US" dirty="0"/>
              <a:t>Columns (</a:t>
            </a:r>
            <a:r>
              <a:rPr lang="en-US" b="1" dirty="0">
                <a:solidFill>
                  <a:schemeClr val="bg1"/>
                </a:solidFill>
              </a:rPr>
              <a:t>fields</a:t>
            </a:r>
            <a:r>
              <a:rPr lang="en-US" dirty="0"/>
              <a:t>) define the </a:t>
            </a:r>
            <a:r>
              <a:rPr lang="en-US" b="1" dirty="0">
                <a:solidFill>
                  <a:schemeClr val="bg1"/>
                </a:solidFill>
              </a:rPr>
              <a:t>type</a:t>
            </a:r>
            <a:r>
              <a:rPr lang="en-US" dirty="0"/>
              <a:t> of data they contain</a:t>
            </a:r>
          </a:p>
        </p:txBody>
      </p:sp>
      <p:sp>
        <p:nvSpPr>
          <p:cNvPr id="465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Table Elements</a:t>
            </a:r>
            <a:endParaRPr lang="bg-BG" dirty="0"/>
          </a:p>
        </p:txBody>
      </p:sp>
      <p:graphicFrame>
        <p:nvGraphicFramePr>
          <p:cNvPr id="15" name="Group 49"/>
          <p:cNvGraphicFramePr>
            <a:graphicFrameLocks/>
          </p:cNvGraphicFramePr>
          <p:nvPr/>
        </p:nvGraphicFramePr>
        <p:xfrm>
          <a:off x="1634046" y="2471600"/>
          <a:ext cx="8923911" cy="2415745"/>
        </p:xfrm>
        <a:graphic>
          <a:graphicData uri="http://schemas.openxmlformats.org/drawingml/2006/table">
            <a:tbl>
              <a:tblPr/>
              <a:tblGrid>
                <a:gridCol w="2142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1808587013"/>
                    </a:ext>
                  </a:extLst>
                </a:gridCol>
                <a:gridCol w="1676399">
                  <a:extLst>
                    <a:ext uri="{9D8B030D-6E8A-4147-A177-3AD203B41FA5}">
                      <a16:colId xmlns:a16="http://schemas.microsoft.com/office/drawing/2014/main" val="1545185628"/>
                    </a:ext>
                  </a:extLst>
                </a:gridCol>
              </a:tblGrid>
              <a:tr h="58694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800" b="1" i="0" u="none" strike="noStrike" cap="none" normalizeH="0" baseline="0" noProof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CustomerID</a:t>
                      </a:r>
                    </a:p>
                  </a:txBody>
                  <a:tcPr marL="157466" marR="157466" horzOverflow="overflow">
                    <a:lnL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C0AA">
                        <a:alpha val="4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800" b="1" i="0" u="none" strike="noStrike" cap="none" normalizeH="0" baseline="0" noProof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FirstName</a:t>
                      </a:r>
                      <a:endParaRPr kumimoji="1" lang="bg-BG" sz="28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</a:endParaRPr>
                    </a:p>
                  </a:txBody>
                  <a:tcPr marL="157466" marR="157466" horzOverflow="overflow">
                    <a:lnL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C0AA">
                        <a:alpha val="4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800" b="1" i="0" u="none" strike="noStrike" cap="none" normalizeH="0" baseline="0" noProof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Birthdate</a:t>
                      </a:r>
                      <a:endParaRPr kumimoji="1" lang="bg-BG" sz="28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</a:endParaRPr>
                    </a:p>
                  </a:txBody>
                  <a:tcPr marL="157466" marR="157466" horzOverflow="overflow">
                    <a:lnL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C0AA">
                        <a:alpha val="4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800" b="1" i="0" u="none" strike="noStrike" cap="none" normalizeH="0" baseline="0" noProof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CityID</a:t>
                      </a:r>
                      <a:endParaRPr kumimoji="1" lang="bg-BG" sz="28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</a:endParaRPr>
                    </a:p>
                  </a:txBody>
                  <a:tcPr marL="157466" marR="157466" horzOverflow="overflow">
                    <a:lnL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C0AA">
                        <a:alpha val="4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>
                    <a:lnL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6484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Brigitte</a:t>
                      </a:r>
                    </a:p>
                  </a:txBody>
                  <a:tcPr>
                    <a:lnL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6484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03/12/1975</a:t>
                      </a:r>
                    </a:p>
                  </a:txBody>
                  <a:tcPr>
                    <a:lnL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6484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101</a:t>
                      </a:r>
                    </a:p>
                  </a:txBody>
                  <a:tcPr>
                    <a:lnL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64848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>
                    <a:lnL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6484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August</a:t>
                      </a:r>
                    </a:p>
                  </a:txBody>
                  <a:tcPr>
                    <a:lnL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6484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27/05/1968</a:t>
                      </a:r>
                    </a:p>
                  </a:txBody>
                  <a:tcPr>
                    <a:lnL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6484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102</a:t>
                      </a:r>
                    </a:p>
                  </a:txBody>
                  <a:tcPr>
                    <a:lnL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64848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>
                    <a:lnL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6484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Benjamin</a:t>
                      </a:r>
                    </a:p>
                  </a:txBody>
                  <a:tcPr>
                    <a:lnL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6484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15/10/1988</a:t>
                      </a:r>
                    </a:p>
                  </a:txBody>
                  <a:tcPr>
                    <a:lnL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6484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103</a:t>
                      </a:r>
                    </a:p>
                  </a:txBody>
                  <a:tcPr>
                    <a:lnL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64848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>
                    <a:lnL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6484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Denis</a:t>
                      </a:r>
                    </a:p>
                  </a:txBody>
                  <a:tcPr>
                    <a:lnL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6484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07/01/1993</a:t>
                      </a:r>
                    </a:p>
                  </a:txBody>
                  <a:tcPr>
                    <a:lnL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6484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104</a:t>
                      </a:r>
                    </a:p>
                  </a:txBody>
                  <a:tcPr>
                    <a:lnL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64848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AutoShape 7"/>
          <p:cNvSpPr>
            <a:spLocks noChangeArrowheads="1"/>
          </p:cNvSpPr>
          <p:nvPr/>
        </p:nvSpPr>
        <p:spPr bwMode="auto">
          <a:xfrm>
            <a:off x="265773" y="4290942"/>
            <a:ext cx="1160292" cy="609716"/>
          </a:xfrm>
          <a:prstGeom prst="wedgeRoundRectCallout">
            <a:avLst>
              <a:gd name="adj1" fmla="val 43059"/>
              <a:gd name="adj2" fmla="val -91657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chemeClr val="tx1"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Row</a:t>
            </a:r>
          </a:p>
        </p:txBody>
      </p:sp>
      <p:sp>
        <p:nvSpPr>
          <p:cNvPr id="17" name="Rectangle: Rounded Corners 16"/>
          <p:cNvSpPr/>
          <p:nvPr/>
        </p:nvSpPr>
        <p:spPr>
          <a:xfrm>
            <a:off x="1436688" y="3401445"/>
            <a:ext cx="9258300" cy="673099"/>
          </a:xfrm>
          <a:prstGeom prst="roundRect">
            <a:avLst>
              <a:gd name="adj" fmla="val 5385"/>
            </a:avLst>
          </a:prstGeom>
          <a:noFill/>
          <a:ln w="571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2800" b="1" dirty="0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</a:endParaRPr>
          </a:p>
        </p:txBody>
      </p:sp>
      <p:sp>
        <p:nvSpPr>
          <p:cNvPr id="18" name="Rectangle: Rounded Corners 17"/>
          <p:cNvSpPr/>
          <p:nvPr/>
        </p:nvSpPr>
        <p:spPr>
          <a:xfrm>
            <a:off x="3646488" y="2321944"/>
            <a:ext cx="2870200" cy="2679700"/>
          </a:xfrm>
          <a:prstGeom prst="roundRect">
            <a:avLst>
              <a:gd name="adj" fmla="val 5385"/>
            </a:avLst>
          </a:prstGeom>
          <a:noFill/>
          <a:ln w="571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2800" b="1" dirty="0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</a:endParaRPr>
          </a:p>
        </p:txBody>
      </p:sp>
      <p:sp>
        <p:nvSpPr>
          <p:cNvPr id="21" name="AutoShape 7"/>
          <p:cNvSpPr>
            <a:spLocks noChangeArrowheads="1"/>
          </p:cNvSpPr>
          <p:nvPr/>
        </p:nvSpPr>
        <p:spPr bwMode="auto">
          <a:xfrm>
            <a:off x="7252621" y="1701819"/>
            <a:ext cx="1588686" cy="609716"/>
          </a:xfrm>
          <a:prstGeom prst="wedgeRoundRectCallout">
            <a:avLst>
              <a:gd name="adj1" fmla="val -82609"/>
              <a:gd name="adj2" fmla="val 42619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chemeClr val="tx1"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Column</a:t>
            </a:r>
          </a:p>
        </p:txBody>
      </p:sp>
      <p:sp>
        <p:nvSpPr>
          <p:cNvPr id="22" name="Rectangle: Rounded Corners 21"/>
          <p:cNvSpPr/>
          <p:nvPr/>
        </p:nvSpPr>
        <p:spPr>
          <a:xfrm>
            <a:off x="3646488" y="3414144"/>
            <a:ext cx="2870200" cy="647700"/>
          </a:xfrm>
          <a:prstGeom prst="roundRect">
            <a:avLst>
              <a:gd name="adj" fmla="val 5385"/>
            </a:avLst>
          </a:prstGeom>
          <a:noFill/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2800" b="1" dirty="0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</a:endParaRPr>
          </a:p>
        </p:txBody>
      </p:sp>
      <p:sp>
        <p:nvSpPr>
          <p:cNvPr id="23" name="AutoShape 7"/>
          <p:cNvSpPr>
            <a:spLocks noChangeArrowheads="1"/>
          </p:cNvSpPr>
          <p:nvPr/>
        </p:nvSpPr>
        <p:spPr bwMode="auto">
          <a:xfrm>
            <a:off x="7294938" y="5057044"/>
            <a:ext cx="1064032" cy="609716"/>
          </a:xfrm>
          <a:prstGeom prst="wedgeRoundRectCallout">
            <a:avLst>
              <a:gd name="adj1" fmla="val -133489"/>
              <a:gd name="adj2" fmla="val -180316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chemeClr val="tx1"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Cell</a:t>
            </a: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8D0FB9DD-3796-41D7-8515-ED0F61013B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9530314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21" grpId="0" animBg="1"/>
      <p:bldP spid="21" grpId="1" animBg="1"/>
      <p:bldP spid="22" grpId="0" animBg="1"/>
      <p:bldP spid="2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To communicate with the Engine we use </a:t>
            </a:r>
            <a:r>
              <a:rPr lang="en-US" b="1" dirty="0">
                <a:solidFill>
                  <a:schemeClr val="bg1"/>
                </a:solidFill>
              </a:rPr>
              <a:t>SQL</a:t>
            </a:r>
          </a:p>
          <a:p>
            <a:pPr lvl="1"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Declarative</a:t>
            </a:r>
            <a:r>
              <a:rPr lang="en-US" dirty="0"/>
              <a:t> language</a:t>
            </a:r>
          </a:p>
          <a:p>
            <a:pPr>
              <a:buClr>
                <a:schemeClr val="tx1"/>
              </a:buClr>
            </a:pPr>
            <a:r>
              <a:rPr lang="en-US" dirty="0"/>
              <a:t>Logically divided in four sections</a:t>
            </a:r>
          </a:p>
          <a:p>
            <a:pPr lvl="1"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Data Definition </a:t>
            </a:r>
            <a:r>
              <a:rPr lang="en-US" dirty="0"/>
              <a:t>– describe the structure of our data</a:t>
            </a:r>
          </a:p>
          <a:p>
            <a:pPr lvl="1"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Data Manipulation </a:t>
            </a:r>
            <a:r>
              <a:rPr lang="en-US" dirty="0"/>
              <a:t>– store and retrieve data</a:t>
            </a:r>
          </a:p>
          <a:p>
            <a:pPr lvl="1"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Data Control </a:t>
            </a:r>
            <a:r>
              <a:rPr lang="en-US" dirty="0"/>
              <a:t>– define who can access the data</a:t>
            </a:r>
          </a:p>
          <a:p>
            <a:pPr lvl="1"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Transaction Control </a:t>
            </a:r>
            <a:r>
              <a:rPr lang="en-US" dirty="0"/>
              <a:t>– bundle operations and allow rollback 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Structured Query Language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7DF3081A-5853-48ED-8125-1809FCF7F2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84825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F6542-4281-4214-8E69-C3FC5675BC5B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en-US" dirty="0"/>
              <a:t>Data Types in SQL Server</a:t>
            </a:r>
          </a:p>
        </p:txBody>
      </p:sp>
      <p:pic>
        <p:nvPicPr>
          <p:cNvPr id="3082" name="Picture 10" descr="Ð ÐµÐ·ÑÐ»ÑÐ°Ñ Ñ Ð¸Ð·Ð¾Ð±ÑÐ°Ð¶ÐµÐ½Ð¸Ðµ Ð·Ð° sql server png">
            <a:extLst>
              <a:ext uri="{FF2B5EF4-FFF2-40B4-BE49-F238E27FC236}">
                <a16:creationId xmlns:a16="http://schemas.microsoft.com/office/drawing/2014/main" id="{D87D64C2-9B46-41DD-97B7-0B78DBF62D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7372" y="1237422"/>
            <a:ext cx="2897256" cy="2897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1685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US" sz="3400" dirty="0"/>
              <a:t>Numeric</a:t>
            </a:r>
            <a:endParaRPr lang="en-US" sz="3400" noProof="1"/>
          </a:p>
          <a:p>
            <a:pPr lvl="1">
              <a:lnSpc>
                <a:spcPct val="100000"/>
              </a:lnSpc>
              <a:buClr>
                <a:schemeClr val="tx1"/>
              </a:buClr>
            </a:pPr>
            <a:r>
              <a:rPr lang="en-US" b="1" noProof="1">
                <a:solidFill>
                  <a:schemeClr val="bg1"/>
                </a:solidFill>
                <a:latin typeface="Consolas" panose="020B0609020204030204" pitchFamily="49" charset="0"/>
                <a:cs typeface="Consolas" pitchFamily="49" charset="0"/>
              </a:rPr>
              <a:t>BIT</a:t>
            </a:r>
            <a:r>
              <a:rPr lang="en-US" noProof="1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noProof="1"/>
              <a:t>(1-bit), </a:t>
            </a:r>
            <a:r>
              <a:rPr lang="en-US" b="1" noProof="1">
                <a:solidFill>
                  <a:schemeClr val="bg1"/>
                </a:solidFill>
                <a:latin typeface="Consolas" panose="020B0609020204030204" pitchFamily="49" charset="0"/>
                <a:cs typeface="Consolas" pitchFamily="49" charset="0"/>
              </a:rPr>
              <a:t>TINYINT</a:t>
            </a:r>
            <a:r>
              <a:rPr lang="en-US" noProof="1"/>
              <a:t> (8-bit), </a:t>
            </a:r>
            <a:r>
              <a:rPr lang="en-US" b="1" noProof="1">
                <a:solidFill>
                  <a:schemeClr val="bg1"/>
                </a:solidFill>
                <a:latin typeface="Consolas" panose="020B0609020204030204" pitchFamily="49" charset="0"/>
                <a:cs typeface="Consolas" pitchFamily="49" charset="0"/>
              </a:rPr>
              <a:t>SMALLINT</a:t>
            </a:r>
            <a:r>
              <a:rPr lang="en-US" noProof="1"/>
              <a:t> (16-bit)</a:t>
            </a:r>
          </a:p>
          <a:p>
            <a:pPr lvl="1">
              <a:lnSpc>
                <a:spcPct val="100000"/>
              </a:lnSpc>
              <a:buClr>
                <a:schemeClr val="tx1"/>
              </a:buClr>
            </a:pPr>
            <a:r>
              <a:rPr lang="en-US" b="1" noProof="1">
                <a:solidFill>
                  <a:schemeClr val="bg1"/>
                </a:solidFill>
                <a:latin typeface="Consolas" panose="020B0609020204030204" pitchFamily="49" charset="0"/>
                <a:cs typeface="Consolas" pitchFamily="49" charset="0"/>
              </a:rPr>
              <a:t>INT</a:t>
            </a:r>
            <a:r>
              <a:rPr lang="en-US" b="1" noProof="1">
                <a:solidFill>
                  <a:schemeClr val="tx2">
                    <a:lumMod val="75000"/>
                  </a:schemeClr>
                </a:solidFill>
                <a:cs typeface="Consolas" pitchFamily="49" charset="0"/>
              </a:rPr>
              <a:t> </a:t>
            </a:r>
            <a:r>
              <a:rPr lang="en-US" noProof="1"/>
              <a:t>(32-bit), </a:t>
            </a:r>
            <a:r>
              <a:rPr lang="en-US" b="1" noProof="1">
                <a:solidFill>
                  <a:schemeClr val="bg1"/>
                </a:solidFill>
                <a:latin typeface="Consolas" panose="020B0609020204030204" pitchFamily="49" charset="0"/>
                <a:cs typeface="Consolas" pitchFamily="49" charset="0"/>
              </a:rPr>
              <a:t>BIGINT</a:t>
            </a:r>
            <a:r>
              <a:rPr lang="en-US" noProof="1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noProof="1"/>
              <a:t>(64-bit)</a:t>
            </a:r>
          </a:p>
          <a:p>
            <a:pPr lvl="1">
              <a:lnSpc>
                <a:spcPct val="100000"/>
              </a:lnSpc>
              <a:buClr>
                <a:schemeClr val="tx1"/>
              </a:buClr>
            </a:pPr>
            <a:r>
              <a:rPr lang="en-US" b="1" noProof="1">
                <a:solidFill>
                  <a:schemeClr val="bg1"/>
                </a:solidFill>
                <a:latin typeface="Consolas" panose="020B0609020204030204" pitchFamily="49" charset="0"/>
                <a:cs typeface="Consolas" pitchFamily="49" charset="0"/>
              </a:rPr>
              <a:t>FLOAT</a:t>
            </a:r>
            <a:r>
              <a:rPr lang="en-US" noProof="1"/>
              <a:t>, </a:t>
            </a:r>
            <a:r>
              <a:rPr lang="en-US" b="1" noProof="1">
                <a:solidFill>
                  <a:schemeClr val="bg1"/>
                </a:solidFill>
                <a:latin typeface="Consolas" panose="020B0609020204030204" pitchFamily="49" charset="0"/>
                <a:cs typeface="Consolas" pitchFamily="49" charset="0"/>
              </a:rPr>
              <a:t>REAL</a:t>
            </a:r>
            <a:r>
              <a:rPr lang="en-US" noProof="1"/>
              <a:t>, </a:t>
            </a:r>
            <a:r>
              <a:rPr lang="en-US" b="1" noProof="1">
                <a:solidFill>
                  <a:schemeClr val="bg1"/>
                </a:solidFill>
                <a:latin typeface="Consolas" panose="020B0609020204030204" pitchFamily="49" charset="0"/>
                <a:cs typeface="Consolas" pitchFamily="49" charset="0"/>
              </a:rPr>
              <a:t>DECIMAL</a:t>
            </a:r>
            <a:r>
              <a:rPr lang="en-US" b="1" noProof="1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onsolas" pitchFamily="49" charset="0"/>
              </a:rPr>
              <a:t>(</a:t>
            </a: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precision, scale</a:t>
            </a:r>
            <a:r>
              <a:rPr lang="en-US" b="1" noProof="1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)</a:t>
            </a:r>
          </a:p>
          <a:p>
            <a:pPr>
              <a:lnSpc>
                <a:spcPct val="100000"/>
              </a:lnSpc>
              <a:buClr>
                <a:schemeClr val="tx1"/>
              </a:buClr>
            </a:pPr>
            <a:r>
              <a:rPr lang="en-US" sz="3400" dirty="0"/>
              <a:t>Textual</a:t>
            </a:r>
            <a:endParaRPr lang="en-US" sz="3400" noProof="1"/>
          </a:p>
          <a:p>
            <a:pPr lvl="1">
              <a:lnSpc>
                <a:spcPct val="100000"/>
              </a:lnSpc>
              <a:buClr>
                <a:schemeClr val="tx1"/>
              </a:buClr>
            </a:pPr>
            <a:r>
              <a:rPr lang="en-US" sz="3000" b="1" noProof="1">
                <a:solidFill>
                  <a:schemeClr val="bg1"/>
                </a:solidFill>
                <a:latin typeface="Consolas" panose="020B0609020204030204" pitchFamily="49" charset="0"/>
                <a:cs typeface="Consolas" pitchFamily="49" charset="0"/>
              </a:rPr>
              <a:t>CHAR</a:t>
            </a:r>
            <a:r>
              <a:rPr lang="en-US" sz="3000" b="1" noProof="1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onsolas" pitchFamily="49" charset="0"/>
              </a:rPr>
              <a:t>(</a:t>
            </a:r>
            <a:r>
              <a:rPr lang="en-US" sz="3000" b="1" noProof="1">
                <a:solidFill>
                  <a:schemeClr val="bg1"/>
                </a:solidFill>
                <a:latin typeface="Consolas" panose="020B0609020204030204" pitchFamily="49" charset="0"/>
                <a:cs typeface="Consolas" pitchFamily="49" charset="0"/>
              </a:rPr>
              <a:t>size</a:t>
            </a:r>
            <a:r>
              <a:rPr lang="en-US" sz="3000" b="1" noProof="1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onsolas" pitchFamily="49" charset="0"/>
              </a:rPr>
              <a:t>)</a:t>
            </a:r>
            <a:r>
              <a:rPr lang="en-US" sz="2800" noProof="1">
                <a:solidFill>
                  <a:schemeClr val="accent5">
                    <a:lumMod val="20000"/>
                    <a:lumOff val="80000"/>
                  </a:schemeClr>
                </a:solidFill>
                <a:cs typeface="Consolas" pitchFamily="49" charset="0"/>
              </a:rPr>
              <a:t> </a:t>
            </a:r>
            <a:r>
              <a:rPr lang="en-US" noProof="1"/>
              <a:t>– </a:t>
            </a:r>
            <a:r>
              <a:rPr lang="en-US" dirty="0"/>
              <a:t>fixed size string</a:t>
            </a:r>
            <a:endParaRPr lang="en-US" noProof="1"/>
          </a:p>
          <a:p>
            <a:pPr lvl="1">
              <a:lnSpc>
                <a:spcPct val="100000"/>
              </a:lnSpc>
              <a:buClr>
                <a:schemeClr val="tx1"/>
              </a:buClr>
            </a:pPr>
            <a:r>
              <a:rPr lang="en-US" sz="3000" b="1" noProof="1">
                <a:solidFill>
                  <a:schemeClr val="bg1"/>
                </a:solidFill>
                <a:latin typeface="Consolas" panose="020B0609020204030204" pitchFamily="49" charset="0"/>
                <a:cs typeface="Consolas" pitchFamily="49" charset="0"/>
              </a:rPr>
              <a:t>VARCHAR</a:t>
            </a:r>
            <a:r>
              <a:rPr lang="en-US" sz="3000" b="1" noProof="1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onsolas" pitchFamily="49" charset="0"/>
              </a:rPr>
              <a:t>(</a:t>
            </a:r>
            <a:r>
              <a:rPr lang="en-US" sz="3000" b="1" noProof="1">
                <a:solidFill>
                  <a:schemeClr val="bg1"/>
                </a:solidFill>
                <a:latin typeface="Consolas" panose="020B0609020204030204" pitchFamily="49" charset="0"/>
                <a:cs typeface="Consolas" pitchFamily="49" charset="0"/>
              </a:rPr>
              <a:t>size</a:t>
            </a:r>
            <a:r>
              <a:rPr lang="en-US" sz="3000" b="1" noProof="1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onsolas" pitchFamily="49" charset="0"/>
              </a:rPr>
              <a:t>)</a:t>
            </a:r>
            <a:r>
              <a:rPr lang="en-US" sz="3000" noProof="1">
                <a:solidFill>
                  <a:schemeClr val="accent5">
                    <a:lumMod val="20000"/>
                    <a:lumOff val="80000"/>
                  </a:schemeClr>
                </a:solidFill>
                <a:cs typeface="Consolas" pitchFamily="49" charset="0"/>
              </a:rPr>
              <a:t> </a:t>
            </a:r>
            <a:r>
              <a:rPr lang="en-US" noProof="1"/>
              <a:t>– </a:t>
            </a:r>
            <a:r>
              <a:rPr lang="en-US" dirty="0"/>
              <a:t>variable size string</a:t>
            </a:r>
          </a:p>
          <a:p>
            <a:pPr lvl="1">
              <a:lnSpc>
                <a:spcPct val="100000"/>
              </a:lnSpc>
              <a:buClr>
                <a:schemeClr val="tx1"/>
              </a:buClr>
            </a:pPr>
            <a:r>
              <a:rPr lang="en-US" sz="3000" b="1" noProof="1">
                <a:solidFill>
                  <a:schemeClr val="bg1"/>
                </a:solidFill>
                <a:latin typeface="Consolas" panose="020B0609020204030204" pitchFamily="49" charset="0"/>
                <a:cs typeface="Consolas" pitchFamily="49" charset="0"/>
              </a:rPr>
              <a:t>NCHAR</a:t>
            </a:r>
            <a:r>
              <a:rPr lang="en-US" sz="3000" b="1" noProof="1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onsolas" pitchFamily="49" charset="0"/>
              </a:rPr>
              <a:t>(</a:t>
            </a:r>
            <a:r>
              <a:rPr lang="en-US" sz="3000" b="1" noProof="1">
                <a:solidFill>
                  <a:schemeClr val="bg1"/>
                </a:solidFill>
                <a:latin typeface="Consolas" panose="020B0609020204030204" pitchFamily="49" charset="0"/>
                <a:cs typeface="Consolas" pitchFamily="49" charset="0"/>
              </a:rPr>
              <a:t>size</a:t>
            </a:r>
            <a:r>
              <a:rPr lang="en-US" sz="3000" b="1" noProof="1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onsolas" pitchFamily="49" charset="0"/>
              </a:rPr>
              <a:t>)</a:t>
            </a:r>
            <a:r>
              <a:rPr lang="en-US" sz="3500" noProof="1"/>
              <a:t> </a:t>
            </a:r>
            <a:r>
              <a:rPr lang="en-US" noProof="1"/>
              <a:t>– Unicode </a:t>
            </a:r>
            <a:r>
              <a:rPr lang="en-US" dirty="0"/>
              <a:t>fixed size string</a:t>
            </a:r>
            <a:endParaRPr lang="bg-BG" dirty="0"/>
          </a:p>
          <a:p>
            <a:pPr lvl="1">
              <a:lnSpc>
                <a:spcPct val="100000"/>
              </a:lnSpc>
              <a:buClr>
                <a:schemeClr val="tx1"/>
              </a:buClr>
            </a:pPr>
            <a:r>
              <a:rPr lang="en-US" sz="3000" b="1" noProof="1">
                <a:solidFill>
                  <a:schemeClr val="bg1"/>
                </a:solidFill>
                <a:latin typeface="Consolas" panose="020B0609020204030204" pitchFamily="49" charset="0"/>
                <a:cs typeface="Consolas" pitchFamily="49" charset="0"/>
              </a:rPr>
              <a:t>NVARCHAR</a:t>
            </a:r>
            <a:r>
              <a:rPr lang="en-US" sz="3000" b="1" noProof="1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onsolas" pitchFamily="49" charset="0"/>
              </a:rPr>
              <a:t>(</a:t>
            </a:r>
            <a:r>
              <a:rPr lang="en-US" sz="3000" b="1" noProof="1">
                <a:solidFill>
                  <a:schemeClr val="bg1"/>
                </a:solidFill>
                <a:latin typeface="Consolas" panose="020B0609020204030204" pitchFamily="49" charset="0"/>
                <a:cs typeface="Consolas" pitchFamily="49" charset="0"/>
              </a:rPr>
              <a:t>size</a:t>
            </a:r>
            <a:r>
              <a:rPr lang="en-US" sz="3000" b="1" noProof="1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onsolas" pitchFamily="49" charset="0"/>
              </a:rPr>
              <a:t>)</a:t>
            </a:r>
            <a:r>
              <a:rPr lang="en-US" sz="2800" noProof="1">
                <a:solidFill>
                  <a:schemeClr val="accent5">
                    <a:lumMod val="20000"/>
                    <a:lumOff val="80000"/>
                  </a:schemeClr>
                </a:solidFill>
                <a:cs typeface="Consolas" pitchFamily="49" charset="0"/>
              </a:rPr>
              <a:t> </a:t>
            </a:r>
            <a:r>
              <a:rPr lang="en-US" noProof="1"/>
              <a:t>– Unicode </a:t>
            </a:r>
            <a:r>
              <a:rPr lang="en-US" dirty="0"/>
              <a:t>variable size string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Types in</a:t>
            </a:r>
            <a:r>
              <a:rPr lang="bg-BG" dirty="0"/>
              <a:t> </a:t>
            </a:r>
            <a:r>
              <a:rPr lang="en-US" dirty="0"/>
              <a:t>SQL Server</a:t>
            </a:r>
            <a:endParaRPr lang="bg-BG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909D47A9-0D66-468F-8B58-5290CC47C7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63789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Size of Textual Characters</a:t>
            </a:r>
          </a:p>
        </p:txBody>
      </p:sp>
      <p:sp>
        <p:nvSpPr>
          <p:cNvPr id="6" name="Content Placeholder 5"/>
          <p:cNvSpPr txBox="1">
            <a:spLocks noChangeArrowheads="1"/>
          </p:cNvSpPr>
          <p:nvPr/>
        </p:nvSpPr>
        <p:spPr bwMode="auto">
          <a:xfrm>
            <a:off x="2451900" y="2169000"/>
            <a:ext cx="7288200" cy="3545129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08000" tIns="36000" rIns="108000" bIns="36000" rtlCol="0">
            <a:spAutoFit/>
          </a:bodyPr>
          <a:lstStyle>
            <a:lvl1pPr marL="456915" indent="-456915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3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89981" indent="-380762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048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2267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1485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070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latin typeface="Consolas" panose="020B0609020204030204" pitchFamily="49" charset="0"/>
                <a:cs typeface="Arial" panose="020B0604020202020204" pitchFamily="34" charset="0"/>
              </a:rPr>
              <a:t>DECLARE @VarcharVar VARCHAR(5) = 'Test';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latin typeface="Consolas" panose="020B0609020204030204" pitchFamily="49" charset="0"/>
                <a:cs typeface="Arial" panose="020B0604020202020204" pitchFamily="34" charset="0"/>
              </a:rPr>
              <a:t>DECLARE @NVarcharVar NVARCHAR(5) = 'Test';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latin typeface="Consolas" panose="020B0609020204030204" pitchFamily="49" charset="0"/>
                <a:cs typeface="Arial" panose="020B0604020202020204" pitchFamily="34" charset="0"/>
              </a:rPr>
              <a:t>DECLARE @CharVar CHAR(5) = 'Test';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latin typeface="Consolas" panose="020B0609020204030204" pitchFamily="49" charset="0"/>
                <a:cs typeface="Arial" panose="020B0604020202020204" pitchFamily="34" charset="0"/>
              </a:rPr>
              <a:t>DECLARE @NCharVar NCHAR(5) = 'Test';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2400" b="1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latin typeface="Consolas" panose="020B0609020204030204" pitchFamily="49" charset="0"/>
                <a:cs typeface="Arial" panose="020B0604020202020204" pitchFamily="34" charset="0"/>
              </a:rPr>
              <a:t>SELECT DATALENGTH(@VarcharVar),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latin typeface="Consolas" panose="020B0609020204030204" pitchFamily="49" charset="0"/>
                <a:cs typeface="Arial" panose="020B0604020202020204" pitchFamily="34" charset="0"/>
              </a:rPr>
              <a:t>       DATALENGTH(@NVarcharVar),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latin typeface="Consolas" panose="020B0609020204030204" pitchFamily="49" charset="0"/>
                <a:cs typeface="Arial" panose="020B0604020202020204" pitchFamily="34" charset="0"/>
              </a:rPr>
              <a:t>       DATALENGTH(@CharVar),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latin typeface="Consolas" panose="020B0609020204030204" pitchFamily="49" charset="0"/>
                <a:cs typeface="Arial" panose="020B0604020202020204" pitchFamily="34" charset="0"/>
              </a:rPr>
              <a:t>       DATALENGTH(@NCharVar)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C0132CAE-00F5-4F5E-A3DE-9D71DE1DE0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66862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3500" dirty="0"/>
              <a:t>Binary data</a:t>
            </a:r>
          </a:p>
          <a:p>
            <a:pPr lvl="1">
              <a:buClr>
                <a:schemeClr val="tx1"/>
              </a:buClr>
            </a:pP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BINARY</a:t>
            </a:r>
            <a:r>
              <a:rPr lang="en-US" sz="3200" b="1" noProof="1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size</a:t>
            </a:r>
            <a:r>
              <a:rPr lang="en-US" sz="3200" b="1" noProof="1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)</a:t>
            </a:r>
            <a:r>
              <a:rPr lang="bg-BG" sz="3200" dirty="0"/>
              <a:t> – </a:t>
            </a:r>
            <a:r>
              <a:rPr lang="en-US" sz="3200" dirty="0"/>
              <a:t>fixed length sequence of bits</a:t>
            </a:r>
            <a:endParaRPr lang="bg-BG" sz="3200" dirty="0"/>
          </a:p>
          <a:p>
            <a:pPr lvl="1">
              <a:buClr>
                <a:schemeClr val="tx1"/>
              </a:buClr>
            </a:pP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VARBINARY</a:t>
            </a:r>
            <a:r>
              <a:rPr lang="en-US" sz="3200" b="1" noProof="1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size</a:t>
            </a:r>
            <a:r>
              <a:rPr lang="en-US" sz="3200" b="1" noProof="1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)</a:t>
            </a:r>
            <a:r>
              <a:rPr lang="bg-BG" sz="3200" dirty="0"/>
              <a:t> – </a:t>
            </a:r>
            <a:r>
              <a:rPr lang="en-US" sz="3200" dirty="0"/>
              <a:t>a sequence of bits, 1-8000 bytes or </a:t>
            </a:r>
            <a:r>
              <a:rPr lang="en-US" sz="3200" b="1" dirty="0">
                <a:solidFill>
                  <a:schemeClr val="bg1"/>
                </a:solidFill>
                <a:latin typeface="Consolas" panose="020B0609020204030204" pitchFamily="49" charset="0"/>
              </a:rPr>
              <a:t>MAX</a:t>
            </a:r>
            <a:r>
              <a:rPr lang="en-US" sz="3200" dirty="0"/>
              <a:t> (2GB)</a:t>
            </a:r>
          </a:p>
          <a:p>
            <a:pPr>
              <a:buClr>
                <a:schemeClr val="tx1"/>
              </a:buClr>
            </a:pPr>
            <a:r>
              <a:rPr lang="en-US" sz="3500" dirty="0"/>
              <a:t>Date and time</a:t>
            </a:r>
          </a:p>
          <a:p>
            <a:pPr lvl="1">
              <a:buClr>
                <a:schemeClr val="tx1"/>
              </a:buClr>
            </a:pPr>
            <a:r>
              <a:rPr lang="en-US" sz="3200" b="1" dirty="0">
                <a:solidFill>
                  <a:schemeClr val="bg1"/>
                </a:solidFill>
                <a:latin typeface="Consolas" panose="020B0609020204030204" pitchFamily="49" charset="0"/>
              </a:rPr>
              <a:t>DATE</a:t>
            </a:r>
            <a:r>
              <a:rPr lang="en-US" sz="3200" dirty="0"/>
              <a:t> – date in range 0001-01-01 through 9999-12-31</a:t>
            </a:r>
          </a:p>
          <a:p>
            <a:pPr lvl="1">
              <a:buClr>
                <a:schemeClr val="tx1"/>
              </a:buClr>
            </a:pP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DATETIME</a:t>
            </a:r>
            <a:r>
              <a:rPr lang="bg-BG" sz="3200" noProof="1">
                <a:solidFill>
                  <a:schemeClr val="tx2">
                    <a:lumMod val="75000"/>
                  </a:schemeClr>
                </a:solidFill>
                <a:cs typeface="Consolas" pitchFamily="49" charset="0"/>
              </a:rPr>
              <a:t> </a:t>
            </a:r>
            <a:r>
              <a:rPr lang="bg-BG" sz="3200" dirty="0"/>
              <a:t>– </a:t>
            </a:r>
            <a:r>
              <a:rPr lang="en-US" sz="3200" dirty="0"/>
              <a:t>date and time with precision of</a:t>
            </a:r>
            <a:r>
              <a:rPr lang="bg-BG" sz="3200" dirty="0"/>
              <a:t> 1/300 </a:t>
            </a:r>
            <a:r>
              <a:rPr lang="en-US" sz="3200" dirty="0"/>
              <a:t>sec</a:t>
            </a:r>
            <a:endParaRPr lang="bg-BG" sz="3200" dirty="0"/>
          </a:p>
          <a:p>
            <a:pPr lvl="1">
              <a:buClr>
                <a:schemeClr val="tx1"/>
              </a:buClr>
            </a:pPr>
            <a:r>
              <a:rPr lang="en-US" sz="3200" b="1" dirty="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DATETIME2</a:t>
            </a:r>
            <a:r>
              <a:rPr lang="en-US" sz="3200" dirty="0"/>
              <a:t> </a:t>
            </a:r>
            <a:r>
              <a:rPr lang="bg-BG" sz="3200" dirty="0"/>
              <a:t>– </a:t>
            </a:r>
            <a:r>
              <a:rPr lang="en-US" sz="3200" dirty="0"/>
              <a:t> type that has a larger date range</a:t>
            </a:r>
            <a:endParaRPr lang="en-US" sz="3200" b="1" dirty="0">
              <a:latin typeface="Consolas" pitchFamily="49" charset="0"/>
              <a:cs typeface="Consolas" pitchFamily="49" charset="0"/>
            </a:endParaRPr>
          </a:p>
          <a:p>
            <a:pPr lvl="1">
              <a:buClr>
                <a:schemeClr val="tx1"/>
              </a:buClr>
            </a:pP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SMALLDATETIME</a:t>
            </a:r>
            <a:r>
              <a:rPr lang="en-US" sz="3200" dirty="0"/>
              <a:t> – date and time (1 minute precision)</a:t>
            </a:r>
          </a:p>
          <a:p>
            <a:pPr lvl="1">
              <a:buClr>
                <a:schemeClr val="tx1"/>
              </a:buClr>
            </a:pPr>
            <a:r>
              <a:rPr lang="en-US" sz="3200" b="1" dirty="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TIME</a:t>
            </a:r>
            <a:r>
              <a:rPr lang="en-US" sz="3200" dirty="0"/>
              <a:t> </a:t>
            </a:r>
            <a:r>
              <a:rPr lang="bg-BG" sz="3200" dirty="0"/>
              <a:t>–</a:t>
            </a:r>
            <a:r>
              <a:rPr lang="en-US" sz="3200" dirty="0"/>
              <a:t> defines a time of a day (no time zone)</a:t>
            </a:r>
          </a:p>
          <a:p>
            <a:pPr lvl="1">
              <a:buClr>
                <a:schemeClr val="tx1"/>
              </a:buClr>
            </a:pPr>
            <a:r>
              <a:rPr lang="en-US" sz="3200" b="1" dirty="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DATETIMEOFFSET</a:t>
            </a:r>
            <a:r>
              <a:rPr lang="bg-BG" sz="3200" dirty="0"/>
              <a:t> –</a:t>
            </a:r>
            <a:r>
              <a:rPr lang="en-US" sz="3200" dirty="0"/>
              <a:t> </a:t>
            </a:r>
            <a:r>
              <a:rPr lang="en-US" dirty="0"/>
              <a:t>date and time that has time zone</a:t>
            </a:r>
            <a:endParaRPr lang="bg-BG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Types in</a:t>
            </a:r>
            <a:r>
              <a:rPr lang="bg-BG" dirty="0"/>
              <a:t> </a:t>
            </a:r>
            <a:r>
              <a:rPr lang="en-US" dirty="0"/>
              <a:t>SQL Server</a:t>
            </a:r>
            <a:endParaRPr lang="bg-BG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2BEE37B0-09A2-4419-AD33-D4EBBF906E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81020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2071C2E-6063-4B29-9446-CBE4B4E30F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18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47AB66D-8387-47EA-B4A8-CBEBFD064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lang="en-US" sz="4000" dirty="0"/>
              <a:t>Date and Time in SQL Server </a:t>
            </a:r>
          </a:p>
        </p:txBody>
      </p:sp>
      <p:pic>
        <p:nvPicPr>
          <p:cNvPr id="1026" name="Picture 2" descr="SQL Date and time data types compare - datetime,datetime2,date,TIME">
            <a:extLst>
              <a:ext uri="{FF2B5EF4-FFF2-40B4-BE49-F238E27FC236}">
                <a16:creationId xmlns:a16="http://schemas.microsoft.com/office/drawing/2014/main" id="{637EEC48-3134-4A59-88F1-C61BF97AE00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46"/>
          <a:stretch/>
        </p:blipFill>
        <p:spPr bwMode="auto">
          <a:xfrm>
            <a:off x="323884" y="1854000"/>
            <a:ext cx="11544231" cy="4140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5670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0C121-2434-4D9B-A54A-E925EFD75BD8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en-US" dirty="0"/>
              <a:t>Database Modelling</a:t>
            </a:r>
          </a:p>
        </p:txBody>
      </p:sp>
      <p:pic>
        <p:nvPicPr>
          <p:cNvPr id="10242" name="Picture 2" descr="Ð¡Ð²ÑÑÐ·Ð°Ð½Ð¾ Ð¸Ð·Ð¾Ð±ÑÐ°Ð¶ÐµÐ½Ð¸Ðµ">
            <a:extLst>
              <a:ext uri="{FF2B5EF4-FFF2-40B4-BE49-F238E27FC236}">
                <a16:creationId xmlns:a16="http://schemas.microsoft.com/office/drawing/2014/main" id="{46988513-1D55-4D43-8BD2-8B974E2949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0771" y="1428629"/>
            <a:ext cx="3248025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ubtitle 3">
            <a:extLst>
              <a:ext uri="{FF2B5EF4-FFF2-40B4-BE49-F238E27FC236}">
                <a16:creationId xmlns:a16="http://schemas.microsoft.com/office/drawing/2014/main" id="{4D0EC102-7B10-48D4-84BA-FB823CB5B486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en-US" dirty="0"/>
              <a:t>Data Definition Using SSMS</a:t>
            </a:r>
          </a:p>
        </p:txBody>
      </p:sp>
    </p:spTree>
    <p:extLst>
      <p:ext uri="{BB962C8B-B14F-4D97-AF65-F5344CB8AC3E}">
        <p14:creationId xmlns:p14="http://schemas.microsoft.com/office/powerpoint/2010/main" val="3477354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Select </a:t>
            </a:r>
            <a:r>
              <a:rPr lang="en-US" sz="3200" b="1" dirty="0">
                <a:solidFill>
                  <a:schemeClr val="bg1"/>
                </a:solidFill>
                <a:latin typeface="Consolas" panose="020B0609020204030204" pitchFamily="49" charset="0"/>
              </a:rPr>
              <a:t>New</a:t>
            </a:r>
            <a:r>
              <a:rPr lang="en-US" sz="320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3200" b="1" dirty="0">
                <a:solidFill>
                  <a:schemeClr val="bg1"/>
                </a:solidFill>
                <a:latin typeface="Consolas" panose="020B0609020204030204" pitchFamily="49" charset="0"/>
              </a:rPr>
              <a:t>Database</a:t>
            </a:r>
            <a:r>
              <a:rPr lang="en-US" sz="3200" b="1" dirty="0">
                <a:solidFill>
                  <a:schemeClr val="bg1"/>
                </a:solidFill>
              </a:rPr>
              <a:t> </a:t>
            </a:r>
            <a:r>
              <a:rPr lang="en-US" sz="3200" dirty="0"/>
              <a:t>from the </a:t>
            </a:r>
            <a:r>
              <a:rPr lang="en-US" sz="3200" b="1" dirty="0">
                <a:solidFill>
                  <a:schemeClr val="bg1"/>
                </a:solidFill>
              </a:rPr>
              <a:t>context</a:t>
            </a:r>
            <a:r>
              <a:rPr lang="en-US" sz="3200" dirty="0">
                <a:solidFill>
                  <a:schemeClr val="accent1"/>
                </a:solidFill>
              </a:rPr>
              <a:t> </a:t>
            </a:r>
            <a:r>
              <a:rPr lang="en-US" sz="3200" b="1" dirty="0">
                <a:solidFill>
                  <a:schemeClr val="bg1"/>
                </a:solidFill>
              </a:rPr>
              <a:t>menu</a:t>
            </a:r>
            <a:r>
              <a:rPr lang="en-US" sz="3200" dirty="0">
                <a:solidFill>
                  <a:schemeClr val="accent1"/>
                </a:solidFill>
              </a:rPr>
              <a:t> </a:t>
            </a:r>
            <a:r>
              <a:rPr lang="en-US" sz="3200" dirty="0"/>
              <a:t>under "</a:t>
            </a:r>
            <a:r>
              <a:rPr lang="en-US" sz="3200" b="1" dirty="0">
                <a:latin typeface="Consolas" panose="020B0609020204030204" pitchFamily="49" charset="0"/>
              </a:rPr>
              <a:t>Databases</a:t>
            </a:r>
            <a:r>
              <a:rPr lang="en-US" sz="3200" dirty="0"/>
              <a:t>"</a:t>
            </a:r>
            <a:endParaRPr lang="bg-BG" sz="3200" dirty="0"/>
          </a:p>
          <a:p>
            <a:endParaRPr lang="bg-BG" sz="3200" dirty="0"/>
          </a:p>
          <a:p>
            <a:endParaRPr lang="bg-BG" sz="3200" dirty="0"/>
          </a:p>
          <a:p>
            <a:endParaRPr lang="bg-BG" sz="3200" dirty="0"/>
          </a:p>
          <a:p>
            <a:endParaRPr lang="bg-BG" sz="3200" dirty="0"/>
          </a:p>
          <a:p>
            <a:endParaRPr lang="bg-BG" sz="3200" dirty="0"/>
          </a:p>
          <a:p>
            <a:endParaRPr lang="bg-BG" sz="3200" dirty="0"/>
          </a:p>
          <a:p>
            <a:r>
              <a:rPr lang="en-US" sz="3200" dirty="0"/>
              <a:t>You may need to </a:t>
            </a:r>
            <a:r>
              <a:rPr lang="en-US" sz="3200" b="1" dirty="0">
                <a:solidFill>
                  <a:schemeClr val="bg1"/>
                </a:solidFill>
                <a:latin typeface="Consolas" panose="020B0609020204030204" pitchFamily="49" charset="0"/>
              </a:rPr>
              <a:t>Refresh</a:t>
            </a:r>
            <a:r>
              <a:rPr lang="en-US" sz="3200" dirty="0">
                <a:solidFill>
                  <a:schemeClr val="accent1"/>
                </a:solidFill>
              </a:rPr>
              <a:t> </a:t>
            </a:r>
            <a:r>
              <a:rPr lang="en-US" sz="3200" b="1" dirty="0">
                <a:solidFill>
                  <a:schemeClr val="bg1"/>
                </a:solidFill>
                <a:latin typeface="Consolas" panose="020B0609020204030204" pitchFamily="49" charset="0"/>
              </a:rPr>
              <a:t>[F5]</a:t>
            </a:r>
            <a:r>
              <a:rPr lang="en-US" sz="3200" b="1" dirty="0">
                <a:solidFill>
                  <a:schemeClr val="bg1"/>
                </a:solidFill>
              </a:rPr>
              <a:t> </a:t>
            </a:r>
            <a:r>
              <a:rPr lang="en-US" sz="3200" dirty="0"/>
              <a:t>to see the results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 New Database</a:t>
            </a:r>
            <a:endParaRPr lang="bg-BG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3247" y="2487955"/>
            <a:ext cx="3238085" cy="2661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Arrow: Right 4"/>
          <p:cNvSpPr/>
          <p:nvPr/>
        </p:nvSpPr>
        <p:spPr>
          <a:xfrm>
            <a:off x="4174974" y="3556867"/>
            <a:ext cx="705468" cy="523175"/>
          </a:xfrm>
          <a:prstGeom prst="rightArrow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5054994" y="2321222"/>
            <a:ext cx="6649378" cy="29531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Slide Number">
            <a:extLst>
              <a:ext uri="{FF2B5EF4-FFF2-40B4-BE49-F238E27FC236}">
                <a16:creationId xmlns:a16="http://schemas.microsoft.com/office/drawing/2014/main" id="{655D8E97-C32F-4CFC-953D-8E37212784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56781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Right-click f</a:t>
            </a:r>
            <a:r>
              <a:rPr lang="en-US" dirty="0"/>
              <a:t>rom the </a:t>
            </a:r>
            <a:r>
              <a:rPr lang="en-US" b="1" dirty="0">
                <a:solidFill>
                  <a:schemeClr val="bg1"/>
                </a:solidFill>
              </a:rPr>
              <a:t>context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</a:rPr>
              <a:t>menu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under "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New</a:t>
            </a:r>
            <a:r>
              <a:rPr lang="en-US" dirty="0"/>
              <a:t>" inside the desired database → "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Table</a:t>
            </a:r>
            <a:r>
              <a:rPr lang="en-US" dirty="0"/>
              <a:t>"</a:t>
            </a:r>
            <a:endParaRPr lang="bg-BG" dirty="0"/>
          </a:p>
          <a:p>
            <a:endParaRPr lang="bg-BG" dirty="0"/>
          </a:p>
          <a:p>
            <a:endParaRPr lang="bg-BG" dirty="0"/>
          </a:p>
          <a:p>
            <a:endParaRPr lang="bg-BG" dirty="0"/>
          </a:p>
          <a:p>
            <a:endParaRPr lang="bg-BG" dirty="0"/>
          </a:p>
          <a:p>
            <a:endParaRPr lang="bg-BG" dirty="0"/>
          </a:p>
          <a:p>
            <a:endParaRPr lang="bg-BG" dirty="0"/>
          </a:p>
          <a:p>
            <a:r>
              <a:rPr lang="en-US" dirty="0"/>
              <a:t>Table name can be set from its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Properties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[F4]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dirty="0"/>
              <a:t>or when it is </a:t>
            </a:r>
            <a:r>
              <a:rPr lang="en-US" b="1" dirty="0">
                <a:solidFill>
                  <a:schemeClr val="bg1"/>
                </a:solidFill>
              </a:rPr>
              <a:t>saved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Tables</a:t>
            </a:r>
            <a:endParaRPr lang="bg-BG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786000" y="2517259"/>
            <a:ext cx="4877481" cy="298174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Arrow: Right 6"/>
          <p:cNvSpPr/>
          <p:nvPr/>
        </p:nvSpPr>
        <p:spPr>
          <a:xfrm>
            <a:off x="5607507" y="3293557"/>
            <a:ext cx="665767" cy="48006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D0E2CC8-B5E1-4FB5-85D5-0D3B1B29C6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02377" y="2990978"/>
            <a:ext cx="4905656" cy="108522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Slide Number">
            <a:extLst>
              <a:ext uri="{FF2B5EF4-FFF2-40B4-BE49-F238E27FC236}">
                <a16:creationId xmlns:a16="http://schemas.microsoft.com/office/drawing/2014/main" id="{5E4E4C11-961D-4D30-A6DE-26308EEEC1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29245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>
                <a:solidFill>
                  <a:schemeClr val="bg1"/>
                </a:solidFill>
              </a:rPr>
              <a:t>Primary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</a:rPr>
              <a:t>Key</a:t>
            </a:r>
            <a:r>
              <a:rPr lang="en-US" dirty="0"/>
              <a:t> is used to uniquely identify and index records</a:t>
            </a:r>
          </a:p>
          <a:p>
            <a:r>
              <a:rPr lang="en-US" dirty="0"/>
              <a:t>Setting </a:t>
            </a:r>
            <a:r>
              <a:rPr lang="en-US" b="1" dirty="0">
                <a:solidFill>
                  <a:schemeClr val="bg1"/>
                </a:solidFill>
              </a:rPr>
              <a:t>primary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</a:rPr>
              <a:t>key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on a column: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Tables</a:t>
            </a:r>
            <a:endParaRPr lang="bg-BG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3083344" y="3429000"/>
            <a:ext cx="6025312" cy="159493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Slide Number">
            <a:extLst>
              <a:ext uri="{FF2B5EF4-FFF2-40B4-BE49-F238E27FC236}">
                <a16:creationId xmlns:a16="http://schemas.microsoft.com/office/drawing/2014/main" id="{F28FB2BD-AA97-4F2B-B646-50650A98CC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27475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Identity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dirty="0"/>
              <a:t>– The value in the column</a:t>
            </a:r>
            <a:r>
              <a:rPr lang="bg-BG" dirty="0"/>
              <a:t> </a:t>
            </a:r>
            <a:r>
              <a:rPr lang="en-US" dirty="0"/>
              <a:t>is automatically </a:t>
            </a:r>
            <a:br>
              <a:rPr lang="en-US" dirty="0"/>
            </a:br>
            <a:r>
              <a:rPr lang="en-US" dirty="0"/>
              <a:t>incremented when a new record is added</a:t>
            </a:r>
            <a:endParaRPr lang="bg-BG" dirty="0"/>
          </a:p>
          <a:p>
            <a:pPr lvl="1">
              <a:buClr>
                <a:schemeClr val="tx1"/>
              </a:buClr>
            </a:pPr>
            <a:r>
              <a:rPr lang="en-US" dirty="0"/>
              <a:t>These values cannot be assigned manually</a:t>
            </a:r>
          </a:p>
          <a:p>
            <a:pPr lvl="1"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Identity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</a:rPr>
              <a:t>Seed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– the initial number (1 by default)</a:t>
            </a:r>
            <a:endParaRPr lang="bg-BG" dirty="0"/>
          </a:p>
          <a:p>
            <a:pPr lvl="1"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Identity</a:t>
            </a:r>
            <a:r>
              <a:rPr lang="bg-BG" dirty="0">
                <a:solidFill>
                  <a:schemeClr val="accent1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</a:rPr>
              <a:t>Increment</a:t>
            </a:r>
            <a:r>
              <a:rPr lang="en-US" b="1" dirty="0">
                <a:solidFill>
                  <a:schemeClr val="accent1"/>
                </a:solidFill>
              </a:rPr>
              <a:t> </a:t>
            </a:r>
            <a:r>
              <a:rPr lang="en-US" dirty="0"/>
              <a:t>– how much each consecutive value </a:t>
            </a:r>
            <a:br>
              <a:rPr lang="bg-BG" dirty="0"/>
            </a:br>
            <a:r>
              <a:rPr lang="en-US" dirty="0"/>
              <a:t>is incremented</a:t>
            </a:r>
            <a:endParaRPr lang="bg-BG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Tables</a:t>
            </a:r>
            <a:endParaRPr lang="bg-BG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4929C865-6BEA-48DA-847D-D9CA1DBDAF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8365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Setting an</a:t>
            </a:r>
            <a:r>
              <a:rPr lang="bg-BG" dirty="0"/>
              <a:t> </a:t>
            </a:r>
            <a:r>
              <a:rPr lang="en-US" dirty="0"/>
              <a:t>identity</a:t>
            </a:r>
            <a:r>
              <a:rPr lang="bg-BG" dirty="0"/>
              <a:t> </a:t>
            </a:r>
            <a:r>
              <a:rPr lang="en-US" dirty="0"/>
              <a:t>through the</a:t>
            </a:r>
            <a:r>
              <a:rPr lang="bg-BG" dirty="0"/>
              <a:t> </a:t>
            </a:r>
            <a:r>
              <a:rPr lang="en-US" dirty="0"/>
              <a:t>"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Column Properties</a:t>
            </a:r>
            <a:r>
              <a:rPr lang="en-US" dirty="0"/>
              <a:t>" window: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Tables</a:t>
            </a:r>
            <a:endParaRPr lang="bg-BG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42166" y="2484000"/>
            <a:ext cx="3907668" cy="371143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Slide Number">
            <a:extLst>
              <a:ext uri="{FF2B5EF4-FFF2-40B4-BE49-F238E27FC236}">
                <a16:creationId xmlns:a16="http://schemas.microsoft.com/office/drawing/2014/main" id="{1A9D0B50-6A8F-4842-8E93-D96B69514D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60803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We can </a:t>
            </a:r>
            <a:r>
              <a:rPr lang="en-US" b="1" dirty="0">
                <a:solidFill>
                  <a:schemeClr val="bg1"/>
                </a:solidFill>
              </a:rPr>
              <a:t>add</a:t>
            </a:r>
            <a:r>
              <a:rPr lang="en-US" dirty="0"/>
              <a:t>,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</a:rPr>
              <a:t>modify</a:t>
            </a:r>
            <a:r>
              <a:rPr lang="en-US" dirty="0"/>
              <a:t> and </a:t>
            </a:r>
            <a:r>
              <a:rPr lang="en-US" b="1" dirty="0">
                <a:solidFill>
                  <a:schemeClr val="bg1"/>
                </a:solidFill>
              </a:rPr>
              <a:t>read</a:t>
            </a:r>
            <a:r>
              <a:rPr lang="en-US" dirty="0"/>
              <a:t> records with Management Studio</a:t>
            </a:r>
          </a:p>
          <a:p>
            <a:r>
              <a:rPr lang="en-US" dirty="0"/>
              <a:t>To insert or edit a record, click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Edit</a:t>
            </a:r>
            <a:r>
              <a:rPr lang="en-US" dirty="0"/>
              <a:t> from the context menu</a:t>
            </a:r>
          </a:p>
          <a:p>
            <a:endParaRPr lang="en-US" dirty="0"/>
          </a:p>
          <a:p>
            <a:endParaRPr lang="bg-BG" dirty="0"/>
          </a:p>
          <a:p>
            <a:endParaRPr lang="bg-BG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Storing and Retrieving Data</a:t>
            </a:r>
            <a:endParaRPr lang="bg-BG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291000" y="2467964"/>
            <a:ext cx="4029637" cy="41344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Arrow: Right 7"/>
          <p:cNvSpPr/>
          <p:nvPr/>
        </p:nvSpPr>
        <p:spPr>
          <a:xfrm>
            <a:off x="4431125" y="4379940"/>
            <a:ext cx="625251" cy="519013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76382" y="2841559"/>
            <a:ext cx="6376648" cy="30767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6336970" y="6089557"/>
            <a:ext cx="5416060" cy="578134"/>
          </a:xfrm>
          <a:prstGeom prst="wedgeRoundRectCallout">
            <a:avLst>
              <a:gd name="adj1" fmla="val -52635"/>
              <a:gd name="adj2" fmla="val -36852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chemeClr val="tx1"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Enter data at the end to add a new row</a:t>
            </a:r>
            <a:endParaRPr lang="bg-BG" sz="24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549E9FF8-2FEF-46B8-890B-A68A7FD0D2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61447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To retrieve records, click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Select</a:t>
            </a:r>
            <a:r>
              <a:rPr lang="en-US" dirty="0"/>
              <a:t> from the context menu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received information can be customized with </a:t>
            </a:r>
            <a:r>
              <a:rPr lang="en-US" b="1" dirty="0">
                <a:solidFill>
                  <a:schemeClr val="bg1"/>
                </a:solidFill>
              </a:rPr>
              <a:t>SQL queries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Storing and Retrieving Data</a:t>
            </a:r>
            <a:endParaRPr lang="bg-BG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696000" y="1763191"/>
            <a:ext cx="3839111" cy="41344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Arrow: Right 7"/>
          <p:cNvSpPr/>
          <p:nvPr/>
        </p:nvSpPr>
        <p:spPr>
          <a:xfrm>
            <a:off x="4821746" y="3567113"/>
            <a:ext cx="668643" cy="526584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46459" y="2143641"/>
            <a:ext cx="6262039" cy="33735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Slide Number">
            <a:extLst>
              <a:ext uri="{FF2B5EF4-FFF2-40B4-BE49-F238E27FC236}">
                <a16:creationId xmlns:a16="http://schemas.microsoft.com/office/drawing/2014/main" id="{75B53894-643D-4A8B-9015-76D33D45A6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86875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You can change the properties of a table after its creation</a:t>
            </a:r>
          </a:p>
          <a:p>
            <a:r>
              <a:rPr lang="en-US" dirty="0"/>
              <a:t>Select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Design</a:t>
            </a:r>
            <a:r>
              <a:rPr lang="en-US" dirty="0"/>
              <a:t> from the table's context menu</a:t>
            </a:r>
          </a:p>
          <a:p>
            <a:endParaRPr lang="bg-BG" dirty="0"/>
          </a:p>
          <a:p>
            <a:endParaRPr lang="bg-BG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Altering Tables</a:t>
            </a:r>
            <a:endParaRPr lang="bg-BG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653715" y="2574000"/>
            <a:ext cx="4005921" cy="378723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Arrow: Right 7"/>
          <p:cNvSpPr/>
          <p:nvPr/>
        </p:nvSpPr>
        <p:spPr>
          <a:xfrm>
            <a:off x="5179319" y="4162818"/>
            <a:ext cx="942534" cy="60960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66605" y="3502741"/>
            <a:ext cx="5234269" cy="167780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7134177" y="5280973"/>
            <a:ext cx="4867421" cy="447829"/>
          </a:xfrm>
          <a:prstGeom prst="wedgeRoundRectCallout">
            <a:avLst>
              <a:gd name="adj1" fmla="val -53544"/>
              <a:gd name="adj2" fmla="val -46734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chemeClr val="tx1"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Changes cannot conflict with existing rules!</a:t>
            </a:r>
            <a:endParaRPr lang="bg-BG" sz="20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DF48C573-F7B1-4136-BF83-DBB08B3338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78005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EA1F5-4473-4FB6-88E6-71FDDFFA7169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en-US" dirty="0"/>
              <a:t>Basic SQL Queries</a:t>
            </a:r>
          </a:p>
        </p:txBody>
      </p:sp>
      <p:pic>
        <p:nvPicPr>
          <p:cNvPr id="4100" name="Picture 4" descr="Ð ÐµÐ·ÑÐ»ÑÐ°Ñ Ñ Ð¸Ð·Ð¾Ð±ÑÐ°Ð¶ÐµÐ½Ð¸Ðµ Ð·Ð° query png">
            <a:extLst>
              <a:ext uri="{FF2B5EF4-FFF2-40B4-BE49-F238E27FC236}">
                <a16:creationId xmlns:a16="http://schemas.microsoft.com/office/drawing/2014/main" id="{B4F84FFF-E90B-499C-8241-2AEA2FA771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6982" y="1534178"/>
            <a:ext cx="2498035" cy="24980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ubtitle 3">
            <a:extLst>
              <a:ext uri="{FF2B5EF4-FFF2-40B4-BE49-F238E27FC236}">
                <a16:creationId xmlns:a16="http://schemas.microsoft.com/office/drawing/2014/main" id="{6CCBD716-90AA-43B0-A954-B25208E24605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>
          <a:xfrm>
            <a:off x="696000" y="6145521"/>
            <a:ext cx="10961783" cy="785367"/>
          </a:xfrm>
        </p:spPr>
        <p:txBody>
          <a:bodyPr/>
          <a:lstStyle/>
          <a:p>
            <a:r>
              <a:rPr lang="en-US" dirty="0"/>
              <a:t>Data Definition Using T-SQL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0290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We can communicate with the database engine using SQL</a:t>
            </a:r>
          </a:p>
          <a:p>
            <a:r>
              <a:rPr lang="en-US" dirty="0"/>
              <a:t>Queries provide greater </a:t>
            </a:r>
            <a:r>
              <a:rPr lang="en-US" b="1" dirty="0">
                <a:solidFill>
                  <a:schemeClr val="bg1"/>
                </a:solidFill>
              </a:rPr>
              <a:t>control</a:t>
            </a:r>
            <a:r>
              <a:rPr lang="en-US" dirty="0"/>
              <a:t> and </a:t>
            </a:r>
            <a:r>
              <a:rPr lang="en-US" b="1" dirty="0">
                <a:solidFill>
                  <a:schemeClr val="bg1"/>
                </a:solidFill>
              </a:rPr>
              <a:t>flexibility</a:t>
            </a:r>
          </a:p>
          <a:p>
            <a:r>
              <a:rPr lang="en-US" dirty="0"/>
              <a:t>To create a database using SQL:</a:t>
            </a:r>
            <a:endParaRPr lang="bg-BG" dirty="0"/>
          </a:p>
          <a:p>
            <a:endParaRPr lang="bg-BG" dirty="0"/>
          </a:p>
          <a:p>
            <a:endParaRPr lang="en-US" dirty="0"/>
          </a:p>
          <a:p>
            <a:r>
              <a:rPr lang="en-US" dirty="0"/>
              <a:t>SQL keywords are traditionally </a:t>
            </a:r>
            <a:r>
              <a:rPr lang="en-US" b="1" dirty="0">
                <a:solidFill>
                  <a:schemeClr val="bg1"/>
                </a:solidFill>
              </a:rPr>
              <a:t>capitalized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Queries</a:t>
            </a:r>
            <a:endParaRPr lang="bg-BG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741000" y="3535360"/>
            <a:ext cx="5895000" cy="585673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sz="3200" b="1" noProof="1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CREATE</a:t>
            </a:r>
            <a:r>
              <a:rPr lang="en-US" sz="3200" b="1" noProof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en-US" sz="3200" b="1" noProof="1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DATABASE</a:t>
            </a:r>
            <a:r>
              <a:rPr lang="en-US" sz="3200" b="1" noProof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en-US" sz="3200" b="1" noProof="1">
                <a:latin typeface="Consolas" panose="020B0609020204030204" pitchFamily="49" charset="0"/>
                <a:cs typeface="Arial" panose="020B0604020202020204" pitchFamily="34" charset="0"/>
              </a:rPr>
              <a:t>Employees</a:t>
            </a:r>
          </a:p>
        </p:txBody>
      </p:sp>
      <p:sp>
        <p:nvSpPr>
          <p:cNvPr id="6" name="AutoShape 5"/>
          <p:cNvSpPr>
            <a:spLocks noChangeArrowheads="1"/>
          </p:cNvSpPr>
          <p:nvPr/>
        </p:nvSpPr>
        <p:spPr bwMode="auto">
          <a:xfrm>
            <a:off x="6636000" y="2907358"/>
            <a:ext cx="2465363" cy="550363"/>
          </a:xfrm>
          <a:prstGeom prst="wedgeRoundRectCallout">
            <a:avLst>
              <a:gd name="adj1" fmla="val -56556"/>
              <a:gd name="adj2" fmla="val 49032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chemeClr val="tx1"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Database name</a:t>
            </a:r>
            <a:endParaRPr lang="bg-BG" sz="24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770D8A45-C904-4A07-9C5B-947B618F0A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98906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Table Creation in SQL</a:t>
            </a:r>
            <a:endParaRPr lang="bg-BG" dirty="0"/>
          </a:p>
        </p:txBody>
      </p:sp>
      <p:sp>
        <p:nvSpPr>
          <p:cNvPr id="6" name="Content Placeholder 5"/>
          <p:cNvSpPr>
            <a:spLocks noGrp="1" noChangeArrowheads="1"/>
          </p:cNvSpPr>
          <p:nvPr>
            <p:ph idx="4294967295"/>
          </p:nvPr>
        </p:nvSpPr>
        <p:spPr bwMode="auto">
          <a:xfrm>
            <a:off x="2419644" y="2096959"/>
            <a:ext cx="7315200" cy="3668713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noProof="1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CREATE</a:t>
            </a:r>
            <a:r>
              <a:rPr lang="en-US" sz="3200" b="1" noProof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en-US" sz="3200" b="1" noProof="1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TABLE</a:t>
            </a:r>
            <a:r>
              <a:rPr lang="en-US" sz="3200" b="1" noProof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en-US" sz="32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People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</a:t>
            </a:r>
            <a:endParaRPr lang="bg-BG" sz="3200" b="1" noProof="1">
              <a:solidFill>
                <a:schemeClr val="tx2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32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</a:t>
            </a:r>
            <a:r>
              <a:rPr lang="en-US" sz="32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Id </a:t>
            </a:r>
            <a:r>
              <a:rPr lang="en-US" sz="3200" b="1" noProof="1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INT NOT NULL</a:t>
            </a:r>
            <a:r>
              <a:rPr lang="en-US" sz="32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,</a:t>
            </a:r>
            <a:endParaRPr lang="bg-BG" sz="3200" b="1" noProof="1">
              <a:solidFill>
                <a:schemeClr val="tx2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32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</a:t>
            </a:r>
            <a:r>
              <a:rPr lang="en-US" sz="32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Email </a:t>
            </a:r>
            <a:r>
              <a:rPr lang="en-US" sz="3200" b="1" noProof="1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VARCHAR(50) NOT NULL</a:t>
            </a:r>
            <a:r>
              <a:rPr lang="en-US" sz="32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,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32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</a:t>
            </a:r>
            <a:r>
              <a:rPr lang="en-US" sz="32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FirstName </a:t>
            </a:r>
            <a:r>
              <a:rPr lang="en-US" sz="3200" b="1" noProof="1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VARCHAR(50)</a:t>
            </a:r>
            <a:r>
              <a:rPr lang="en-US" sz="32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,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32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</a:t>
            </a:r>
            <a:r>
              <a:rPr lang="en-US" sz="32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LastName </a:t>
            </a:r>
            <a:r>
              <a:rPr lang="en-US" sz="3200" b="1" noProof="1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VARCHAR(50)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6" name="Rectangle: Rounded Corners 12"/>
          <p:cNvSpPr/>
          <p:nvPr/>
        </p:nvSpPr>
        <p:spPr>
          <a:xfrm>
            <a:off x="2894643" y="4678624"/>
            <a:ext cx="1941194" cy="567347"/>
          </a:xfrm>
          <a:prstGeom prst="roundRect">
            <a:avLst>
              <a:gd name="adj" fmla="val 5385"/>
            </a:avLst>
          </a:prstGeom>
          <a:noFill/>
          <a:ln w="571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</a:endParaRPr>
          </a:p>
        </p:txBody>
      </p:sp>
      <p:sp>
        <p:nvSpPr>
          <p:cNvPr id="19" name="AutoShape 5"/>
          <p:cNvSpPr>
            <a:spLocks noChangeArrowheads="1"/>
          </p:cNvSpPr>
          <p:nvPr/>
        </p:nvSpPr>
        <p:spPr bwMode="auto">
          <a:xfrm>
            <a:off x="7716000" y="2950422"/>
            <a:ext cx="2881869" cy="523999"/>
          </a:xfrm>
          <a:prstGeom prst="wedgeRoundRectCallout">
            <a:avLst>
              <a:gd name="adj1" fmla="val -54636"/>
              <a:gd name="adj2" fmla="val 48504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chemeClr val="tx1"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Custom attributes</a:t>
            </a:r>
            <a:endParaRPr lang="bg-BG" sz="24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0" name="AutoShape 5"/>
          <p:cNvSpPr>
            <a:spLocks noChangeArrowheads="1"/>
          </p:cNvSpPr>
          <p:nvPr/>
        </p:nvSpPr>
        <p:spPr bwMode="auto">
          <a:xfrm>
            <a:off x="7626000" y="5337694"/>
            <a:ext cx="1801924" cy="522188"/>
          </a:xfrm>
          <a:prstGeom prst="wedgeRoundRectCallout">
            <a:avLst>
              <a:gd name="adj1" fmla="val -64692"/>
              <a:gd name="adj2" fmla="val -45332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chemeClr val="tx1"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type</a:t>
            </a:r>
            <a:endParaRPr lang="bg-BG" sz="24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1" name="AutoShape 5"/>
          <p:cNvSpPr>
            <a:spLocks noChangeArrowheads="1"/>
          </p:cNvSpPr>
          <p:nvPr/>
        </p:nvSpPr>
        <p:spPr bwMode="auto">
          <a:xfrm>
            <a:off x="3441000" y="5362492"/>
            <a:ext cx="2492717" cy="497996"/>
          </a:xfrm>
          <a:prstGeom prst="wedgeRoundRectCallout">
            <a:avLst>
              <a:gd name="adj1" fmla="val -57495"/>
              <a:gd name="adj2" fmla="val -42505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chemeClr val="tx1"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Column name</a:t>
            </a:r>
            <a:endParaRPr lang="bg-BG" sz="24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2" name="Rectangle: Rounded Corners 12">
            <a:extLst>
              <a:ext uri="{FF2B5EF4-FFF2-40B4-BE49-F238E27FC236}">
                <a16:creationId xmlns:a16="http://schemas.microsoft.com/office/drawing/2014/main" id="{78DEEA80-B426-444B-98F3-3964F9E4607C}"/>
              </a:ext>
            </a:extLst>
          </p:cNvPr>
          <p:cNvSpPr/>
          <p:nvPr/>
        </p:nvSpPr>
        <p:spPr>
          <a:xfrm>
            <a:off x="4950461" y="4678625"/>
            <a:ext cx="2529839" cy="567347"/>
          </a:xfrm>
          <a:prstGeom prst="roundRect">
            <a:avLst>
              <a:gd name="adj" fmla="val 5385"/>
            </a:avLst>
          </a:prstGeom>
          <a:noFill/>
          <a:ln w="571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</a:endParaRPr>
          </a:p>
        </p:txBody>
      </p:sp>
      <p:sp>
        <p:nvSpPr>
          <p:cNvPr id="23" name="Rectangle: Rounded Corners 12">
            <a:extLst>
              <a:ext uri="{FF2B5EF4-FFF2-40B4-BE49-F238E27FC236}">
                <a16:creationId xmlns:a16="http://schemas.microsoft.com/office/drawing/2014/main" id="{F9297EF3-D174-4ED7-B594-2C3D41A29471}"/>
              </a:ext>
            </a:extLst>
          </p:cNvPr>
          <p:cNvSpPr/>
          <p:nvPr/>
        </p:nvSpPr>
        <p:spPr>
          <a:xfrm>
            <a:off x="6912293" y="3662840"/>
            <a:ext cx="1944688" cy="497870"/>
          </a:xfrm>
          <a:prstGeom prst="roundRect">
            <a:avLst>
              <a:gd name="adj" fmla="val 5385"/>
            </a:avLst>
          </a:prstGeom>
          <a:noFill/>
          <a:ln w="571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</a:endParaRPr>
          </a:p>
        </p:txBody>
      </p:sp>
      <p:sp>
        <p:nvSpPr>
          <p:cNvPr id="24" name="Rectangle: Rounded Corners 12">
            <a:extLst>
              <a:ext uri="{FF2B5EF4-FFF2-40B4-BE49-F238E27FC236}">
                <a16:creationId xmlns:a16="http://schemas.microsoft.com/office/drawing/2014/main" id="{9DA28A83-547E-448D-9FBA-384C606E5B39}"/>
              </a:ext>
            </a:extLst>
          </p:cNvPr>
          <p:cNvSpPr/>
          <p:nvPr/>
        </p:nvSpPr>
        <p:spPr>
          <a:xfrm>
            <a:off x="5369560" y="2096718"/>
            <a:ext cx="1508760" cy="567347"/>
          </a:xfrm>
          <a:prstGeom prst="roundRect">
            <a:avLst>
              <a:gd name="adj" fmla="val 5385"/>
            </a:avLst>
          </a:prstGeom>
          <a:noFill/>
          <a:ln w="571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</a:endParaRPr>
          </a:p>
        </p:txBody>
      </p:sp>
      <p:sp>
        <p:nvSpPr>
          <p:cNvPr id="18" name="AutoShape 5"/>
          <p:cNvSpPr>
            <a:spLocks noChangeArrowheads="1"/>
          </p:cNvSpPr>
          <p:nvPr/>
        </p:nvSpPr>
        <p:spPr bwMode="auto">
          <a:xfrm>
            <a:off x="6409145" y="1539000"/>
            <a:ext cx="2433710" cy="441198"/>
          </a:xfrm>
          <a:prstGeom prst="wedgeRoundRectCallout">
            <a:avLst>
              <a:gd name="adj1" fmla="val -55731"/>
              <a:gd name="adj2" fmla="val 42734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chemeClr val="tx1"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Table name</a:t>
            </a:r>
            <a:endParaRPr lang="bg-BG" sz="24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Slide Number">
            <a:extLst>
              <a:ext uri="{FF2B5EF4-FFF2-40B4-BE49-F238E27FC236}">
                <a16:creationId xmlns:a16="http://schemas.microsoft.com/office/drawing/2014/main" id="{9A243394-A326-4113-AEE2-D5BEC75E44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30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59548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1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To get all records from a table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You can limit the number of rows and number of columns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Retrieve Records in SQL</a:t>
            </a:r>
            <a:endParaRPr lang="bg-BG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96000" y="1877696"/>
            <a:ext cx="5490000" cy="585673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sz="3200" b="1" noProof="1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SELECT</a:t>
            </a:r>
            <a:r>
              <a:rPr lang="en-US" sz="3200" b="1" noProof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en-US" sz="32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*</a:t>
            </a:r>
            <a:r>
              <a:rPr lang="en-US" sz="3200" b="1" noProof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en-US" sz="3200" b="1" noProof="1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FROM</a:t>
            </a:r>
            <a:r>
              <a:rPr lang="en-US" sz="3200" b="1" noProof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en-US" sz="3200" b="1" noProof="1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Employees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766035" y="3969987"/>
            <a:ext cx="7924800" cy="1126462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sz="3200" b="1" noProof="1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SELECT TOP (5) </a:t>
            </a:r>
            <a:r>
              <a:rPr lang="en-US" sz="3200" b="1" noProof="1">
                <a:latin typeface="Consolas" panose="020B0609020204030204" pitchFamily="49" charset="0"/>
                <a:cs typeface="Arial" panose="020B0604020202020204" pitchFamily="34" charset="0"/>
              </a:rPr>
              <a:t>FirstName, LastName</a:t>
            </a:r>
          </a:p>
          <a:p>
            <a:pPr>
              <a:lnSpc>
                <a:spcPct val="105000"/>
              </a:lnSpc>
            </a:pPr>
            <a:r>
              <a:rPr lang="en-US" sz="3200" b="1" noProof="1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FROM </a:t>
            </a:r>
            <a:r>
              <a:rPr lang="en-US" sz="3200" b="1" noProof="1">
                <a:latin typeface="Consolas" panose="020B0609020204030204" pitchFamily="49" charset="0"/>
                <a:cs typeface="Arial" panose="020B0604020202020204" pitchFamily="34" charset="0"/>
              </a:rPr>
              <a:t>Employees</a:t>
            </a:r>
          </a:p>
        </p:txBody>
      </p:sp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6438434" y="3384000"/>
            <a:ext cx="2642295" cy="524482"/>
          </a:xfrm>
          <a:prstGeom prst="wedgeRoundRectCallout">
            <a:avLst>
              <a:gd name="adj1" fmla="val -59453"/>
              <a:gd name="adj2" fmla="val 46984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chemeClr val="tx1"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List of columns</a:t>
            </a:r>
            <a:endParaRPr lang="bg-BG" sz="24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AutoShape 5"/>
          <p:cNvSpPr>
            <a:spLocks noChangeArrowheads="1"/>
          </p:cNvSpPr>
          <p:nvPr/>
        </p:nvSpPr>
        <p:spPr bwMode="auto">
          <a:xfrm>
            <a:off x="690409" y="3389652"/>
            <a:ext cx="2766049" cy="524482"/>
          </a:xfrm>
          <a:prstGeom prst="wedgeRoundRectCallout">
            <a:avLst>
              <a:gd name="adj1" fmla="val 56495"/>
              <a:gd name="adj2" fmla="val 41935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chemeClr val="tx1"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Number of records</a:t>
            </a:r>
            <a:endParaRPr lang="bg-BG" sz="24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1DB1D78C-D430-44BC-8C22-DD6655421C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31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72155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E49D336-45B6-44D3-97C4-E28F8DEA20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69725" y="1656226"/>
            <a:ext cx="7581212" cy="4772369"/>
          </a:xfrm>
        </p:spPr>
        <p:txBody>
          <a:bodyPr/>
          <a:lstStyle>
            <a:lvl1pPr marL="514350" indent="-514350"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</a:defRPr>
            </a:lvl1pPr>
            <a:lvl2pPr marL="112393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2pPr>
            <a:lvl3pPr marL="1733520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3pPr>
            <a:lvl4pPr marL="234310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4pPr>
            <a:lvl5pPr marL="2952689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…</a:t>
            </a:r>
          </a:p>
          <a:p>
            <a:pPr lvl="0"/>
            <a:r>
              <a:rPr lang="en-GB" dirty="0"/>
              <a:t>…</a:t>
            </a:r>
            <a:endParaRPr lang="en-US" dirty="0"/>
          </a:p>
          <a:p>
            <a:pPr lvl="0"/>
            <a:r>
              <a:rPr lang="en-GB" dirty="0"/>
              <a:t>…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Summary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BAFE522-EB7D-4931-A015-9A7E8A98517D}"/>
              </a:ext>
            </a:extLst>
          </p:cNvPr>
          <p:cNvGrpSpPr/>
          <p:nvPr/>
        </p:nvGrpSpPr>
        <p:grpSpPr>
          <a:xfrm>
            <a:off x="191942" y="1419750"/>
            <a:ext cx="8632995" cy="5300339"/>
            <a:chOff x="472011" y="1508786"/>
            <a:chExt cx="3799787" cy="4865561"/>
          </a:xfrm>
        </p:grpSpPr>
        <p:sp>
          <p:nvSpPr>
            <p:cNvPr id="10" name="Rounded Rectangle 10">
              <a:extLst>
                <a:ext uri="{FF2B5EF4-FFF2-40B4-BE49-F238E27FC236}">
                  <a16:creationId xmlns:a16="http://schemas.microsoft.com/office/drawing/2014/main" id="{18F78F23-3D09-4B63-8DF9-D49CFBB145EE}"/>
                </a:ext>
              </a:extLst>
            </p:cNvPr>
            <p:cNvSpPr/>
            <p:nvPr userDrawn="1"/>
          </p:nvSpPr>
          <p:spPr>
            <a:xfrm>
              <a:off x="472011" y="1508786"/>
              <a:ext cx="3799787" cy="4865561"/>
            </a:xfrm>
            <a:prstGeom prst="roundRect">
              <a:avLst>
                <a:gd name="adj" fmla="val 3968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399" b="0" i="0" u="none" strike="noStrike" kern="1200" cap="none" spc="0" normalizeH="0" baseline="0" noProof="0" dirty="0">
                <a:ln>
                  <a:noFill/>
                </a:ln>
                <a:solidFill>
                  <a:srgbClr val="FFA000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1" name="Rounded Rectangle 16">
              <a:extLst>
                <a:ext uri="{FF2B5EF4-FFF2-40B4-BE49-F238E27FC236}">
                  <a16:creationId xmlns:a16="http://schemas.microsoft.com/office/drawing/2014/main" id="{F12C06CE-2BBE-46C2-B718-813794C58DF9}"/>
                </a:ext>
              </a:extLst>
            </p:cNvPr>
            <p:cNvSpPr/>
            <p:nvPr userDrawn="1"/>
          </p:nvSpPr>
          <p:spPr>
            <a:xfrm>
              <a:off x="540767" y="1781251"/>
              <a:ext cx="85794" cy="4320631"/>
            </a:xfrm>
            <a:prstGeom prst="roundRect">
              <a:avLst>
                <a:gd name="adj" fmla="val 50000"/>
              </a:avLst>
            </a:prstGeom>
            <a:solidFill>
              <a:schemeClr val="bg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399" b="0" i="0" u="none" strike="noStrike" kern="1200" cap="none" spc="0" normalizeH="0" baseline="0" noProof="0">
                <a:ln>
                  <a:noFill/>
                </a:ln>
                <a:solidFill>
                  <a:srgbClr val="FFA000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2" name="Half Frame 11">
              <a:extLst>
                <a:ext uri="{FF2B5EF4-FFF2-40B4-BE49-F238E27FC236}">
                  <a16:creationId xmlns:a16="http://schemas.microsoft.com/office/drawing/2014/main" id="{66CDBB1E-AF3C-43FC-9F34-2DD691F81726}"/>
                </a:ext>
              </a:extLst>
            </p:cNvPr>
            <p:cNvSpPr/>
            <p:nvPr userDrawn="1"/>
          </p:nvSpPr>
          <p:spPr>
            <a:xfrm rot="5400000">
              <a:off x="3762569" y="1912372"/>
              <a:ext cx="669775" cy="238503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2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399" b="0" i="0" u="none" strike="noStrike" kern="1200" cap="none" spc="0" normalizeH="0" baseline="0" noProof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CCC3A316-993C-4741-8826-E104F27650A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8824937" y="3276641"/>
            <a:ext cx="2882677" cy="3119781"/>
          </a:xfrm>
          <a:prstGeom prst="rect">
            <a:avLst/>
          </a:prstGeom>
        </p:spPr>
      </p:pic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B96A0DF8-27E7-4DC8-BBE3-7238AAAEB845}"/>
              </a:ext>
            </a:extLst>
          </p:cNvPr>
          <p:cNvSpPr txBox="1">
            <a:spLocks/>
          </p:cNvSpPr>
          <p:nvPr/>
        </p:nvSpPr>
        <p:spPr>
          <a:xfrm>
            <a:off x="445613" y="1606714"/>
            <a:ext cx="11815018" cy="5201066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>
            <a:lvl1pPr marL="456915" indent="-456915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3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89981" indent="-380762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048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2267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1485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070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6915" marR="0" lvl="0" indent="-456915" algn="l" defTabSz="1218438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FFFFF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99284" y="1559724"/>
            <a:ext cx="7826716" cy="4278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400" b="1" dirty="0">
                <a:solidFill>
                  <a:schemeClr val="bg2"/>
                </a:solidFill>
              </a:rPr>
              <a:t>RDBMS stores and manages data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400" b="1" dirty="0">
                <a:solidFill>
                  <a:schemeClr val="bg2"/>
                </a:solidFill>
              </a:rPr>
              <a:t>Table relations reduce repetition </a:t>
            </a:r>
            <a:br>
              <a:rPr lang="bg-BG" sz="3400" b="1" dirty="0">
                <a:solidFill>
                  <a:schemeClr val="bg2"/>
                </a:solidFill>
              </a:rPr>
            </a:br>
            <a:r>
              <a:rPr lang="en-US" sz="3400" b="1" dirty="0">
                <a:solidFill>
                  <a:schemeClr val="bg2"/>
                </a:solidFill>
              </a:rPr>
              <a:t>and complexity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400" b="1" dirty="0">
                <a:solidFill>
                  <a:schemeClr val="bg2"/>
                </a:solidFill>
              </a:rPr>
              <a:t>Table columns have </a:t>
            </a:r>
            <a:r>
              <a:rPr lang="en-US" sz="3400" b="1" dirty="0">
                <a:solidFill>
                  <a:schemeClr val="bg1"/>
                </a:solidFill>
              </a:rPr>
              <a:t>fixed types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400" b="1" dirty="0">
                <a:solidFill>
                  <a:schemeClr val="bg2"/>
                </a:solidFill>
              </a:rPr>
              <a:t>We can use Management Studio to </a:t>
            </a:r>
            <a:r>
              <a:rPr lang="en-US" sz="3400" b="1" dirty="0">
                <a:solidFill>
                  <a:schemeClr val="bg1"/>
                </a:solidFill>
              </a:rPr>
              <a:t>create</a:t>
            </a:r>
            <a:r>
              <a:rPr lang="en-US" sz="3400" b="1" dirty="0">
                <a:solidFill>
                  <a:schemeClr val="bg2"/>
                </a:solidFill>
              </a:rPr>
              <a:t> and </a:t>
            </a:r>
            <a:r>
              <a:rPr lang="en-US" sz="3400" b="1" dirty="0">
                <a:solidFill>
                  <a:schemeClr val="bg1"/>
                </a:solidFill>
              </a:rPr>
              <a:t>customize</a:t>
            </a:r>
            <a:r>
              <a:rPr lang="en-US" sz="3400" b="1" dirty="0">
                <a:solidFill>
                  <a:schemeClr val="bg2"/>
                </a:solidFill>
              </a:rPr>
              <a:t> tables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400" b="1" dirty="0">
                <a:solidFill>
                  <a:schemeClr val="bg2"/>
                </a:solidFill>
              </a:rPr>
              <a:t>SQL provides </a:t>
            </a:r>
            <a:r>
              <a:rPr lang="en-US" sz="3400" b="1" dirty="0">
                <a:solidFill>
                  <a:schemeClr val="bg1"/>
                </a:solidFill>
              </a:rPr>
              <a:t>greater</a:t>
            </a:r>
            <a:r>
              <a:rPr lang="en-US" sz="3400" b="1" dirty="0">
                <a:solidFill>
                  <a:schemeClr val="bg2"/>
                </a:solidFill>
              </a:rPr>
              <a:t> </a:t>
            </a:r>
            <a:r>
              <a:rPr lang="en-US" sz="3400" b="1" dirty="0">
                <a:solidFill>
                  <a:schemeClr val="bg1"/>
                </a:solidFill>
              </a:rPr>
              <a:t>control</a:t>
            </a:r>
            <a:r>
              <a:rPr lang="en-US" sz="3400" b="1" dirty="0">
                <a:solidFill>
                  <a:schemeClr val="bg2"/>
                </a:solidFill>
              </a:rPr>
              <a:t> </a:t>
            </a:r>
            <a:br>
              <a:rPr lang="bg-BG" sz="3400" b="1" dirty="0">
                <a:solidFill>
                  <a:schemeClr val="bg2"/>
                </a:solidFill>
              </a:rPr>
            </a:br>
            <a:r>
              <a:rPr lang="en-US" sz="3400" b="1" dirty="0">
                <a:solidFill>
                  <a:schemeClr val="bg2"/>
                </a:solidFill>
              </a:rPr>
              <a:t>over actions</a:t>
            </a:r>
          </a:p>
        </p:txBody>
      </p:sp>
      <p:sp>
        <p:nvSpPr>
          <p:cNvPr id="16" name="Slide Number">
            <a:extLst>
              <a:ext uri="{FF2B5EF4-FFF2-40B4-BE49-F238E27FC236}">
                <a16:creationId xmlns:a16="http://schemas.microsoft.com/office/drawing/2014/main" id="{49334D44-7518-4233-8A43-DB57B354A9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32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24786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D085D2-301C-D855-6375-DC447ABCB9A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33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629804C-BF3D-66BA-9097-BE92BD495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err="1"/>
              <a:t>SoftUni</a:t>
            </a:r>
            <a:r>
              <a:rPr lang="en-GB" b="1" dirty="0"/>
              <a:t> Diamond Partners</a:t>
            </a:r>
            <a:endParaRPr lang="en-US" dirty="0"/>
          </a:p>
        </p:txBody>
      </p:sp>
      <p:pic>
        <p:nvPicPr>
          <p:cNvPr id="6" name="Picture 5" descr="A picture containing logo&#10;&#10;Description automatically generated">
            <a:hlinkClick r:id="rId2"/>
            <a:extLst>
              <a:ext uri="{FF2B5EF4-FFF2-40B4-BE49-F238E27FC236}">
                <a16:creationId xmlns:a16="http://schemas.microsoft.com/office/drawing/2014/main" id="{792C06A0-B1BF-1310-EB3F-B37FB454D0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6832" y="1383837"/>
            <a:ext cx="2786198" cy="1620135"/>
          </a:xfrm>
          <a:prstGeom prst="rect">
            <a:avLst/>
          </a:prstGeom>
        </p:spPr>
      </p:pic>
      <p:pic>
        <p:nvPicPr>
          <p:cNvPr id="9" name="Picture 8" descr="A picture containing logo&#10;&#10;Description automatically generated">
            <a:hlinkClick r:id="rId4"/>
            <a:extLst>
              <a:ext uri="{FF2B5EF4-FFF2-40B4-BE49-F238E27FC236}">
                <a16:creationId xmlns:a16="http://schemas.microsoft.com/office/drawing/2014/main" id="{D5F7E69F-916E-E7FD-07B0-C84410BDE8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663" y="4452317"/>
            <a:ext cx="3119573" cy="1444168"/>
          </a:xfrm>
          <a:prstGeom prst="rect">
            <a:avLst/>
          </a:prstGeom>
        </p:spPr>
      </p:pic>
      <p:pic>
        <p:nvPicPr>
          <p:cNvPr id="11" name="Picture 10" descr="Text&#10;&#10;Description automatically generated with low confidence">
            <a:hlinkClick r:id="rId6"/>
            <a:extLst>
              <a:ext uri="{FF2B5EF4-FFF2-40B4-BE49-F238E27FC236}">
                <a16:creationId xmlns:a16="http://schemas.microsoft.com/office/drawing/2014/main" id="{2C192C54-107A-E9CB-0B22-954F235E758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717" y="5624346"/>
            <a:ext cx="3914056" cy="882654"/>
          </a:xfrm>
          <a:prstGeom prst="rect">
            <a:avLst/>
          </a:prstGeom>
        </p:spPr>
      </p:pic>
      <p:pic>
        <p:nvPicPr>
          <p:cNvPr id="15" name="Picture 14">
            <a:hlinkClick r:id="rId8"/>
            <a:extLst>
              <a:ext uri="{FF2B5EF4-FFF2-40B4-BE49-F238E27FC236}">
                <a16:creationId xmlns:a16="http://schemas.microsoft.com/office/drawing/2014/main" id="{45E3E7FC-2B32-01E7-FFCA-DACB5E28FAEC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405" b="33481"/>
          <a:stretch/>
        </p:blipFill>
        <p:spPr>
          <a:xfrm>
            <a:off x="7980566" y="5431126"/>
            <a:ext cx="4127549" cy="1284289"/>
          </a:xfrm>
          <a:prstGeom prst="rect">
            <a:avLst/>
          </a:prstGeom>
        </p:spPr>
      </p:pic>
      <p:pic>
        <p:nvPicPr>
          <p:cNvPr id="3" name="Picture 5" descr="A green and orange logo&#10;&#10;Description automatically generated">
            <a:hlinkClick r:id="rId10"/>
            <a:extLst>
              <a:ext uri="{FF2B5EF4-FFF2-40B4-BE49-F238E27FC236}">
                <a16:creationId xmlns:a16="http://schemas.microsoft.com/office/drawing/2014/main" id="{F1810EF9-5676-6FC8-AA7F-C2695A7435D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6436" y="3404405"/>
            <a:ext cx="3150159" cy="1973054"/>
          </a:xfrm>
          <a:prstGeom prst="rect">
            <a:avLst/>
          </a:prstGeom>
        </p:spPr>
      </p:pic>
      <p:pic>
        <p:nvPicPr>
          <p:cNvPr id="7" name="Picture 3">
            <a:hlinkClick r:id="rId12"/>
            <a:extLst>
              <a:ext uri="{FF2B5EF4-FFF2-40B4-BE49-F238E27FC236}">
                <a16:creationId xmlns:a16="http://schemas.microsoft.com/office/drawing/2014/main" id="{8B513D91-B017-2182-5AF4-63018913667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0877" y="1190635"/>
            <a:ext cx="3990123" cy="1379608"/>
          </a:xfrm>
          <a:prstGeom prst="rect">
            <a:avLst/>
          </a:prstGeom>
        </p:spPr>
      </p:pic>
      <p:pic>
        <p:nvPicPr>
          <p:cNvPr id="14" name="Картина 13" descr="Картина, която съдържа червен, Графика, Шрифт, дизайн">
            <a:hlinkClick r:id="rId14"/>
            <a:extLst>
              <a:ext uri="{FF2B5EF4-FFF2-40B4-BE49-F238E27FC236}">
                <a16:creationId xmlns:a16="http://schemas.microsoft.com/office/drawing/2014/main" id="{289FFBCA-F5A8-E200-5772-B8297CB4DA7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523" y="1878014"/>
            <a:ext cx="3610444" cy="1023778"/>
          </a:xfrm>
          <a:prstGeom prst="rect">
            <a:avLst/>
          </a:prstGeom>
        </p:spPr>
      </p:pic>
      <p:pic>
        <p:nvPicPr>
          <p:cNvPr id="4" name="Картина 3" descr="Картина, която съдържа текст, Шрифт, екранна снимка, номер">
            <a:extLst>
              <a:ext uri="{FF2B5EF4-FFF2-40B4-BE49-F238E27FC236}">
                <a16:creationId xmlns:a16="http://schemas.microsoft.com/office/drawing/2014/main" id="{315CB780-F614-6AAB-62D3-20700692FBE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8276" y="2438753"/>
            <a:ext cx="2102030" cy="973287"/>
          </a:xfrm>
          <a:prstGeom prst="rect">
            <a:avLst/>
          </a:prstGeom>
        </p:spPr>
      </p:pic>
      <p:pic>
        <p:nvPicPr>
          <p:cNvPr id="10" name="Graphic 9">
            <a:hlinkClick r:id="rId17"/>
            <a:extLst>
              <a:ext uri="{FF2B5EF4-FFF2-40B4-BE49-F238E27FC236}">
                <a16:creationId xmlns:a16="http://schemas.microsoft.com/office/drawing/2014/main" id="{C903B251-B381-5CD5-1234-5DAF13628FFA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46717" y="3821811"/>
            <a:ext cx="4746000" cy="812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1664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Body"/>
          <p:cNvSpPr>
            <a:spLocks noGrp="1"/>
          </p:cNvSpPr>
          <p:nvPr>
            <p:ph idx="4294967295"/>
          </p:nvPr>
        </p:nvSpPr>
        <p:spPr>
          <a:xfrm>
            <a:off x="190404" y="1179000"/>
            <a:ext cx="8695596" cy="54900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200" dirty="0"/>
              <a:t>Software University – High-Quality Education, Profession and Job for Software Developers</a:t>
            </a:r>
          </a:p>
          <a:p>
            <a:pPr lvl="1"/>
            <a:r>
              <a:rPr lang="en-US" sz="3000" noProof="1">
                <a:hlinkClick r:id="rId3"/>
              </a:rPr>
              <a:t>softuni.bg</a:t>
            </a:r>
            <a:r>
              <a:rPr lang="en-US" sz="3000" noProof="1"/>
              <a:t>, </a:t>
            </a:r>
            <a:r>
              <a:rPr lang="en-US" sz="2800" dirty="0">
                <a:hlinkClick r:id="rId4"/>
              </a:rPr>
              <a:t>about.softuni.bg</a:t>
            </a:r>
            <a:endParaRPr lang="en-US" sz="3000" noProof="1"/>
          </a:p>
          <a:p>
            <a:pPr>
              <a:lnSpc>
                <a:spcPct val="100000"/>
              </a:lnSpc>
            </a:pPr>
            <a:r>
              <a:rPr lang="en-US" sz="3200" dirty="0"/>
              <a:t>Software University Foundation</a:t>
            </a:r>
            <a:endParaRPr lang="bg-BG" sz="3200" dirty="0"/>
          </a:p>
          <a:p>
            <a:pPr lvl="1"/>
            <a:r>
              <a:rPr lang="en-US" sz="3000" noProof="1">
                <a:hlinkClick r:id="rId5"/>
              </a:rPr>
              <a:t>softuni.foundation</a:t>
            </a:r>
            <a:endParaRPr lang="en-US" sz="3000" noProof="1"/>
          </a:p>
          <a:p>
            <a:pPr>
              <a:lnSpc>
                <a:spcPct val="100000"/>
              </a:lnSpc>
            </a:pPr>
            <a:r>
              <a:rPr lang="en-US" sz="3200" dirty="0"/>
              <a:t>Software University @ Facebook</a:t>
            </a:r>
          </a:p>
          <a:p>
            <a:pPr lvl="1"/>
            <a:r>
              <a:rPr lang="en-US" sz="3000" noProof="1">
                <a:hlinkClick r:id="rId6"/>
              </a:rPr>
              <a:t>facebook.com/SoftwareUniversity</a:t>
            </a:r>
            <a:endParaRPr lang="en-US" sz="3000" noProof="1"/>
          </a:p>
        </p:txBody>
      </p:sp>
      <p:sp>
        <p:nvSpPr>
          <p:cNvPr id="3" name="Slide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Trainings @ Software University</a:t>
            </a:r>
            <a:r>
              <a:rPr lang="bg-BG" dirty="0"/>
              <a:t> (</a:t>
            </a:r>
            <a:r>
              <a:rPr lang="en-US" dirty="0"/>
              <a:t>SoftUni)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02A189EF-CE35-49FE-9CA8-77A8F85891E5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8184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Body">
            <a:extLst>
              <a:ext uri="{FF2B5EF4-FFF2-40B4-BE49-F238E27FC236}">
                <a16:creationId xmlns:a16="http://schemas.microsoft.com/office/drawing/2014/main" id="{980F49B1-E4BE-4389-A747-7AB9B71AD9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269001"/>
            <a:ext cx="11818096" cy="545589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dirty="0"/>
              <a:t>This course (slides, examples, demos, exercises, homework, documents, videos and other assets) is </a:t>
            </a:r>
            <a:r>
              <a:rPr lang="en-US" b="1" dirty="0"/>
              <a:t>copyrighted content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Unauthorized copy, reproduction or use is illegal</a:t>
            </a:r>
          </a:p>
          <a:p>
            <a:pPr>
              <a:lnSpc>
                <a:spcPct val="120000"/>
              </a:lnSpc>
            </a:pPr>
            <a:r>
              <a:rPr lang="en-US" dirty="0"/>
              <a:t>© SoftUni – </a:t>
            </a:r>
            <a:r>
              <a:rPr lang="en-US" dirty="0">
                <a:hlinkClick r:id="rId3"/>
              </a:rPr>
              <a:t>https://about.softuni.bg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© Software University – </a:t>
            </a:r>
            <a:r>
              <a:rPr lang="en-US" dirty="0">
                <a:hlinkClick r:id="rId4"/>
              </a:rPr>
              <a:t>https://softuni.bg</a:t>
            </a:r>
            <a:endParaRPr lang="bg-BG" dirty="0"/>
          </a:p>
        </p:txBody>
      </p:sp>
      <p:pic>
        <p:nvPicPr>
          <p:cNvPr id="6" name="Picture License" descr="License">
            <a:extLst>
              <a:ext uri="{FF2B5EF4-FFF2-40B4-BE49-F238E27FC236}">
                <a16:creationId xmlns:a16="http://schemas.microsoft.com/office/drawing/2014/main" id="{A10A2585-858C-4B1E-8846-27CF1C15729E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745023" y="4445455"/>
            <a:ext cx="1930977" cy="2043545"/>
          </a:xfrm>
          <a:prstGeom prst="rect">
            <a:avLst/>
          </a:prstGeom>
        </p:spPr>
      </p:pic>
      <p:sp>
        <p:nvSpPr>
          <p:cNvPr id="3" name="Slide Title">
            <a:extLst>
              <a:ext uri="{FF2B5EF4-FFF2-40B4-BE49-F238E27FC236}">
                <a16:creationId xmlns:a16="http://schemas.microsoft.com/office/drawing/2014/main" id="{E5F1FB41-80C3-4816-BC47-CCC50632E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License</a:t>
            </a:r>
            <a:endParaRPr lang="bg-BG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1E10CD1B-8335-4AD4-AA97-D094059F7F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35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50725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theme/theme1.xml><?xml version="1.0" encoding="utf-8"?>
<a:theme xmlns:a="http://schemas.openxmlformats.org/drawingml/2006/main" name="SoftUni">
  <a:themeElements>
    <a:clrScheme name="SoftUni">
      <a:dk1>
        <a:srgbClr val="234465"/>
      </a:dk1>
      <a:lt1>
        <a:srgbClr val="FFA000"/>
      </a:lt1>
      <a:dk2>
        <a:srgbClr val="234465"/>
      </a:dk2>
      <a:lt2>
        <a:srgbClr val="FFFFFF"/>
      </a:lt2>
      <a:accent1>
        <a:srgbClr val="FFA000"/>
      </a:accent1>
      <a:accent2>
        <a:srgbClr val="00B050"/>
      </a:accent2>
      <a:accent3>
        <a:srgbClr val="44A9F8"/>
      </a:accent3>
      <a:accent4>
        <a:srgbClr val="7030A0"/>
      </a:accent4>
      <a:accent5>
        <a:srgbClr val="67748E"/>
      </a:accent5>
      <a:accent6>
        <a:srgbClr val="F4F5F7"/>
      </a:accent6>
      <a:hlink>
        <a:srgbClr val="F2AC44"/>
      </a:hlink>
      <a:folHlink>
        <a:srgbClr val="F6C781"/>
      </a:folHlink>
    </a:clrScheme>
    <a:fontScheme name="SoftUn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dk2">
            <a:alpha val="80000"/>
          </a:schemeClr>
        </a:solidFill>
        <a:ln w="19050">
          <a:solidFill>
            <a:schemeClr val="tx1">
              <a:lumMod val="75000"/>
              <a:alpha val="80000"/>
            </a:schemeClr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800" b="1" dirty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defRPr>
        </a:defPPr>
      </a:lstStyle>
      <a:style>
        <a:lnRef idx="2">
          <a:schemeClr val="accent1">
            <a:shade val="50000"/>
          </a:schemeClr>
        </a:lnRef>
        <a:fillRef idx="1001">
          <a:schemeClr val="dk2"/>
        </a:fillRef>
        <a:effectRef idx="0">
          <a:schemeClr val="accent1"/>
        </a:effectRef>
        <a:fontRef idx="minor">
          <a:schemeClr val="lt1"/>
        </a:fontRef>
      </a:style>
    </a:spDef>
    <a:txDef>
      <a:spPr>
        <a:solidFill>
          <a:schemeClr val="accent6">
            <a:lumMod val="75000"/>
            <a:alpha val="15000"/>
          </a:schemeClr>
        </a:solidFill>
        <a:ln w="12700">
          <a:solidFill>
            <a:schemeClr val="tx1">
              <a:lumMod val="75000"/>
            </a:schemeClr>
          </a:solidFill>
        </a:ln>
      </a:spPr>
      <a:bodyPr vert="horz" wrap="square" lIns="144000" tIns="108000" rIns="144000" bIns="108000" rtlCol="0">
        <a:spAutoFit/>
      </a:bodyPr>
      <a:lstStyle>
        <a:defPPr algn="l" eaLnBrk="0" hangingPunct="0">
          <a:lnSpc>
            <a:spcPct val="110000"/>
          </a:lnSpc>
          <a:buClr>
            <a:schemeClr val="accent5">
              <a:lumMod val="40000"/>
              <a:lumOff val="60000"/>
            </a:schemeClr>
          </a:buClr>
          <a:buSzPct val="70000"/>
          <a:defRPr sz="24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SoftUni" id="{D61FAD9B-6E74-4E03-BFE4-B363D484F1DA}" vid="{7089C1A3-635B-4B03-A017-DAF10A3A396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5657</TotalTime>
  <Words>1523</Words>
  <Application>Microsoft Office PowerPoint</Application>
  <PresentationFormat>Widescreen</PresentationFormat>
  <Paragraphs>318</Paragraphs>
  <Slides>35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1" baseType="lpstr">
      <vt:lpstr>Arial</vt:lpstr>
      <vt:lpstr>Calibri</vt:lpstr>
      <vt:lpstr>Consolas</vt:lpstr>
      <vt:lpstr>Wingdings</vt:lpstr>
      <vt:lpstr>Wingdings 2</vt:lpstr>
      <vt:lpstr>SoftUni</vt:lpstr>
      <vt:lpstr>Introduction to Databases</vt:lpstr>
      <vt:lpstr>Table of Contents</vt:lpstr>
      <vt:lpstr>Data Management</vt:lpstr>
      <vt:lpstr>Storage vs. Management</vt:lpstr>
      <vt:lpstr>Storage vs. Management</vt:lpstr>
      <vt:lpstr>Storage vs. Management</vt:lpstr>
      <vt:lpstr>Databases and RDBMS</vt:lpstr>
      <vt:lpstr>Database Engines</vt:lpstr>
      <vt:lpstr>Database Engine Flow</vt:lpstr>
      <vt:lpstr>Download Clients &amp; Servers</vt:lpstr>
      <vt:lpstr>SQL Server Architecture</vt:lpstr>
      <vt:lpstr>Database Table Elements</vt:lpstr>
      <vt:lpstr>Structured Query Language</vt:lpstr>
      <vt:lpstr>Data Types in SQL Server</vt:lpstr>
      <vt:lpstr>Data Types in SQL Server</vt:lpstr>
      <vt:lpstr>Size of Textual Characters</vt:lpstr>
      <vt:lpstr>Data Types in SQL Server</vt:lpstr>
      <vt:lpstr>Date and Time in SQL Server </vt:lpstr>
      <vt:lpstr>Database Modelling</vt:lpstr>
      <vt:lpstr>Creating a New Database</vt:lpstr>
      <vt:lpstr>Creating Tables</vt:lpstr>
      <vt:lpstr>Creating Tables</vt:lpstr>
      <vt:lpstr>Creating Tables</vt:lpstr>
      <vt:lpstr>Creating Tables</vt:lpstr>
      <vt:lpstr>Storing and Retrieving Data</vt:lpstr>
      <vt:lpstr>Storing and Retrieving Data</vt:lpstr>
      <vt:lpstr>Altering Tables</vt:lpstr>
      <vt:lpstr>Basic SQL Queries</vt:lpstr>
      <vt:lpstr>SQL Queries</vt:lpstr>
      <vt:lpstr>Table Creation in SQL</vt:lpstr>
      <vt:lpstr>Retrieve Records in SQL</vt:lpstr>
      <vt:lpstr>Summary</vt:lpstr>
      <vt:lpstr>SoftUni Diamond Partners</vt:lpstr>
      <vt:lpstr>Trainings @ Software University (SoftUni)</vt:lpstr>
      <vt:lpstr>License</vt:lpstr>
    </vt:vector>
  </TitlesOfParts>
  <Company>SoftUni – https://softuni.org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Databases. Data Definition and Data Types</dc:title>
  <dc:subject>Databases Basics - MS SQL Server - Practical Training Course @ SoftUni</dc:subject>
  <dc:creator>Software University</dc:creator>
  <cp:keywords>Databases; SQL; programming; SoftUni; Software University; programming; software development; software engineering; course; database systems</cp:keywords>
  <dc:description>© SoftUni – https://softuni.org_x000d_
© Software University – https://softuni.bg_x000d_
_x000d_
Copyrighted document. Unauthorized copy, reproduction or use is not permitted.</dc:description>
  <cp:lastModifiedBy>Krasimir Tsanev</cp:lastModifiedBy>
  <cp:revision>89</cp:revision>
  <dcterms:created xsi:type="dcterms:W3CDTF">2018-05-23T13:08:44Z</dcterms:created>
  <dcterms:modified xsi:type="dcterms:W3CDTF">2025-08-26T07:50:29Z</dcterms:modified>
  <cp:category>db;databases;sql;programming;computer programming;software development</cp:category>
</cp:coreProperties>
</file>