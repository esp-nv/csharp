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7"/>
  </p:notesMasterIdLst>
  <p:handoutMasterIdLst>
    <p:handoutMasterId r:id="rId38"/>
  </p:handoutMasterIdLst>
  <p:sldIdLst>
    <p:sldId id="1012" r:id="rId2"/>
    <p:sldId id="1013" r:id="rId3"/>
    <p:sldId id="1015" r:id="rId4"/>
    <p:sldId id="1016" r:id="rId5"/>
    <p:sldId id="1084" r:id="rId6"/>
    <p:sldId id="1085" r:id="rId7"/>
    <p:sldId id="1018" r:id="rId8"/>
    <p:sldId id="1072" r:id="rId9"/>
    <p:sldId id="1073" r:id="rId10"/>
    <p:sldId id="1019" r:id="rId11"/>
    <p:sldId id="1020" r:id="rId12"/>
    <p:sldId id="1021" r:id="rId13"/>
    <p:sldId id="1022" r:id="rId14"/>
    <p:sldId id="1023" r:id="rId15"/>
    <p:sldId id="1024" r:id="rId16"/>
    <p:sldId id="1075" r:id="rId17"/>
    <p:sldId id="1025" r:id="rId18"/>
    <p:sldId id="1026" r:id="rId19"/>
    <p:sldId id="1027" r:id="rId20"/>
    <p:sldId id="1028" r:id="rId21"/>
    <p:sldId id="1029" r:id="rId22"/>
    <p:sldId id="1030" r:id="rId23"/>
    <p:sldId id="1031" r:id="rId24"/>
    <p:sldId id="1032" r:id="rId25"/>
    <p:sldId id="1033" r:id="rId26"/>
    <p:sldId id="1077" r:id="rId27"/>
    <p:sldId id="1086" r:id="rId28"/>
    <p:sldId id="1083" r:id="rId29"/>
    <p:sldId id="1079" r:id="rId30"/>
    <p:sldId id="1080" r:id="rId31"/>
    <p:sldId id="1078" r:id="rId32"/>
    <p:sldId id="1005" r:id="rId33"/>
    <p:sldId id="614" r:id="rId34"/>
    <p:sldId id="405" r:id="rId35"/>
    <p:sldId id="49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A6ADC40-CB3B-432E-B238-A5E30C2337E4}">
          <p14:sldIdLst>
            <p14:sldId id="1012"/>
            <p14:sldId id="1013"/>
          </p14:sldIdLst>
        </p14:section>
        <p14:section name="User-Defined Functions" id="{61C1F7C7-4891-489C-BB73-4A8CF52EB36B}">
          <p14:sldIdLst>
            <p14:sldId id="1015"/>
            <p14:sldId id="1016"/>
            <p14:sldId id="1084"/>
            <p14:sldId id="1085"/>
            <p14:sldId id="1018"/>
            <p14:sldId id="1072"/>
            <p14:sldId id="1073"/>
            <p14:sldId id="1019"/>
            <p14:sldId id="1020"/>
            <p14:sldId id="1021"/>
            <p14:sldId id="1022"/>
          </p14:sldIdLst>
        </p14:section>
        <p14:section name="Stored Procedures" id="{B894DF81-FDCC-4EF1-8207-EC8DB1F98EEA}">
          <p14:sldIdLst>
            <p14:sldId id="1023"/>
            <p14:sldId id="1024"/>
            <p14:sldId id="1075"/>
            <p14:sldId id="1025"/>
            <p14:sldId id="1026"/>
            <p14:sldId id="1027"/>
            <p14:sldId id="1028"/>
          </p14:sldIdLst>
        </p14:section>
        <p14:section name="Stored Procedures with Parameters" id="{A87C184F-A456-4216-A249-69FE36645B08}">
          <p14:sldIdLst>
            <p14:sldId id="1029"/>
            <p14:sldId id="1030"/>
            <p14:sldId id="1031"/>
            <p14:sldId id="1032"/>
            <p14:sldId id="1033"/>
            <p14:sldId id="1077"/>
          </p14:sldIdLst>
        </p14:section>
        <p14:section name="Error Handling" id="{0E8A6501-640B-4C36-9C8B-EBC53E2BBA32}">
          <p14:sldIdLst>
            <p14:sldId id="1086"/>
            <p14:sldId id="1083"/>
            <p14:sldId id="1079"/>
            <p14:sldId id="1080"/>
            <p14:sldId id="1078"/>
          </p14:sldIdLst>
        </p14:section>
        <p14:section name="Conclusion" id="{B67F7AE2-30EE-42C3-A027-FB99D14AA675}">
          <p14:sldIdLst>
            <p14:sldId id="1005"/>
            <p14:sldId id="614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0" autoAdjust="0"/>
    <p:restoredTop sz="60517" autoAdjust="0"/>
  </p:normalViewPr>
  <p:slideViewPr>
    <p:cSldViewPr showGuides="1">
      <p:cViewPr varScale="1">
        <p:scale>
          <a:sx n="107" d="100"/>
          <a:sy n="107" d="100"/>
        </p:scale>
        <p:origin x="60" y="2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26.8.2025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38AFBCB-D55E-4F24-8DA6-C7AF4B28A7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70393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1C5018C-7377-4B6F-B320-9E9C3210D3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287350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61667F-FAB2-418B-BA59-74B4D39CAB61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316AAE2-7E58-4A63-B36B-1CCBF030C0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68905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29F3022-2A0E-46F3-A831-B9FDDB7CDC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07735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38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27438CF-B576-4491-AE69-1973B9739B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33153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DCBDDC6-7B37-46BF-835D-A2360E5C95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66501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576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6AD8C22-F0D6-4AD0-9C8F-DA75BB5467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31890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11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FD6572F-3C65-42A8-995A-8C1022F8DC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15900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12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CC53956-8425-4400-AE43-0B89807C2C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87964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13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48F4693-EAEB-4CA6-9FB0-A7F651B66F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84918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A168B-E675-4B5B-A100-7BE280D1D07A}" type="slidenum">
              <a:rPr lang="en-US"/>
              <a:pPr/>
              <a:t>14</a:t>
            </a:fld>
            <a:r>
              <a:rPr lang="en-US" dirty="0"/>
              <a:t>##</a:t>
            </a:r>
          </a:p>
        </p:txBody>
      </p:sp>
      <p:sp>
        <p:nvSpPr>
          <p:cNvPr id="43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A8E46909-70B8-4C9C-8014-D4DB0788E9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62383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307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33C723E2-8309-433D-9DFF-12D6050FC0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35612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577010-E72C-43E2-A3EA-4608701522CE}" type="slidenum">
              <a:rPr lang="en-US"/>
              <a:pPr/>
              <a:t>21</a:t>
            </a:fld>
            <a:r>
              <a:rPr lang="en-US" dirty="0"/>
              <a:t>##</a:t>
            </a:r>
          </a:p>
        </p:txBody>
      </p:sp>
      <p:sp>
        <p:nvSpPr>
          <p:cNvPr id="48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E1AB1AF-778F-47C9-9C37-4A08E88A10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13916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577010-E72C-43E2-A3EA-4608701522CE}" type="slidenum">
              <a:rPr lang="en-US"/>
              <a:pPr/>
              <a:t>27</a:t>
            </a:fld>
            <a:r>
              <a:rPr lang="en-US" dirty="0"/>
              <a:t>##</a:t>
            </a:r>
          </a:p>
        </p:txBody>
      </p:sp>
      <p:sp>
        <p:nvSpPr>
          <p:cNvPr id="48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E1AB1AF-778F-47C9-9C37-4A08E88A10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57252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882FC88-5DFA-4ADD-B429-6C8BD09B3C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33674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5AE7788-20B3-44FE-9336-038B95B839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593367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F44DD3A8-A4A4-4C18-B1CE-28451DA257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8371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404393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>
  <p:cSld name="1_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rgbClr val="ACB4C3">
              <a:alpha val="14509"/>
            </a:srgbClr>
          </a:solidFill>
          <a:ln w="12700" cap="flat" cmpd="sng">
            <a:solidFill>
              <a:srgbClr val="112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108000" rIns="144000" bIns="108000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8"/>
              <a:buNone/>
              <a:defRPr sz="2398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/>
          </p:nvPr>
        </p:nvSpPr>
        <p:spPr>
          <a:xfrm>
            <a:off x="190501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8" b="0" i="0" u="none" strike="noStrike" cap="none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6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4387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3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1025#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1025#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1025#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vacom.bg/bg/residential/za-nas/za-kompanijata/koi-sme-nie" TargetMode="External"/><Relationship Id="rId13" Type="http://schemas.openxmlformats.org/officeDocument/2006/relationships/image" Target="../media/image33.PNG"/><Relationship Id="rId18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hyperlink" Target="https://www.postbank.bg/" TargetMode="External"/><Relationship Id="rId17" Type="http://schemas.openxmlformats.org/officeDocument/2006/relationships/hyperlink" Target="https://encorp.ai/" TargetMode="External"/><Relationship Id="rId2" Type="http://schemas.openxmlformats.org/officeDocument/2006/relationships/hyperlink" Target="https://en.superhosting.bg/" TargetMode="Externa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ndeavr.com/careers/" TargetMode="Externa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hyperlink" Target="https://www.draftkings.com/" TargetMode="External"/><Relationship Id="rId19" Type="http://schemas.openxmlformats.org/officeDocument/2006/relationships/image" Target="../media/image37.svg"/><Relationship Id="rId4" Type="http://schemas.openxmlformats.org/officeDocument/2006/relationships/hyperlink" Target="https://createx.bg/" TargetMode="External"/><Relationship Id="rId9" Type="http://schemas.openxmlformats.org/officeDocument/2006/relationships/image" Target="../media/image31.png"/><Relationship Id="rId14" Type="http://schemas.openxmlformats.org/officeDocument/2006/relationships/hyperlink" Target="https://bg.coca-colahellenic.com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Database Programmability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and Stored Procedures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 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SoftUni Team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Technical Trainers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13" y="1459154"/>
            <a:ext cx="4140574" cy="414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6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User-Defined Functions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Stored Procedures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Stored Procedures with Parameters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Error Handling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	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2ADB351-1C5D-4ADF-8417-00D1B7AA5FA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1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B6245F-A1DD-4ED9-8E83-66D03AE5E584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User-Defined Functions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87" y="1110344"/>
            <a:ext cx="2677886" cy="2677886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580E44A-8690-4FD5-B92F-A7C62C60162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Definition, Usage, Syntax</a:t>
            </a:r>
          </a:p>
        </p:txBody>
      </p:sp>
    </p:spTree>
    <p:extLst>
      <p:ext uri="{BB962C8B-B14F-4D97-AF65-F5344CB8AC3E}">
        <p14:creationId xmlns:p14="http://schemas.microsoft.com/office/powerpoint/2010/main" val="16387434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idx="10"/>
          </p:nvPr>
        </p:nvSpPr>
        <p:spPr>
          <a:xfrm>
            <a:off x="2041766" y="1167411"/>
            <a:ext cx="10129234" cy="5546589"/>
          </a:xfrm>
        </p:spPr>
        <p:txBody>
          <a:bodyPr/>
          <a:lstStyle/>
          <a:p>
            <a:r>
              <a:rPr lang="en-US" dirty="0"/>
              <a:t>At its core, a function </a:t>
            </a:r>
            <a:r>
              <a:rPr lang="en-US" b="1" dirty="0">
                <a:solidFill>
                  <a:schemeClr val="bg1"/>
                </a:solidFill>
              </a:rPr>
              <a:t>receives an input </a:t>
            </a:r>
            <a:r>
              <a:rPr lang="en-US" dirty="0"/>
              <a:t>and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produces an output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Basic Definition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00" y="2981611"/>
            <a:ext cx="6395361" cy="35322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A426B103-72D8-4FCF-9F6D-37AC64DB975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7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5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065510" y="1121144"/>
            <a:ext cx="9929724" cy="5052856"/>
          </a:xfrm>
        </p:spPr>
        <p:txBody>
          <a:bodyPr>
            <a:normAutofit fontScale="92500"/>
          </a:bodyPr>
          <a:lstStyle/>
          <a:p>
            <a:pPr>
              <a:buClr>
                <a:schemeClr val="tx1"/>
              </a:buClr>
            </a:pPr>
            <a:r>
              <a:rPr lang="en-US" sz="3500" b="1" dirty="0">
                <a:solidFill>
                  <a:schemeClr val="bg1"/>
                </a:solidFill>
              </a:rPr>
              <a:t>Scalar functions</a:t>
            </a:r>
            <a:endParaRPr lang="en-US" sz="3500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Similar </a:t>
            </a:r>
            <a:r>
              <a:rPr lang="en-US" dirty="0"/>
              <a:t>to the </a:t>
            </a:r>
            <a:r>
              <a:rPr lang="en-US" b="1" dirty="0">
                <a:solidFill>
                  <a:schemeClr val="bg1"/>
                </a:solidFill>
              </a:rPr>
              <a:t>built-in functions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Returns a </a:t>
            </a:r>
            <a:r>
              <a:rPr lang="en-US" b="1" dirty="0">
                <a:solidFill>
                  <a:schemeClr val="bg1"/>
                </a:solidFill>
              </a:rPr>
              <a:t>single value</a:t>
            </a:r>
          </a:p>
          <a:p>
            <a:pPr>
              <a:buClr>
                <a:schemeClr val="tx1"/>
              </a:buClr>
            </a:pPr>
            <a:r>
              <a:rPr lang="en-US" sz="3500" b="1" dirty="0">
                <a:solidFill>
                  <a:schemeClr val="bg1"/>
                </a:solidFill>
              </a:rPr>
              <a:t>Table-valued functions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Similar to </a:t>
            </a:r>
            <a:r>
              <a:rPr lang="en-US" b="1" dirty="0">
                <a:solidFill>
                  <a:schemeClr val="bg1"/>
                </a:solidFill>
              </a:rPr>
              <a:t>a view with parameters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Returns a table </a:t>
            </a:r>
            <a:r>
              <a:rPr lang="en-US" dirty="0"/>
              <a:t>as a result of a single </a:t>
            </a:r>
            <a:r>
              <a:rPr lang="en-US" b="1" dirty="0">
                <a:latin typeface="Consolas" panose="020B0609020204030204" pitchFamily="49" charset="0"/>
              </a:rPr>
              <a:t>SELECT</a:t>
            </a:r>
            <a:r>
              <a:rPr lang="en-US" dirty="0"/>
              <a:t> statement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Inline table-valued function (TVF)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Multi-statement table-valued function (MSTVF)</a:t>
            </a:r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User-Defined Functions</a:t>
            </a:r>
            <a:endParaRPr lang="bg-B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93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idx="10"/>
          </p:nvPr>
        </p:nvSpPr>
        <p:spPr>
          <a:xfrm>
            <a:off x="2065510" y="1121143"/>
            <a:ext cx="9929724" cy="5163279"/>
          </a:xfrm>
        </p:spPr>
        <p:txBody>
          <a:bodyPr>
            <a:noAutofit/>
          </a:bodyPr>
          <a:lstStyle/>
          <a:p>
            <a:r>
              <a:rPr lang="en-US" sz="3200" dirty="0"/>
              <a:t>User-defined functions </a:t>
            </a:r>
            <a:r>
              <a:rPr lang="en-US" sz="3200" b="1" dirty="0">
                <a:solidFill>
                  <a:schemeClr val="bg1"/>
                </a:solidFill>
              </a:rPr>
              <a:t>cannot</a:t>
            </a:r>
            <a:r>
              <a:rPr lang="en-US" sz="3200" dirty="0"/>
              <a:t> be used to perform </a:t>
            </a:r>
            <a:br>
              <a:rPr lang="en-US" sz="3200" dirty="0"/>
            </a:br>
            <a:r>
              <a:rPr lang="en-US" sz="3200" dirty="0"/>
              <a:t>actions that </a:t>
            </a:r>
            <a:r>
              <a:rPr lang="en-US" sz="3200" b="1" dirty="0">
                <a:solidFill>
                  <a:schemeClr val="bg1"/>
                </a:solidFill>
              </a:rPr>
              <a:t>modify</a:t>
            </a:r>
            <a:r>
              <a:rPr lang="en-US" sz="3200" dirty="0"/>
              <a:t> the database state</a:t>
            </a:r>
          </a:p>
          <a:p>
            <a:r>
              <a:rPr lang="en-US" sz="3200" dirty="0"/>
              <a:t>User-defined functions </a:t>
            </a:r>
            <a:r>
              <a:rPr lang="en-US" sz="3200" b="1" dirty="0">
                <a:solidFill>
                  <a:schemeClr val="bg1"/>
                </a:solidFill>
              </a:rPr>
              <a:t>cannot</a:t>
            </a:r>
            <a:r>
              <a:rPr lang="en-US" sz="3200" dirty="0"/>
              <a:t> return </a:t>
            </a:r>
            <a:r>
              <a:rPr lang="en-US" sz="3200" b="1" dirty="0">
                <a:solidFill>
                  <a:schemeClr val="bg1"/>
                </a:solidFill>
              </a:rPr>
              <a:t>multiple</a:t>
            </a:r>
            <a:r>
              <a:rPr lang="en-US" sz="3200" dirty="0"/>
              <a:t> </a:t>
            </a:r>
            <a:br>
              <a:rPr lang="bg-BG" sz="3200" dirty="0"/>
            </a:br>
            <a:r>
              <a:rPr lang="en-US" sz="3200" dirty="0"/>
              <a:t>result sets</a:t>
            </a:r>
          </a:p>
          <a:p>
            <a:r>
              <a:rPr lang="en-US" sz="3200" dirty="0"/>
              <a:t>User-defined functions cannot make use of </a:t>
            </a:r>
            <a:r>
              <a:rPr lang="en-US" sz="3200" b="1" dirty="0">
                <a:solidFill>
                  <a:schemeClr val="bg1"/>
                </a:solidFill>
              </a:rPr>
              <a:t>dynamic SQL </a:t>
            </a:r>
            <a:r>
              <a:rPr lang="en-US" sz="3200" dirty="0"/>
              <a:t>or </a:t>
            </a:r>
            <a:r>
              <a:rPr lang="en-US" sz="3200" b="1" dirty="0">
                <a:solidFill>
                  <a:schemeClr val="bg1"/>
                </a:solidFill>
              </a:rPr>
              <a:t>temp tables</a:t>
            </a:r>
            <a:r>
              <a:rPr lang="en-US" sz="3200" dirty="0"/>
              <a:t>. Table variables are allowed.</a:t>
            </a:r>
          </a:p>
          <a:p>
            <a:r>
              <a:rPr lang="en-US" sz="3200" dirty="0"/>
              <a:t>User-defined functions can be nested up to 32 levels</a:t>
            </a:r>
          </a:p>
          <a:p>
            <a:r>
              <a:rPr lang="en-US" sz="3200" dirty="0"/>
              <a:t>Error handling is restricted in a user-defined function </a:t>
            </a:r>
            <a:br>
              <a:rPr lang="en-US" sz="3200" dirty="0"/>
            </a:br>
            <a:r>
              <a:rPr lang="en-US" sz="3200" dirty="0"/>
              <a:t>UDF does not support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TRY...CATCH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@ERROR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br>
              <a:rPr lang="bg-BG" sz="3200" b="1" dirty="0">
                <a:solidFill>
                  <a:schemeClr val="bg1"/>
                </a:solidFill>
              </a:rPr>
            </a:br>
            <a:r>
              <a:rPr lang="en-US" sz="3200" dirty="0"/>
              <a:t>or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RAISERROR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Limitations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1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Functions (Scalar) 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29346" y="1404000"/>
            <a:ext cx="10733308" cy="52417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FUNCTION </a:t>
            </a:r>
            <a:r>
              <a:rPr lang="en-US" sz="2400" b="1" noProof="1">
                <a:latin typeface="Consolas" panose="020B0609020204030204" pitchFamily="49" charset="0"/>
              </a:rPr>
              <a:t>udf_ProjectDurationWeeks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@StartDate </a:t>
            </a:r>
            <a:r>
              <a:rPr lang="en-US" sz="2400" b="1" noProof="1">
                <a:latin typeface="Consolas" panose="020B0609020204030204" pitchFamily="49" charset="0"/>
              </a:rPr>
              <a:t>DATETIME,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@EndDate </a:t>
            </a:r>
            <a:r>
              <a:rPr lang="en-US" sz="2400" b="1" noProof="1">
                <a:latin typeface="Consolas" panose="020B0609020204030204" pitchFamily="49" charset="0"/>
              </a:rPr>
              <a:t>DATETIME)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RETURNS INT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BEGIN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DECLARE @projectWeeks INT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noProof="1">
                <a:latin typeface="Consolas" panose="020B0609020204030204" pitchFamily="49" charset="0"/>
              </a:rPr>
              <a:t>IF(@EndDate IS NULL)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BEGIN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    SET @EndDate = GETDATE()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END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SET @projectWeeks = DATEDIFF(WEEK, @StartDate, @EndDate)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@projectWeeks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END</a:t>
            </a:r>
            <a:endParaRPr lang="en-GB" sz="2400" b="1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217777" y="1944000"/>
            <a:ext cx="2210447" cy="510778"/>
          </a:xfrm>
          <a:prstGeom prst="wedgeRoundRectCallout">
            <a:avLst>
              <a:gd name="adj1" fmla="val -58183"/>
              <a:gd name="adj2" fmla="val -3657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Name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9201000" y="1944000"/>
            <a:ext cx="1938684" cy="510778"/>
          </a:xfrm>
          <a:prstGeom prst="wedgeRoundRectCallout">
            <a:avLst>
              <a:gd name="adj1" fmla="val -57522"/>
              <a:gd name="adj2" fmla="val -4229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 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2541000" y="2754000"/>
            <a:ext cx="1775522" cy="510778"/>
          </a:xfrm>
          <a:prstGeom prst="wedgeRoundRectCallout">
            <a:avLst>
              <a:gd name="adj1" fmla="val -55113"/>
              <a:gd name="adj2" fmla="val -4493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Type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885097" y="2918819"/>
            <a:ext cx="1374032" cy="510778"/>
          </a:xfrm>
          <a:prstGeom prst="wedgeRoundRectCallout">
            <a:avLst>
              <a:gd name="adj1" fmla="val -61022"/>
              <a:gd name="adj2" fmla="val 506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5217777" y="3902740"/>
            <a:ext cx="2041352" cy="510778"/>
          </a:xfrm>
          <a:prstGeom prst="wedgeRoundRectCallout">
            <a:avLst>
              <a:gd name="adj1" fmla="val -58799"/>
              <a:gd name="adj2" fmla="val -362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Statement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5338485" y="5859000"/>
            <a:ext cx="1994876" cy="510778"/>
          </a:xfrm>
          <a:prstGeom prst="wedgeRoundRectCallout">
            <a:avLst>
              <a:gd name="adj1" fmla="val -58799"/>
              <a:gd name="adj2" fmla="val -362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Value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20308233-D2E8-4E96-A57F-052CA8917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752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Functions (Table-Valued Function) 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4891" y="2139778"/>
            <a:ext cx="11825555" cy="369053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udf_AverageSalaryByDepartment</a:t>
            </a:r>
            <a:r>
              <a:rPr lang="en-GB" sz="2400" b="1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RETURNS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TABLE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bg-BG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bg-BG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d.[Name]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Department</a:t>
            </a:r>
            <a:r>
              <a:rPr lang="en-US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AVG</a:t>
            </a:r>
            <a:r>
              <a:rPr lang="en-US" sz="2400" b="1" dirty="0"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</a:rPr>
              <a:t>e.Salary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</a:rPr>
              <a:t>AverageSalary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</a:rPr>
              <a:t>Departments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</a:rPr>
              <a:t>d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Employees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</a:rPr>
              <a:t>d.DepartmentID</a:t>
            </a:r>
            <a:r>
              <a:rPr lang="en-US" sz="2400" b="1" dirty="0">
                <a:latin typeface="Consolas" panose="020B0609020204030204" pitchFamily="49" charset="0"/>
              </a:rPr>
              <a:t> = </a:t>
            </a:r>
            <a:r>
              <a:rPr lang="en-US" sz="2400" b="1" dirty="0" err="1">
                <a:latin typeface="Consolas" panose="020B0609020204030204" pitchFamily="49" charset="0"/>
              </a:rPr>
              <a:t>e.DepartmentID</a:t>
            </a:r>
            <a:endParaRPr lang="en-US" sz="2400" b="1" dirty="0"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GROUP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BY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</a:rPr>
              <a:t>d.DepartmentID</a:t>
            </a:r>
            <a:r>
              <a:rPr lang="en-US" sz="2400" b="1" dirty="0">
                <a:latin typeface="Consolas" panose="020B0609020204030204" pitchFamily="49" charset="0"/>
              </a:rPr>
              <a:t>, d.[Name]</a:t>
            </a:r>
          </a:p>
          <a:p>
            <a:pPr>
              <a:lnSpc>
                <a:spcPct val="105000"/>
              </a:lnSpc>
            </a:pPr>
            <a:r>
              <a:rPr lang="bg-BG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400" b="1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85E39631-020F-4294-8FB1-0160AAC97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8856" y="2658473"/>
            <a:ext cx="2166264" cy="510778"/>
          </a:xfrm>
          <a:prstGeom prst="wedgeRoundRectCallout">
            <a:avLst>
              <a:gd name="adj1" fmla="val -57569"/>
              <a:gd name="adj2" fmla="val -496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Parameters </a:t>
            </a: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AF95D42A-363E-4470-B924-3AA60D67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6000" y="1629000"/>
            <a:ext cx="2210447" cy="510778"/>
          </a:xfrm>
          <a:prstGeom prst="wedgeRoundRectCallout">
            <a:avLst>
              <a:gd name="adj1" fmla="val -57485"/>
              <a:gd name="adj2" fmla="val 432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Name</a:t>
            </a: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4B3983F0-AC81-469A-9318-59FC6A117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000" y="3114000"/>
            <a:ext cx="1947066" cy="411702"/>
          </a:xfrm>
          <a:prstGeom prst="wedgeRoundRectCallout">
            <a:avLst>
              <a:gd name="adj1" fmla="val -57075"/>
              <a:gd name="adj2" fmla="val -4124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Type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45913450-DBE1-4C06-B05E-F646C228B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4550" y="5118203"/>
            <a:ext cx="1994876" cy="510778"/>
          </a:xfrm>
          <a:prstGeom prst="wedgeRoundRectCallout">
            <a:avLst>
              <a:gd name="adj1" fmla="val -58799"/>
              <a:gd name="adj2" fmla="val -362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Value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4A22BD81-9850-4C98-8258-CB7FBA689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002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Functions (Multi-statement TVF)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28883" y="1317285"/>
            <a:ext cx="10534234" cy="53887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udf_EmployeeListByDepartment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(@DepName </a:t>
            </a:r>
            <a:r>
              <a:rPr lang="en-US" sz="21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nvarchar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(20))</a:t>
            </a:r>
          </a:p>
          <a:p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RETURNS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@result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TABLE</a:t>
            </a:r>
            <a:r>
              <a:rPr lang="bg-BG" sz="2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21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FirstName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nvarchar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(50) NOT NULL,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LastName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nvarchar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(50) NOT NULL,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DepartmentName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nvarchar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(20)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NOT NULL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BEGIN</a:t>
            </a: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WITH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Employees_CTE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 (FirstName,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LastName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,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DepartmentName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21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bg-BG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e.FirstName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,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e.LastName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, d.[Name]</a:t>
            </a:r>
          </a:p>
          <a:p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Employees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e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LEFT JOIN 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Departments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d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d.DepartmentID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 =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e.DepartmentID</a:t>
            </a:r>
            <a:r>
              <a:rPr lang="bg-BG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endParaRPr lang="bg-BG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1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INSERT INTO 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@result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GB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FirstName,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LastName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, </a:t>
            </a:r>
            <a:r>
              <a:rPr lang="en-GB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DepartmentName</a:t>
            </a:r>
            <a:r>
              <a:rPr lang="en-GB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Employees_CTE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WHERE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DepartmentName</a:t>
            </a:r>
            <a:r>
              <a:rPr lang="en-US" sz="2100" b="1" dirty="0">
                <a:solidFill>
                  <a:schemeClr val="tx2"/>
                </a:solidFill>
                <a:latin typeface="Consolas" panose="020B0609020204030204" pitchFamily="49" charset="0"/>
              </a:rPr>
              <a:t> = @DepName</a:t>
            </a:r>
          </a:p>
          <a:p>
            <a:r>
              <a:rPr lang="en-GB" sz="21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</a:p>
          <a:p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</a:rPr>
              <a:t>END</a:t>
            </a:r>
            <a:endParaRPr lang="en-GB" sz="2100" b="1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7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Functions are called using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schemaName.functionName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Execute Functions 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32295" y="1893818"/>
            <a:ext cx="10727410" cy="24341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latin typeface="Consolas" panose="020B0609020204030204" pitchFamily="49" charset="0"/>
              </a:rPr>
              <a:t>SELECT [ProjectID],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    [StartDate],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    [EndDate],</a:t>
            </a:r>
          </a:p>
          <a:p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dbo.udf_ProjectDurationWeeks([StartDate],[EndDate])</a:t>
            </a:r>
          </a:p>
          <a:p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noProof="1">
                <a:latin typeface="Consolas" panose="020B0609020204030204" pitchFamily="49" charset="0"/>
              </a:rPr>
              <a:t>AS ProjectWeeks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FROM [SoftUni].[dbo].[Projects]</a:t>
            </a:r>
            <a:endParaRPr lang="en-GB" sz="2400" b="1" noProof="1">
              <a:latin typeface="Consolas" panose="020B0609020204030204" pitchFamily="49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38815"/>
              </p:ext>
            </p:extLst>
          </p:nvPr>
        </p:nvGraphicFramePr>
        <p:xfrm>
          <a:off x="732292" y="4583282"/>
          <a:ext cx="10727412" cy="1941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681853">
                  <a:extLst>
                    <a:ext uri="{9D8B030D-6E8A-4147-A177-3AD203B41FA5}">
                      <a16:colId xmlns:a16="http://schemas.microsoft.com/office/drawing/2014/main" val="359195456"/>
                    </a:ext>
                  </a:extLst>
                </a:gridCol>
                <a:gridCol w="2681853">
                  <a:extLst>
                    <a:ext uri="{9D8B030D-6E8A-4147-A177-3AD203B41FA5}">
                      <a16:colId xmlns:a16="http://schemas.microsoft.com/office/drawing/2014/main" val="491820112"/>
                    </a:ext>
                  </a:extLst>
                </a:gridCol>
                <a:gridCol w="2681853">
                  <a:extLst>
                    <a:ext uri="{9D8B030D-6E8A-4147-A177-3AD203B41FA5}">
                      <a16:colId xmlns:a16="http://schemas.microsoft.com/office/drawing/2014/main" val="3774891810"/>
                    </a:ext>
                  </a:extLst>
                </a:gridCol>
                <a:gridCol w="2681853">
                  <a:extLst>
                    <a:ext uri="{9D8B030D-6E8A-4147-A177-3AD203B41FA5}">
                      <a16:colId xmlns:a16="http://schemas.microsoft.com/office/drawing/2014/main" val="3776866281"/>
                    </a:ext>
                  </a:extLst>
                </a:gridCol>
              </a:tblGrid>
              <a:tr h="319684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ProjectID</a:t>
                      </a:r>
                    </a:p>
                  </a:txBody>
                  <a:tcPr marL="119668" marR="119668" marT="59835" marB="59835"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StartDate</a:t>
                      </a:r>
                    </a:p>
                  </a:txBody>
                  <a:tcPr marL="119668" marR="119668" marT="59835" marB="59835"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EndDate</a:t>
                      </a:r>
                    </a:p>
                  </a:txBody>
                  <a:tcPr marL="119668" marR="119668" marT="59835" marB="59835"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ProjectWeeks</a:t>
                      </a:r>
                    </a:p>
                  </a:txBody>
                  <a:tcPr marL="119668" marR="119668" marT="59835" marB="59835"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01892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1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2016-09-01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2016-10-07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extLst>
                  <a:ext uri="{0D108BD9-81ED-4DB2-BD59-A6C34878D82A}">
                    <a16:rowId xmlns:a16="http://schemas.microsoft.com/office/drawing/2014/main" val="618236447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2016-10-01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2016-10-07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extLst>
                  <a:ext uri="{0D108BD9-81ED-4DB2-BD59-A6C34878D82A}">
                    <a16:rowId xmlns:a16="http://schemas.microsoft.com/office/drawing/2014/main" val="1410275746"/>
                  </a:ext>
                </a:extLst>
              </a:tr>
              <a:tr h="319684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2015-10-07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52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9668" marR="119668" marT="59835" marB="59835"/>
                </a:tc>
                <a:extLst>
                  <a:ext uri="{0D108BD9-81ED-4DB2-BD59-A6C34878D82A}">
                    <a16:rowId xmlns:a16="http://schemas.microsoft.com/office/drawing/2014/main" val="2063521319"/>
                  </a:ext>
                </a:extLst>
              </a:tr>
            </a:tbl>
          </a:graphicData>
        </a:graphic>
      </p:graphicFrame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456000" y="2580817"/>
            <a:ext cx="2442029" cy="510778"/>
          </a:xfrm>
          <a:prstGeom prst="wedgeRoundRectCallout">
            <a:avLst>
              <a:gd name="adj1" fmla="val -54664"/>
              <a:gd name="adj2" fmla="val 4400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the Function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65408F69-B76E-49D3-9E91-9B406148B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877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5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Write a function </a:t>
            </a: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ufn_GetSalaryLevel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(@Salary</a:t>
            </a:r>
            <a:r>
              <a:rPr lang="en-GB" sz="32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MONEY)</a:t>
            </a:r>
            <a:r>
              <a:rPr lang="en-GB" sz="32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3200" dirty="0"/>
              <a:t>that receives salary of an employee and returns the level of the salary</a:t>
            </a:r>
            <a:endParaRPr lang="en-US" sz="3200" dirty="0"/>
          </a:p>
          <a:p>
            <a:pPr lvl="1"/>
            <a:r>
              <a:rPr lang="en-GB" sz="3000" dirty="0"/>
              <a:t>If salary is &lt; 30000 return "Low"</a:t>
            </a:r>
            <a:endParaRPr lang="en-US" sz="3000" dirty="0"/>
          </a:p>
          <a:p>
            <a:pPr lvl="1"/>
            <a:r>
              <a:rPr lang="en-GB" sz="3000" dirty="0"/>
              <a:t>If salary is between 30000 and 50000 (inclusive) returns "Average"</a:t>
            </a:r>
            <a:endParaRPr lang="en-US" sz="3000" dirty="0"/>
          </a:p>
          <a:p>
            <a:pPr lvl="1"/>
            <a:r>
              <a:rPr lang="en-GB" sz="3000" dirty="0"/>
              <a:t>If salary is &gt; 50000 return "High"</a:t>
            </a:r>
            <a:endParaRPr lang="en-US" sz="3000" dirty="0"/>
          </a:p>
        </p:txBody>
      </p:sp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Salary Level Function</a:t>
            </a:r>
            <a:endParaRPr lang="en-US" dirty="0"/>
          </a:p>
        </p:txBody>
      </p:sp>
      <p:sp>
        <p:nvSpPr>
          <p:cNvPr id="7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https://judge.softuni.org/Contests/Practice/Index/1025#4</a:t>
            </a:r>
            <a:endParaRPr lang="en-US" u="sng" dirty="0">
              <a:solidFill>
                <a:schemeClr val="bg1"/>
              </a:solidFill>
            </a:endParaRPr>
          </a:p>
        </p:txBody>
      </p:sp>
      <p:pic>
        <p:nvPicPr>
          <p:cNvPr id="9" name="Picture 4" descr="application, desktop, development, programming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000" y="4364759"/>
            <a:ext cx="1744842" cy="174484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1158" y="4288326"/>
            <a:ext cx="4849450" cy="1801577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FBADA3C7-C71E-43C5-9039-554A17BF4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63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5" grpId="0" uiExpand="1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Salary Level Function</a:t>
            </a:r>
          </a:p>
        </p:txBody>
      </p:sp>
      <p:sp>
        <p:nvSpPr>
          <p:cNvPr id="540676" name="Rectangle 4"/>
          <p:cNvSpPr>
            <a:spLocks noChangeArrowheads="1"/>
          </p:cNvSpPr>
          <p:nvPr/>
        </p:nvSpPr>
        <p:spPr bwMode="auto">
          <a:xfrm>
            <a:off x="1671603" y="2034000"/>
            <a:ext cx="8234397" cy="381383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ufn_GetSalaryLevel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 MONEY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RETURNS</a:t>
            </a:r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NVARCHAR</a:t>
            </a:r>
            <a:r>
              <a:rPr lang="en-US" sz="3200" b="1" dirty="0">
                <a:latin typeface="Consolas" panose="020B0609020204030204" pitchFamily="49" charset="0"/>
              </a:rPr>
              <a:t>(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10</a:t>
            </a:r>
            <a:r>
              <a:rPr lang="en-US" sz="3200" b="1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BEGIN</a:t>
            </a:r>
          </a:p>
          <a:p>
            <a:pPr>
              <a:lnSpc>
                <a:spcPct val="105000"/>
              </a:lnSpc>
            </a:pPr>
            <a:r>
              <a:rPr lang="en-US" sz="3200" b="1" i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-- Function logic here</a:t>
            </a:r>
            <a:endParaRPr lang="en-US" sz="3200" b="1" i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END</a:t>
            </a:r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1821000" y="1518349"/>
            <a:ext cx="2270090" cy="510778"/>
          </a:xfrm>
          <a:prstGeom prst="wedgeRoundRectCallout">
            <a:avLst>
              <a:gd name="adj1" fmla="val 58506"/>
              <a:gd name="adj2" fmla="val 446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Name</a:t>
            </a: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8121000" y="2169000"/>
            <a:ext cx="2457396" cy="510778"/>
          </a:xfrm>
          <a:prstGeom prst="wedgeRoundRectCallout">
            <a:avLst>
              <a:gd name="adj1" fmla="val -55850"/>
              <a:gd name="adj2" fmla="val 299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Parameters</a:t>
            </a:r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4791000" y="3731681"/>
            <a:ext cx="1840941" cy="525050"/>
          </a:xfrm>
          <a:prstGeom prst="wedgeRoundRectCallout">
            <a:avLst>
              <a:gd name="adj1" fmla="val -60400"/>
              <a:gd name="adj2" fmla="val -4333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Type</a:t>
            </a:r>
          </a:p>
        </p:txBody>
      </p:sp>
      <p:sp>
        <p:nvSpPr>
          <p:cNvPr id="18" name="AutoShape 7"/>
          <p:cNvSpPr>
            <a:spLocks noChangeArrowheads="1"/>
          </p:cNvSpPr>
          <p:nvPr/>
        </p:nvSpPr>
        <p:spPr bwMode="auto">
          <a:xfrm>
            <a:off x="4978220" y="5229000"/>
            <a:ext cx="2235559" cy="510778"/>
          </a:xfrm>
          <a:prstGeom prst="wedgeRoundRectCallout">
            <a:avLst>
              <a:gd name="adj1" fmla="val -55909"/>
              <a:gd name="adj2" fmla="val -5098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Body</a:t>
            </a:r>
          </a:p>
        </p:txBody>
      </p:sp>
      <p:sp>
        <p:nvSpPr>
          <p:cNvPr id="19" name="TextBox 5"/>
          <p:cNvSpPr txBox="1"/>
          <p:nvPr/>
        </p:nvSpPr>
        <p:spPr>
          <a:xfrm>
            <a:off x="800100" y="632233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https://judge.softuni.org/Contests/Practice/Index/1025#4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1A125BE-C031-4EAE-A85C-0067C9DCD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773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Salary Level Function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361000" y="1719000"/>
            <a:ext cx="7605000" cy="407833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DECLARE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@salaryLevel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VARCHAR(10)</a:t>
            </a:r>
          </a:p>
          <a:p>
            <a:pPr>
              <a:lnSpc>
                <a:spcPct val="105000"/>
              </a:lnSpc>
            </a:pPr>
            <a:b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IF </a:t>
            </a:r>
            <a:r>
              <a:rPr lang="en-US" sz="2400" b="1" noProof="1">
                <a:latin typeface="Consolas" panose="020B0609020204030204" pitchFamily="49" charset="0"/>
              </a:rPr>
              <a:t>(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 &lt; 30000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SET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@salaryLevel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=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Low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'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US" sz="2400" b="1" noProof="1">
                <a:latin typeface="Consolas" panose="020B0609020204030204" pitchFamily="49" charset="0"/>
              </a:rPr>
              <a:t>(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 &lt;= 50000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SET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@salaryLevel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=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Average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'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  SET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@salaryLevel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=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High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'</a:t>
            </a:r>
            <a:b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endParaRPr lang="en-US" sz="24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RETURN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@salaryLevel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266499" y="1634969"/>
            <a:ext cx="1614355" cy="510778"/>
          </a:xfrm>
          <a:prstGeom prst="wedgeRoundRectCallout">
            <a:avLst>
              <a:gd name="adj1" fmla="val -67013"/>
              <a:gd name="adj2" fmla="val 359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323400" y="2322908"/>
            <a:ext cx="2209800" cy="476903"/>
          </a:xfrm>
          <a:prstGeom prst="wedgeRoundRectCallout">
            <a:avLst>
              <a:gd name="adj1" fmla="val -61439"/>
              <a:gd name="adj2" fmla="val 390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Statement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056700" y="5153525"/>
            <a:ext cx="2209799" cy="476903"/>
          </a:xfrm>
          <a:prstGeom prst="wedgeRoundRectCallout">
            <a:avLst>
              <a:gd name="adj1" fmla="val -59329"/>
              <a:gd name="adj2" fmla="val 222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Result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800100" y="627135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https://judge.softuni.org/Contests/Practice/Index/1025#4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2FDDDAF6-7E01-4481-BF20-084D2BF91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068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CCB1-45A8-43E2-AE44-AB763D97666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Stored Procedures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724" y="1220449"/>
            <a:ext cx="2781925" cy="278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9709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5" name="Rectangle 3"/>
          <p:cNvSpPr>
            <a:spLocks noGrp="1" noChangeArrowheads="1"/>
          </p:cNvSpPr>
          <p:nvPr>
            <p:ph idx="10"/>
          </p:nvPr>
        </p:nvSpPr>
        <p:spPr>
          <a:xfrm>
            <a:off x="190402" y="1196124"/>
            <a:ext cx="11818096" cy="5561126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altLang="en-US" b="1" dirty="0">
                <a:solidFill>
                  <a:schemeClr val="bg1"/>
                </a:solidFill>
              </a:rPr>
              <a:t>Stored procedures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chemeClr val="bg1"/>
                </a:solidFill>
              </a:rPr>
              <a:t>named sequences </a:t>
            </a:r>
            <a:r>
              <a:rPr lang="en-US" altLang="en-US" dirty="0"/>
              <a:t>of </a:t>
            </a:r>
            <a:r>
              <a:rPr lang="en-US" altLang="en-US" b="1" dirty="0">
                <a:solidFill>
                  <a:schemeClr val="bg1"/>
                </a:solidFill>
              </a:rPr>
              <a:t>T-SQL statements</a:t>
            </a:r>
            <a:endParaRPr lang="en-US" alt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Encapsulate</a:t>
            </a:r>
            <a:r>
              <a:rPr lang="en-US" dirty="0"/>
              <a:t> repetitive program </a:t>
            </a:r>
            <a:r>
              <a:rPr lang="en-US" b="1" dirty="0">
                <a:solidFill>
                  <a:schemeClr val="bg1"/>
                </a:solidFill>
              </a:rPr>
              <a:t>logic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</a:t>
            </a:r>
            <a:r>
              <a:rPr lang="en-US" b="1" dirty="0">
                <a:solidFill>
                  <a:schemeClr val="bg1"/>
                </a:solidFill>
              </a:rPr>
              <a:t>accept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input parameters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</a:t>
            </a:r>
            <a:r>
              <a:rPr lang="en-US" b="1" dirty="0">
                <a:solidFill>
                  <a:schemeClr val="bg1"/>
                </a:solidFill>
              </a:rPr>
              <a:t>return output results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Benefits</a:t>
            </a:r>
            <a:r>
              <a:rPr lang="en-US" dirty="0"/>
              <a:t> of stored procedures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Share</a:t>
            </a:r>
            <a:r>
              <a:rPr lang="en-US" dirty="0"/>
              <a:t> application logic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Improved </a:t>
            </a:r>
            <a:r>
              <a:rPr lang="en-US" b="1" dirty="0">
                <a:solidFill>
                  <a:schemeClr val="bg1"/>
                </a:solidFill>
              </a:rPr>
              <a:t>performance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Reduced</a:t>
            </a:r>
            <a:r>
              <a:rPr lang="en-US" dirty="0"/>
              <a:t> network </a:t>
            </a:r>
            <a:r>
              <a:rPr lang="en-US" b="1" dirty="0">
                <a:solidFill>
                  <a:schemeClr val="bg1"/>
                </a:solidFill>
              </a:rPr>
              <a:t>traffic</a:t>
            </a:r>
          </a:p>
          <a:p>
            <a:pPr lvl="1"/>
            <a:r>
              <a:rPr lang="en-US" dirty="0"/>
              <a:t>They can be used as a </a:t>
            </a:r>
            <a:r>
              <a:rPr lang="en-US" b="1" dirty="0">
                <a:solidFill>
                  <a:schemeClr val="bg1"/>
                </a:solidFill>
              </a:rPr>
              <a:t>security</a:t>
            </a:r>
            <a:r>
              <a:rPr lang="en-US" dirty="0"/>
              <a:t> mechanism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Stored Procedures?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872E5F2-235C-4EF9-90F2-2FC0C9086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73636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5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User-defined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be created in a </a:t>
            </a:r>
            <a:r>
              <a:rPr lang="en-US" b="1" dirty="0">
                <a:solidFill>
                  <a:schemeClr val="bg1"/>
                </a:solidFill>
              </a:rPr>
              <a:t>user-defined database </a:t>
            </a:r>
            <a:r>
              <a:rPr lang="en-US" dirty="0"/>
              <a:t>or in all system </a:t>
            </a:r>
            <a:br>
              <a:rPr lang="en-US" dirty="0"/>
            </a:br>
            <a:r>
              <a:rPr lang="en-US" dirty="0"/>
              <a:t>databases except the </a:t>
            </a:r>
            <a:r>
              <a:rPr lang="en-US" b="1" dirty="0">
                <a:solidFill>
                  <a:schemeClr val="bg1"/>
                </a:solidFill>
              </a:rPr>
              <a:t>Resource</a:t>
            </a:r>
            <a:r>
              <a:rPr lang="en-US" dirty="0"/>
              <a:t> database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be developed in either </a:t>
            </a:r>
            <a:r>
              <a:rPr lang="en-US" b="1" dirty="0">
                <a:solidFill>
                  <a:schemeClr val="bg1"/>
                </a:solidFill>
              </a:rPr>
              <a:t>Transact-SQL</a:t>
            </a:r>
            <a:r>
              <a:rPr lang="en-US" dirty="0"/>
              <a:t> or as a reference to a </a:t>
            </a:r>
            <a:r>
              <a:rPr lang="en-US" b="1" dirty="0">
                <a:solidFill>
                  <a:schemeClr val="bg1"/>
                </a:solidFill>
              </a:rPr>
              <a:t>Microsoft .NET Framework </a:t>
            </a:r>
            <a:r>
              <a:rPr lang="en-US" dirty="0"/>
              <a:t>method</a:t>
            </a: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Temporary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A form of user-defined procedures stored in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tempdb</a:t>
            </a:r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Stored Procedures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73D0CE8-8761-420F-ABB3-9396DECEF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7137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3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altLang="en-US" dirty="0"/>
              <a:t>Syntax: </a:t>
            </a: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US" alt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PROCEDURE</a:t>
            </a:r>
            <a:r>
              <a:rPr lang="en-US" alt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dirty="0">
                <a:latin typeface="Consolas" panose="020B0609020204030204" pitchFamily="49" charset="0"/>
              </a:rPr>
              <a:t>…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en-US" dirty="0"/>
              <a:t>Example:</a:t>
            </a: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Stored Procedures</a:t>
            </a:r>
            <a:endParaRPr lang="bg-BG" dirty="0"/>
          </a:p>
        </p:txBody>
      </p:sp>
      <p:sp>
        <p:nvSpPr>
          <p:cNvPr id="476164" name="Rectangle 4"/>
          <p:cNvSpPr>
            <a:spLocks noChangeArrowheads="1"/>
          </p:cNvSpPr>
          <p:nvPr/>
        </p:nvSpPr>
        <p:spPr bwMode="auto">
          <a:xfrm>
            <a:off x="696000" y="2664000"/>
            <a:ext cx="10136188" cy="35420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latin typeface="Consolas" panose="020B0609020204030204" pitchFamily="49" charset="0"/>
              </a:rPr>
              <a:t>USE </a:t>
            </a:r>
            <a:r>
              <a:rPr lang="en-GB" sz="2400" b="1" noProof="1">
                <a:latin typeface="Consolas" panose="020B0609020204030204" pitchFamily="49" charset="0"/>
              </a:rPr>
              <a:t>SoftUni</a:t>
            </a:r>
            <a:endParaRPr lang="en-US" sz="2400" b="1" noProof="1">
              <a:latin typeface="Consolas" panose="020B0609020204030204" pitchFamily="49" charset="0"/>
            </a:endParaRPr>
          </a:p>
          <a:p>
            <a:r>
              <a:rPr lang="en-US" sz="2400" b="1" noProof="1">
                <a:latin typeface="Consolas" panose="020B0609020204030204" pitchFamily="49" charset="0"/>
              </a:rPr>
              <a:t>GO</a:t>
            </a:r>
          </a:p>
          <a:p>
            <a:endParaRPr lang="en-US" sz="24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PROC </a:t>
            </a:r>
            <a:r>
              <a:rPr lang="en-US" sz="2400" b="1" noProof="1">
                <a:latin typeface="Consolas" panose="020B0609020204030204" pitchFamily="49" charset="0"/>
              </a:rPr>
              <a:t>dbo.usp_SelectEmployeesBySeniority </a:t>
            </a:r>
            <a:endParaRPr lang="bg-BG" sz="2400" b="1" noProof="1">
              <a:latin typeface="Consolas" panose="020B0609020204030204" pitchFamily="49" charset="0"/>
            </a:endParaRP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400" b="1" noProof="1">
                <a:latin typeface="Consolas" panose="020B0609020204030204" pitchFamily="49" charset="0"/>
              </a:rPr>
              <a:t>SELECT * 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FROM Employees</a:t>
            </a:r>
          </a:p>
          <a:p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400" b="1" noProof="1">
                <a:latin typeface="Consolas" panose="020B0609020204030204" pitchFamily="49" charset="0"/>
              </a:rPr>
              <a:t>WHERE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DATEDIFF(Year, HireDate, GETDATE()) &gt; 20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GO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061089" y="3259706"/>
            <a:ext cx="2428964" cy="510778"/>
          </a:xfrm>
          <a:prstGeom prst="wedgeRoundRectCallout">
            <a:avLst>
              <a:gd name="adj1" fmla="val -58238"/>
              <a:gd name="adj2" fmla="val 5064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 Name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401000" y="4689000"/>
            <a:ext cx="2375851" cy="544286"/>
          </a:xfrm>
          <a:prstGeom prst="wedgeRoundRectCallout">
            <a:avLst>
              <a:gd name="adj1" fmla="val -55774"/>
              <a:gd name="adj2" fmla="val 4319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 Logic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A2A10E-17C1-421B-8A66-620A2BBD4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2758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9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Executing a stored procedure by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EXEC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Executing a stored procedure within an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INSERT</a:t>
            </a:r>
            <a:r>
              <a:rPr lang="en-US" dirty="0"/>
              <a:t> statement</a:t>
            </a:r>
            <a:endParaRPr lang="en-US" altLang="en-US" dirty="0"/>
          </a:p>
        </p:txBody>
      </p: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Executing Stored Procedures</a:t>
            </a:r>
            <a:endParaRPr lang="bg-BG" dirty="0"/>
          </a:p>
        </p:txBody>
      </p:sp>
      <p:sp>
        <p:nvSpPr>
          <p:cNvPr id="480260" name="Rectangle 4"/>
          <p:cNvSpPr>
            <a:spLocks noChangeArrowheads="1"/>
          </p:cNvSpPr>
          <p:nvPr/>
        </p:nvSpPr>
        <p:spPr bwMode="auto">
          <a:xfrm>
            <a:off x="741000" y="1911640"/>
            <a:ext cx="6480176" cy="58744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EXEC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latin typeface="Consolas" panose="020B0609020204030204" pitchFamily="49" charset="0"/>
              </a:rPr>
              <a:t>usp_SelectEmployeesBySeniority</a:t>
            </a:r>
          </a:p>
        </p:txBody>
      </p:sp>
      <p:sp>
        <p:nvSpPr>
          <p:cNvPr id="480261" name="Rectangle 5"/>
          <p:cNvSpPr>
            <a:spLocks noChangeArrowheads="1"/>
          </p:cNvSpPr>
          <p:nvPr/>
        </p:nvSpPr>
        <p:spPr bwMode="auto">
          <a:xfrm>
            <a:off x="743091" y="3294000"/>
            <a:ext cx="6480176" cy="95677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INSERT INTO </a:t>
            </a:r>
            <a:r>
              <a:rPr lang="en-US" sz="2400" b="1" noProof="1">
                <a:latin typeface="Consolas" panose="020B0609020204030204" pitchFamily="49" charset="0"/>
              </a:rPr>
              <a:t>Customers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EXEC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latin typeface="Consolas" panose="020B0609020204030204" pitchFamily="49" charset="0"/>
              </a:rPr>
              <a:t>usp_SelectEmployeesBySeniority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A6CBC0C-5846-4EBB-82B3-12AAA7899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3324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7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altLang="en-US" dirty="0"/>
              <a:t>Use the </a:t>
            </a: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ALTER</a:t>
            </a:r>
            <a:r>
              <a:rPr lang="en-US" altLang="en-US" b="1" dirty="0">
                <a:latin typeface="+mj-lt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PROCEDURE</a:t>
            </a:r>
            <a:r>
              <a:rPr lang="en-US" altLang="en-US" b="1" dirty="0">
                <a:latin typeface="+mj-lt"/>
              </a:rPr>
              <a:t> </a:t>
            </a:r>
            <a:r>
              <a:rPr lang="en-US" altLang="en-US" dirty="0"/>
              <a:t>statement</a:t>
            </a:r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Altering Stored Procedures</a:t>
            </a:r>
            <a:endParaRPr lang="bg-BG" dirty="0"/>
          </a:p>
        </p:txBody>
      </p:sp>
      <p:sp>
        <p:nvSpPr>
          <p:cNvPr id="477188" name="Rectangle 4"/>
          <p:cNvSpPr>
            <a:spLocks noChangeArrowheads="1"/>
          </p:cNvSpPr>
          <p:nvPr/>
        </p:nvSpPr>
        <p:spPr bwMode="auto">
          <a:xfrm>
            <a:off x="701921" y="1921341"/>
            <a:ext cx="9354079" cy="407833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USE</a:t>
            </a:r>
            <a:r>
              <a:rPr lang="en-GB" sz="2400" b="1" noProof="1">
                <a:latin typeface="Consolas" panose="020B0609020204030204" pitchFamily="49" charset="0"/>
              </a:rPr>
              <a:t> SoftUni</a:t>
            </a:r>
            <a:endParaRPr lang="en-US" sz="2400" b="1" noProof="1"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GO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ALTER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PROC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usp_SelectEmployeesBySeniority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400" b="1" noProof="1">
                <a:latin typeface="Consolas" panose="020B0609020204030204" pitchFamily="49" charset="0"/>
              </a:rPr>
              <a:t>SELECT FirstName, LastName, HireDate,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DATEDIFF(Year, HireDate, GETDATE()) as Years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FROM Employees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WHERE DATEDIFF(Year, HireDate, GETDATE()) &gt; 20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ORDER BY HireDate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GO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159005" y="2259000"/>
            <a:ext cx="2692401" cy="510778"/>
          </a:xfrm>
          <a:prstGeom prst="wedgeRoundRectCallout">
            <a:avLst>
              <a:gd name="adj1" fmla="val -58585"/>
              <a:gd name="adj2" fmla="val 394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 Name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A1E5B7B-0F8C-424D-9DD7-4FE30A88A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429019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1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DROP</a:t>
            </a:r>
            <a:r>
              <a:rPr lang="en-US" altLang="en-US" dirty="0">
                <a:latin typeface="Consolas" panose="020B0609020204030204" pitchFamily="49" charset="0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PROCEDURE</a:t>
            </a:r>
            <a:br>
              <a:rPr lang="bg-BG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bg-BG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altLang="en-US" dirty="0"/>
              <a:t>You could </a:t>
            </a:r>
            <a:r>
              <a:rPr lang="en-US" altLang="en-US" b="1" dirty="0">
                <a:solidFill>
                  <a:schemeClr val="bg1"/>
                </a:solidFill>
              </a:rPr>
              <a:t>check</a:t>
            </a:r>
            <a:r>
              <a:rPr lang="en-US" altLang="en-US" dirty="0"/>
              <a:t> if any objects </a:t>
            </a:r>
            <a:r>
              <a:rPr lang="en-US" altLang="en-US" b="1" dirty="0">
                <a:solidFill>
                  <a:schemeClr val="bg1"/>
                </a:solidFill>
              </a:rPr>
              <a:t>depend</a:t>
            </a:r>
            <a:r>
              <a:rPr lang="en-US" altLang="en-US" dirty="0"/>
              <a:t> on the stored procedure by executing </a:t>
            </a:r>
            <a:r>
              <a:rPr lang="en-US" altLang="en-US" b="1" dirty="0">
                <a:solidFill>
                  <a:schemeClr val="bg1"/>
                </a:solidFill>
              </a:rPr>
              <a:t>the system stored procedure </a:t>
            </a:r>
            <a:r>
              <a:rPr lang="en-US" alt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sp_depends</a:t>
            </a:r>
          </a:p>
        </p:txBody>
      </p: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Dropping Stored Procedures</a:t>
            </a:r>
            <a:endParaRPr lang="bg-BG" dirty="0"/>
          </a:p>
        </p:txBody>
      </p:sp>
      <p:sp>
        <p:nvSpPr>
          <p:cNvPr id="478212" name="Rectangle 4"/>
          <p:cNvSpPr>
            <a:spLocks noChangeArrowheads="1"/>
          </p:cNvSpPr>
          <p:nvPr/>
        </p:nvSpPr>
        <p:spPr bwMode="auto">
          <a:xfrm>
            <a:off x="696000" y="1923343"/>
            <a:ext cx="9733613" cy="64899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DROP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PROC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latin typeface="Consolas" panose="020B0609020204030204" pitchFamily="49" charset="0"/>
              </a:rPr>
              <a:t>usp_SelectEmployeesBySeniority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95999" y="4374000"/>
            <a:ext cx="9733613" cy="64899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EXEC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sp_depends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latin typeface="Consolas" panose="020B0609020204030204" pitchFamily="49" charset="0"/>
              </a:rPr>
              <a:t>'usp_SelectEmployeesBySeniority'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5AFFAB5-1E2C-4A08-994A-7F339BD23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0732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uiExpand="1" build="p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B9D471-3DB4-4088-9D18-F26653C64E6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Stored Procedures with Parameters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877" y="1385340"/>
            <a:ext cx="2557073" cy="255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268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3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To define a </a:t>
            </a:r>
            <a:r>
              <a:rPr lang="en-US" altLang="en-US" sz="3200" b="1" dirty="0">
                <a:solidFill>
                  <a:schemeClr val="bg1"/>
                </a:solidFill>
              </a:rPr>
              <a:t>parameterized procedure</a:t>
            </a:r>
            <a:r>
              <a:rPr lang="en-US" altLang="en-US" sz="3200" dirty="0"/>
              <a:t>,</a:t>
            </a:r>
            <a:r>
              <a:rPr lang="en-US" altLang="en-US" sz="3200" b="1" dirty="0"/>
              <a:t> </a:t>
            </a:r>
            <a:r>
              <a:rPr lang="en-US" altLang="en-US" sz="3200" dirty="0"/>
              <a:t>use the syntax:</a:t>
            </a:r>
          </a:p>
          <a:p>
            <a:pPr lvl="1"/>
            <a:endParaRPr lang="en-US" sz="2800" dirty="0"/>
          </a:p>
          <a:p>
            <a:pPr marL="609219" lvl="1" indent="0">
              <a:buNone/>
            </a:pPr>
            <a:endParaRPr lang="en-US" sz="2800" dirty="0"/>
          </a:p>
          <a:p>
            <a:endParaRPr lang="en-US" sz="3200" dirty="0"/>
          </a:p>
          <a:p>
            <a:r>
              <a:rPr lang="en-US" sz="3200" dirty="0"/>
              <a:t>Choose the parameter types carefully and provide </a:t>
            </a:r>
            <a:r>
              <a:rPr lang="en-US" sz="3200" b="1" dirty="0">
                <a:solidFill>
                  <a:schemeClr val="bg1"/>
                </a:solidFill>
              </a:rPr>
              <a:t>appropriate default values</a:t>
            </a:r>
            <a:endParaRPr lang="en-US" altLang="en-US" sz="3200" b="1" dirty="0">
              <a:solidFill>
                <a:schemeClr val="bg1"/>
              </a:solidFill>
            </a:endParaRP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Parameterized Procedures</a:t>
            </a:r>
            <a:endParaRPr lang="bg-BG" dirty="0"/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696000" y="2000788"/>
            <a:ext cx="7943852" cy="15546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PROCEDURE usp_</a:t>
            </a:r>
            <a:r>
              <a:rPr lang="en-US" sz="2800" b="1" noProof="1">
                <a:latin typeface="Consolas" panose="020B0609020204030204" pitchFamily="49" charset="0"/>
              </a:rPr>
              <a:t>ProcedureName 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@parameter1Name </a:t>
            </a:r>
            <a:r>
              <a:rPr lang="en-US" sz="2800" b="1" noProof="1">
                <a:latin typeface="Consolas" panose="020B0609020204030204" pitchFamily="49" charset="0"/>
              </a:rPr>
              <a:t>parameterType,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@parameter2Name </a:t>
            </a:r>
            <a:r>
              <a:rPr lang="en-US" sz="2800" b="1" noProof="1">
                <a:latin typeface="Consolas" panose="020B0609020204030204" pitchFamily="49" charset="0"/>
              </a:rPr>
              <a:t>parameterType,…)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</p:txBody>
      </p:sp>
      <p:sp>
        <p:nvSpPr>
          <p:cNvPr id="481285" name="Rectangle 5"/>
          <p:cNvSpPr>
            <a:spLocks noChangeArrowheads="1"/>
          </p:cNvSpPr>
          <p:nvPr/>
        </p:nvSpPr>
        <p:spPr bwMode="auto">
          <a:xfrm>
            <a:off x="696000" y="4884560"/>
            <a:ext cx="7943852" cy="15546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PROC usp_</a:t>
            </a:r>
            <a:r>
              <a:rPr lang="en-US" sz="2800" b="1" noProof="1">
                <a:latin typeface="Consolas" panose="020B0609020204030204" pitchFamily="49" charset="0"/>
              </a:rPr>
              <a:t>SelectEmployeesBySeniority(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@minYearsAtWork int = 5</a:t>
            </a:r>
            <a:r>
              <a:rPr lang="en-US" sz="2800" b="1" noProof="1">
                <a:latin typeface="Consolas" panose="020B0609020204030204" pitchFamily="49" charset="0"/>
              </a:rPr>
              <a:t>)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AS </a:t>
            </a:r>
            <a:r>
              <a:rPr lang="en-US" sz="2800" b="1" noProof="1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EF26E4E-2555-49D4-A372-1467AFE59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9856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 uiExpand="1" build="p"/>
      <p:bldP spid="48128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Parameterized Stored Procedures - Example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81000" y="1722874"/>
            <a:ext cx="11430000" cy="428076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PROC usp_</a:t>
            </a:r>
            <a:r>
              <a:rPr lang="en-US" sz="2400" b="1" noProof="1">
                <a:latin typeface="Consolas" panose="020B0609020204030204" pitchFamily="49" charset="0"/>
              </a:rPr>
              <a:t>SelectEmployeesBySeniority</a:t>
            </a:r>
            <a:br>
              <a:rPr lang="en-US" sz="2400" b="1" noProof="1">
                <a:latin typeface="Consolas" panose="020B0609020204030204" pitchFamily="49" charset="0"/>
              </a:rPr>
            </a:br>
            <a:r>
              <a:rPr lang="en-US" sz="2400" b="1" noProof="1">
                <a:latin typeface="Consolas" panose="020B0609020204030204" pitchFamily="49" charset="0"/>
              </a:rPr>
              <a:t>	(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@minYearsAtWork int = 5</a:t>
            </a:r>
            <a:r>
              <a:rPr lang="en-US" sz="2400" b="1" noProof="1">
                <a:latin typeface="Consolas" panose="020B0609020204030204" pitchFamily="49" charset="0"/>
              </a:rPr>
              <a:t>)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SELECT FirstName, LastName, HireDate,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      DATEDIFF(Year, HireDate, GETDATE()) as Years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 FROM Employees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WHERE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DATEDIFF(Year, HireDate, GETDATE()) &gt; @minYearsAtWork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ORDER BY HireDate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GO</a:t>
            </a:r>
          </a:p>
          <a:p>
            <a:endParaRPr lang="en-US" sz="2400" b="1" noProof="1">
              <a:latin typeface="Consolas" panose="020B0609020204030204" pitchFamily="49" charset="0"/>
            </a:endParaRP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EXEC</a:t>
            </a:r>
            <a:r>
              <a:rPr lang="en-US" sz="2400" b="1" noProof="1">
                <a:latin typeface="Consolas" panose="020B0609020204030204" pitchFamily="49" charset="0"/>
              </a:rPr>
              <a:t> usp_SelectEmployeesBySeniority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662386" y="2275596"/>
            <a:ext cx="2421708" cy="526714"/>
          </a:xfrm>
          <a:prstGeom prst="wedgeRoundRectCallout">
            <a:avLst>
              <a:gd name="adj1" fmla="val -61335"/>
              <a:gd name="adj2" fmla="val -383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 Name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627166" y="4599000"/>
            <a:ext cx="2557668" cy="510778"/>
          </a:xfrm>
          <a:prstGeom prst="wedgeRoundRectCallout">
            <a:avLst>
              <a:gd name="adj1" fmla="val -55667"/>
              <a:gd name="adj2" fmla="val -421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 Logic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491000" y="5859000"/>
            <a:ext cx="1448165" cy="510778"/>
          </a:xfrm>
          <a:prstGeom prst="wedgeRoundRectCallout">
            <a:avLst>
              <a:gd name="adj1" fmla="val -58743"/>
              <a:gd name="adj2" fmla="val -579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Usage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A9CB241-8599-445D-AFE3-3C8710CFB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452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7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Passing values by </a:t>
            </a:r>
            <a:r>
              <a:rPr lang="en-US" b="1" dirty="0">
                <a:solidFill>
                  <a:schemeClr val="bg1"/>
                </a:solidFill>
              </a:rPr>
              <a:t>parameter name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Passing values by </a:t>
            </a:r>
            <a:r>
              <a:rPr lang="en-US" b="1" dirty="0">
                <a:solidFill>
                  <a:schemeClr val="bg1"/>
                </a:solidFill>
              </a:rPr>
              <a:t>position</a:t>
            </a:r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Passing Parameter Values</a:t>
            </a:r>
            <a:endParaRPr lang="bg-BG" dirty="0"/>
          </a:p>
        </p:txBody>
      </p:sp>
      <p:sp>
        <p:nvSpPr>
          <p:cNvPr id="482308" name="Rectangle 4"/>
          <p:cNvSpPr>
            <a:spLocks noChangeArrowheads="1"/>
          </p:cNvSpPr>
          <p:nvPr/>
        </p:nvSpPr>
        <p:spPr bwMode="auto">
          <a:xfrm>
            <a:off x="696000" y="1809000"/>
            <a:ext cx="7182250" cy="2527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EXEC usp_AddCustomer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@customerID</a:t>
            </a:r>
            <a:r>
              <a:rPr lang="en-US" sz="2400" b="1" noProof="1">
                <a:latin typeface="Consolas" panose="020B0609020204030204" pitchFamily="49" charset="0"/>
              </a:rPr>
              <a:t> = 'ALFKI',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@companyName </a:t>
            </a:r>
            <a:r>
              <a:rPr lang="en-US" sz="2400" b="1" noProof="1">
                <a:latin typeface="Consolas" panose="020B0609020204030204" pitchFamily="49" charset="0"/>
              </a:rPr>
              <a:t>= 'Alfreds Futterkiste',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@address </a:t>
            </a:r>
            <a:r>
              <a:rPr lang="en-US" sz="2400" b="1" noProof="1">
                <a:latin typeface="Consolas" panose="020B0609020204030204" pitchFamily="49" charset="0"/>
              </a:rPr>
              <a:t>= 'Obere Str. 57',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  @city </a:t>
            </a:r>
            <a:r>
              <a:rPr lang="en-US" sz="2400" b="1" noProof="1">
                <a:latin typeface="Consolas" panose="020B0609020204030204" pitchFamily="49" charset="0"/>
              </a:rPr>
              <a:t>= 'Berlin',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@phone </a:t>
            </a:r>
            <a:r>
              <a:rPr lang="en-US" sz="2400" b="1" noProof="1">
                <a:latin typeface="Consolas" panose="020B0609020204030204" pitchFamily="49" charset="0"/>
              </a:rPr>
              <a:t>= '030-0074321' </a:t>
            </a:r>
          </a:p>
        </p:txBody>
      </p:sp>
      <p:sp>
        <p:nvSpPr>
          <p:cNvPr id="482309" name="Rectangle 5"/>
          <p:cNvSpPr>
            <a:spLocks noChangeArrowheads="1"/>
          </p:cNvSpPr>
          <p:nvPr/>
        </p:nvSpPr>
        <p:spPr bwMode="auto">
          <a:xfrm>
            <a:off x="696000" y="5143256"/>
            <a:ext cx="7182250" cy="136374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EXEC usp_AddCustomer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ALFKI2</a:t>
            </a:r>
            <a:r>
              <a:rPr lang="en-US" sz="2400" b="1" noProof="1">
                <a:latin typeface="Consolas" panose="020B0609020204030204" pitchFamily="49" charset="0"/>
              </a:rPr>
              <a:t>',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Alfreds</a:t>
            </a:r>
            <a:r>
              <a:rPr lang="en-US" sz="2400" b="1" noProof="1"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Futterkiste</a:t>
            </a:r>
            <a:r>
              <a:rPr lang="en-US" sz="2400" b="1" noProof="1">
                <a:latin typeface="Consolas" panose="020B0609020204030204" pitchFamily="49" charset="0"/>
              </a:rPr>
              <a:t>',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Obere Str. 57</a:t>
            </a:r>
            <a:r>
              <a:rPr lang="en-US" sz="2400" b="1" noProof="1">
                <a:latin typeface="Consolas" panose="020B0609020204030204" pitchFamily="49" charset="0"/>
              </a:rPr>
              <a:t>',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Berlin</a:t>
            </a:r>
            <a:r>
              <a:rPr lang="en-US" sz="2400" b="1" noProof="1">
                <a:latin typeface="Consolas" panose="020B0609020204030204" pitchFamily="49" charset="0"/>
              </a:rPr>
              <a:t>', </a:t>
            </a:r>
            <a:br>
              <a:rPr lang="en-US" sz="2400" b="1" noProof="1">
                <a:latin typeface="Consolas" panose="020B0609020204030204" pitchFamily="49" charset="0"/>
              </a:rPr>
            </a:br>
            <a:r>
              <a:rPr lang="en-US" sz="2400" b="1" noProof="1">
                <a:latin typeface="Consolas" panose="020B0609020204030204" pitchFamily="49" charset="0"/>
              </a:rPr>
              <a:t>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030-0074321</a:t>
            </a:r>
            <a:r>
              <a:rPr lang="en-US" sz="2400" b="1" noProof="1"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D7080C-DD9E-46EF-AAEE-98F5DDD7B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3492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7" grpId="0" uiExpand="1" build="p"/>
      <p:bldP spid="48230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Returning Values Using OUTPUT Parameters</a:t>
            </a:r>
            <a:endParaRPr lang="bg-BG" dirty="0"/>
          </a:p>
        </p:txBody>
      </p:sp>
      <p:sp>
        <p:nvSpPr>
          <p:cNvPr id="483332" name="Rectangle 4"/>
          <p:cNvSpPr>
            <a:spLocks noChangeArrowheads="1"/>
          </p:cNvSpPr>
          <p:nvPr/>
        </p:nvSpPr>
        <p:spPr bwMode="auto">
          <a:xfrm>
            <a:off x="1562100" y="1487576"/>
            <a:ext cx="9067800" cy="50194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400" b="1" noProof="1">
                <a:latin typeface="Consolas" panose="020B0609020204030204" pitchFamily="49" charset="0"/>
              </a:rPr>
              <a:t>CREATE PROCEDURE dbo.usp_AddNumbers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@firstNumber SMALLINT,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@secondNumber SMALLINT,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@result INT OUTPUT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AS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SET @result = @firstNumber + @secondNumber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GO</a:t>
            </a:r>
          </a:p>
          <a:p>
            <a:endParaRPr lang="en-US" sz="2400" b="1" noProof="1">
              <a:latin typeface="Consolas" panose="020B0609020204030204" pitchFamily="49" charset="0"/>
            </a:endParaRPr>
          </a:p>
          <a:p>
            <a:r>
              <a:rPr lang="en-US" sz="2400" b="1" noProof="1">
                <a:latin typeface="Consolas" panose="020B0609020204030204" pitchFamily="49" charset="0"/>
              </a:rPr>
              <a:t>DECLARE @answer smallint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EXECUTE usp_AddNumbers 5, 6,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@answer OUTPUT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SELECT '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The result is: </a:t>
            </a:r>
            <a:r>
              <a:rPr lang="en-US" sz="2400" b="1" noProof="1">
                <a:latin typeface="Consolas" panose="020B0609020204030204" pitchFamily="49" charset="0"/>
              </a:rPr>
              <a:t>',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@answer</a:t>
            </a:r>
          </a:p>
          <a:p>
            <a:endParaRPr lang="en-US" sz="2400" b="1" noProof="1">
              <a:latin typeface="Consolas" panose="020B0609020204030204" pitchFamily="49" charset="0"/>
            </a:endParaRPr>
          </a:p>
          <a:p>
            <a:r>
              <a:rPr lang="en-US" sz="24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-- The result is: 11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876766" y="2031654"/>
            <a:ext cx="3014616" cy="519613"/>
          </a:xfrm>
          <a:prstGeom prst="wedgeRoundRectCallout">
            <a:avLst>
              <a:gd name="adj1" fmla="val -58547"/>
              <a:gd name="adj2" fmla="val 241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procedure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456000" y="4342172"/>
            <a:ext cx="2894015" cy="510354"/>
          </a:xfrm>
          <a:prstGeom prst="wedgeRoundRectCallout">
            <a:avLst>
              <a:gd name="adj1" fmla="val -57622"/>
              <a:gd name="adj2" fmla="val 3705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Executing procedure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7761000" y="5589000"/>
            <a:ext cx="2536507" cy="510778"/>
          </a:xfrm>
          <a:prstGeom prst="wedgeRoundRectCallout">
            <a:avLst>
              <a:gd name="adj1" fmla="val -60277"/>
              <a:gd name="adj2" fmla="val -3266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 results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F48F99C8-771F-436D-89E9-24D9E3C4D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662779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Returning Multiple Results</a:t>
            </a:r>
            <a:endParaRPr lang="bg-BG" dirty="0"/>
          </a:p>
        </p:txBody>
      </p:sp>
      <p:sp>
        <p:nvSpPr>
          <p:cNvPr id="483332" name="Rectangle 4"/>
          <p:cNvSpPr>
            <a:spLocks noChangeArrowheads="1"/>
          </p:cNvSpPr>
          <p:nvPr/>
        </p:nvSpPr>
        <p:spPr bwMode="auto">
          <a:xfrm>
            <a:off x="1302250" y="2276763"/>
            <a:ext cx="9881170" cy="369053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ALTER PROC </a:t>
            </a:r>
            <a:r>
              <a:rPr lang="en-US" sz="2400" b="1" dirty="0" err="1">
                <a:latin typeface="Consolas" panose="020B0609020204030204" pitchFamily="49" charset="0"/>
              </a:rPr>
              <a:t>usp_MultipleResults</a:t>
            </a:r>
            <a:endParaRPr lang="en-US" sz="2400" b="1" dirty="0"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FirstName, </a:t>
            </a:r>
            <a:r>
              <a:rPr lang="en-US" sz="2400" b="1" dirty="0" err="1">
                <a:latin typeface="Consolas" panose="020B0609020204030204" pitchFamily="49" charset="0"/>
              </a:rPr>
              <a:t>LastName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Employees</a:t>
            </a:r>
            <a:endParaRPr lang="en-US" sz="2400" dirty="0"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FirstName, </a:t>
            </a:r>
            <a:r>
              <a:rPr lang="en-US" sz="2400" b="1" dirty="0" err="1">
                <a:latin typeface="Consolas" panose="020B0609020204030204" pitchFamily="49" charset="0"/>
              </a:rPr>
              <a:t>LastName</a:t>
            </a:r>
            <a:r>
              <a:rPr lang="en-US" sz="2400" b="1" dirty="0">
                <a:latin typeface="Consolas" panose="020B0609020204030204" pitchFamily="49" charset="0"/>
              </a:rPr>
              <a:t>, d.[Name]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Department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</a:rPr>
              <a:t>Employees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</a:rPr>
              <a:t>e </a:t>
            </a:r>
          </a:p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Departments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</a:rPr>
              <a:t>e.DepartmentID</a:t>
            </a:r>
            <a:r>
              <a:rPr lang="en-US" sz="2400" b="1" dirty="0">
                <a:latin typeface="Consolas" panose="020B0609020204030204" pitchFamily="49" charset="0"/>
              </a:rPr>
              <a:t> = </a:t>
            </a:r>
            <a:r>
              <a:rPr lang="en-US" sz="2400" b="1" dirty="0" err="1">
                <a:latin typeface="Consolas" panose="020B0609020204030204" pitchFamily="49" charset="0"/>
              </a:rPr>
              <a:t>d.DepartmentID</a:t>
            </a:r>
            <a:r>
              <a:rPr lang="en-US" sz="2400" b="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GO</a:t>
            </a:r>
          </a:p>
          <a:p>
            <a:pPr>
              <a:lnSpc>
                <a:spcPct val="105000"/>
              </a:lnSpc>
            </a:pPr>
            <a:endParaRPr lang="en-GB" sz="2400" b="1" noProof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EXEC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usp_MultipleResults</a:t>
            </a:r>
            <a:endParaRPr lang="en-US" sz="2400" b="1" noProof="1">
              <a:latin typeface="Consolas" panose="020B0609020204030204" pitchFamily="49" charset="0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ECAC301E-8094-4F60-9705-D65650EDF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000" y="1287493"/>
            <a:ext cx="4069055" cy="919401"/>
          </a:xfrm>
          <a:prstGeom prst="wedgeRoundRectCallout">
            <a:avLst>
              <a:gd name="adj1" fmla="val -56607"/>
              <a:gd name="adj2" fmla="val 4674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Checks if procedure exists and then Creates or Alters it 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87AA6E07-15E5-4AAD-98F3-5332B7D1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000" y="2650474"/>
            <a:ext cx="2894015" cy="775362"/>
          </a:xfrm>
          <a:prstGeom prst="wedgeRoundRectCallout">
            <a:avLst>
              <a:gd name="adj1" fmla="val -56796"/>
              <a:gd name="adj2" fmla="val 421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</a:t>
            </a:r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statements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7752A27-B463-4470-A431-4C3F78D07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9689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B9D471-3DB4-4088-9D18-F26653C64E6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1504C2-B9CC-4681-AD2E-80F4EB9E9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363" y="954000"/>
            <a:ext cx="4661273" cy="31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6606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Throwing</a:t>
            </a:r>
            <a:endParaRPr lang="bg-BG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7FA011B-CBDB-4250-90F4-5311157D582F}"/>
              </a:ext>
            </a:extLst>
          </p:cNvPr>
          <p:cNvSpPr txBox="1">
            <a:spLocks noChangeArrowheads="1"/>
          </p:cNvSpPr>
          <p:nvPr/>
        </p:nvSpPr>
        <p:spPr>
          <a:xfrm>
            <a:off x="190402" y="1196125"/>
            <a:ext cx="11818096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THROW</a:t>
            </a:r>
          </a:p>
          <a:p>
            <a:pPr lvl="1">
              <a:buClr>
                <a:schemeClr val="tx1"/>
              </a:buClr>
            </a:pPr>
            <a:r>
              <a:rPr lang="en-US" sz="3000" noProof="1"/>
              <a:t>Raises an exception and transfers execution to a </a:t>
            </a:r>
            <a:r>
              <a:rPr lang="en-US" sz="3000" b="1" noProof="1">
                <a:latin typeface="Consolas" panose="020B0609020204030204" pitchFamily="49" charset="0"/>
              </a:rPr>
              <a:t>CATCH</a:t>
            </a:r>
            <a:r>
              <a:rPr lang="en-US" sz="3000" noProof="1"/>
              <a:t> block</a:t>
            </a:r>
          </a:p>
          <a:p>
            <a:pPr lvl="1">
              <a:buClr>
                <a:schemeClr val="tx1"/>
              </a:buClr>
            </a:pPr>
            <a:r>
              <a:rPr lang="en-US" sz="3000" noProof="1"/>
              <a:t>Arguments:</a:t>
            </a:r>
          </a:p>
          <a:p>
            <a:pPr lvl="2">
              <a:buClr>
                <a:schemeClr val="tx1"/>
              </a:buClr>
            </a:pPr>
            <a:r>
              <a:rPr lang="en-US" sz="2800" noProof="1"/>
              <a:t>error_number -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800" noProof="1"/>
              <a:t> (between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50000</a:t>
            </a:r>
            <a:r>
              <a:rPr lang="en-US" sz="2800" noProof="1"/>
              <a:t> and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2147483647</a:t>
            </a:r>
            <a:r>
              <a:rPr lang="en-US" sz="2800" dirty="0"/>
              <a:t>)</a:t>
            </a:r>
            <a:endParaRPr lang="en-US" sz="2800" noProof="1"/>
          </a:p>
          <a:p>
            <a:pPr lvl="2">
              <a:buClr>
                <a:schemeClr val="tx1"/>
              </a:buClr>
            </a:pPr>
            <a:r>
              <a:rPr lang="en-US" sz="2800" noProof="1"/>
              <a:t>message -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NVARCHAR(2048</a:t>
            </a:r>
            <a:r>
              <a:rPr lang="en-US" sz="28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2">
              <a:buClr>
                <a:schemeClr val="tx1"/>
              </a:buClr>
            </a:pPr>
            <a:r>
              <a:rPr lang="en-US" sz="2800" noProof="1"/>
              <a:t>state -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TINYINT</a:t>
            </a:r>
            <a:r>
              <a:rPr lang="en-US" sz="2800" noProof="1"/>
              <a:t> (between </a:t>
            </a:r>
            <a:r>
              <a:rPr lang="en-US" sz="2800" noProof="1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  <a:r>
              <a:rPr lang="en-US" sz="2800" noProof="1"/>
              <a:t> and </a:t>
            </a:r>
            <a:r>
              <a:rPr lang="en-US" sz="2800" noProof="1">
                <a:solidFill>
                  <a:schemeClr val="bg1"/>
                </a:solidFill>
                <a:latin typeface="Consolas" panose="020B0609020204030204" pitchFamily="49" charset="0"/>
              </a:rPr>
              <a:t>255</a:t>
            </a:r>
            <a:r>
              <a:rPr lang="en-US" sz="2800" noProof="1"/>
              <a:t>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1000" y="4922467"/>
            <a:ext cx="8389131" cy="175154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IF(@candidateAge &lt; @minimalCandidateAge)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BEGIN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THROW 50001, 'The candidate is too young!', 1;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19E82F7-A1CB-42B7-B33A-84CE8E434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254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Handling</a:t>
            </a:r>
            <a:endParaRPr lang="bg-BG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7FA011B-CBDB-4250-90F4-5311157D582F}"/>
              </a:ext>
            </a:extLst>
          </p:cNvPr>
          <p:cNvSpPr txBox="1">
            <a:spLocks noChangeArrowheads="1"/>
          </p:cNvSpPr>
          <p:nvPr/>
        </p:nvSpPr>
        <p:spPr>
          <a:xfrm>
            <a:off x="190402" y="1196125"/>
            <a:ext cx="11818096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TRY...CATCH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SQL Statements can be enclosed in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TRY</a:t>
            </a:r>
            <a:r>
              <a:rPr lang="en-US" dirty="0"/>
              <a:t> block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If an error occurs in 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TRY</a:t>
            </a:r>
            <a:r>
              <a:rPr lang="en-US" dirty="0"/>
              <a:t> block, control is passed to another</a:t>
            </a:r>
            <a:br>
              <a:rPr lang="en-US" dirty="0"/>
            </a:br>
            <a:r>
              <a:rPr lang="en-US" dirty="0"/>
              <a:t>group of statements that is enclosed in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CATCH</a:t>
            </a:r>
            <a:r>
              <a:rPr lang="en-US" dirty="0"/>
              <a:t> block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84AECA-3015-485D-B0A7-54A5D10B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000" y="3775331"/>
            <a:ext cx="8064500" cy="291493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BEGIN TRY 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 { sql_statement | statement_block } 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END TRY 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BEGIN CATCH 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     [ { sql_statement | statement_block } ] 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END CATCH  </a:t>
            </a:r>
          </a:p>
          <a:p>
            <a:pPr>
              <a:lnSpc>
                <a:spcPct val="105000"/>
              </a:lnSpc>
            </a:pPr>
            <a:r>
              <a:rPr lang="en-US" sz="2400" b="1" noProof="1">
                <a:latin typeface="Consolas" panose="020B0609020204030204" pitchFamily="49" charset="0"/>
              </a:rPr>
              <a:t>[ ; ] 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B0D27E4-08DD-4F00-8649-F2B3B00B1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40721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Handling</a:t>
            </a:r>
            <a:endParaRPr lang="bg-B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84AECA-3015-485D-B0A7-54A5D10B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463" y="1263144"/>
            <a:ext cx="7777074" cy="53887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BEGIN TRY</a:t>
            </a:r>
          </a:p>
          <a:p>
            <a:r>
              <a:rPr lang="en-GB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   -- Generate a divide-by-zero error.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latin typeface="Consolas" panose="020B0609020204030204" pitchFamily="49" charset="0"/>
              </a:rPr>
              <a:t>1/0</a:t>
            </a:r>
          </a:p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END TRY</a:t>
            </a:r>
          </a:p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BEGIN CATCH</a:t>
            </a:r>
          </a:p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   SELECT</a:t>
            </a: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400" b="1" dirty="0">
                <a:latin typeface="Consolas" panose="020B0609020204030204" pitchFamily="49" charset="0"/>
              </a:rPr>
              <a:t>ERROR_NUMBER()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ErrorNumber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400" b="1" dirty="0">
                <a:latin typeface="Consolas" panose="020B0609020204030204" pitchFamily="49" charset="0"/>
              </a:rPr>
              <a:t>,ERROR_SEVERITY()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ErrorSeverity</a:t>
            </a:r>
            <a:endParaRPr lang="en-GB" sz="2400" dirty="0">
              <a:latin typeface="Consolas" panose="020B0609020204030204" pitchFamily="49" charset="0"/>
            </a:endParaRPr>
          </a:p>
          <a:p>
            <a:r>
              <a:rPr lang="en-GB" sz="2400" b="1" dirty="0">
                <a:latin typeface="Consolas" panose="020B0609020204030204" pitchFamily="49" charset="0"/>
              </a:rPr>
              <a:t>        ,ERROR_STATE()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ErrorState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b="1" dirty="0">
                <a:latin typeface="Consolas" panose="020B0609020204030204" pitchFamily="49" charset="0"/>
              </a:rPr>
              <a:t>        ,ERROR_PROCEDURE()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ErrorProcedure</a:t>
            </a:r>
            <a:r>
              <a:rPr lang="en-GB" sz="2400" dirty="0">
                <a:latin typeface="Consolas" panose="020B0609020204030204" pitchFamily="49" charset="0"/>
              </a:rPr>
              <a:t>  </a:t>
            </a:r>
          </a:p>
          <a:p>
            <a:r>
              <a:rPr lang="en-GB" sz="2400" dirty="0">
                <a:latin typeface="Consolas" panose="020B0609020204030204" pitchFamily="49" charset="0"/>
              </a:rPr>
              <a:t>        </a:t>
            </a:r>
            <a:r>
              <a:rPr lang="en-GB" sz="2400" b="1" dirty="0">
                <a:latin typeface="Consolas" panose="020B0609020204030204" pitchFamily="49" charset="0"/>
              </a:rPr>
              <a:t>,ERROR_LINE()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ErrorLine</a:t>
            </a:r>
            <a:endParaRPr lang="en-GB" sz="2400" dirty="0">
              <a:latin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</a:rPr>
              <a:t>        </a:t>
            </a:r>
            <a:r>
              <a:rPr lang="en-GB" sz="2400" b="1" dirty="0">
                <a:latin typeface="Consolas" panose="020B0609020204030204" pitchFamily="49" charset="0"/>
              </a:rPr>
              <a:t>,ERROR_MESSAGE()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latin typeface="Consolas" panose="020B0609020204030204" pitchFamily="49" charset="0"/>
              </a:rPr>
              <a:t>ErrorMessage</a:t>
            </a:r>
            <a:r>
              <a:rPr lang="en-GB" sz="2400" dirty="0">
                <a:latin typeface="Consolas" panose="020B0609020204030204" pitchFamily="49" charset="0"/>
              </a:rPr>
              <a:t>;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END CATCH  </a:t>
            </a:r>
          </a:p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GO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755399-2117-4B8E-BC1B-394B41B17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604258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Handling</a:t>
            </a:r>
            <a:endParaRPr lang="bg-BG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7FA011B-CBDB-4250-90F4-5311157D582F}"/>
              </a:ext>
            </a:extLst>
          </p:cNvPr>
          <p:cNvSpPr txBox="1">
            <a:spLocks noChangeArrowheads="1"/>
          </p:cNvSpPr>
          <p:nvPr/>
        </p:nvSpPr>
        <p:spPr>
          <a:xfrm>
            <a:off x="190402" y="1196125"/>
            <a:ext cx="11818096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@@ERROR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Returns 0 if the previous Transact-SQL statement encountered </a:t>
            </a:r>
            <a:br>
              <a:rPr lang="en-US" dirty="0"/>
            </a:br>
            <a:r>
              <a:rPr lang="en-US" dirty="0"/>
              <a:t>no errors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Returns an error number if the previous statement encountered an error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@@ERROR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is cleared and reset on each statement executed, </a:t>
            </a:r>
            <a:br>
              <a:rPr lang="en-US" dirty="0"/>
            </a:br>
            <a:r>
              <a:rPr lang="en-US" dirty="0"/>
              <a:t>check it immediately following the statement being verified, or </a:t>
            </a:r>
            <a:br>
              <a:rPr lang="en-US" dirty="0"/>
            </a:br>
            <a:r>
              <a:rPr lang="en-US" dirty="0"/>
              <a:t>save it to a local variable that can be checked later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A6BA2F7-D93C-45F3-9F03-3E3B9EADE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3602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456911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64770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138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8775" marR="0" lvl="0" indent="-358775" algn="l" defTabSz="1218438" rtl="0" eaLnBrk="1" fontAlgn="auto" latinLnBrk="1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5416" y="1716562"/>
            <a:ext cx="81343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chemeClr val="bg1"/>
                </a:solidFill>
              </a:rPr>
              <a:t>Functions</a:t>
            </a:r>
            <a:r>
              <a:rPr lang="en-US" sz="3000" b="1" dirty="0">
                <a:solidFill>
                  <a:schemeClr val="bg2"/>
                </a:solidFill>
              </a:rPr>
              <a:t> allow for complex calculations</a:t>
            </a:r>
          </a:p>
          <a:p>
            <a:pPr marL="914400" lvl="1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2"/>
                </a:solidFill>
              </a:rPr>
              <a:t>Usually return a scalar value</a:t>
            </a:r>
          </a:p>
          <a:p>
            <a:pPr marL="914400" lvl="1" indent="-457200">
              <a:lnSpc>
                <a:spcPct val="100000"/>
              </a:lnSpc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00000"/>
              </a:lnSpc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00000"/>
              </a:lnSpc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  <a:buClr>
                <a:schemeClr val="bg2"/>
              </a:buClr>
            </a:pPr>
            <a:endParaRPr lang="en-US" sz="2400" b="1" dirty="0">
              <a:solidFill>
                <a:schemeClr val="bg2"/>
              </a:solidFill>
            </a:endParaRPr>
          </a:p>
          <a:p>
            <a:pPr marL="571500" indent="-5715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chemeClr val="bg1"/>
                </a:solidFill>
              </a:rPr>
              <a:t>Stored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Procedures </a:t>
            </a:r>
            <a:r>
              <a:rPr lang="en-US" sz="3000" b="1" dirty="0">
                <a:solidFill>
                  <a:schemeClr val="bg2"/>
                </a:solidFill>
              </a:rPr>
              <a:t>allow us to save time by</a:t>
            </a:r>
          </a:p>
          <a:p>
            <a:pPr marL="914400" lvl="1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2"/>
                </a:solidFill>
              </a:rPr>
              <a:t>Shortening code</a:t>
            </a:r>
          </a:p>
          <a:p>
            <a:pPr marL="914400" lvl="1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2"/>
                </a:solidFill>
              </a:rPr>
              <a:t>Simplifying complex tasks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017145" y="2771616"/>
            <a:ext cx="5528855" cy="127951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US" sz="2400" b="1" noProof="1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FUNCTION </a:t>
            </a:r>
            <a:r>
              <a:rPr lang="en-US" sz="2400" b="1" noProof="1">
                <a:solidFill>
                  <a:schemeClr val="bg2"/>
                </a:solidFill>
                <a:latin typeface="Consolas" panose="020B0609020204030204" pitchFamily="49" charset="0"/>
              </a:rPr>
              <a:t>f_ProcedureName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RETURNS</a:t>
            </a:r>
            <a:r>
              <a:rPr lang="en-US" sz="2400" b="1" noProof="1">
                <a:solidFill>
                  <a:schemeClr val="bg2"/>
                </a:solidFill>
                <a:latin typeface="Consolas" panose="020B0609020204030204" pitchFamily="49" charset="0"/>
              </a:rPr>
              <a:t> …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solidFill>
                  <a:schemeClr val="bg2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070573" y="5502887"/>
            <a:ext cx="5475428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en-US" sz="2400" b="1" noProof="1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PROC </a:t>
            </a:r>
            <a:r>
              <a:rPr lang="en-US" sz="2400" b="1" noProof="1">
                <a:solidFill>
                  <a:schemeClr val="bg2"/>
                </a:solidFill>
                <a:latin typeface="Consolas" panose="020B0609020204030204" pitchFamily="49" charset="0"/>
              </a:rPr>
              <a:t>usp_ProcedureName</a:t>
            </a:r>
          </a:p>
          <a:p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  <a:r>
              <a:rPr lang="en-US" sz="2400" b="1" noProof="1">
                <a:solidFill>
                  <a:schemeClr val="bg2"/>
                </a:solidFill>
                <a:latin typeface="Consolas" panose="020B0609020204030204" pitchFamily="49" charset="0"/>
              </a:rPr>
              <a:t> …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4F5B6407-93FE-4465-B940-4A0B051FA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121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D2-301C-D855-6375-DC447ABCB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9804C-BF3D-66BA-9097-BE92BD49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en-US" dirty="0"/>
          </a:p>
        </p:txBody>
      </p:sp>
      <p:pic>
        <p:nvPicPr>
          <p:cNvPr id="6" name="Picture 5" descr="A picture containing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92C06A0-B1BF-1310-EB3F-B37FB454D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832" y="1383837"/>
            <a:ext cx="2786198" cy="1620135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D5F7E69F-916E-E7FD-07B0-C84410BDE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63" y="4452317"/>
            <a:ext cx="3119573" cy="1444168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2C192C54-107A-E9CB-0B22-954F235E7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7" y="5624346"/>
            <a:ext cx="3914056" cy="882654"/>
          </a:xfrm>
          <a:prstGeom prst="rect">
            <a:avLst/>
          </a:prstGeom>
        </p:spPr>
      </p:pic>
      <p:pic>
        <p:nvPicPr>
          <p:cNvPr id="15" name="Picture 14">
            <a:hlinkClick r:id="rId8"/>
            <a:extLst>
              <a:ext uri="{FF2B5EF4-FFF2-40B4-BE49-F238E27FC236}">
                <a16:creationId xmlns:a16="http://schemas.microsoft.com/office/drawing/2014/main" id="{45E3E7FC-2B32-01E7-FFCA-DACB5E28FAE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5" b="33481"/>
          <a:stretch/>
        </p:blipFill>
        <p:spPr>
          <a:xfrm>
            <a:off x="7980566" y="5431126"/>
            <a:ext cx="4127549" cy="1284289"/>
          </a:xfrm>
          <a:prstGeom prst="rect">
            <a:avLst/>
          </a:prstGeom>
        </p:spPr>
      </p:pic>
      <p:pic>
        <p:nvPicPr>
          <p:cNvPr id="3" name="Picture 5" descr="A green and orange 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F1810EF9-5676-6FC8-AA7F-C2695A7435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436" y="3404405"/>
            <a:ext cx="3150159" cy="1973054"/>
          </a:xfrm>
          <a:prstGeom prst="rect">
            <a:avLst/>
          </a:prstGeom>
        </p:spPr>
      </p:pic>
      <p:pic>
        <p:nvPicPr>
          <p:cNvPr id="7" name="Picture 3">
            <a:hlinkClick r:id="rId12"/>
            <a:extLst>
              <a:ext uri="{FF2B5EF4-FFF2-40B4-BE49-F238E27FC236}">
                <a16:creationId xmlns:a16="http://schemas.microsoft.com/office/drawing/2014/main" id="{8B513D91-B017-2182-5AF4-6301891366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77" y="1190635"/>
            <a:ext cx="3990123" cy="1379608"/>
          </a:xfrm>
          <a:prstGeom prst="rect">
            <a:avLst/>
          </a:prstGeom>
        </p:spPr>
      </p:pic>
      <p:pic>
        <p:nvPicPr>
          <p:cNvPr id="14" name="Картина 13" descr="Картина, която съдържа червен, Графика, Шрифт, дизайн">
            <a:hlinkClick r:id="rId14"/>
            <a:extLst>
              <a:ext uri="{FF2B5EF4-FFF2-40B4-BE49-F238E27FC236}">
                <a16:creationId xmlns:a16="http://schemas.microsoft.com/office/drawing/2014/main" id="{289FFBCA-F5A8-E200-5772-B8297CB4DA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3" y="1878014"/>
            <a:ext cx="3610444" cy="1023778"/>
          </a:xfrm>
          <a:prstGeom prst="rect">
            <a:avLst/>
          </a:prstGeom>
        </p:spPr>
      </p:pic>
      <p:pic>
        <p:nvPicPr>
          <p:cNvPr id="4" name="Картина 3" descr="Картина, която съдържа текст, Шрифт, екранна снимка, номер">
            <a:extLst>
              <a:ext uri="{FF2B5EF4-FFF2-40B4-BE49-F238E27FC236}">
                <a16:creationId xmlns:a16="http://schemas.microsoft.com/office/drawing/2014/main" id="{315CB780-F614-6AAB-62D3-20700692F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276" y="2438753"/>
            <a:ext cx="2102030" cy="973287"/>
          </a:xfrm>
          <a:prstGeom prst="rect">
            <a:avLst/>
          </a:prstGeom>
        </p:spPr>
      </p:pic>
      <p:pic>
        <p:nvPicPr>
          <p:cNvPr id="10" name="Graphic 9">
            <a:hlinkClick r:id="rId17"/>
            <a:extLst>
              <a:ext uri="{FF2B5EF4-FFF2-40B4-BE49-F238E27FC236}">
                <a16:creationId xmlns:a16="http://schemas.microsoft.com/office/drawing/2014/main" id="{C903B251-B381-5CD5-1234-5DAF13628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6717" y="3821811"/>
            <a:ext cx="4746000" cy="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6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A3A0DF4-CE7E-4A46-9F61-FF303E5AAB2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33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FDE5021-3975-426A-A63F-3A1FCB6E2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058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4073</TotalTime>
  <Words>2197</Words>
  <Application>Microsoft Office PowerPoint</Application>
  <PresentationFormat>Widescreen</PresentationFormat>
  <Paragraphs>413</Paragraphs>
  <Slides>35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Consolas</vt:lpstr>
      <vt:lpstr>Wingdings</vt:lpstr>
      <vt:lpstr>Wingdings 2</vt:lpstr>
      <vt:lpstr>SoftUni</vt:lpstr>
      <vt:lpstr>Functions and Stored Procedures</vt:lpstr>
      <vt:lpstr>Table of Contents </vt:lpstr>
      <vt:lpstr>User-Defined Functions</vt:lpstr>
      <vt:lpstr>Functions: Basic Definition</vt:lpstr>
      <vt:lpstr>Types of User-Defined Functions</vt:lpstr>
      <vt:lpstr>Functions: Limitations</vt:lpstr>
      <vt:lpstr>Create Functions (Scalar) </vt:lpstr>
      <vt:lpstr>Create Functions (Table-Valued Function) </vt:lpstr>
      <vt:lpstr>Create Functions (Multi-statement TVF) </vt:lpstr>
      <vt:lpstr>Execute Functions </vt:lpstr>
      <vt:lpstr>Problem: Salary Level Function</vt:lpstr>
      <vt:lpstr>Solution: Salary Level Function</vt:lpstr>
      <vt:lpstr>Solution: Salary Level Function</vt:lpstr>
      <vt:lpstr>Stored Procedures</vt:lpstr>
      <vt:lpstr>What Are Stored Procedures?</vt:lpstr>
      <vt:lpstr>Types of Stored Procedures</vt:lpstr>
      <vt:lpstr>Creating Stored Procedures</vt:lpstr>
      <vt:lpstr>Executing Stored Procedures</vt:lpstr>
      <vt:lpstr>Altering Stored Procedures</vt:lpstr>
      <vt:lpstr>Dropping Stored Procedures</vt:lpstr>
      <vt:lpstr>Stored Procedures with Parameters</vt:lpstr>
      <vt:lpstr>Defining Parameterized Procedures</vt:lpstr>
      <vt:lpstr>Parameterized Stored Procedures - Example</vt:lpstr>
      <vt:lpstr>Passing Parameter Values</vt:lpstr>
      <vt:lpstr>Returning Values Using OUTPUT Parameters</vt:lpstr>
      <vt:lpstr>Returning Multiple Results</vt:lpstr>
      <vt:lpstr>Error Handling</vt:lpstr>
      <vt:lpstr>Error Throwing</vt:lpstr>
      <vt:lpstr>Error Handling</vt:lpstr>
      <vt:lpstr>Error Handling</vt:lpstr>
      <vt:lpstr>Error Handling</vt:lpstr>
      <vt:lpstr>Summary</vt:lpstr>
      <vt:lpstr>SoftUni Diamond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Database-Programmability</dc:title>
  <dc:subject>Databases Basics - MS SQL Server -  Practical Trainer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https://softuni.org_x000d_
© Software University – https://softuni.bg_x000d_
_x000d_
Copyrighted document. Unauthorized copy, reproduction or use is not permitted.</dc:description>
  <cp:lastModifiedBy>Krasimir Tsanev</cp:lastModifiedBy>
  <cp:revision>106</cp:revision>
  <dcterms:created xsi:type="dcterms:W3CDTF">2018-05-23T13:08:44Z</dcterms:created>
  <dcterms:modified xsi:type="dcterms:W3CDTF">2025-08-26T07:54:22Z</dcterms:modified>
  <cp:category>db;databases;sql;programming;computer programming;software development</cp:category>
</cp:coreProperties>
</file>